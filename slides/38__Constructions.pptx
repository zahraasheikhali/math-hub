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82" r:id="rId9"/>
    <p:sldId id="28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4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946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7D1BD-0D62-438C-87DF-F7A927F4F42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4DF0B-EED7-46FE-A976-3ADA33192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731520"/>
            <a:ext cx="2194560" cy="2194560"/>
          </a:xfrm>
          <a:prstGeom prst="ellipse">
            <a:avLst/>
          </a:prstGeom>
          <a:ln w="508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2103120"/>
            <a:ext cx="2560320" cy="0"/>
          </a:xfrm>
          <a:prstGeom prst="line">
            <a:avLst/>
          </a:prstGeom>
          <a:noFill/>
          <a:ln w="38100">
            <a:solidFill>
              <a:srgbClr val="3346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Constructions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Ruler &amp; Compasses · Triangles · Perpendicular &amp; Angle Bisectors · Perpendiculars · Special Angles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Accurately with Compasses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construction is an ACCURATE drawing made with a ruler and a pair of compasses.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rub out your arcs — they show your method and earn the marks.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equipment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triangles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triangle be made?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&amp; angle bisectors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Perpendiculars to a line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angles &amp; nets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· arc · bisector · perpendicular · equidistant · compasses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Equipment You Need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Constructions are marked on ACCURACY.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tools — and a sharp pencil — make all the difference.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" y="247802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508760" y="228600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ruler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46320" y="2286000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 in cm and mm — for straight lines and measuring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" y="32461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68680" y="343814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1508760" y="324612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pair of compasses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846320" y="3246120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drawing arcs and circles — the heart of every construction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6928" y="42062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439826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508760" y="420624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protractor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846320" y="4206240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measuring and drawing angles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5166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68680" y="5358384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86868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1508760" y="51663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sharp pencil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846320" y="5166360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lines are accurate lines — keep it sharp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of constructions: NEVER rub out your arcs — they are your working.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Constructing Triangles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some sides and angles, draw the triangle accurately.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side + 2 angles — use a protractor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sides + the angle between — protractor + compasses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sides (SSS) — compasses only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 point clearly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28016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1280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 TRIANGLE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1 Side and 2 Angles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178971" y="1133855"/>
            <a:ext cx="8967663" cy="509882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2908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41248" y="62400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side first,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a protractor for the two angles at each end — where the lines cross is the third vertex.</a:t>
            </a:r>
            <a:endParaRPr lang="en-US" sz="1300" dirty="0"/>
          </a:p>
        </p:txBody>
      </p:sp>
      <p:grpSp>
        <p:nvGrpSpPr>
          <p:cNvPr id="45" name="Group 420"/>
          <p:cNvGrpSpPr>
            <a:grpSpLocks/>
          </p:cNvGrpSpPr>
          <p:nvPr/>
        </p:nvGrpSpPr>
        <p:grpSpPr bwMode="auto">
          <a:xfrm>
            <a:off x="7081171" y="3857783"/>
            <a:ext cx="3990975" cy="2381250"/>
            <a:chOff x="380" y="2408"/>
            <a:chExt cx="2514" cy="1500"/>
          </a:xfrm>
        </p:grpSpPr>
        <p:pic>
          <p:nvPicPr>
            <p:cNvPr id="46" name="Picture 4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" y="2408"/>
              <a:ext cx="2514" cy="1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" name="Rectangle 422"/>
            <p:cNvSpPr>
              <a:spLocks noChangeArrowheads="1"/>
            </p:cNvSpPr>
            <p:nvPr/>
          </p:nvSpPr>
          <p:spPr bwMode="auto">
            <a:xfrm>
              <a:off x="1908" y="3756"/>
              <a:ext cx="568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48" name="Group 418"/>
          <p:cNvGrpSpPr>
            <a:grpSpLocks/>
          </p:cNvGrpSpPr>
          <p:nvPr/>
        </p:nvGrpSpPr>
        <p:grpSpPr bwMode="auto">
          <a:xfrm>
            <a:off x="2056734" y="3851433"/>
            <a:ext cx="3990975" cy="2381250"/>
            <a:chOff x="380" y="2408"/>
            <a:chExt cx="2514" cy="1500"/>
          </a:xfrm>
        </p:grpSpPr>
        <p:pic>
          <p:nvPicPr>
            <p:cNvPr id="49" name="Picture 4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" y="2408"/>
              <a:ext cx="2514" cy="1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0" name="Rectangle 417"/>
            <p:cNvSpPr>
              <a:spLocks noChangeArrowheads="1"/>
            </p:cNvSpPr>
            <p:nvPr/>
          </p:nvSpPr>
          <p:spPr bwMode="auto">
            <a:xfrm>
              <a:off x="1908" y="3756"/>
              <a:ext cx="568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51" name="Text Box 6" descr="Parchment"/>
          <p:cNvSpPr txBox="1">
            <a:spLocks noChangeArrowheads="1"/>
          </p:cNvSpPr>
          <p:nvPr/>
        </p:nvSpPr>
        <p:spPr bwMode="auto">
          <a:xfrm>
            <a:off x="2178971" y="1559306"/>
            <a:ext cx="83772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Construct a triangle of side, 9 cm with angles of 35</a:t>
            </a:r>
            <a:r>
              <a:rPr lang="en-GB" altLang="en-US" baseline="30000" dirty="0" smtClean="0"/>
              <a:t>o</a:t>
            </a:r>
            <a:r>
              <a:rPr lang="en-GB" altLang="en-US" dirty="0" smtClean="0"/>
              <a:t> and  65</a:t>
            </a:r>
            <a:r>
              <a:rPr lang="en-GB" altLang="en-US" baseline="30000" dirty="0" smtClean="0"/>
              <a:t>o</a:t>
            </a:r>
            <a:r>
              <a:rPr lang="en-GB" altLang="en-US" dirty="0" smtClean="0"/>
              <a:t>.</a:t>
            </a:r>
          </a:p>
        </p:txBody>
      </p:sp>
      <p:sp>
        <p:nvSpPr>
          <p:cNvPr id="52" name="Text Box 8" descr="Parchment"/>
          <p:cNvSpPr txBox="1">
            <a:spLocks noChangeArrowheads="1"/>
          </p:cNvSpPr>
          <p:nvPr/>
        </p:nvSpPr>
        <p:spPr bwMode="auto">
          <a:xfrm>
            <a:off x="3192019" y="1133856"/>
            <a:ext cx="6802438" cy="376237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>
                <a:solidFill>
                  <a:schemeClr val="tx1"/>
                </a:solidFill>
              </a:rPr>
              <a:t> To construct a triangle, given </a:t>
            </a:r>
            <a:r>
              <a:rPr lang="en-GB" altLang="en-US" b="1" dirty="0" smtClean="0">
                <a:solidFill>
                  <a:schemeClr val="accent6">
                    <a:lumMod val="75000"/>
                  </a:schemeClr>
                </a:solidFill>
              </a:rPr>
              <a:t>1 side </a:t>
            </a:r>
            <a:r>
              <a:rPr lang="en-GB" altLang="en-US" dirty="0" smtClean="0">
                <a:solidFill>
                  <a:schemeClr val="tx1"/>
                </a:solidFill>
              </a:rPr>
              <a:t>and </a:t>
            </a:r>
            <a:r>
              <a:rPr lang="en-GB" altLang="en-US" b="1" dirty="0" smtClean="0">
                <a:solidFill>
                  <a:schemeClr val="accent6">
                    <a:lumMod val="75000"/>
                  </a:schemeClr>
                </a:solidFill>
              </a:rPr>
              <a:t>2 angles</a:t>
            </a:r>
            <a:r>
              <a:rPr lang="en-GB" altLang="en-US" dirty="0" smtClean="0">
                <a:solidFill>
                  <a:schemeClr val="tx1"/>
                </a:solidFill>
              </a:rPr>
              <a:t>.</a:t>
            </a:r>
            <a:endParaRPr lang="en-US" altLang="en-US" dirty="0" smtClean="0">
              <a:solidFill>
                <a:schemeClr val="tx1"/>
              </a:solidFill>
            </a:endParaRPr>
          </a:p>
        </p:txBody>
      </p:sp>
      <p:sp>
        <p:nvSpPr>
          <p:cNvPr id="53" name="Text Box 10" descr="Parchment"/>
          <p:cNvSpPr txBox="1">
            <a:spLocks noChangeArrowheads="1"/>
          </p:cNvSpPr>
          <p:nvPr/>
        </p:nvSpPr>
        <p:spPr bwMode="auto">
          <a:xfrm>
            <a:off x="2250409" y="1891093"/>
            <a:ext cx="848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1. </a:t>
            </a:r>
            <a:r>
              <a:rPr lang="en-GB" altLang="en-US" dirty="0" smtClean="0">
                <a:solidFill>
                  <a:srgbClr val="000000"/>
                </a:solidFill>
              </a:rPr>
              <a:t>Draw a straight line 9 cm long.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21238" y="3713469"/>
            <a:ext cx="4139952" cy="25649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7006682" y="3697468"/>
            <a:ext cx="4139952" cy="25649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6" name="Group 11"/>
          <p:cNvGrpSpPr>
            <a:grpSpLocks/>
          </p:cNvGrpSpPr>
          <p:nvPr/>
        </p:nvGrpSpPr>
        <p:grpSpPr bwMode="auto">
          <a:xfrm>
            <a:off x="3672809" y="5704045"/>
            <a:ext cx="5702300" cy="603250"/>
            <a:chOff x="1137" y="3718"/>
            <a:chExt cx="3592" cy="380"/>
          </a:xfrm>
        </p:grpSpPr>
        <p:sp>
          <p:nvSpPr>
            <p:cNvPr id="57" name="Line 12"/>
            <p:cNvSpPr>
              <a:spLocks noChangeShapeType="1"/>
            </p:cNvSpPr>
            <p:nvPr/>
          </p:nvSpPr>
          <p:spPr bwMode="auto">
            <a:xfrm>
              <a:off x="1367" y="3887"/>
              <a:ext cx="31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58" name="Text Box 13"/>
            <p:cNvSpPr txBox="1">
              <a:spLocks noChangeArrowheads="1"/>
            </p:cNvSpPr>
            <p:nvPr/>
          </p:nvSpPr>
          <p:spPr bwMode="auto">
            <a:xfrm>
              <a:off x="1137" y="376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A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9" name="Text Box 14"/>
            <p:cNvSpPr txBox="1">
              <a:spLocks noChangeArrowheads="1"/>
            </p:cNvSpPr>
            <p:nvPr/>
          </p:nvSpPr>
          <p:spPr bwMode="auto">
            <a:xfrm>
              <a:off x="4502" y="371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B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0" name="Text Box 15"/>
            <p:cNvSpPr txBox="1">
              <a:spLocks noChangeArrowheads="1"/>
            </p:cNvSpPr>
            <p:nvPr/>
          </p:nvSpPr>
          <p:spPr bwMode="auto">
            <a:xfrm>
              <a:off x="2761" y="3867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9 cm</a:t>
              </a:r>
            </a:p>
          </p:txBody>
        </p:sp>
      </p:grpSp>
      <p:sp>
        <p:nvSpPr>
          <p:cNvPr id="61" name="Text Box 404" descr="Parchment"/>
          <p:cNvSpPr txBox="1">
            <a:spLocks noChangeArrowheads="1"/>
          </p:cNvSpPr>
          <p:nvPr/>
        </p:nvSpPr>
        <p:spPr bwMode="auto">
          <a:xfrm>
            <a:off x="2250409" y="2554668"/>
            <a:ext cx="8358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3. </a:t>
            </a:r>
            <a:r>
              <a:rPr lang="en-GB" altLang="en-US" dirty="0" smtClean="0">
                <a:solidFill>
                  <a:srgbClr val="000000"/>
                </a:solidFill>
              </a:rPr>
              <a:t>Draw straight lines from A and B to point of intersection to form the triangle.</a:t>
            </a:r>
          </a:p>
        </p:txBody>
      </p:sp>
      <p:sp>
        <p:nvSpPr>
          <p:cNvPr id="62" name="Text Box 414" descr="Parchment"/>
          <p:cNvSpPr txBox="1">
            <a:spLocks noChangeArrowheads="1"/>
          </p:cNvSpPr>
          <p:nvPr/>
        </p:nvSpPr>
        <p:spPr bwMode="auto">
          <a:xfrm>
            <a:off x="2250409" y="2222880"/>
            <a:ext cx="8799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2. </a:t>
            </a:r>
            <a:r>
              <a:rPr lang="en-GB" altLang="en-US" dirty="0" smtClean="0">
                <a:solidFill>
                  <a:srgbClr val="000000"/>
                </a:solidFill>
              </a:rPr>
              <a:t>Use a protractor to draw angles of 35</a:t>
            </a:r>
            <a:r>
              <a:rPr lang="en-GB" altLang="en-US" baseline="30000" dirty="0" smtClean="0">
                <a:solidFill>
                  <a:srgbClr val="000000"/>
                </a:solidFill>
              </a:rPr>
              <a:t>o</a:t>
            </a:r>
            <a:r>
              <a:rPr lang="en-GB" altLang="en-US" dirty="0" smtClean="0">
                <a:solidFill>
                  <a:srgbClr val="000000"/>
                </a:solidFill>
              </a:rPr>
              <a:t> and 65</a:t>
            </a:r>
            <a:r>
              <a:rPr lang="en-GB" altLang="en-US" baseline="30000" dirty="0" smtClean="0">
                <a:solidFill>
                  <a:srgbClr val="000000"/>
                </a:solidFill>
              </a:rPr>
              <a:t>o</a:t>
            </a:r>
            <a:r>
              <a:rPr lang="en-GB" altLang="en-US" dirty="0" smtClean="0">
                <a:solidFill>
                  <a:srgbClr val="000000"/>
                </a:solidFill>
              </a:rPr>
              <a:t> on either end of line.</a:t>
            </a:r>
          </a:p>
        </p:txBody>
      </p:sp>
      <p:sp>
        <p:nvSpPr>
          <p:cNvPr id="63" name="Freeform 419"/>
          <p:cNvSpPr>
            <a:spLocks/>
          </p:cNvSpPr>
          <p:nvPr/>
        </p:nvSpPr>
        <p:spPr bwMode="auto">
          <a:xfrm>
            <a:off x="4039521" y="2400458"/>
            <a:ext cx="4911725" cy="3563937"/>
          </a:xfrm>
          <a:custGeom>
            <a:avLst/>
            <a:gdLst>
              <a:gd name="T0" fmla="*/ 0 w 3094"/>
              <a:gd name="T1" fmla="*/ 2245 h 2245"/>
              <a:gd name="T2" fmla="*/ 3094 w 3094"/>
              <a:gd name="T3" fmla="*/ 0 h 22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094" h="2245">
                <a:moveTo>
                  <a:pt x="0" y="2245"/>
                </a:moveTo>
                <a:lnTo>
                  <a:pt x="3094" y="0"/>
                </a:lnTo>
              </a:path>
            </a:pathLst>
          </a:custGeom>
          <a:noFill/>
          <a:ln w="9525">
            <a:solidFill>
              <a:srgbClr val="0066FF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  <p:sp>
        <p:nvSpPr>
          <p:cNvPr id="64" name="Line 423"/>
          <p:cNvSpPr>
            <a:spLocks noChangeShapeType="1"/>
          </p:cNvSpPr>
          <p:nvPr/>
        </p:nvSpPr>
        <p:spPr bwMode="auto">
          <a:xfrm flipH="1" flipV="1">
            <a:off x="7600283" y="2922744"/>
            <a:ext cx="1438275" cy="3033713"/>
          </a:xfrm>
          <a:prstGeom prst="line">
            <a:avLst/>
          </a:prstGeom>
          <a:noFill/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  <p:cxnSp>
        <p:nvCxnSpPr>
          <p:cNvPr id="65" name="Straight Connector 64"/>
          <p:cNvCxnSpPr>
            <a:endCxn id="57" idx="0"/>
          </p:cNvCxnSpPr>
          <p:nvPr/>
        </p:nvCxnSpPr>
        <p:spPr>
          <a:xfrm flipH="1">
            <a:off x="4037934" y="3281421"/>
            <a:ext cx="3707432" cy="26909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7745366" y="3281421"/>
            <a:ext cx="1299543" cy="27163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  <p:bldP spid="54" grpId="0" animBg="1"/>
      <p:bldP spid="55" grpId="0" animBg="1"/>
      <p:bldP spid="61" grpId="0" build="p"/>
      <p:bldP spid="62" grpId="0" build="p"/>
      <p:bldP spid="63" grpId="0" animBg="1"/>
      <p:bldP spid="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 TRIANGLE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Side and 2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Angles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Compasses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Ruler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97000" y="1353312"/>
            <a:ext cx="8997696" cy="4039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17320"/>
            <a:ext cx="8869680" cy="39111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base,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set the compasses to each other side and draw arcs from each end. They cross at the third corner.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28016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1280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 TRIANGLE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Sides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Angle</a:t>
            </a:r>
            <a:endParaRPr lang="en-US" sz="2700" dirty="0"/>
          </a:p>
        </p:txBody>
      </p:sp>
      <p:sp>
        <p:nvSpPr>
          <p:cNvPr id="89" name="Shape 39"/>
          <p:cNvSpPr/>
          <p:nvPr/>
        </p:nvSpPr>
        <p:spPr>
          <a:xfrm>
            <a:off x="1612015" y="1133855"/>
            <a:ext cx="8967663" cy="509882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grpSp>
        <p:nvGrpSpPr>
          <p:cNvPr id="90" name="Group 4"/>
          <p:cNvGrpSpPr>
            <a:grpSpLocks/>
          </p:cNvGrpSpPr>
          <p:nvPr/>
        </p:nvGrpSpPr>
        <p:grpSpPr bwMode="auto">
          <a:xfrm>
            <a:off x="6185603" y="3867228"/>
            <a:ext cx="3990975" cy="2381250"/>
            <a:chOff x="380" y="2408"/>
            <a:chExt cx="2514" cy="1500"/>
          </a:xfrm>
        </p:grpSpPr>
        <p:pic>
          <p:nvPicPr>
            <p:cNvPr id="9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" y="2408"/>
              <a:ext cx="2514" cy="1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" name="Rectangle 6"/>
            <p:cNvSpPr>
              <a:spLocks noChangeArrowheads="1"/>
            </p:cNvSpPr>
            <p:nvPr/>
          </p:nvSpPr>
          <p:spPr bwMode="auto">
            <a:xfrm>
              <a:off x="1908" y="3756"/>
              <a:ext cx="568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93" name="Text Box 9" descr="Parchment"/>
          <p:cNvSpPr txBox="1">
            <a:spLocks noChangeArrowheads="1"/>
          </p:cNvSpPr>
          <p:nvPr/>
        </p:nvSpPr>
        <p:spPr bwMode="auto">
          <a:xfrm>
            <a:off x="1612015" y="1570290"/>
            <a:ext cx="8701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Construct a triangle of sides, 10 cm and 7cm with an angle of 115</a:t>
            </a:r>
            <a:r>
              <a:rPr lang="en-GB" altLang="en-US" baseline="30000" dirty="0" smtClean="0"/>
              <a:t>o</a:t>
            </a:r>
            <a:r>
              <a:rPr lang="en-GB" altLang="en-US" dirty="0" smtClean="0"/>
              <a:t>.</a:t>
            </a:r>
          </a:p>
        </p:txBody>
      </p:sp>
      <p:sp>
        <p:nvSpPr>
          <p:cNvPr id="94" name="Text Box 10" descr="Parchment"/>
          <p:cNvSpPr txBox="1">
            <a:spLocks noChangeArrowheads="1"/>
          </p:cNvSpPr>
          <p:nvPr/>
        </p:nvSpPr>
        <p:spPr bwMode="auto">
          <a:xfrm>
            <a:off x="2603284" y="1144840"/>
            <a:ext cx="6802438" cy="376237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 To construct a triangle, given </a:t>
            </a:r>
            <a:r>
              <a:rPr lang="en-GB" altLang="en-US" b="1" dirty="0" smtClean="0">
                <a:solidFill>
                  <a:schemeClr val="accent6">
                    <a:lumMod val="75000"/>
                  </a:schemeClr>
                </a:solidFill>
              </a:rPr>
              <a:t>2 sides </a:t>
            </a:r>
            <a:r>
              <a:rPr lang="en-GB" altLang="en-US" dirty="0" smtClean="0"/>
              <a:t>and </a:t>
            </a:r>
            <a:r>
              <a:rPr lang="en-GB" alt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GB" altLang="en-US" b="1" dirty="0" smtClean="0">
                <a:solidFill>
                  <a:schemeClr val="accent6">
                    <a:lumMod val="75000"/>
                  </a:schemeClr>
                </a:solidFill>
              </a:rPr>
              <a:t> angle</a:t>
            </a:r>
            <a:r>
              <a:rPr lang="en-GB" altLang="en-US" dirty="0" smtClean="0"/>
              <a:t>.</a:t>
            </a:r>
            <a:endParaRPr lang="en-US" altLang="en-US" dirty="0" smtClean="0"/>
          </a:p>
        </p:txBody>
      </p:sp>
      <p:sp>
        <p:nvSpPr>
          <p:cNvPr id="95" name="Text Box 11" descr="Parchment"/>
          <p:cNvSpPr txBox="1">
            <a:spLocks noChangeArrowheads="1"/>
          </p:cNvSpPr>
          <p:nvPr/>
        </p:nvSpPr>
        <p:spPr bwMode="auto">
          <a:xfrm>
            <a:off x="1612015" y="1895002"/>
            <a:ext cx="848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1.</a:t>
            </a:r>
            <a:r>
              <a:rPr lang="en-GB" altLang="en-US" dirty="0" smtClean="0">
                <a:solidFill>
                  <a:srgbClr val="000000"/>
                </a:solidFill>
              </a:rPr>
              <a:t> Draw a straight line 10 cm long.</a:t>
            </a:r>
          </a:p>
        </p:txBody>
      </p:sp>
      <p:sp>
        <p:nvSpPr>
          <p:cNvPr id="96" name="Text Box 17" descr="Parchment"/>
          <p:cNvSpPr txBox="1">
            <a:spLocks noChangeArrowheads="1"/>
          </p:cNvSpPr>
          <p:nvPr/>
        </p:nvSpPr>
        <p:spPr bwMode="auto">
          <a:xfrm>
            <a:off x="1612015" y="2219714"/>
            <a:ext cx="8799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2. </a:t>
            </a:r>
            <a:r>
              <a:rPr lang="en-GB" altLang="en-US" dirty="0" smtClean="0">
                <a:solidFill>
                  <a:srgbClr val="000000"/>
                </a:solidFill>
              </a:rPr>
              <a:t>Use a protractor to draw an angle of 115</a:t>
            </a:r>
            <a:r>
              <a:rPr lang="en-GB" altLang="en-US" baseline="30000" dirty="0" smtClean="0">
                <a:solidFill>
                  <a:srgbClr val="000000"/>
                </a:solidFill>
              </a:rPr>
              <a:t>o</a:t>
            </a:r>
            <a:r>
              <a:rPr lang="en-GB" altLang="en-US" dirty="0" smtClean="0">
                <a:solidFill>
                  <a:srgbClr val="000000"/>
                </a:solidFill>
              </a:rPr>
              <a:t> on either end of line.</a:t>
            </a:r>
          </a:p>
        </p:txBody>
      </p:sp>
      <p:sp>
        <p:nvSpPr>
          <p:cNvPr id="97" name="Text Box 23" descr="Parchment"/>
          <p:cNvSpPr txBox="1">
            <a:spLocks noChangeArrowheads="1"/>
          </p:cNvSpPr>
          <p:nvPr/>
        </p:nvSpPr>
        <p:spPr bwMode="auto">
          <a:xfrm>
            <a:off x="1612015" y="2544426"/>
            <a:ext cx="8799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3. </a:t>
            </a:r>
            <a:r>
              <a:rPr lang="en-GB" altLang="en-US" dirty="0" smtClean="0">
                <a:solidFill>
                  <a:srgbClr val="000000"/>
                </a:solidFill>
              </a:rPr>
              <a:t>Mark off a length of 7 cm.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17465" y="3683574"/>
            <a:ext cx="4139952" cy="25649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9" name="Group 24"/>
          <p:cNvGrpSpPr>
            <a:grpSpLocks/>
          </p:cNvGrpSpPr>
          <p:nvPr/>
        </p:nvGrpSpPr>
        <p:grpSpPr bwMode="auto">
          <a:xfrm>
            <a:off x="2197803" y="5759528"/>
            <a:ext cx="6350000" cy="584200"/>
            <a:chOff x="1137" y="3730"/>
            <a:chExt cx="4000" cy="368"/>
          </a:xfrm>
        </p:grpSpPr>
        <p:sp>
          <p:nvSpPr>
            <p:cNvPr id="100" name="Line 25"/>
            <p:cNvSpPr>
              <a:spLocks noChangeShapeType="1"/>
            </p:cNvSpPr>
            <p:nvPr/>
          </p:nvSpPr>
          <p:spPr bwMode="auto">
            <a:xfrm>
              <a:off x="1361" y="3875"/>
              <a:ext cx="35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01" name="Text Box 26"/>
            <p:cNvSpPr txBox="1">
              <a:spLocks noChangeArrowheads="1"/>
            </p:cNvSpPr>
            <p:nvPr/>
          </p:nvSpPr>
          <p:spPr bwMode="auto">
            <a:xfrm>
              <a:off x="1137" y="376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A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2" name="Text Box 27"/>
            <p:cNvSpPr txBox="1">
              <a:spLocks noChangeArrowheads="1"/>
            </p:cNvSpPr>
            <p:nvPr/>
          </p:nvSpPr>
          <p:spPr bwMode="auto">
            <a:xfrm>
              <a:off x="4910" y="3730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B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" name="Text Box 28"/>
            <p:cNvSpPr txBox="1">
              <a:spLocks noChangeArrowheads="1"/>
            </p:cNvSpPr>
            <p:nvPr/>
          </p:nvSpPr>
          <p:spPr bwMode="auto">
            <a:xfrm>
              <a:off x="2761" y="3867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10 cm</a:t>
              </a:r>
            </a:p>
          </p:txBody>
        </p:sp>
      </p:grpSp>
      <p:sp>
        <p:nvSpPr>
          <p:cNvPr id="104" name="Freeform 42"/>
          <p:cNvSpPr>
            <a:spLocks/>
          </p:cNvSpPr>
          <p:nvPr/>
        </p:nvSpPr>
        <p:spPr bwMode="auto">
          <a:xfrm>
            <a:off x="8150928" y="1963816"/>
            <a:ext cx="1806575" cy="4025900"/>
          </a:xfrm>
          <a:custGeom>
            <a:avLst/>
            <a:gdLst>
              <a:gd name="T0" fmla="*/ 1138 w 1138"/>
              <a:gd name="T1" fmla="*/ 0 h 2536"/>
              <a:gd name="T2" fmla="*/ 0 w 1138"/>
              <a:gd name="T3" fmla="*/ 2536 h 2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38" h="2536">
                <a:moveTo>
                  <a:pt x="1138" y="0"/>
                </a:moveTo>
                <a:lnTo>
                  <a:pt x="0" y="2536"/>
                </a:lnTo>
              </a:path>
            </a:pathLst>
          </a:custGeom>
          <a:noFill/>
          <a:ln w="9525">
            <a:solidFill>
              <a:srgbClr val="0066FF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  <p:sp>
        <p:nvSpPr>
          <p:cNvPr id="105" name="Text Box 29" descr="Parchment"/>
          <p:cNvSpPr txBox="1">
            <a:spLocks noChangeArrowheads="1"/>
          </p:cNvSpPr>
          <p:nvPr/>
        </p:nvSpPr>
        <p:spPr bwMode="auto">
          <a:xfrm>
            <a:off x="1612015" y="2869137"/>
            <a:ext cx="8358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4.</a:t>
            </a:r>
            <a:r>
              <a:rPr lang="en-GB" altLang="en-US" dirty="0" smtClean="0">
                <a:solidFill>
                  <a:srgbClr val="0000FF"/>
                </a:solidFill>
              </a:rPr>
              <a:t> </a:t>
            </a:r>
            <a:r>
              <a:rPr lang="en-GB" altLang="en-US" dirty="0" smtClean="0">
                <a:solidFill>
                  <a:srgbClr val="000000"/>
                </a:solidFill>
              </a:rPr>
              <a:t>Join end points to form the required triangle.</a:t>
            </a:r>
          </a:p>
        </p:txBody>
      </p:sp>
      <p:grpSp>
        <p:nvGrpSpPr>
          <p:cNvPr id="106" name="Group 31"/>
          <p:cNvGrpSpPr>
            <a:grpSpLocks/>
          </p:cNvGrpSpPr>
          <p:nvPr/>
        </p:nvGrpSpPr>
        <p:grpSpPr bwMode="auto">
          <a:xfrm>
            <a:off x="8911910" y="2294462"/>
            <a:ext cx="762000" cy="3905250"/>
            <a:chOff x="4776" y="1320"/>
            <a:chExt cx="480" cy="2460"/>
          </a:xfrm>
        </p:grpSpPr>
        <p:sp>
          <p:nvSpPr>
            <p:cNvPr id="107" name="Line 25"/>
            <p:cNvSpPr>
              <a:spLocks noChangeShapeType="1"/>
            </p:cNvSpPr>
            <p:nvPr/>
          </p:nvSpPr>
          <p:spPr bwMode="auto">
            <a:xfrm rot="6853920">
              <a:off x="3550" y="2550"/>
              <a:ext cx="24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08" name="Text Box 30"/>
            <p:cNvSpPr txBox="1">
              <a:spLocks noChangeArrowheads="1"/>
            </p:cNvSpPr>
            <p:nvPr/>
          </p:nvSpPr>
          <p:spPr bwMode="auto">
            <a:xfrm>
              <a:off x="4776" y="2676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7 cm</a:t>
              </a:r>
            </a:p>
          </p:txBody>
        </p:sp>
      </p:grpSp>
      <p:sp>
        <p:nvSpPr>
          <p:cNvPr id="109" name="Text Box 32"/>
          <p:cNvSpPr txBox="1">
            <a:spLocks noChangeArrowheads="1"/>
          </p:cNvSpPr>
          <p:nvPr/>
        </p:nvSpPr>
        <p:spPr bwMode="auto">
          <a:xfrm>
            <a:off x="7502210" y="5590112"/>
            <a:ext cx="895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>
                <a:solidFill>
                  <a:srgbClr val="000000"/>
                </a:solidFill>
              </a:rPr>
              <a:t>115</a:t>
            </a:r>
            <a:r>
              <a:rPr lang="en-GB" altLang="en-US" baseline="30000" dirty="0" smtClean="0">
                <a:solidFill>
                  <a:srgbClr val="000000"/>
                </a:solidFill>
              </a:rPr>
              <a:t>o</a:t>
            </a:r>
            <a:endParaRPr lang="en-GB" altLang="en-US" dirty="0" smtClean="0">
              <a:solidFill>
                <a:srgbClr val="000000"/>
              </a:solidFill>
            </a:endParaRPr>
          </a:p>
        </p:txBody>
      </p:sp>
      <p:sp>
        <p:nvSpPr>
          <p:cNvPr id="110" name="Freeform 28"/>
          <p:cNvSpPr>
            <a:spLocks/>
          </p:cNvSpPr>
          <p:nvPr/>
        </p:nvSpPr>
        <p:spPr bwMode="auto">
          <a:xfrm>
            <a:off x="2562306" y="2432450"/>
            <a:ext cx="7186613" cy="3551238"/>
          </a:xfrm>
          <a:custGeom>
            <a:avLst/>
            <a:gdLst>
              <a:gd name="T0" fmla="*/ 0 w 4527"/>
              <a:gd name="T1" fmla="*/ 2237 h 2237"/>
              <a:gd name="T2" fmla="*/ 4527 w 4527"/>
              <a:gd name="T3" fmla="*/ 0 h 223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27" h="2237">
                <a:moveTo>
                  <a:pt x="0" y="2237"/>
                </a:moveTo>
                <a:lnTo>
                  <a:pt x="4527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19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8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8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8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uild="p"/>
      <p:bldP spid="96" grpId="0" build="p"/>
      <p:bldP spid="97" grpId="0" build="p"/>
      <p:bldP spid="98" grpId="0" animBg="1"/>
      <p:bldP spid="104" grpId="0" animBg="1"/>
      <p:bldP spid="105" grpId="0" build="p"/>
      <p:bldP spid="109" grpId="0"/>
      <p:bldP spid="1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28016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1280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 TRIANGLE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5669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Sides</a:t>
            </a:r>
            <a:endParaRPr lang="en-US" sz="2700" dirty="0"/>
          </a:p>
        </p:txBody>
      </p:sp>
      <p:sp>
        <p:nvSpPr>
          <p:cNvPr id="89" name="Shape 39"/>
          <p:cNvSpPr/>
          <p:nvPr/>
        </p:nvSpPr>
        <p:spPr>
          <a:xfrm>
            <a:off x="1612015" y="1133855"/>
            <a:ext cx="8967663" cy="509882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3" name="Text Box 19" descr="Parchment"/>
          <p:cNvSpPr txBox="1">
            <a:spLocks noChangeArrowheads="1"/>
          </p:cNvSpPr>
          <p:nvPr/>
        </p:nvSpPr>
        <p:spPr bwMode="auto">
          <a:xfrm>
            <a:off x="2855764" y="1164435"/>
            <a:ext cx="6357938" cy="376237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>
                <a:solidFill>
                  <a:srgbClr val="000000"/>
                </a:solidFill>
              </a:rPr>
              <a:t>To </a:t>
            </a:r>
            <a:r>
              <a:rPr lang="en-GB" altLang="en-US" dirty="0"/>
              <a:t>c</a:t>
            </a:r>
            <a:r>
              <a:rPr lang="en-GB" altLang="en-US" dirty="0" smtClean="0"/>
              <a:t>onstruct a triangle, given </a:t>
            </a:r>
            <a:r>
              <a:rPr lang="en-GB" altLang="en-US" b="1" dirty="0" smtClean="0">
                <a:solidFill>
                  <a:schemeClr val="accent6">
                    <a:lumMod val="75000"/>
                  </a:schemeClr>
                </a:solidFill>
              </a:rPr>
              <a:t>3 sides</a:t>
            </a:r>
            <a:r>
              <a:rPr lang="en-GB" altLang="en-US" dirty="0" smtClean="0">
                <a:solidFill>
                  <a:srgbClr val="000000"/>
                </a:solidFill>
              </a:rPr>
              <a:t>.</a:t>
            </a: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64" name="Text Box 22" descr="Parchment"/>
          <p:cNvSpPr txBox="1">
            <a:spLocks noChangeArrowheads="1"/>
          </p:cNvSpPr>
          <p:nvPr/>
        </p:nvSpPr>
        <p:spPr bwMode="auto">
          <a:xfrm>
            <a:off x="1713558" y="1596235"/>
            <a:ext cx="71580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Construct a triangle of sides 7 cm, 3½  cm and 10 cm.</a:t>
            </a:r>
          </a:p>
        </p:txBody>
      </p:sp>
      <p:sp>
        <p:nvSpPr>
          <p:cNvPr id="65" name="Text Box 23" descr="Parchment"/>
          <p:cNvSpPr txBox="1">
            <a:spLocks noChangeArrowheads="1"/>
          </p:cNvSpPr>
          <p:nvPr/>
        </p:nvSpPr>
        <p:spPr bwMode="auto">
          <a:xfrm>
            <a:off x="1713558" y="1911751"/>
            <a:ext cx="848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1. Using the longest side </a:t>
            </a:r>
            <a:r>
              <a:rPr lang="en-GB" altLang="en-US" dirty="0" smtClean="0">
                <a:solidFill>
                  <a:srgbClr val="000000"/>
                </a:solidFill>
              </a:rPr>
              <a:t>as the base, draw a straight line 10 cm long.</a:t>
            </a:r>
          </a:p>
        </p:txBody>
      </p:sp>
      <p:grpSp>
        <p:nvGrpSpPr>
          <p:cNvPr id="66" name="Group 455"/>
          <p:cNvGrpSpPr>
            <a:grpSpLocks/>
          </p:cNvGrpSpPr>
          <p:nvPr/>
        </p:nvGrpSpPr>
        <p:grpSpPr bwMode="auto">
          <a:xfrm>
            <a:off x="2936342" y="5521130"/>
            <a:ext cx="6350000" cy="584200"/>
            <a:chOff x="1137" y="3730"/>
            <a:chExt cx="4000" cy="368"/>
          </a:xfrm>
        </p:grpSpPr>
        <p:sp>
          <p:nvSpPr>
            <p:cNvPr id="67" name="Line 25"/>
            <p:cNvSpPr>
              <a:spLocks noChangeShapeType="1"/>
            </p:cNvSpPr>
            <p:nvPr/>
          </p:nvSpPr>
          <p:spPr bwMode="auto">
            <a:xfrm>
              <a:off x="1361" y="3875"/>
              <a:ext cx="35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68" name="Text Box 26"/>
            <p:cNvSpPr txBox="1">
              <a:spLocks noChangeArrowheads="1"/>
            </p:cNvSpPr>
            <p:nvPr/>
          </p:nvSpPr>
          <p:spPr bwMode="auto">
            <a:xfrm>
              <a:off x="1137" y="376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A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9" name="Text Box 27"/>
            <p:cNvSpPr txBox="1">
              <a:spLocks noChangeArrowheads="1"/>
            </p:cNvSpPr>
            <p:nvPr/>
          </p:nvSpPr>
          <p:spPr bwMode="auto">
            <a:xfrm>
              <a:off x="4910" y="3730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B</a:t>
              </a:r>
              <a:endParaRPr lang="en-US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0" name="Text Box 28"/>
            <p:cNvSpPr txBox="1">
              <a:spLocks noChangeArrowheads="1"/>
            </p:cNvSpPr>
            <p:nvPr/>
          </p:nvSpPr>
          <p:spPr bwMode="auto">
            <a:xfrm>
              <a:off x="2761" y="3867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10 cm</a:t>
              </a:r>
            </a:p>
          </p:txBody>
        </p:sp>
      </p:grpSp>
      <p:sp>
        <p:nvSpPr>
          <p:cNvPr id="71" name="Text Box 29" descr="Parchment"/>
          <p:cNvSpPr txBox="1">
            <a:spLocks noChangeArrowheads="1"/>
          </p:cNvSpPr>
          <p:nvPr/>
        </p:nvSpPr>
        <p:spPr bwMode="auto">
          <a:xfrm>
            <a:off x="1713558" y="2227266"/>
            <a:ext cx="5957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2. </a:t>
            </a:r>
            <a:r>
              <a:rPr lang="en-GB" altLang="en-US" dirty="0" smtClean="0">
                <a:solidFill>
                  <a:srgbClr val="000000"/>
                </a:solidFill>
              </a:rPr>
              <a:t>Set compass to 7 cm, place at A and draw an arc.</a:t>
            </a:r>
          </a:p>
        </p:txBody>
      </p:sp>
      <p:grpSp>
        <p:nvGrpSpPr>
          <p:cNvPr id="72" name="Group 38"/>
          <p:cNvGrpSpPr>
            <a:grpSpLocks/>
          </p:cNvGrpSpPr>
          <p:nvPr/>
        </p:nvGrpSpPr>
        <p:grpSpPr bwMode="auto">
          <a:xfrm rot="-894811">
            <a:off x="2922054" y="4679755"/>
            <a:ext cx="666750" cy="1079500"/>
            <a:chOff x="1572" y="2727"/>
            <a:chExt cx="420" cy="680"/>
          </a:xfrm>
        </p:grpSpPr>
        <p:sp>
          <p:nvSpPr>
            <p:cNvPr id="73" name="AutoShape 39"/>
            <p:cNvSpPr>
              <a:spLocks noChangeAspect="1" noChangeArrowheads="1" noTextEdit="1"/>
            </p:cNvSpPr>
            <p:nvPr/>
          </p:nvSpPr>
          <p:spPr bwMode="auto">
            <a:xfrm>
              <a:off x="1572" y="2727"/>
              <a:ext cx="420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4" name="Freeform 40"/>
            <p:cNvSpPr>
              <a:spLocks/>
            </p:cNvSpPr>
            <p:nvPr/>
          </p:nvSpPr>
          <p:spPr bwMode="auto">
            <a:xfrm>
              <a:off x="1836" y="2937"/>
              <a:ext cx="144" cy="252"/>
            </a:xfrm>
            <a:custGeom>
              <a:avLst/>
              <a:gdLst>
                <a:gd name="T0" fmla="*/ 24 w 24"/>
                <a:gd name="T1" fmla="*/ 39 h 42"/>
                <a:gd name="T2" fmla="*/ 23 w 24"/>
                <a:gd name="T3" fmla="*/ 40 h 42"/>
                <a:gd name="T4" fmla="*/ 22 w 24"/>
                <a:gd name="T5" fmla="*/ 40 h 42"/>
                <a:gd name="T6" fmla="*/ 21 w 24"/>
                <a:gd name="T7" fmla="*/ 41 h 42"/>
                <a:gd name="T8" fmla="*/ 20 w 24"/>
                <a:gd name="T9" fmla="*/ 41 h 42"/>
                <a:gd name="T10" fmla="*/ 18 w 24"/>
                <a:gd name="T11" fmla="*/ 42 h 42"/>
                <a:gd name="T12" fmla="*/ 17 w 24"/>
                <a:gd name="T13" fmla="*/ 42 h 42"/>
                <a:gd name="T14" fmla="*/ 15 w 24"/>
                <a:gd name="T15" fmla="*/ 42 h 42"/>
                <a:gd name="T16" fmla="*/ 13 w 24"/>
                <a:gd name="T17" fmla="*/ 38 h 42"/>
                <a:gd name="T18" fmla="*/ 10 w 24"/>
                <a:gd name="T19" fmla="*/ 31 h 42"/>
                <a:gd name="T20" fmla="*/ 7 w 24"/>
                <a:gd name="T21" fmla="*/ 23 h 42"/>
                <a:gd name="T22" fmla="*/ 4 w 24"/>
                <a:gd name="T23" fmla="*/ 16 h 42"/>
                <a:gd name="T24" fmla="*/ 2 w 24"/>
                <a:gd name="T25" fmla="*/ 11 h 42"/>
                <a:gd name="T26" fmla="*/ 1 w 24"/>
                <a:gd name="T27" fmla="*/ 9 h 42"/>
                <a:gd name="T28" fmla="*/ 0 w 24"/>
                <a:gd name="T29" fmla="*/ 6 h 42"/>
                <a:gd name="T30" fmla="*/ 0 w 24"/>
                <a:gd name="T31" fmla="*/ 5 h 42"/>
                <a:gd name="T32" fmla="*/ 0 w 24"/>
                <a:gd name="T33" fmla="*/ 4 h 42"/>
                <a:gd name="T34" fmla="*/ 0 w 24"/>
                <a:gd name="T35" fmla="*/ 3 h 42"/>
                <a:gd name="T36" fmla="*/ 0 w 24"/>
                <a:gd name="T37" fmla="*/ 3 h 42"/>
                <a:gd name="T38" fmla="*/ 1 w 24"/>
                <a:gd name="T39" fmla="*/ 2 h 42"/>
                <a:gd name="T40" fmla="*/ 1 w 24"/>
                <a:gd name="T41" fmla="*/ 2 h 42"/>
                <a:gd name="T42" fmla="*/ 2 w 24"/>
                <a:gd name="T43" fmla="*/ 1 h 42"/>
                <a:gd name="T44" fmla="*/ 3 w 24"/>
                <a:gd name="T45" fmla="*/ 1 h 42"/>
                <a:gd name="T46" fmla="*/ 3 w 24"/>
                <a:gd name="T47" fmla="*/ 0 h 42"/>
                <a:gd name="T48" fmla="*/ 4 w 24"/>
                <a:gd name="T49" fmla="*/ 0 h 42"/>
                <a:gd name="T50" fmla="*/ 5 w 24"/>
                <a:gd name="T51" fmla="*/ 0 h 42"/>
                <a:gd name="T52" fmla="*/ 6 w 24"/>
                <a:gd name="T53" fmla="*/ 0 h 42"/>
                <a:gd name="T54" fmla="*/ 6 w 24"/>
                <a:gd name="T55" fmla="*/ 0 h 42"/>
                <a:gd name="T56" fmla="*/ 7 w 24"/>
                <a:gd name="T57" fmla="*/ 0 h 42"/>
                <a:gd name="T58" fmla="*/ 8 w 24"/>
                <a:gd name="T59" fmla="*/ 0 h 42"/>
                <a:gd name="T60" fmla="*/ 8 w 24"/>
                <a:gd name="T61" fmla="*/ 0 h 42"/>
                <a:gd name="T62" fmla="*/ 9 w 24"/>
                <a:gd name="T63" fmla="*/ 1 h 42"/>
                <a:gd name="T64" fmla="*/ 10 w 24"/>
                <a:gd name="T65" fmla="*/ 1 h 42"/>
                <a:gd name="T66" fmla="*/ 10 w 24"/>
                <a:gd name="T67" fmla="*/ 2 h 42"/>
                <a:gd name="T68" fmla="*/ 11 w 24"/>
                <a:gd name="T69" fmla="*/ 2 h 42"/>
                <a:gd name="T70" fmla="*/ 11 w 24"/>
                <a:gd name="T71" fmla="*/ 3 h 42"/>
                <a:gd name="T72" fmla="*/ 12 w 24"/>
                <a:gd name="T73" fmla="*/ 6 h 42"/>
                <a:gd name="T74" fmla="*/ 14 w 24"/>
                <a:gd name="T75" fmla="*/ 10 h 42"/>
                <a:gd name="T76" fmla="*/ 16 w 24"/>
                <a:gd name="T77" fmla="*/ 16 h 42"/>
                <a:gd name="T78" fmla="*/ 19 w 24"/>
                <a:gd name="T79" fmla="*/ 24 h 42"/>
                <a:gd name="T80" fmla="*/ 22 w 24"/>
                <a:gd name="T81" fmla="*/ 30 h 42"/>
                <a:gd name="T82" fmla="*/ 24 w 24"/>
                <a:gd name="T83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" h="42">
                  <a:moveTo>
                    <a:pt x="24" y="38"/>
                  </a:moveTo>
                  <a:lnTo>
                    <a:pt x="24" y="39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20" y="41"/>
                  </a:lnTo>
                  <a:lnTo>
                    <a:pt x="20" y="41"/>
                  </a:lnTo>
                  <a:lnTo>
                    <a:pt x="19" y="41"/>
                  </a:lnTo>
                  <a:lnTo>
                    <a:pt x="18" y="42"/>
                  </a:lnTo>
                  <a:lnTo>
                    <a:pt x="18" y="42"/>
                  </a:lnTo>
                  <a:lnTo>
                    <a:pt x="17" y="42"/>
                  </a:lnTo>
                  <a:lnTo>
                    <a:pt x="16" y="42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3" y="38"/>
                  </a:lnTo>
                  <a:lnTo>
                    <a:pt x="12" y="35"/>
                  </a:lnTo>
                  <a:lnTo>
                    <a:pt x="10" y="31"/>
                  </a:lnTo>
                  <a:lnTo>
                    <a:pt x="9" y="27"/>
                  </a:lnTo>
                  <a:lnTo>
                    <a:pt x="7" y="23"/>
                  </a:lnTo>
                  <a:lnTo>
                    <a:pt x="5" y="19"/>
                  </a:lnTo>
                  <a:lnTo>
                    <a:pt x="4" y="16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4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9" y="24"/>
                  </a:lnTo>
                  <a:lnTo>
                    <a:pt x="20" y="27"/>
                  </a:lnTo>
                  <a:lnTo>
                    <a:pt x="22" y="30"/>
                  </a:lnTo>
                  <a:lnTo>
                    <a:pt x="23" y="33"/>
                  </a:lnTo>
                  <a:lnTo>
                    <a:pt x="24" y="36"/>
                  </a:lnTo>
                  <a:lnTo>
                    <a:pt x="24" y="38"/>
                  </a:lnTo>
                </a:path>
              </a:pathLst>
            </a:custGeom>
            <a:solidFill>
              <a:srgbClr val="E648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5" name="Freeform 41"/>
            <p:cNvSpPr>
              <a:spLocks/>
            </p:cNvSpPr>
            <p:nvPr/>
          </p:nvSpPr>
          <p:spPr bwMode="auto">
            <a:xfrm>
              <a:off x="1920" y="3165"/>
              <a:ext cx="66" cy="24"/>
            </a:xfrm>
            <a:custGeom>
              <a:avLst/>
              <a:gdLst>
                <a:gd name="T0" fmla="*/ 1 w 11"/>
                <a:gd name="T1" fmla="*/ 3 h 4"/>
                <a:gd name="T2" fmla="*/ 1 w 11"/>
                <a:gd name="T3" fmla="*/ 3 h 4"/>
                <a:gd name="T4" fmla="*/ 1 w 11"/>
                <a:gd name="T5" fmla="*/ 3 h 4"/>
                <a:gd name="T6" fmla="*/ 2 w 11"/>
                <a:gd name="T7" fmla="*/ 3 h 4"/>
                <a:gd name="T8" fmla="*/ 3 w 11"/>
                <a:gd name="T9" fmla="*/ 3 h 4"/>
                <a:gd name="T10" fmla="*/ 3 w 11"/>
                <a:gd name="T11" fmla="*/ 3 h 4"/>
                <a:gd name="T12" fmla="*/ 4 w 11"/>
                <a:gd name="T13" fmla="*/ 3 h 4"/>
                <a:gd name="T14" fmla="*/ 5 w 11"/>
                <a:gd name="T15" fmla="*/ 3 h 4"/>
                <a:gd name="T16" fmla="*/ 5 w 11"/>
                <a:gd name="T17" fmla="*/ 3 h 4"/>
                <a:gd name="T18" fmla="*/ 6 w 11"/>
                <a:gd name="T19" fmla="*/ 3 h 4"/>
                <a:gd name="T20" fmla="*/ 7 w 11"/>
                <a:gd name="T21" fmla="*/ 3 h 4"/>
                <a:gd name="T22" fmla="*/ 7 w 11"/>
                <a:gd name="T23" fmla="*/ 2 h 4"/>
                <a:gd name="T24" fmla="*/ 8 w 11"/>
                <a:gd name="T25" fmla="*/ 2 h 4"/>
                <a:gd name="T26" fmla="*/ 8 w 11"/>
                <a:gd name="T27" fmla="*/ 2 h 4"/>
                <a:gd name="T28" fmla="*/ 9 w 11"/>
                <a:gd name="T29" fmla="*/ 1 h 4"/>
                <a:gd name="T30" fmla="*/ 9 w 11"/>
                <a:gd name="T31" fmla="*/ 1 h 4"/>
                <a:gd name="T32" fmla="*/ 10 w 11"/>
                <a:gd name="T33" fmla="*/ 0 h 4"/>
                <a:gd name="T34" fmla="*/ 10 w 11"/>
                <a:gd name="T35" fmla="*/ 0 h 4"/>
                <a:gd name="T36" fmla="*/ 11 w 11"/>
                <a:gd name="T37" fmla="*/ 0 h 4"/>
                <a:gd name="T38" fmla="*/ 10 w 11"/>
                <a:gd name="T39" fmla="*/ 1 h 4"/>
                <a:gd name="T40" fmla="*/ 10 w 11"/>
                <a:gd name="T41" fmla="*/ 1 h 4"/>
                <a:gd name="T42" fmla="*/ 9 w 11"/>
                <a:gd name="T43" fmla="*/ 2 h 4"/>
                <a:gd name="T44" fmla="*/ 9 w 11"/>
                <a:gd name="T45" fmla="*/ 2 h 4"/>
                <a:gd name="T46" fmla="*/ 8 w 11"/>
                <a:gd name="T47" fmla="*/ 3 h 4"/>
                <a:gd name="T48" fmla="*/ 8 w 11"/>
                <a:gd name="T49" fmla="*/ 3 h 4"/>
                <a:gd name="T50" fmla="*/ 7 w 11"/>
                <a:gd name="T51" fmla="*/ 3 h 4"/>
                <a:gd name="T52" fmla="*/ 6 w 11"/>
                <a:gd name="T53" fmla="*/ 3 h 4"/>
                <a:gd name="T54" fmla="*/ 6 w 11"/>
                <a:gd name="T55" fmla="*/ 4 h 4"/>
                <a:gd name="T56" fmla="*/ 5 w 11"/>
                <a:gd name="T57" fmla="*/ 4 h 4"/>
                <a:gd name="T58" fmla="*/ 4 w 11"/>
                <a:gd name="T59" fmla="*/ 4 h 4"/>
                <a:gd name="T60" fmla="*/ 4 w 11"/>
                <a:gd name="T61" fmla="*/ 4 h 4"/>
                <a:gd name="T62" fmla="*/ 3 w 11"/>
                <a:gd name="T63" fmla="*/ 4 h 4"/>
                <a:gd name="T64" fmla="*/ 2 w 11"/>
                <a:gd name="T65" fmla="*/ 4 h 4"/>
                <a:gd name="T66" fmla="*/ 1 w 11"/>
                <a:gd name="T67" fmla="*/ 4 h 4"/>
                <a:gd name="T68" fmla="*/ 1 w 11"/>
                <a:gd name="T69" fmla="*/ 4 h 4"/>
                <a:gd name="T70" fmla="*/ 0 w 11"/>
                <a:gd name="T71" fmla="*/ 4 h 4"/>
                <a:gd name="T72" fmla="*/ 1 w 11"/>
                <a:gd name="T7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">
                  <a:moveTo>
                    <a:pt x="1" y="3"/>
                  </a:move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6" name="Freeform 42"/>
            <p:cNvSpPr>
              <a:spLocks/>
            </p:cNvSpPr>
            <p:nvPr/>
          </p:nvSpPr>
          <p:spPr bwMode="auto">
            <a:xfrm>
              <a:off x="1848" y="3009"/>
              <a:ext cx="78" cy="180"/>
            </a:xfrm>
            <a:custGeom>
              <a:avLst/>
              <a:gdLst>
                <a:gd name="T0" fmla="*/ 1 w 13"/>
                <a:gd name="T1" fmla="*/ 0 h 30"/>
                <a:gd name="T2" fmla="*/ 1 w 13"/>
                <a:gd name="T3" fmla="*/ 0 h 30"/>
                <a:gd name="T4" fmla="*/ 2 w 13"/>
                <a:gd name="T5" fmla="*/ 3 h 30"/>
                <a:gd name="T6" fmla="*/ 4 w 13"/>
                <a:gd name="T7" fmla="*/ 7 h 30"/>
                <a:gd name="T8" fmla="*/ 5 w 13"/>
                <a:gd name="T9" fmla="*/ 11 h 30"/>
                <a:gd name="T10" fmla="*/ 7 w 13"/>
                <a:gd name="T11" fmla="*/ 15 h 30"/>
                <a:gd name="T12" fmla="*/ 8 w 13"/>
                <a:gd name="T13" fmla="*/ 19 h 30"/>
                <a:gd name="T14" fmla="*/ 10 w 13"/>
                <a:gd name="T15" fmla="*/ 23 h 30"/>
                <a:gd name="T16" fmla="*/ 12 w 13"/>
                <a:gd name="T17" fmla="*/ 26 h 30"/>
                <a:gd name="T18" fmla="*/ 13 w 13"/>
                <a:gd name="T19" fmla="*/ 29 h 30"/>
                <a:gd name="T20" fmla="*/ 12 w 13"/>
                <a:gd name="T21" fmla="*/ 30 h 30"/>
                <a:gd name="T22" fmla="*/ 11 w 13"/>
                <a:gd name="T23" fmla="*/ 27 h 30"/>
                <a:gd name="T24" fmla="*/ 9 w 13"/>
                <a:gd name="T25" fmla="*/ 23 h 30"/>
                <a:gd name="T26" fmla="*/ 8 w 13"/>
                <a:gd name="T27" fmla="*/ 19 h 30"/>
                <a:gd name="T28" fmla="*/ 6 w 13"/>
                <a:gd name="T29" fmla="*/ 15 h 30"/>
                <a:gd name="T30" fmla="*/ 5 w 13"/>
                <a:gd name="T31" fmla="*/ 11 h 30"/>
                <a:gd name="T32" fmla="*/ 3 w 13"/>
                <a:gd name="T33" fmla="*/ 7 h 30"/>
                <a:gd name="T34" fmla="*/ 1 w 13"/>
                <a:gd name="T35" fmla="*/ 4 h 30"/>
                <a:gd name="T36" fmla="*/ 0 w 13"/>
                <a:gd name="T37" fmla="*/ 0 h 30"/>
                <a:gd name="T38" fmla="*/ 0 w 13"/>
                <a:gd name="T39" fmla="*/ 0 h 30"/>
                <a:gd name="T40" fmla="*/ 1 w 13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" h="30">
                  <a:moveTo>
                    <a:pt x="1" y="0"/>
                  </a:moveTo>
                  <a:lnTo>
                    <a:pt x="1" y="0"/>
                  </a:lnTo>
                  <a:lnTo>
                    <a:pt x="2" y="3"/>
                  </a:lnTo>
                  <a:lnTo>
                    <a:pt x="4" y="7"/>
                  </a:lnTo>
                  <a:lnTo>
                    <a:pt x="5" y="11"/>
                  </a:lnTo>
                  <a:lnTo>
                    <a:pt x="7" y="15"/>
                  </a:lnTo>
                  <a:lnTo>
                    <a:pt x="8" y="19"/>
                  </a:lnTo>
                  <a:lnTo>
                    <a:pt x="10" y="23"/>
                  </a:lnTo>
                  <a:lnTo>
                    <a:pt x="12" y="26"/>
                  </a:lnTo>
                  <a:lnTo>
                    <a:pt x="13" y="29"/>
                  </a:lnTo>
                  <a:lnTo>
                    <a:pt x="12" y="30"/>
                  </a:lnTo>
                  <a:lnTo>
                    <a:pt x="11" y="27"/>
                  </a:lnTo>
                  <a:lnTo>
                    <a:pt x="9" y="23"/>
                  </a:lnTo>
                  <a:lnTo>
                    <a:pt x="8" y="19"/>
                  </a:lnTo>
                  <a:lnTo>
                    <a:pt x="6" y="15"/>
                  </a:lnTo>
                  <a:lnTo>
                    <a:pt x="5" y="11"/>
                  </a:lnTo>
                  <a:lnTo>
                    <a:pt x="3" y="7"/>
                  </a:lnTo>
                  <a:lnTo>
                    <a:pt x="1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7" name="Freeform 43"/>
            <p:cNvSpPr>
              <a:spLocks/>
            </p:cNvSpPr>
            <p:nvPr/>
          </p:nvSpPr>
          <p:spPr bwMode="auto">
            <a:xfrm>
              <a:off x="1836" y="2979"/>
              <a:ext cx="18" cy="30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1 w 3"/>
                <a:gd name="T5" fmla="*/ 1 h 5"/>
                <a:gd name="T6" fmla="*/ 2 w 3"/>
                <a:gd name="T7" fmla="*/ 3 h 5"/>
                <a:gd name="T8" fmla="*/ 2 w 3"/>
                <a:gd name="T9" fmla="*/ 4 h 5"/>
                <a:gd name="T10" fmla="*/ 3 w 3"/>
                <a:gd name="T11" fmla="*/ 5 h 5"/>
                <a:gd name="T12" fmla="*/ 2 w 3"/>
                <a:gd name="T13" fmla="*/ 5 h 5"/>
                <a:gd name="T14" fmla="*/ 2 w 3"/>
                <a:gd name="T15" fmla="*/ 4 h 5"/>
                <a:gd name="T16" fmla="*/ 1 w 3"/>
                <a:gd name="T17" fmla="*/ 3 h 5"/>
                <a:gd name="T18" fmla="*/ 1 w 3"/>
                <a:gd name="T19" fmla="*/ 2 h 5"/>
                <a:gd name="T20" fmla="*/ 0 w 3"/>
                <a:gd name="T21" fmla="*/ 1 h 5"/>
                <a:gd name="T22" fmla="*/ 0 w 3"/>
                <a:gd name="T23" fmla="*/ 1 h 5"/>
                <a:gd name="T24" fmla="*/ 1 w 3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8" name="Freeform 44"/>
            <p:cNvSpPr>
              <a:spLocks/>
            </p:cNvSpPr>
            <p:nvPr/>
          </p:nvSpPr>
          <p:spPr bwMode="auto">
            <a:xfrm>
              <a:off x="1836" y="2961"/>
              <a:ext cx="6" cy="24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0 h 4"/>
                <a:gd name="T4" fmla="*/ 0 w 1"/>
                <a:gd name="T5" fmla="*/ 1 h 4"/>
                <a:gd name="T6" fmla="*/ 0 w 1"/>
                <a:gd name="T7" fmla="*/ 2 h 4"/>
                <a:gd name="T8" fmla="*/ 1 w 1"/>
                <a:gd name="T9" fmla="*/ 2 h 4"/>
                <a:gd name="T10" fmla="*/ 1 w 1"/>
                <a:gd name="T11" fmla="*/ 3 h 4"/>
                <a:gd name="T12" fmla="*/ 0 w 1"/>
                <a:gd name="T13" fmla="*/ 4 h 4"/>
                <a:gd name="T14" fmla="*/ 0 w 1"/>
                <a:gd name="T15" fmla="*/ 3 h 4"/>
                <a:gd name="T16" fmla="*/ 0 w 1"/>
                <a:gd name="T17" fmla="*/ 2 h 4"/>
                <a:gd name="T18" fmla="*/ 0 w 1"/>
                <a:gd name="T19" fmla="*/ 1 h 4"/>
                <a:gd name="T20" fmla="*/ 0 w 1"/>
                <a:gd name="T21" fmla="*/ 0 h 4"/>
                <a:gd name="T22" fmla="*/ 0 w 1"/>
                <a:gd name="T23" fmla="*/ 0 h 4"/>
                <a:gd name="T24" fmla="*/ 0 w 1"/>
                <a:gd name="T2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79" name="Freeform 45"/>
            <p:cNvSpPr>
              <a:spLocks/>
            </p:cNvSpPr>
            <p:nvPr/>
          </p:nvSpPr>
          <p:spPr bwMode="auto">
            <a:xfrm>
              <a:off x="1836" y="2937"/>
              <a:ext cx="24" cy="24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4 w 4"/>
                <a:gd name="T5" fmla="*/ 1 h 4"/>
                <a:gd name="T6" fmla="*/ 3 w 4"/>
                <a:gd name="T7" fmla="*/ 1 h 4"/>
                <a:gd name="T8" fmla="*/ 3 w 4"/>
                <a:gd name="T9" fmla="*/ 1 h 4"/>
                <a:gd name="T10" fmla="*/ 2 w 4"/>
                <a:gd name="T11" fmla="*/ 1 h 4"/>
                <a:gd name="T12" fmla="*/ 2 w 4"/>
                <a:gd name="T13" fmla="*/ 2 h 4"/>
                <a:gd name="T14" fmla="*/ 2 w 4"/>
                <a:gd name="T15" fmla="*/ 2 h 4"/>
                <a:gd name="T16" fmla="*/ 2 w 4"/>
                <a:gd name="T17" fmla="*/ 2 h 4"/>
                <a:gd name="T18" fmla="*/ 1 w 4"/>
                <a:gd name="T19" fmla="*/ 2 h 4"/>
                <a:gd name="T20" fmla="*/ 1 w 4"/>
                <a:gd name="T21" fmla="*/ 2 h 4"/>
                <a:gd name="T22" fmla="*/ 1 w 4"/>
                <a:gd name="T23" fmla="*/ 3 h 4"/>
                <a:gd name="T24" fmla="*/ 1 w 4"/>
                <a:gd name="T25" fmla="*/ 3 h 4"/>
                <a:gd name="T26" fmla="*/ 1 w 4"/>
                <a:gd name="T27" fmla="*/ 3 h 4"/>
                <a:gd name="T28" fmla="*/ 1 w 4"/>
                <a:gd name="T29" fmla="*/ 4 h 4"/>
                <a:gd name="T30" fmla="*/ 0 w 4"/>
                <a:gd name="T31" fmla="*/ 4 h 4"/>
                <a:gd name="T32" fmla="*/ 0 w 4"/>
                <a:gd name="T33" fmla="*/ 4 h 4"/>
                <a:gd name="T34" fmla="*/ 0 w 4"/>
                <a:gd name="T35" fmla="*/ 4 h 4"/>
                <a:gd name="T36" fmla="*/ 0 w 4"/>
                <a:gd name="T37" fmla="*/ 4 h 4"/>
                <a:gd name="T38" fmla="*/ 0 w 4"/>
                <a:gd name="T39" fmla="*/ 4 h 4"/>
                <a:gd name="T40" fmla="*/ 0 w 4"/>
                <a:gd name="T41" fmla="*/ 4 h 4"/>
                <a:gd name="T42" fmla="*/ 0 w 4"/>
                <a:gd name="T43" fmla="*/ 3 h 4"/>
                <a:gd name="T44" fmla="*/ 0 w 4"/>
                <a:gd name="T45" fmla="*/ 3 h 4"/>
                <a:gd name="T46" fmla="*/ 0 w 4"/>
                <a:gd name="T47" fmla="*/ 3 h 4"/>
                <a:gd name="T48" fmla="*/ 0 w 4"/>
                <a:gd name="T49" fmla="*/ 2 h 4"/>
                <a:gd name="T50" fmla="*/ 1 w 4"/>
                <a:gd name="T51" fmla="*/ 2 h 4"/>
                <a:gd name="T52" fmla="*/ 1 w 4"/>
                <a:gd name="T53" fmla="*/ 2 h 4"/>
                <a:gd name="T54" fmla="*/ 1 w 4"/>
                <a:gd name="T55" fmla="*/ 1 h 4"/>
                <a:gd name="T56" fmla="*/ 1 w 4"/>
                <a:gd name="T57" fmla="*/ 1 h 4"/>
                <a:gd name="T58" fmla="*/ 2 w 4"/>
                <a:gd name="T59" fmla="*/ 1 h 4"/>
                <a:gd name="T60" fmla="*/ 2 w 4"/>
                <a:gd name="T61" fmla="*/ 1 h 4"/>
                <a:gd name="T62" fmla="*/ 2 w 4"/>
                <a:gd name="T63" fmla="*/ 0 h 4"/>
                <a:gd name="T64" fmla="*/ 3 w 4"/>
                <a:gd name="T65" fmla="*/ 0 h 4"/>
                <a:gd name="T66" fmla="*/ 3 w 4"/>
                <a:gd name="T67" fmla="*/ 0 h 4"/>
                <a:gd name="T68" fmla="*/ 4 w 4"/>
                <a:gd name="T69" fmla="*/ 0 h 4"/>
                <a:gd name="T70" fmla="*/ 4 w 4"/>
                <a:gd name="T71" fmla="*/ 0 h 4"/>
                <a:gd name="T72" fmla="*/ 4 w 4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0" name="Freeform 46"/>
            <p:cNvSpPr>
              <a:spLocks/>
            </p:cNvSpPr>
            <p:nvPr/>
          </p:nvSpPr>
          <p:spPr bwMode="auto">
            <a:xfrm>
              <a:off x="1860" y="2931"/>
              <a:ext cx="36" cy="12"/>
            </a:xfrm>
            <a:custGeom>
              <a:avLst/>
              <a:gdLst>
                <a:gd name="T0" fmla="*/ 5 w 6"/>
                <a:gd name="T1" fmla="*/ 2 h 2"/>
                <a:gd name="T2" fmla="*/ 5 w 6"/>
                <a:gd name="T3" fmla="*/ 2 h 2"/>
                <a:gd name="T4" fmla="*/ 5 w 6"/>
                <a:gd name="T5" fmla="*/ 2 h 2"/>
                <a:gd name="T6" fmla="*/ 5 w 6"/>
                <a:gd name="T7" fmla="*/ 2 h 2"/>
                <a:gd name="T8" fmla="*/ 4 w 6"/>
                <a:gd name="T9" fmla="*/ 2 h 2"/>
                <a:gd name="T10" fmla="*/ 4 w 6"/>
                <a:gd name="T11" fmla="*/ 2 h 2"/>
                <a:gd name="T12" fmla="*/ 4 w 6"/>
                <a:gd name="T13" fmla="*/ 1 h 2"/>
                <a:gd name="T14" fmla="*/ 3 w 6"/>
                <a:gd name="T15" fmla="*/ 1 h 2"/>
                <a:gd name="T16" fmla="*/ 3 w 6"/>
                <a:gd name="T17" fmla="*/ 1 h 2"/>
                <a:gd name="T18" fmla="*/ 3 w 6"/>
                <a:gd name="T19" fmla="*/ 1 h 2"/>
                <a:gd name="T20" fmla="*/ 2 w 6"/>
                <a:gd name="T21" fmla="*/ 1 h 2"/>
                <a:gd name="T22" fmla="*/ 2 w 6"/>
                <a:gd name="T23" fmla="*/ 1 h 2"/>
                <a:gd name="T24" fmla="*/ 2 w 6"/>
                <a:gd name="T25" fmla="*/ 1 h 2"/>
                <a:gd name="T26" fmla="*/ 1 w 6"/>
                <a:gd name="T27" fmla="*/ 1 h 2"/>
                <a:gd name="T28" fmla="*/ 1 w 6"/>
                <a:gd name="T29" fmla="*/ 1 h 2"/>
                <a:gd name="T30" fmla="*/ 1 w 6"/>
                <a:gd name="T31" fmla="*/ 1 h 2"/>
                <a:gd name="T32" fmla="*/ 0 w 6"/>
                <a:gd name="T33" fmla="*/ 1 h 2"/>
                <a:gd name="T34" fmla="*/ 0 w 6"/>
                <a:gd name="T35" fmla="*/ 1 h 2"/>
                <a:gd name="T36" fmla="*/ 0 w 6"/>
                <a:gd name="T37" fmla="*/ 1 h 2"/>
                <a:gd name="T38" fmla="*/ 0 w 6"/>
                <a:gd name="T39" fmla="*/ 1 h 2"/>
                <a:gd name="T40" fmla="*/ 1 w 6"/>
                <a:gd name="T41" fmla="*/ 0 h 2"/>
                <a:gd name="T42" fmla="*/ 1 w 6"/>
                <a:gd name="T43" fmla="*/ 0 h 2"/>
                <a:gd name="T44" fmla="*/ 1 w 6"/>
                <a:gd name="T45" fmla="*/ 0 h 2"/>
                <a:gd name="T46" fmla="*/ 2 w 6"/>
                <a:gd name="T47" fmla="*/ 0 h 2"/>
                <a:gd name="T48" fmla="*/ 2 w 6"/>
                <a:gd name="T49" fmla="*/ 0 h 2"/>
                <a:gd name="T50" fmla="*/ 3 w 6"/>
                <a:gd name="T51" fmla="*/ 0 h 2"/>
                <a:gd name="T52" fmla="*/ 3 w 6"/>
                <a:gd name="T53" fmla="*/ 0 h 2"/>
                <a:gd name="T54" fmla="*/ 3 w 6"/>
                <a:gd name="T55" fmla="*/ 0 h 2"/>
                <a:gd name="T56" fmla="*/ 4 w 6"/>
                <a:gd name="T57" fmla="*/ 0 h 2"/>
                <a:gd name="T58" fmla="*/ 4 w 6"/>
                <a:gd name="T59" fmla="*/ 1 h 2"/>
                <a:gd name="T60" fmla="*/ 4 w 6"/>
                <a:gd name="T61" fmla="*/ 1 h 2"/>
                <a:gd name="T62" fmla="*/ 5 w 6"/>
                <a:gd name="T63" fmla="*/ 1 h 2"/>
                <a:gd name="T64" fmla="*/ 5 w 6"/>
                <a:gd name="T65" fmla="*/ 1 h 2"/>
                <a:gd name="T66" fmla="*/ 5 w 6"/>
                <a:gd name="T67" fmla="*/ 1 h 2"/>
                <a:gd name="T68" fmla="*/ 6 w 6"/>
                <a:gd name="T69" fmla="*/ 2 h 2"/>
                <a:gd name="T70" fmla="*/ 6 w 6"/>
                <a:gd name="T71" fmla="*/ 2 h 2"/>
                <a:gd name="T72" fmla="*/ 5 w 6"/>
                <a:gd name="T7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1" name="Freeform 47"/>
            <p:cNvSpPr>
              <a:spLocks/>
            </p:cNvSpPr>
            <p:nvPr/>
          </p:nvSpPr>
          <p:spPr bwMode="auto">
            <a:xfrm>
              <a:off x="1890" y="2943"/>
              <a:ext cx="18" cy="18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3 h 3"/>
                <a:gd name="T4" fmla="*/ 2 w 3"/>
                <a:gd name="T5" fmla="*/ 3 h 3"/>
                <a:gd name="T6" fmla="*/ 1 w 3"/>
                <a:gd name="T7" fmla="*/ 2 h 3"/>
                <a:gd name="T8" fmla="*/ 1 w 3"/>
                <a:gd name="T9" fmla="*/ 2 h 3"/>
                <a:gd name="T10" fmla="*/ 1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0 w 3"/>
                <a:gd name="T17" fmla="*/ 0 h 3"/>
                <a:gd name="T18" fmla="*/ 0 w 3"/>
                <a:gd name="T19" fmla="*/ 0 h 3"/>
                <a:gd name="T20" fmla="*/ 1 w 3"/>
                <a:gd name="T21" fmla="*/ 0 h 3"/>
                <a:gd name="T22" fmla="*/ 1 w 3"/>
                <a:gd name="T23" fmla="*/ 0 h 3"/>
                <a:gd name="T24" fmla="*/ 1 w 3"/>
                <a:gd name="T25" fmla="*/ 0 h 3"/>
                <a:gd name="T26" fmla="*/ 1 w 3"/>
                <a:gd name="T27" fmla="*/ 0 h 3"/>
                <a:gd name="T28" fmla="*/ 2 w 3"/>
                <a:gd name="T29" fmla="*/ 1 h 3"/>
                <a:gd name="T30" fmla="*/ 2 w 3"/>
                <a:gd name="T31" fmla="*/ 1 h 3"/>
                <a:gd name="T32" fmla="*/ 2 w 3"/>
                <a:gd name="T33" fmla="*/ 2 h 3"/>
                <a:gd name="T34" fmla="*/ 3 w 3"/>
                <a:gd name="T35" fmla="*/ 2 h 3"/>
                <a:gd name="T36" fmla="*/ 3 w 3"/>
                <a:gd name="T37" fmla="*/ 3 h 3"/>
                <a:gd name="T38" fmla="*/ 3 w 3"/>
                <a:gd name="T39" fmla="*/ 3 h 3"/>
                <a:gd name="T40" fmla="*/ 2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2" name="Freeform 48"/>
            <p:cNvSpPr>
              <a:spLocks/>
            </p:cNvSpPr>
            <p:nvPr/>
          </p:nvSpPr>
          <p:spPr bwMode="auto">
            <a:xfrm>
              <a:off x="1902" y="2961"/>
              <a:ext cx="24" cy="48"/>
            </a:xfrm>
            <a:custGeom>
              <a:avLst/>
              <a:gdLst>
                <a:gd name="T0" fmla="*/ 3 w 4"/>
                <a:gd name="T1" fmla="*/ 8 h 8"/>
                <a:gd name="T2" fmla="*/ 3 w 4"/>
                <a:gd name="T3" fmla="*/ 8 h 8"/>
                <a:gd name="T4" fmla="*/ 2 w 4"/>
                <a:gd name="T5" fmla="*/ 6 h 8"/>
                <a:gd name="T6" fmla="*/ 1 w 4"/>
                <a:gd name="T7" fmla="*/ 4 h 8"/>
                <a:gd name="T8" fmla="*/ 1 w 4"/>
                <a:gd name="T9" fmla="*/ 2 h 8"/>
                <a:gd name="T10" fmla="*/ 0 w 4"/>
                <a:gd name="T11" fmla="*/ 0 h 8"/>
                <a:gd name="T12" fmla="*/ 1 w 4"/>
                <a:gd name="T13" fmla="*/ 0 h 8"/>
                <a:gd name="T14" fmla="*/ 1 w 4"/>
                <a:gd name="T15" fmla="*/ 2 h 8"/>
                <a:gd name="T16" fmla="*/ 2 w 4"/>
                <a:gd name="T17" fmla="*/ 4 h 8"/>
                <a:gd name="T18" fmla="*/ 3 w 4"/>
                <a:gd name="T19" fmla="*/ 6 h 8"/>
                <a:gd name="T20" fmla="*/ 4 w 4"/>
                <a:gd name="T21" fmla="*/ 8 h 8"/>
                <a:gd name="T22" fmla="*/ 4 w 4"/>
                <a:gd name="T23" fmla="*/ 8 h 8"/>
                <a:gd name="T24" fmla="*/ 3 w 4"/>
                <a:gd name="T2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8">
                  <a:moveTo>
                    <a:pt x="3" y="8"/>
                  </a:moveTo>
                  <a:lnTo>
                    <a:pt x="3" y="8"/>
                  </a:lnTo>
                  <a:lnTo>
                    <a:pt x="2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4"/>
                  </a:lnTo>
                  <a:lnTo>
                    <a:pt x="3" y="6"/>
                  </a:lnTo>
                  <a:lnTo>
                    <a:pt x="4" y="8"/>
                  </a:lnTo>
                  <a:lnTo>
                    <a:pt x="4" y="8"/>
                  </a:lnTo>
                  <a:lnTo>
                    <a:pt x="3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3" name="Freeform 49"/>
            <p:cNvSpPr>
              <a:spLocks/>
            </p:cNvSpPr>
            <p:nvPr/>
          </p:nvSpPr>
          <p:spPr bwMode="auto">
            <a:xfrm>
              <a:off x="1920" y="3009"/>
              <a:ext cx="66" cy="156"/>
            </a:xfrm>
            <a:custGeom>
              <a:avLst/>
              <a:gdLst>
                <a:gd name="T0" fmla="*/ 10 w 11"/>
                <a:gd name="T1" fmla="*/ 26 h 26"/>
                <a:gd name="T2" fmla="*/ 10 w 11"/>
                <a:gd name="T3" fmla="*/ 26 h 26"/>
                <a:gd name="T4" fmla="*/ 9 w 11"/>
                <a:gd name="T5" fmla="*/ 24 h 26"/>
                <a:gd name="T6" fmla="*/ 8 w 11"/>
                <a:gd name="T7" fmla="*/ 21 h 26"/>
                <a:gd name="T8" fmla="*/ 7 w 11"/>
                <a:gd name="T9" fmla="*/ 18 h 26"/>
                <a:gd name="T10" fmla="*/ 6 w 11"/>
                <a:gd name="T11" fmla="*/ 15 h 26"/>
                <a:gd name="T12" fmla="*/ 5 w 11"/>
                <a:gd name="T13" fmla="*/ 12 h 26"/>
                <a:gd name="T14" fmla="*/ 3 w 11"/>
                <a:gd name="T15" fmla="*/ 8 h 26"/>
                <a:gd name="T16" fmla="*/ 2 w 11"/>
                <a:gd name="T17" fmla="*/ 4 h 26"/>
                <a:gd name="T18" fmla="*/ 0 w 11"/>
                <a:gd name="T19" fmla="*/ 0 h 26"/>
                <a:gd name="T20" fmla="*/ 1 w 11"/>
                <a:gd name="T21" fmla="*/ 0 h 26"/>
                <a:gd name="T22" fmla="*/ 2 w 11"/>
                <a:gd name="T23" fmla="*/ 4 h 26"/>
                <a:gd name="T24" fmla="*/ 4 w 11"/>
                <a:gd name="T25" fmla="*/ 8 h 26"/>
                <a:gd name="T26" fmla="*/ 5 w 11"/>
                <a:gd name="T27" fmla="*/ 11 h 26"/>
                <a:gd name="T28" fmla="*/ 7 w 11"/>
                <a:gd name="T29" fmla="*/ 15 h 26"/>
                <a:gd name="T30" fmla="*/ 8 w 11"/>
                <a:gd name="T31" fmla="*/ 18 h 26"/>
                <a:gd name="T32" fmla="*/ 9 w 11"/>
                <a:gd name="T33" fmla="*/ 21 h 26"/>
                <a:gd name="T34" fmla="*/ 10 w 11"/>
                <a:gd name="T35" fmla="*/ 24 h 26"/>
                <a:gd name="T36" fmla="*/ 10 w 11"/>
                <a:gd name="T37" fmla="*/ 26 h 26"/>
                <a:gd name="T38" fmla="*/ 11 w 11"/>
                <a:gd name="T39" fmla="*/ 26 h 26"/>
                <a:gd name="T40" fmla="*/ 10 w 11"/>
                <a:gd name="T4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6">
                  <a:moveTo>
                    <a:pt x="10" y="26"/>
                  </a:moveTo>
                  <a:lnTo>
                    <a:pt x="10" y="26"/>
                  </a:lnTo>
                  <a:lnTo>
                    <a:pt x="9" y="24"/>
                  </a:lnTo>
                  <a:lnTo>
                    <a:pt x="8" y="21"/>
                  </a:lnTo>
                  <a:lnTo>
                    <a:pt x="7" y="18"/>
                  </a:lnTo>
                  <a:lnTo>
                    <a:pt x="6" y="15"/>
                  </a:lnTo>
                  <a:lnTo>
                    <a:pt x="5" y="12"/>
                  </a:lnTo>
                  <a:lnTo>
                    <a:pt x="3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4"/>
                  </a:lnTo>
                  <a:lnTo>
                    <a:pt x="4" y="8"/>
                  </a:lnTo>
                  <a:lnTo>
                    <a:pt x="5" y="11"/>
                  </a:lnTo>
                  <a:lnTo>
                    <a:pt x="7" y="15"/>
                  </a:lnTo>
                  <a:lnTo>
                    <a:pt x="8" y="18"/>
                  </a:lnTo>
                  <a:lnTo>
                    <a:pt x="9" y="21"/>
                  </a:lnTo>
                  <a:lnTo>
                    <a:pt x="10" y="24"/>
                  </a:lnTo>
                  <a:lnTo>
                    <a:pt x="10" y="26"/>
                  </a:lnTo>
                  <a:lnTo>
                    <a:pt x="11" y="26"/>
                  </a:lnTo>
                  <a:lnTo>
                    <a:pt x="10" y="2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4" name="Freeform 50"/>
            <p:cNvSpPr>
              <a:spLocks/>
            </p:cNvSpPr>
            <p:nvPr/>
          </p:nvSpPr>
          <p:spPr bwMode="auto">
            <a:xfrm>
              <a:off x="1836" y="2937"/>
              <a:ext cx="66" cy="48"/>
            </a:xfrm>
            <a:custGeom>
              <a:avLst/>
              <a:gdLst>
                <a:gd name="T0" fmla="*/ 0 w 11"/>
                <a:gd name="T1" fmla="*/ 6 h 8"/>
                <a:gd name="T2" fmla="*/ 0 w 11"/>
                <a:gd name="T3" fmla="*/ 5 h 8"/>
                <a:gd name="T4" fmla="*/ 0 w 11"/>
                <a:gd name="T5" fmla="*/ 4 h 8"/>
                <a:gd name="T6" fmla="*/ 0 w 11"/>
                <a:gd name="T7" fmla="*/ 3 h 8"/>
                <a:gd name="T8" fmla="*/ 0 w 11"/>
                <a:gd name="T9" fmla="*/ 3 h 8"/>
                <a:gd name="T10" fmla="*/ 1 w 11"/>
                <a:gd name="T11" fmla="*/ 2 h 8"/>
                <a:gd name="T12" fmla="*/ 1 w 11"/>
                <a:gd name="T13" fmla="*/ 2 h 8"/>
                <a:gd name="T14" fmla="*/ 2 w 11"/>
                <a:gd name="T15" fmla="*/ 1 h 8"/>
                <a:gd name="T16" fmla="*/ 3 w 11"/>
                <a:gd name="T17" fmla="*/ 1 h 8"/>
                <a:gd name="T18" fmla="*/ 3 w 11"/>
                <a:gd name="T19" fmla="*/ 0 h 8"/>
                <a:gd name="T20" fmla="*/ 4 w 11"/>
                <a:gd name="T21" fmla="*/ 0 h 8"/>
                <a:gd name="T22" fmla="*/ 5 w 11"/>
                <a:gd name="T23" fmla="*/ 0 h 8"/>
                <a:gd name="T24" fmla="*/ 6 w 11"/>
                <a:gd name="T25" fmla="*/ 0 h 8"/>
                <a:gd name="T26" fmla="*/ 6 w 11"/>
                <a:gd name="T27" fmla="*/ 0 h 8"/>
                <a:gd name="T28" fmla="*/ 7 w 11"/>
                <a:gd name="T29" fmla="*/ 0 h 8"/>
                <a:gd name="T30" fmla="*/ 8 w 11"/>
                <a:gd name="T31" fmla="*/ 0 h 8"/>
                <a:gd name="T32" fmla="*/ 8 w 11"/>
                <a:gd name="T33" fmla="*/ 0 h 8"/>
                <a:gd name="T34" fmla="*/ 9 w 11"/>
                <a:gd name="T35" fmla="*/ 1 h 8"/>
                <a:gd name="T36" fmla="*/ 10 w 11"/>
                <a:gd name="T37" fmla="*/ 1 h 8"/>
                <a:gd name="T38" fmla="*/ 10 w 11"/>
                <a:gd name="T39" fmla="*/ 2 h 8"/>
                <a:gd name="T40" fmla="*/ 11 w 11"/>
                <a:gd name="T41" fmla="*/ 2 h 8"/>
                <a:gd name="T42" fmla="*/ 11 w 11"/>
                <a:gd name="T43" fmla="*/ 3 h 8"/>
                <a:gd name="T44" fmla="*/ 11 w 11"/>
                <a:gd name="T45" fmla="*/ 4 h 8"/>
                <a:gd name="T46" fmla="*/ 10 w 11"/>
                <a:gd name="T47" fmla="*/ 3 h 8"/>
                <a:gd name="T48" fmla="*/ 9 w 11"/>
                <a:gd name="T49" fmla="*/ 4 h 8"/>
                <a:gd name="T50" fmla="*/ 8 w 11"/>
                <a:gd name="T51" fmla="*/ 5 h 8"/>
                <a:gd name="T52" fmla="*/ 8 w 11"/>
                <a:gd name="T53" fmla="*/ 5 h 8"/>
                <a:gd name="T54" fmla="*/ 7 w 11"/>
                <a:gd name="T55" fmla="*/ 5 h 8"/>
                <a:gd name="T56" fmla="*/ 7 w 11"/>
                <a:gd name="T57" fmla="*/ 5 h 8"/>
                <a:gd name="T58" fmla="*/ 6 w 11"/>
                <a:gd name="T59" fmla="*/ 5 h 8"/>
                <a:gd name="T60" fmla="*/ 5 w 11"/>
                <a:gd name="T61" fmla="*/ 5 h 8"/>
                <a:gd name="T62" fmla="*/ 5 w 11"/>
                <a:gd name="T63" fmla="*/ 5 h 8"/>
                <a:gd name="T64" fmla="*/ 4 w 11"/>
                <a:gd name="T65" fmla="*/ 5 h 8"/>
                <a:gd name="T66" fmla="*/ 4 w 11"/>
                <a:gd name="T67" fmla="*/ 6 h 8"/>
                <a:gd name="T68" fmla="*/ 3 w 11"/>
                <a:gd name="T69" fmla="*/ 6 h 8"/>
                <a:gd name="T70" fmla="*/ 2 w 11"/>
                <a:gd name="T71" fmla="*/ 6 h 8"/>
                <a:gd name="T72" fmla="*/ 1 w 11"/>
                <a:gd name="T73" fmla="*/ 6 h 8"/>
                <a:gd name="T74" fmla="*/ 1 w 11"/>
                <a:gd name="T7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" h="8">
                  <a:moveTo>
                    <a:pt x="1" y="8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4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5" name="Freeform 51"/>
            <p:cNvSpPr>
              <a:spLocks/>
            </p:cNvSpPr>
            <p:nvPr/>
          </p:nvSpPr>
          <p:spPr bwMode="auto">
            <a:xfrm>
              <a:off x="1836" y="2961"/>
              <a:ext cx="6" cy="24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0 h 4"/>
                <a:gd name="T4" fmla="*/ 0 w 1"/>
                <a:gd name="T5" fmla="*/ 1 h 4"/>
                <a:gd name="T6" fmla="*/ 0 w 1"/>
                <a:gd name="T7" fmla="*/ 1 h 4"/>
                <a:gd name="T8" fmla="*/ 1 w 1"/>
                <a:gd name="T9" fmla="*/ 2 h 4"/>
                <a:gd name="T10" fmla="*/ 1 w 1"/>
                <a:gd name="T11" fmla="*/ 3 h 4"/>
                <a:gd name="T12" fmla="*/ 0 w 1"/>
                <a:gd name="T13" fmla="*/ 4 h 4"/>
                <a:gd name="T14" fmla="*/ 0 w 1"/>
                <a:gd name="T15" fmla="*/ 3 h 4"/>
                <a:gd name="T16" fmla="*/ 0 w 1"/>
                <a:gd name="T17" fmla="*/ 2 h 4"/>
                <a:gd name="T18" fmla="*/ 0 w 1"/>
                <a:gd name="T19" fmla="*/ 1 h 4"/>
                <a:gd name="T20" fmla="*/ 0 w 1"/>
                <a:gd name="T21" fmla="*/ 0 h 4"/>
                <a:gd name="T22" fmla="*/ 0 w 1"/>
                <a:gd name="T23" fmla="*/ 0 h 4"/>
                <a:gd name="T24" fmla="*/ 0 w 1"/>
                <a:gd name="T2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6" name="Freeform 52"/>
            <p:cNvSpPr>
              <a:spLocks/>
            </p:cNvSpPr>
            <p:nvPr/>
          </p:nvSpPr>
          <p:spPr bwMode="auto">
            <a:xfrm>
              <a:off x="1836" y="2937"/>
              <a:ext cx="24" cy="24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4 w 4"/>
                <a:gd name="T5" fmla="*/ 1 h 4"/>
                <a:gd name="T6" fmla="*/ 3 w 4"/>
                <a:gd name="T7" fmla="*/ 1 h 4"/>
                <a:gd name="T8" fmla="*/ 3 w 4"/>
                <a:gd name="T9" fmla="*/ 1 h 4"/>
                <a:gd name="T10" fmla="*/ 2 w 4"/>
                <a:gd name="T11" fmla="*/ 1 h 4"/>
                <a:gd name="T12" fmla="*/ 2 w 4"/>
                <a:gd name="T13" fmla="*/ 2 h 4"/>
                <a:gd name="T14" fmla="*/ 2 w 4"/>
                <a:gd name="T15" fmla="*/ 2 h 4"/>
                <a:gd name="T16" fmla="*/ 2 w 4"/>
                <a:gd name="T17" fmla="*/ 2 h 4"/>
                <a:gd name="T18" fmla="*/ 1 w 4"/>
                <a:gd name="T19" fmla="*/ 2 h 4"/>
                <a:gd name="T20" fmla="*/ 1 w 4"/>
                <a:gd name="T21" fmla="*/ 2 h 4"/>
                <a:gd name="T22" fmla="*/ 1 w 4"/>
                <a:gd name="T23" fmla="*/ 3 h 4"/>
                <a:gd name="T24" fmla="*/ 1 w 4"/>
                <a:gd name="T25" fmla="*/ 3 h 4"/>
                <a:gd name="T26" fmla="*/ 1 w 4"/>
                <a:gd name="T27" fmla="*/ 3 h 4"/>
                <a:gd name="T28" fmla="*/ 1 w 4"/>
                <a:gd name="T29" fmla="*/ 4 h 4"/>
                <a:gd name="T30" fmla="*/ 0 w 4"/>
                <a:gd name="T31" fmla="*/ 4 h 4"/>
                <a:gd name="T32" fmla="*/ 0 w 4"/>
                <a:gd name="T33" fmla="*/ 4 h 4"/>
                <a:gd name="T34" fmla="*/ 0 w 4"/>
                <a:gd name="T35" fmla="*/ 4 h 4"/>
                <a:gd name="T36" fmla="*/ 0 w 4"/>
                <a:gd name="T37" fmla="*/ 4 h 4"/>
                <a:gd name="T38" fmla="*/ 0 w 4"/>
                <a:gd name="T39" fmla="*/ 4 h 4"/>
                <a:gd name="T40" fmla="*/ 0 w 4"/>
                <a:gd name="T41" fmla="*/ 4 h 4"/>
                <a:gd name="T42" fmla="*/ 0 w 4"/>
                <a:gd name="T43" fmla="*/ 3 h 4"/>
                <a:gd name="T44" fmla="*/ 0 w 4"/>
                <a:gd name="T45" fmla="*/ 3 h 4"/>
                <a:gd name="T46" fmla="*/ 0 w 4"/>
                <a:gd name="T47" fmla="*/ 3 h 4"/>
                <a:gd name="T48" fmla="*/ 0 w 4"/>
                <a:gd name="T49" fmla="*/ 2 h 4"/>
                <a:gd name="T50" fmla="*/ 1 w 4"/>
                <a:gd name="T51" fmla="*/ 2 h 4"/>
                <a:gd name="T52" fmla="*/ 1 w 4"/>
                <a:gd name="T53" fmla="*/ 2 h 4"/>
                <a:gd name="T54" fmla="*/ 1 w 4"/>
                <a:gd name="T55" fmla="*/ 1 h 4"/>
                <a:gd name="T56" fmla="*/ 1 w 4"/>
                <a:gd name="T57" fmla="*/ 1 h 4"/>
                <a:gd name="T58" fmla="*/ 2 w 4"/>
                <a:gd name="T59" fmla="*/ 1 h 4"/>
                <a:gd name="T60" fmla="*/ 2 w 4"/>
                <a:gd name="T61" fmla="*/ 1 h 4"/>
                <a:gd name="T62" fmla="*/ 2 w 4"/>
                <a:gd name="T63" fmla="*/ 0 h 4"/>
                <a:gd name="T64" fmla="*/ 3 w 4"/>
                <a:gd name="T65" fmla="*/ 0 h 4"/>
                <a:gd name="T66" fmla="*/ 3 w 4"/>
                <a:gd name="T67" fmla="*/ 0 h 4"/>
                <a:gd name="T68" fmla="*/ 4 w 4"/>
                <a:gd name="T69" fmla="*/ 0 h 4"/>
                <a:gd name="T70" fmla="*/ 4 w 4"/>
                <a:gd name="T71" fmla="*/ 0 h 4"/>
                <a:gd name="T72" fmla="*/ 4 w 4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7" name="Freeform 53"/>
            <p:cNvSpPr>
              <a:spLocks/>
            </p:cNvSpPr>
            <p:nvPr/>
          </p:nvSpPr>
          <p:spPr bwMode="auto">
            <a:xfrm>
              <a:off x="1860" y="2931"/>
              <a:ext cx="36" cy="12"/>
            </a:xfrm>
            <a:custGeom>
              <a:avLst/>
              <a:gdLst>
                <a:gd name="T0" fmla="*/ 5 w 6"/>
                <a:gd name="T1" fmla="*/ 2 h 2"/>
                <a:gd name="T2" fmla="*/ 5 w 6"/>
                <a:gd name="T3" fmla="*/ 2 h 2"/>
                <a:gd name="T4" fmla="*/ 5 w 6"/>
                <a:gd name="T5" fmla="*/ 2 h 2"/>
                <a:gd name="T6" fmla="*/ 5 w 6"/>
                <a:gd name="T7" fmla="*/ 2 h 2"/>
                <a:gd name="T8" fmla="*/ 4 w 6"/>
                <a:gd name="T9" fmla="*/ 2 h 2"/>
                <a:gd name="T10" fmla="*/ 4 w 6"/>
                <a:gd name="T11" fmla="*/ 2 h 2"/>
                <a:gd name="T12" fmla="*/ 4 w 6"/>
                <a:gd name="T13" fmla="*/ 1 h 2"/>
                <a:gd name="T14" fmla="*/ 3 w 6"/>
                <a:gd name="T15" fmla="*/ 1 h 2"/>
                <a:gd name="T16" fmla="*/ 3 w 6"/>
                <a:gd name="T17" fmla="*/ 1 h 2"/>
                <a:gd name="T18" fmla="*/ 3 w 6"/>
                <a:gd name="T19" fmla="*/ 1 h 2"/>
                <a:gd name="T20" fmla="*/ 2 w 6"/>
                <a:gd name="T21" fmla="*/ 1 h 2"/>
                <a:gd name="T22" fmla="*/ 2 w 6"/>
                <a:gd name="T23" fmla="*/ 1 h 2"/>
                <a:gd name="T24" fmla="*/ 2 w 6"/>
                <a:gd name="T25" fmla="*/ 1 h 2"/>
                <a:gd name="T26" fmla="*/ 1 w 6"/>
                <a:gd name="T27" fmla="*/ 1 h 2"/>
                <a:gd name="T28" fmla="*/ 1 w 6"/>
                <a:gd name="T29" fmla="*/ 1 h 2"/>
                <a:gd name="T30" fmla="*/ 1 w 6"/>
                <a:gd name="T31" fmla="*/ 1 h 2"/>
                <a:gd name="T32" fmla="*/ 0 w 6"/>
                <a:gd name="T33" fmla="*/ 1 h 2"/>
                <a:gd name="T34" fmla="*/ 0 w 6"/>
                <a:gd name="T35" fmla="*/ 1 h 2"/>
                <a:gd name="T36" fmla="*/ 0 w 6"/>
                <a:gd name="T37" fmla="*/ 1 h 2"/>
                <a:gd name="T38" fmla="*/ 0 w 6"/>
                <a:gd name="T39" fmla="*/ 1 h 2"/>
                <a:gd name="T40" fmla="*/ 1 w 6"/>
                <a:gd name="T41" fmla="*/ 0 h 2"/>
                <a:gd name="T42" fmla="*/ 1 w 6"/>
                <a:gd name="T43" fmla="*/ 0 h 2"/>
                <a:gd name="T44" fmla="*/ 1 w 6"/>
                <a:gd name="T45" fmla="*/ 0 h 2"/>
                <a:gd name="T46" fmla="*/ 2 w 6"/>
                <a:gd name="T47" fmla="*/ 0 h 2"/>
                <a:gd name="T48" fmla="*/ 2 w 6"/>
                <a:gd name="T49" fmla="*/ 0 h 2"/>
                <a:gd name="T50" fmla="*/ 3 w 6"/>
                <a:gd name="T51" fmla="*/ 0 h 2"/>
                <a:gd name="T52" fmla="*/ 3 w 6"/>
                <a:gd name="T53" fmla="*/ 0 h 2"/>
                <a:gd name="T54" fmla="*/ 3 w 6"/>
                <a:gd name="T55" fmla="*/ 0 h 2"/>
                <a:gd name="T56" fmla="*/ 4 w 6"/>
                <a:gd name="T57" fmla="*/ 0 h 2"/>
                <a:gd name="T58" fmla="*/ 4 w 6"/>
                <a:gd name="T59" fmla="*/ 1 h 2"/>
                <a:gd name="T60" fmla="*/ 4 w 6"/>
                <a:gd name="T61" fmla="*/ 1 h 2"/>
                <a:gd name="T62" fmla="*/ 5 w 6"/>
                <a:gd name="T63" fmla="*/ 1 h 2"/>
                <a:gd name="T64" fmla="*/ 5 w 6"/>
                <a:gd name="T65" fmla="*/ 1 h 2"/>
                <a:gd name="T66" fmla="*/ 5 w 6"/>
                <a:gd name="T67" fmla="*/ 1 h 2"/>
                <a:gd name="T68" fmla="*/ 6 w 6"/>
                <a:gd name="T69" fmla="*/ 2 h 2"/>
                <a:gd name="T70" fmla="*/ 6 w 6"/>
                <a:gd name="T71" fmla="*/ 2 h 2"/>
                <a:gd name="T72" fmla="*/ 5 w 6"/>
                <a:gd name="T7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88" name="Freeform 54"/>
            <p:cNvSpPr>
              <a:spLocks/>
            </p:cNvSpPr>
            <p:nvPr/>
          </p:nvSpPr>
          <p:spPr bwMode="auto">
            <a:xfrm>
              <a:off x="1890" y="2943"/>
              <a:ext cx="18" cy="18"/>
            </a:xfrm>
            <a:custGeom>
              <a:avLst/>
              <a:gdLst>
                <a:gd name="T0" fmla="*/ 3 w 3"/>
                <a:gd name="T1" fmla="*/ 3 h 3"/>
                <a:gd name="T2" fmla="*/ 2 w 3"/>
                <a:gd name="T3" fmla="*/ 3 h 3"/>
                <a:gd name="T4" fmla="*/ 2 w 3"/>
                <a:gd name="T5" fmla="*/ 3 h 3"/>
                <a:gd name="T6" fmla="*/ 1 w 3"/>
                <a:gd name="T7" fmla="*/ 2 h 3"/>
                <a:gd name="T8" fmla="*/ 1 w 3"/>
                <a:gd name="T9" fmla="*/ 2 h 3"/>
                <a:gd name="T10" fmla="*/ 1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0 w 3"/>
                <a:gd name="T17" fmla="*/ 0 h 3"/>
                <a:gd name="T18" fmla="*/ 0 w 3"/>
                <a:gd name="T19" fmla="*/ 0 h 3"/>
                <a:gd name="T20" fmla="*/ 1 w 3"/>
                <a:gd name="T21" fmla="*/ 0 h 3"/>
                <a:gd name="T22" fmla="*/ 1 w 3"/>
                <a:gd name="T23" fmla="*/ 0 h 3"/>
                <a:gd name="T24" fmla="*/ 1 w 3"/>
                <a:gd name="T25" fmla="*/ 0 h 3"/>
                <a:gd name="T26" fmla="*/ 1 w 3"/>
                <a:gd name="T27" fmla="*/ 0 h 3"/>
                <a:gd name="T28" fmla="*/ 2 w 3"/>
                <a:gd name="T29" fmla="*/ 1 h 3"/>
                <a:gd name="T30" fmla="*/ 2 w 3"/>
                <a:gd name="T31" fmla="*/ 1 h 3"/>
                <a:gd name="T32" fmla="*/ 2 w 3"/>
                <a:gd name="T33" fmla="*/ 2 h 3"/>
                <a:gd name="T34" fmla="*/ 3 w 3"/>
                <a:gd name="T35" fmla="*/ 2 h 3"/>
                <a:gd name="T36" fmla="*/ 3 w 3"/>
                <a:gd name="T37" fmla="*/ 3 h 3"/>
                <a:gd name="T38" fmla="*/ 2 w 3"/>
                <a:gd name="T39" fmla="*/ 3 h 3"/>
                <a:gd name="T40" fmla="*/ 3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3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1" name="Freeform 55"/>
            <p:cNvSpPr>
              <a:spLocks/>
            </p:cNvSpPr>
            <p:nvPr/>
          </p:nvSpPr>
          <p:spPr bwMode="auto">
            <a:xfrm>
              <a:off x="1884" y="2955"/>
              <a:ext cx="24" cy="12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1 h 2"/>
                <a:gd name="T6" fmla="*/ 0 w 4"/>
                <a:gd name="T7" fmla="*/ 1 h 2"/>
                <a:gd name="T8" fmla="*/ 1 w 4"/>
                <a:gd name="T9" fmla="*/ 0 h 2"/>
                <a:gd name="T10" fmla="*/ 1 w 4"/>
                <a:gd name="T11" fmla="*/ 0 h 2"/>
                <a:gd name="T12" fmla="*/ 2 w 4"/>
                <a:gd name="T13" fmla="*/ 0 h 2"/>
                <a:gd name="T14" fmla="*/ 2 w 4"/>
                <a:gd name="T15" fmla="*/ 0 h 2"/>
                <a:gd name="T16" fmla="*/ 3 w 4"/>
                <a:gd name="T17" fmla="*/ 0 h 2"/>
                <a:gd name="T18" fmla="*/ 4 w 4"/>
                <a:gd name="T19" fmla="*/ 1 h 2"/>
                <a:gd name="T20" fmla="*/ 3 w 4"/>
                <a:gd name="T21" fmla="*/ 1 h 2"/>
                <a:gd name="T22" fmla="*/ 3 w 4"/>
                <a:gd name="T23" fmla="*/ 1 h 2"/>
                <a:gd name="T24" fmla="*/ 2 w 4"/>
                <a:gd name="T25" fmla="*/ 1 h 2"/>
                <a:gd name="T26" fmla="*/ 2 w 4"/>
                <a:gd name="T27" fmla="*/ 1 h 2"/>
                <a:gd name="T28" fmla="*/ 2 w 4"/>
                <a:gd name="T29" fmla="*/ 1 h 2"/>
                <a:gd name="T30" fmla="*/ 1 w 4"/>
                <a:gd name="T31" fmla="*/ 1 h 2"/>
                <a:gd name="T32" fmla="*/ 1 w 4"/>
                <a:gd name="T33" fmla="*/ 1 h 2"/>
                <a:gd name="T34" fmla="*/ 1 w 4"/>
                <a:gd name="T35" fmla="*/ 2 h 2"/>
                <a:gd name="T36" fmla="*/ 1 w 4"/>
                <a:gd name="T37" fmla="*/ 2 h 2"/>
                <a:gd name="T38" fmla="*/ 0 w 4"/>
                <a:gd name="T39" fmla="*/ 2 h 2"/>
                <a:gd name="T40" fmla="*/ 0 w 4"/>
                <a:gd name="T4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2" name="Freeform 56"/>
            <p:cNvSpPr>
              <a:spLocks/>
            </p:cNvSpPr>
            <p:nvPr/>
          </p:nvSpPr>
          <p:spPr bwMode="auto">
            <a:xfrm>
              <a:off x="1854" y="2961"/>
              <a:ext cx="30" cy="18"/>
            </a:xfrm>
            <a:custGeom>
              <a:avLst/>
              <a:gdLst>
                <a:gd name="T0" fmla="*/ 1 w 5"/>
                <a:gd name="T1" fmla="*/ 2 h 3"/>
                <a:gd name="T2" fmla="*/ 0 w 5"/>
                <a:gd name="T3" fmla="*/ 2 h 3"/>
                <a:gd name="T4" fmla="*/ 1 w 5"/>
                <a:gd name="T5" fmla="*/ 2 h 3"/>
                <a:gd name="T6" fmla="*/ 1 w 5"/>
                <a:gd name="T7" fmla="*/ 2 h 3"/>
                <a:gd name="T8" fmla="*/ 1 w 5"/>
                <a:gd name="T9" fmla="*/ 1 h 3"/>
                <a:gd name="T10" fmla="*/ 1 w 5"/>
                <a:gd name="T11" fmla="*/ 1 h 3"/>
                <a:gd name="T12" fmla="*/ 2 w 5"/>
                <a:gd name="T13" fmla="*/ 1 h 3"/>
                <a:gd name="T14" fmla="*/ 2 w 5"/>
                <a:gd name="T15" fmla="*/ 0 h 3"/>
                <a:gd name="T16" fmla="*/ 2 w 5"/>
                <a:gd name="T17" fmla="*/ 0 h 3"/>
                <a:gd name="T18" fmla="*/ 3 w 5"/>
                <a:gd name="T19" fmla="*/ 0 h 3"/>
                <a:gd name="T20" fmla="*/ 3 w 5"/>
                <a:gd name="T21" fmla="*/ 0 h 3"/>
                <a:gd name="T22" fmla="*/ 3 w 5"/>
                <a:gd name="T23" fmla="*/ 0 h 3"/>
                <a:gd name="T24" fmla="*/ 4 w 5"/>
                <a:gd name="T25" fmla="*/ 0 h 3"/>
                <a:gd name="T26" fmla="*/ 4 w 5"/>
                <a:gd name="T27" fmla="*/ 0 h 3"/>
                <a:gd name="T28" fmla="*/ 4 w 5"/>
                <a:gd name="T29" fmla="*/ 0 h 3"/>
                <a:gd name="T30" fmla="*/ 5 w 5"/>
                <a:gd name="T31" fmla="*/ 0 h 3"/>
                <a:gd name="T32" fmla="*/ 5 w 5"/>
                <a:gd name="T33" fmla="*/ 1 h 3"/>
                <a:gd name="T34" fmla="*/ 5 w 5"/>
                <a:gd name="T35" fmla="*/ 1 h 3"/>
                <a:gd name="T36" fmla="*/ 5 w 5"/>
                <a:gd name="T37" fmla="*/ 1 h 3"/>
                <a:gd name="T38" fmla="*/ 5 w 5"/>
                <a:gd name="T39" fmla="*/ 1 h 3"/>
                <a:gd name="T40" fmla="*/ 4 w 5"/>
                <a:gd name="T41" fmla="*/ 1 h 3"/>
                <a:gd name="T42" fmla="*/ 4 w 5"/>
                <a:gd name="T43" fmla="*/ 1 h 3"/>
                <a:gd name="T44" fmla="*/ 4 w 5"/>
                <a:gd name="T45" fmla="*/ 1 h 3"/>
                <a:gd name="T46" fmla="*/ 4 w 5"/>
                <a:gd name="T47" fmla="*/ 1 h 3"/>
                <a:gd name="T48" fmla="*/ 3 w 5"/>
                <a:gd name="T49" fmla="*/ 1 h 3"/>
                <a:gd name="T50" fmla="*/ 3 w 5"/>
                <a:gd name="T51" fmla="*/ 1 h 3"/>
                <a:gd name="T52" fmla="*/ 3 w 5"/>
                <a:gd name="T53" fmla="*/ 1 h 3"/>
                <a:gd name="T54" fmla="*/ 2 w 5"/>
                <a:gd name="T55" fmla="*/ 1 h 3"/>
                <a:gd name="T56" fmla="*/ 2 w 5"/>
                <a:gd name="T57" fmla="*/ 1 h 3"/>
                <a:gd name="T58" fmla="*/ 2 w 5"/>
                <a:gd name="T59" fmla="*/ 1 h 3"/>
                <a:gd name="T60" fmla="*/ 2 w 5"/>
                <a:gd name="T61" fmla="*/ 1 h 3"/>
                <a:gd name="T62" fmla="*/ 2 w 5"/>
                <a:gd name="T63" fmla="*/ 2 h 3"/>
                <a:gd name="T64" fmla="*/ 1 w 5"/>
                <a:gd name="T65" fmla="*/ 2 h 3"/>
                <a:gd name="T66" fmla="*/ 1 w 5"/>
                <a:gd name="T67" fmla="*/ 2 h 3"/>
                <a:gd name="T68" fmla="*/ 1 w 5"/>
                <a:gd name="T69" fmla="*/ 3 h 3"/>
                <a:gd name="T70" fmla="*/ 1 w 5"/>
                <a:gd name="T71" fmla="*/ 3 h 3"/>
                <a:gd name="T72" fmla="*/ 1 w 5"/>
                <a:gd name="T7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" h="3">
                  <a:moveTo>
                    <a:pt x="1" y="2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3" name="Freeform 57"/>
            <p:cNvSpPr>
              <a:spLocks/>
            </p:cNvSpPr>
            <p:nvPr/>
          </p:nvSpPr>
          <p:spPr bwMode="auto">
            <a:xfrm>
              <a:off x="1836" y="2967"/>
              <a:ext cx="24" cy="18"/>
            </a:xfrm>
            <a:custGeom>
              <a:avLst/>
              <a:gdLst>
                <a:gd name="T0" fmla="*/ 1 w 4"/>
                <a:gd name="T1" fmla="*/ 2 h 3"/>
                <a:gd name="T2" fmla="*/ 0 w 4"/>
                <a:gd name="T3" fmla="*/ 2 h 3"/>
                <a:gd name="T4" fmla="*/ 0 w 4"/>
                <a:gd name="T5" fmla="*/ 2 h 3"/>
                <a:gd name="T6" fmla="*/ 1 w 4"/>
                <a:gd name="T7" fmla="*/ 1 h 3"/>
                <a:gd name="T8" fmla="*/ 1 w 4"/>
                <a:gd name="T9" fmla="*/ 1 h 3"/>
                <a:gd name="T10" fmla="*/ 2 w 4"/>
                <a:gd name="T11" fmla="*/ 0 h 3"/>
                <a:gd name="T12" fmla="*/ 2 w 4"/>
                <a:gd name="T13" fmla="*/ 0 h 3"/>
                <a:gd name="T14" fmla="*/ 3 w 4"/>
                <a:gd name="T15" fmla="*/ 0 h 3"/>
                <a:gd name="T16" fmla="*/ 3 w 4"/>
                <a:gd name="T17" fmla="*/ 1 h 3"/>
                <a:gd name="T18" fmla="*/ 4 w 4"/>
                <a:gd name="T19" fmla="*/ 1 h 3"/>
                <a:gd name="T20" fmla="*/ 4 w 4"/>
                <a:gd name="T21" fmla="*/ 2 h 3"/>
                <a:gd name="T22" fmla="*/ 3 w 4"/>
                <a:gd name="T23" fmla="*/ 1 h 3"/>
                <a:gd name="T24" fmla="*/ 3 w 4"/>
                <a:gd name="T25" fmla="*/ 1 h 3"/>
                <a:gd name="T26" fmla="*/ 2 w 4"/>
                <a:gd name="T27" fmla="*/ 1 h 3"/>
                <a:gd name="T28" fmla="*/ 2 w 4"/>
                <a:gd name="T29" fmla="*/ 1 h 3"/>
                <a:gd name="T30" fmla="*/ 2 w 4"/>
                <a:gd name="T31" fmla="*/ 1 h 3"/>
                <a:gd name="T32" fmla="*/ 1 w 4"/>
                <a:gd name="T33" fmla="*/ 2 h 3"/>
                <a:gd name="T34" fmla="*/ 1 w 4"/>
                <a:gd name="T35" fmla="*/ 2 h 3"/>
                <a:gd name="T36" fmla="*/ 1 w 4"/>
                <a:gd name="T37" fmla="*/ 3 h 3"/>
                <a:gd name="T38" fmla="*/ 0 w 4"/>
                <a:gd name="T39" fmla="*/ 3 h 3"/>
                <a:gd name="T40" fmla="*/ 1 w 4"/>
                <a:gd name="T4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3">
                  <a:moveTo>
                    <a:pt x="1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4" name="Freeform 58"/>
            <p:cNvSpPr>
              <a:spLocks/>
            </p:cNvSpPr>
            <p:nvPr/>
          </p:nvSpPr>
          <p:spPr bwMode="auto">
            <a:xfrm>
              <a:off x="1842" y="2943"/>
              <a:ext cx="48" cy="18"/>
            </a:xfrm>
            <a:custGeom>
              <a:avLst/>
              <a:gdLst>
                <a:gd name="T0" fmla="*/ 0 w 8"/>
                <a:gd name="T1" fmla="*/ 3 h 3"/>
                <a:gd name="T2" fmla="*/ 0 w 8"/>
                <a:gd name="T3" fmla="*/ 3 h 3"/>
                <a:gd name="T4" fmla="*/ 1 w 8"/>
                <a:gd name="T5" fmla="*/ 3 h 3"/>
                <a:gd name="T6" fmla="*/ 1 w 8"/>
                <a:gd name="T7" fmla="*/ 3 h 3"/>
                <a:gd name="T8" fmla="*/ 1 w 8"/>
                <a:gd name="T9" fmla="*/ 3 h 3"/>
                <a:gd name="T10" fmla="*/ 2 w 8"/>
                <a:gd name="T11" fmla="*/ 2 h 3"/>
                <a:gd name="T12" fmla="*/ 3 w 8"/>
                <a:gd name="T13" fmla="*/ 2 h 3"/>
                <a:gd name="T14" fmla="*/ 3 w 8"/>
                <a:gd name="T15" fmla="*/ 2 h 3"/>
                <a:gd name="T16" fmla="*/ 4 w 8"/>
                <a:gd name="T17" fmla="*/ 2 h 3"/>
                <a:gd name="T18" fmla="*/ 4 w 8"/>
                <a:gd name="T19" fmla="*/ 2 h 3"/>
                <a:gd name="T20" fmla="*/ 5 w 8"/>
                <a:gd name="T21" fmla="*/ 1 h 3"/>
                <a:gd name="T22" fmla="*/ 5 w 8"/>
                <a:gd name="T23" fmla="*/ 1 h 3"/>
                <a:gd name="T24" fmla="*/ 6 w 8"/>
                <a:gd name="T25" fmla="*/ 1 h 3"/>
                <a:gd name="T26" fmla="*/ 6 w 8"/>
                <a:gd name="T27" fmla="*/ 1 h 3"/>
                <a:gd name="T28" fmla="*/ 7 w 8"/>
                <a:gd name="T29" fmla="*/ 0 h 3"/>
                <a:gd name="T30" fmla="*/ 7 w 8"/>
                <a:gd name="T31" fmla="*/ 0 h 3"/>
                <a:gd name="T32" fmla="*/ 7 w 8"/>
                <a:gd name="T33" fmla="*/ 0 h 3"/>
                <a:gd name="T34" fmla="*/ 8 w 8"/>
                <a:gd name="T35" fmla="*/ 0 h 3"/>
                <a:gd name="T36" fmla="*/ 8 w 8"/>
                <a:gd name="T37" fmla="*/ 1 h 3"/>
                <a:gd name="T38" fmla="*/ 7 w 8"/>
                <a:gd name="T39" fmla="*/ 1 h 3"/>
                <a:gd name="T40" fmla="*/ 7 w 8"/>
                <a:gd name="T41" fmla="*/ 1 h 3"/>
                <a:gd name="T42" fmla="*/ 6 w 8"/>
                <a:gd name="T43" fmla="*/ 2 h 3"/>
                <a:gd name="T44" fmla="*/ 6 w 8"/>
                <a:gd name="T45" fmla="*/ 2 h 3"/>
                <a:gd name="T46" fmla="*/ 5 w 8"/>
                <a:gd name="T47" fmla="*/ 2 h 3"/>
                <a:gd name="T48" fmla="*/ 5 w 8"/>
                <a:gd name="T49" fmla="*/ 2 h 3"/>
                <a:gd name="T50" fmla="*/ 4 w 8"/>
                <a:gd name="T51" fmla="*/ 3 h 3"/>
                <a:gd name="T52" fmla="*/ 3 w 8"/>
                <a:gd name="T53" fmla="*/ 3 h 3"/>
                <a:gd name="T54" fmla="*/ 3 w 8"/>
                <a:gd name="T55" fmla="*/ 3 h 3"/>
                <a:gd name="T56" fmla="*/ 2 w 8"/>
                <a:gd name="T57" fmla="*/ 3 h 3"/>
                <a:gd name="T58" fmla="*/ 2 w 8"/>
                <a:gd name="T59" fmla="*/ 3 h 3"/>
                <a:gd name="T60" fmla="*/ 1 w 8"/>
                <a:gd name="T61" fmla="*/ 3 h 3"/>
                <a:gd name="T62" fmla="*/ 1 w 8"/>
                <a:gd name="T63" fmla="*/ 3 h 3"/>
                <a:gd name="T64" fmla="*/ 0 w 8"/>
                <a:gd name="T65" fmla="*/ 3 h 3"/>
                <a:gd name="T66" fmla="*/ 0 w 8"/>
                <a:gd name="T67" fmla="*/ 3 h 3"/>
                <a:gd name="T68" fmla="*/ 0 w 8"/>
                <a:gd name="T6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5" name="Freeform 59"/>
            <p:cNvSpPr>
              <a:spLocks/>
            </p:cNvSpPr>
            <p:nvPr/>
          </p:nvSpPr>
          <p:spPr bwMode="auto">
            <a:xfrm>
              <a:off x="1884" y="2967"/>
              <a:ext cx="84" cy="204"/>
            </a:xfrm>
            <a:custGeom>
              <a:avLst/>
              <a:gdLst>
                <a:gd name="T0" fmla="*/ 14 w 14"/>
                <a:gd name="T1" fmla="*/ 34 h 34"/>
                <a:gd name="T2" fmla="*/ 13 w 14"/>
                <a:gd name="T3" fmla="*/ 34 h 34"/>
                <a:gd name="T4" fmla="*/ 0 w 14"/>
                <a:gd name="T5" fmla="*/ 0 h 34"/>
                <a:gd name="T6" fmla="*/ 1 w 14"/>
                <a:gd name="T7" fmla="*/ 0 h 34"/>
                <a:gd name="T8" fmla="*/ 14 w 14"/>
                <a:gd name="T9" fmla="*/ 34 h 34"/>
                <a:gd name="T10" fmla="*/ 14 w 14"/>
                <a:gd name="T11" fmla="*/ 34 h 34"/>
                <a:gd name="T12" fmla="*/ 14 w 1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34">
                  <a:moveTo>
                    <a:pt x="14" y="34"/>
                  </a:moveTo>
                  <a:lnTo>
                    <a:pt x="13" y="3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4" y="34"/>
                  </a:lnTo>
                  <a:lnTo>
                    <a:pt x="14" y="34"/>
                  </a:lnTo>
                  <a:lnTo>
                    <a:pt x="14" y="3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6" name="Freeform 60"/>
            <p:cNvSpPr>
              <a:spLocks/>
            </p:cNvSpPr>
            <p:nvPr/>
          </p:nvSpPr>
          <p:spPr bwMode="auto">
            <a:xfrm>
              <a:off x="1962" y="3171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0 w 1"/>
                <a:gd name="T15" fmla="*/ 1 h 1"/>
                <a:gd name="T16" fmla="*/ 0 w 1"/>
                <a:gd name="T17" fmla="*/ 0 h 1"/>
                <a:gd name="T18" fmla="*/ 1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7" name="Freeform 61"/>
            <p:cNvSpPr>
              <a:spLocks/>
            </p:cNvSpPr>
            <p:nvPr/>
          </p:nvSpPr>
          <p:spPr bwMode="auto">
            <a:xfrm>
              <a:off x="1854" y="2973"/>
              <a:ext cx="6" cy="6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8" name="Freeform 62"/>
            <p:cNvSpPr>
              <a:spLocks/>
            </p:cNvSpPr>
            <p:nvPr/>
          </p:nvSpPr>
          <p:spPr bwMode="auto">
            <a:xfrm>
              <a:off x="1854" y="2973"/>
              <a:ext cx="84" cy="210"/>
            </a:xfrm>
            <a:custGeom>
              <a:avLst/>
              <a:gdLst>
                <a:gd name="T0" fmla="*/ 14 w 14"/>
                <a:gd name="T1" fmla="*/ 34 h 35"/>
                <a:gd name="T2" fmla="*/ 14 w 14"/>
                <a:gd name="T3" fmla="*/ 35 h 35"/>
                <a:gd name="T4" fmla="*/ 0 w 14"/>
                <a:gd name="T5" fmla="*/ 1 h 35"/>
                <a:gd name="T6" fmla="*/ 1 w 14"/>
                <a:gd name="T7" fmla="*/ 0 h 35"/>
                <a:gd name="T8" fmla="*/ 14 w 14"/>
                <a:gd name="T9" fmla="*/ 34 h 35"/>
                <a:gd name="T10" fmla="*/ 14 w 14"/>
                <a:gd name="T11" fmla="*/ 34 h 35"/>
                <a:gd name="T12" fmla="*/ 14 w 14"/>
                <a:gd name="T13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35">
                  <a:moveTo>
                    <a:pt x="14" y="34"/>
                  </a:moveTo>
                  <a:lnTo>
                    <a:pt x="14" y="35"/>
                  </a:lnTo>
                  <a:lnTo>
                    <a:pt x="0" y="1"/>
                  </a:lnTo>
                  <a:lnTo>
                    <a:pt x="1" y="0"/>
                  </a:lnTo>
                  <a:lnTo>
                    <a:pt x="14" y="34"/>
                  </a:lnTo>
                  <a:lnTo>
                    <a:pt x="14" y="34"/>
                  </a:lnTo>
                  <a:lnTo>
                    <a:pt x="14" y="3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19" name="Freeform 63"/>
            <p:cNvSpPr>
              <a:spLocks/>
            </p:cNvSpPr>
            <p:nvPr/>
          </p:nvSpPr>
          <p:spPr bwMode="auto">
            <a:xfrm>
              <a:off x="1926" y="3159"/>
              <a:ext cx="54" cy="72"/>
            </a:xfrm>
            <a:custGeom>
              <a:avLst/>
              <a:gdLst>
                <a:gd name="T0" fmla="*/ 9 w 9"/>
                <a:gd name="T1" fmla="*/ 2 h 12"/>
                <a:gd name="T2" fmla="*/ 9 w 9"/>
                <a:gd name="T3" fmla="*/ 3 h 12"/>
                <a:gd name="T4" fmla="*/ 8 w 9"/>
                <a:gd name="T5" fmla="*/ 5 h 12"/>
                <a:gd name="T6" fmla="*/ 8 w 9"/>
                <a:gd name="T7" fmla="*/ 7 h 12"/>
                <a:gd name="T8" fmla="*/ 8 w 9"/>
                <a:gd name="T9" fmla="*/ 8 h 12"/>
                <a:gd name="T10" fmla="*/ 8 w 9"/>
                <a:gd name="T11" fmla="*/ 9 h 12"/>
                <a:gd name="T12" fmla="*/ 8 w 9"/>
                <a:gd name="T13" fmla="*/ 10 h 12"/>
                <a:gd name="T14" fmla="*/ 8 w 9"/>
                <a:gd name="T15" fmla="*/ 11 h 12"/>
                <a:gd name="T16" fmla="*/ 8 w 9"/>
                <a:gd name="T17" fmla="*/ 11 h 12"/>
                <a:gd name="T18" fmla="*/ 7 w 9"/>
                <a:gd name="T19" fmla="*/ 11 h 12"/>
                <a:gd name="T20" fmla="*/ 6 w 9"/>
                <a:gd name="T21" fmla="*/ 10 h 12"/>
                <a:gd name="T22" fmla="*/ 6 w 9"/>
                <a:gd name="T23" fmla="*/ 9 h 12"/>
                <a:gd name="T24" fmla="*/ 5 w 9"/>
                <a:gd name="T25" fmla="*/ 9 h 12"/>
                <a:gd name="T26" fmla="*/ 4 w 9"/>
                <a:gd name="T27" fmla="*/ 8 h 12"/>
                <a:gd name="T28" fmla="*/ 4 w 9"/>
                <a:gd name="T29" fmla="*/ 7 h 12"/>
                <a:gd name="T30" fmla="*/ 3 w 9"/>
                <a:gd name="T31" fmla="*/ 7 h 12"/>
                <a:gd name="T32" fmla="*/ 2 w 9"/>
                <a:gd name="T33" fmla="*/ 6 h 12"/>
                <a:gd name="T34" fmla="*/ 2 w 9"/>
                <a:gd name="T35" fmla="*/ 5 h 12"/>
                <a:gd name="T36" fmla="*/ 1 w 9"/>
                <a:gd name="T37" fmla="*/ 5 h 12"/>
                <a:gd name="T38" fmla="*/ 0 w 9"/>
                <a:gd name="T39" fmla="*/ 5 h 12"/>
                <a:gd name="T40" fmla="*/ 0 w 9"/>
                <a:gd name="T41" fmla="*/ 4 h 12"/>
                <a:gd name="T42" fmla="*/ 0 w 9"/>
                <a:gd name="T43" fmla="*/ 4 h 12"/>
                <a:gd name="T44" fmla="*/ 1 w 9"/>
                <a:gd name="T45" fmla="*/ 3 h 12"/>
                <a:gd name="T46" fmla="*/ 1 w 9"/>
                <a:gd name="T47" fmla="*/ 3 h 12"/>
                <a:gd name="T48" fmla="*/ 2 w 9"/>
                <a:gd name="T49" fmla="*/ 3 h 12"/>
                <a:gd name="T50" fmla="*/ 2 w 9"/>
                <a:gd name="T51" fmla="*/ 2 h 12"/>
                <a:gd name="T52" fmla="*/ 2 w 9"/>
                <a:gd name="T53" fmla="*/ 2 h 12"/>
                <a:gd name="T54" fmla="*/ 3 w 9"/>
                <a:gd name="T55" fmla="*/ 1 h 12"/>
                <a:gd name="T56" fmla="*/ 3 w 9"/>
                <a:gd name="T57" fmla="*/ 1 h 12"/>
                <a:gd name="T58" fmla="*/ 4 w 9"/>
                <a:gd name="T59" fmla="*/ 1 h 12"/>
                <a:gd name="T60" fmla="*/ 5 w 9"/>
                <a:gd name="T61" fmla="*/ 1 h 12"/>
                <a:gd name="T62" fmla="*/ 6 w 9"/>
                <a:gd name="T63" fmla="*/ 2 h 12"/>
                <a:gd name="T64" fmla="*/ 7 w 9"/>
                <a:gd name="T65" fmla="*/ 1 h 12"/>
                <a:gd name="T66" fmla="*/ 7 w 9"/>
                <a:gd name="T67" fmla="*/ 1 h 12"/>
                <a:gd name="T68" fmla="*/ 8 w 9"/>
                <a:gd name="T69" fmla="*/ 0 h 12"/>
                <a:gd name="T70" fmla="*/ 9 w 9"/>
                <a:gd name="T71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" h="12">
                  <a:moveTo>
                    <a:pt x="9" y="1"/>
                  </a:move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9" y="1"/>
                  </a:lnTo>
                </a:path>
              </a:pathLst>
            </a:custGeom>
            <a:solidFill>
              <a:srgbClr val="EBC1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0" name="Freeform 64"/>
            <p:cNvSpPr>
              <a:spLocks/>
            </p:cNvSpPr>
            <p:nvPr/>
          </p:nvSpPr>
          <p:spPr bwMode="auto">
            <a:xfrm>
              <a:off x="1974" y="3165"/>
              <a:ext cx="6" cy="42"/>
            </a:xfrm>
            <a:custGeom>
              <a:avLst/>
              <a:gdLst>
                <a:gd name="T0" fmla="*/ 0 w 1"/>
                <a:gd name="T1" fmla="*/ 7 h 7"/>
                <a:gd name="T2" fmla="*/ 0 w 1"/>
                <a:gd name="T3" fmla="*/ 7 h 7"/>
                <a:gd name="T4" fmla="*/ 0 w 1"/>
                <a:gd name="T5" fmla="*/ 6 h 7"/>
                <a:gd name="T6" fmla="*/ 0 w 1"/>
                <a:gd name="T7" fmla="*/ 5 h 7"/>
                <a:gd name="T8" fmla="*/ 0 w 1"/>
                <a:gd name="T9" fmla="*/ 4 h 7"/>
                <a:gd name="T10" fmla="*/ 0 w 1"/>
                <a:gd name="T11" fmla="*/ 3 h 7"/>
                <a:gd name="T12" fmla="*/ 0 w 1"/>
                <a:gd name="T13" fmla="*/ 2 h 7"/>
                <a:gd name="T14" fmla="*/ 0 w 1"/>
                <a:gd name="T15" fmla="*/ 2 h 7"/>
                <a:gd name="T16" fmla="*/ 1 w 1"/>
                <a:gd name="T17" fmla="*/ 1 h 7"/>
                <a:gd name="T18" fmla="*/ 1 w 1"/>
                <a:gd name="T19" fmla="*/ 0 h 7"/>
                <a:gd name="T20" fmla="*/ 1 w 1"/>
                <a:gd name="T21" fmla="*/ 0 h 7"/>
                <a:gd name="T22" fmla="*/ 1 w 1"/>
                <a:gd name="T23" fmla="*/ 1 h 7"/>
                <a:gd name="T24" fmla="*/ 1 w 1"/>
                <a:gd name="T25" fmla="*/ 2 h 7"/>
                <a:gd name="T26" fmla="*/ 1 w 1"/>
                <a:gd name="T27" fmla="*/ 3 h 7"/>
                <a:gd name="T28" fmla="*/ 1 w 1"/>
                <a:gd name="T29" fmla="*/ 3 h 7"/>
                <a:gd name="T30" fmla="*/ 1 w 1"/>
                <a:gd name="T31" fmla="*/ 4 h 7"/>
                <a:gd name="T32" fmla="*/ 1 w 1"/>
                <a:gd name="T33" fmla="*/ 5 h 7"/>
                <a:gd name="T34" fmla="*/ 1 w 1"/>
                <a:gd name="T35" fmla="*/ 6 h 7"/>
                <a:gd name="T36" fmla="*/ 0 w 1"/>
                <a:gd name="T37" fmla="*/ 7 h 7"/>
                <a:gd name="T38" fmla="*/ 0 w 1"/>
                <a:gd name="T39" fmla="*/ 7 h 7"/>
                <a:gd name="T40" fmla="*/ 0 w 1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7">
                  <a:moveTo>
                    <a:pt x="0" y="7"/>
                  </a:move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1" name="Freeform 65"/>
            <p:cNvSpPr>
              <a:spLocks/>
            </p:cNvSpPr>
            <p:nvPr/>
          </p:nvSpPr>
          <p:spPr bwMode="auto">
            <a:xfrm>
              <a:off x="1968" y="3207"/>
              <a:ext cx="6" cy="24"/>
            </a:xfrm>
            <a:custGeom>
              <a:avLst/>
              <a:gdLst>
                <a:gd name="T0" fmla="*/ 1 w 1"/>
                <a:gd name="T1" fmla="*/ 3 h 4"/>
                <a:gd name="T2" fmla="*/ 0 w 1"/>
                <a:gd name="T3" fmla="*/ 4 h 4"/>
                <a:gd name="T4" fmla="*/ 0 w 1"/>
                <a:gd name="T5" fmla="*/ 3 h 4"/>
                <a:gd name="T6" fmla="*/ 0 w 1"/>
                <a:gd name="T7" fmla="*/ 3 h 4"/>
                <a:gd name="T8" fmla="*/ 1 w 1"/>
                <a:gd name="T9" fmla="*/ 2 h 4"/>
                <a:gd name="T10" fmla="*/ 1 w 1"/>
                <a:gd name="T11" fmla="*/ 2 h 4"/>
                <a:gd name="T12" fmla="*/ 1 w 1"/>
                <a:gd name="T13" fmla="*/ 1 h 4"/>
                <a:gd name="T14" fmla="*/ 1 w 1"/>
                <a:gd name="T15" fmla="*/ 1 h 4"/>
                <a:gd name="T16" fmla="*/ 1 w 1"/>
                <a:gd name="T17" fmla="*/ 0 h 4"/>
                <a:gd name="T18" fmla="*/ 1 w 1"/>
                <a:gd name="T19" fmla="*/ 0 h 4"/>
                <a:gd name="T20" fmla="*/ 1 w 1"/>
                <a:gd name="T21" fmla="*/ 0 h 4"/>
                <a:gd name="T22" fmla="*/ 1 w 1"/>
                <a:gd name="T23" fmla="*/ 0 h 4"/>
                <a:gd name="T24" fmla="*/ 1 w 1"/>
                <a:gd name="T25" fmla="*/ 1 h 4"/>
                <a:gd name="T26" fmla="*/ 1 w 1"/>
                <a:gd name="T27" fmla="*/ 1 h 4"/>
                <a:gd name="T28" fmla="*/ 1 w 1"/>
                <a:gd name="T29" fmla="*/ 2 h 4"/>
                <a:gd name="T30" fmla="*/ 1 w 1"/>
                <a:gd name="T31" fmla="*/ 2 h 4"/>
                <a:gd name="T32" fmla="*/ 1 w 1"/>
                <a:gd name="T33" fmla="*/ 3 h 4"/>
                <a:gd name="T34" fmla="*/ 1 w 1"/>
                <a:gd name="T35" fmla="*/ 3 h 4"/>
                <a:gd name="T36" fmla="*/ 1 w 1"/>
                <a:gd name="T37" fmla="*/ 4 h 4"/>
                <a:gd name="T38" fmla="*/ 1 w 1"/>
                <a:gd name="T39" fmla="*/ 4 h 4"/>
                <a:gd name="T40" fmla="*/ 1 w 1"/>
                <a:gd name="T4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4">
                  <a:moveTo>
                    <a:pt x="1" y="3"/>
                  </a:move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2" name="Freeform 66"/>
            <p:cNvSpPr>
              <a:spLocks/>
            </p:cNvSpPr>
            <p:nvPr/>
          </p:nvSpPr>
          <p:spPr bwMode="auto">
            <a:xfrm>
              <a:off x="1956" y="3213"/>
              <a:ext cx="18" cy="1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1 w 3"/>
                <a:gd name="T5" fmla="*/ 0 h 3"/>
                <a:gd name="T6" fmla="*/ 1 w 3"/>
                <a:gd name="T7" fmla="*/ 0 h 3"/>
                <a:gd name="T8" fmla="*/ 1 w 3"/>
                <a:gd name="T9" fmla="*/ 1 h 3"/>
                <a:gd name="T10" fmla="*/ 2 w 3"/>
                <a:gd name="T11" fmla="*/ 1 h 3"/>
                <a:gd name="T12" fmla="*/ 2 w 3"/>
                <a:gd name="T13" fmla="*/ 2 h 3"/>
                <a:gd name="T14" fmla="*/ 2 w 3"/>
                <a:gd name="T15" fmla="*/ 2 h 3"/>
                <a:gd name="T16" fmla="*/ 3 w 3"/>
                <a:gd name="T17" fmla="*/ 2 h 3"/>
                <a:gd name="T18" fmla="*/ 3 w 3"/>
                <a:gd name="T19" fmla="*/ 2 h 3"/>
                <a:gd name="T20" fmla="*/ 3 w 3"/>
                <a:gd name="T21" fmla="*/ 3 h 3"/>
                <a:gd name="T22" fmla="*/ 2 w 3"/>
                <a:gd name="T23" fmla="*/ 3 h 3"/>
                <a:gd name="T24" fmla="*/ 2 w 3"/>
                <a:gd name="T25" fmla="*/ 2 h 3"/>
                <a:gd name="T26" fmla="*/ 2 w 3"/>
                <a:gd name="T27" fmla="*/ 2 h 3"/>
                <a:gd name="T28" fmla="*/ 1 w 3"/>
                <a:gd name="T29" fmla="*/ 2 h 3"/>
                <a:gd name="T30" fmla="*/ 1 w 3"/>
                <a:gd name="T31" fmla="*/ 1 h 3"/>
                <a:gd name="T32" fmla="*/ 1 w 3"/>
                <a:gd name="T33" fmla="*/ 1 h 3"/>
                <a:gd name="T34" fmla="*/ 0 w 3"/>
                <a:gd name="T35" fmla="*/ 0 h 3"/>
                <a:gd name="T36" fmla="*/ 0 w 3"/>
                <a:gd name="T37" fmla="*/ 0 h 3"/>
                <a:gd name="T38" fmla="*/ 0 w 3"/>
                <a:gd name="T39" fmla="*/ 0 h 3"/>
                <a:gd name="T40" fmla="*/ 0 w 3"/>
                <a:gd name="T4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3" name="Freeform 67"/>
            <p:cNvSpPr>
              <a:spLocks/>
            </p:cNvSpPr>
            <p:nvPr/>
          </p:nvSpPr>
          <p:spPr bwMode="auto">
            <a:xfrm>
              <a:off x="1920" y="3183"/>
              <a:ext cx="36" cy="30"/>
            </a:xfrm>
            <a:custGeom>
              <a:avLst/>
              <a:gdLst>
                <a:gd name="T0" fmla="*/ 1 w 6"/>
                <a:gd name="T1" fmla="*/ 1 h 5"/>
                <a:gd name="T2" fmla="*/ 1 w 6"/>
                <a:gd name="T3" fmla="*/ 0 h 5"/>
                <a:gd name="T4" fmla="*/ 1 w 6"/>
                <a:gd name="T5" fmla="*/ 0 h 5"/>
                <a:gd name="T6" fmla="*/ 2 w 6"/>
                <a:gd name="T7" fmla="*/ 0 h 5"/>
                <a:gd name="T8" fmla="*/ 2 w 6"/>
                <a:gd name="T9" fmla="*/ 1 h 5"/>
                <a:gd name="T10" fmla="*/ 2 w 6"/>
                <a:gd name="T11" fmla="*/ 1 h 5"/>
                <a:gd name="T12" fmla="*/ 3 w 6"/>
                <a:gd name="T13" fmla="*/ 1 h 5"/>
                <a:gd name="T14" fmla="*/ 3 w 6"/>
                <a:gd name="T15" fmla="*/ 1 h 5"/>
                <a:gd name="T16" fmla="*/ 4 w 6"/>
                <a:gd name="T17" fmla="*/ 2 h 5"/>
                <a:gd name="T18" fmla="*/ 4 w 6"/>
                <a:gd name="T19" fmla="*/ 2 h 5"/>
                <a:gd name="T20" fmla="*/ 4 w 6"/>
                <a:gd name="T21" fmla="*/ 2 h 5"/>
                <a:gd name="T22" fmla="*/ 5 w 6"/>
                <a:gd name="T23" fmla="*/ 3 h 5"/>
                <a:gd name="T24" fmla="*/ 5 w 6"/>
                <a:gd name="T25" fmla="*/ 3 h 5"/>
                <a:gd name="T26" fmla="*/ 5 w 6"/>
                <a:gd name="T27" fmla="*/ 3 h 5"/>
                <a:gd name="T28" fmla="*/ 6 w 6"/>
                <a:gd name="T29" fmla="*/ 4 h 5"/>
                <a:gd name="T30" fmla="*/ 6 w 6"/>
                <a:gd name="T31" fmla="*/ 4 h 5"/>
                <a:gd name="T32" fmla="*/ 6 w 6"/>
                <a:gd name="T33" fmla="*/ 4 h 5"/>
                <a:gd name="T34" fmla="*/ 6 w 6"/>
                <a:gd name="T35" fmla="*/ 5 h 5"/>
                <a:gd name="T36" fmla="*/ 6 w 6"/>
                <a:gd name="T37" fmla="*/ 5 h 5"/>
                <a:gd name="T38" fmla="*/ 6 w 6"/>
                <a:gd name="T39" fmla="*/ 5 h 5"/>
                <a:gd name="T40" fmla="*/ 5 w 6"/>
                <a:gd name="T41" fmla="*/ 5 h 5"/>
                <a:gd name="T42" fmla="*/ 5 w 6"/>
                <a:gd name="T43" fmla="*/ 4 h 5"/>
                <a:gd name="T44" fmla="*/ 5 w 6"/>
                <a:gd name="T45" fmla="*/ 4 h 5"/>
                <a:gd name="T46" fmla="*/ 4 w 6"/>
                <a:gd name="T47" fmla="*/ 4 h 5"/>
                <a:gd name="T48" fmla="*/ 4 w 6"/>
                <a:gd name="T49" fmla="*/ 3 h 5"/>
                <a:gd name="T50" fmla="*/ 4 w 6"/>
                <a:gd name="T51" fmla="*/ 3 h 5"/>
                <a:gd name="T52" fmla="*/ 4 w 6"/>
                <a:gd name="T53" fmla="*/ 3 h 5"/>
                <a:gd name="T54" fmla="*/ 3 w 6"/>
                <a:gd name="T55" fmla="*/ 3 h 5"/>
                <a:gd name="T56" fmla="*/ 3 w 6"/>
                <a:gd name="T57" fmla="*/ 2 h 5"/>
                <a:gd name="T58" fmla="*/ 2 w 6"/>
                <a:gd name="T59" fmla="*/ 2 h 5"/>
                <a:gd name="T60" fmla="*/ 2 w 6"/>
                <a:gd name="T61" fmla="*/ 2 h 5"/>
                <a:gd name="T62" fmla="*/ 2 w 6"/>
                <a:gd name="T63" fmla="*/ 1 h 5"/>
                <a:gd name="T64" fmla="*/ 1 w 6"/>
                <a:gd name="T65" fmla="*/ 1 h 5"/>
                <a:gd name="T66" fmla="*/ 1 w 6"/>
                <a:gd name="T67" fmla="*/ 1 h 5"/>
                <a:gd name="T68" fmla="*/ 1 w 6"/>
                <a:gd name="T69" fmla="*/ 1 h 5"/>
                <a:gd name="T70" fmla="*/ 0 w 6"/>
                <a:gd name="T71" fmla="*/ 0 h 5"/>
                <a:gd name="T72" fmla="*/ 1 w 6"/>
                <a:gd name="T7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5">
                  <a:moveTo>
                    <a:pt x="1" y="1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4" name="Freeform 68"/>
            <p:cNvSpPr>
              <a:spLocks/>
            </p:cNvSpPr>
            <p:nvPr/>
          </p:nvSpPr>
          <p:spPr bwMode="auto">
            <a:xfrm>
              <a:off x="1920" y="3177"/>
              <a:ext cx="18" cy="12"/>
            </a:xfrm>
            <a:custGeom>
              <a:avLst/>
              <a:gdLst>
                <a:gd name="T0" fmla="*/ 3 w 3"/>
                <a:gd name="T1" fmla="*/ 1 h 2"/>
                <a:gd name="T2" fmla="*/ 3 w 3"/>
                <a:gd name="T3" fmla="*/ 1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2 w 3"/>
                <a:gd name="T11" fmla="*/ 1 h 2"/>
                <a:gd name="T12" fmla="*/ 2 w 3"/>
                <a:gd name="T13" fmla="*/ 1 h 2"/>
                <a:gd name="T14" fmla="*/ 1 w 3"/>
                <a:gd name="T15" fmla="*/ 1 h 2"/>
                <a:gd name="T16" fmla="*/ 1 w 3"/>
                <a:gd name="T17" fmla="*/ 1 h 2"/>
                <a:gd name="T18" fmla="*/ 1 w 3"/>
                <a:gd name="T19" fmla="*/ 2 h 2"/>
                <a:gd name="T20" fmla="*/ 0 w 3"/>
                <a:gd name="T21" fmla="*/ 1 h 2"/>
                <a:gd name="T22" fmla="*/ 1 w 3"/>
                <a:gd name="T23" fmla="*/ 1 h 2"/>
                <a:gd name="T24" fmla="*/ 1 w 3"/>
                <a:gd name="T25" fmla="*/ 0 h 2"/>
                <a:gd name="T26" fmla="*/ 1 w 3"/>
                <a:gd name="T27" fmla="*/ 0 h 2"/>
                <a:gd name="T28" fmla="*/ 1 w 3"/>
                <a:gd name="T29" fmla="*/ 0 h 2"/>
                <a:gd name="T30" fmla="*/ 2 w 3"/>
                <a:gd name="T31" fmla="*/ 0 h 2"/>
                <a:gd name="T32" fmla="*/ 2 w 3"/>
                <a:gd name="T33" fmla="*/ 0 h 2"/>
                <a:gd name="T34" fmla="*/ 3 w 3"/>
                <a:gd name="T35" fmla="*/ 0 h 2"/>
                <a:gd name="T36" fmla="*/ 3 w 3"/>
                <a:gd name="T37" fmla="*/ 0 h 2"/>
                <a:gd name="T38" fmla="*/ 2 w 3"/>
                <a:gd name="T39" fmla="*/ 1 h 2"/>
                <a:gd name="T40" fmla="*/ 3 w 3"/>
                <a:gd name="T4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3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5" name="Freeform 69"/>
            <p:cNvSpPr>
              <a:spLocks/>
            </p:cNvSpPr>
            <p:nvPr/>
          </p:nvSpPr>
          <p:spPr bwMode="auto">
            <a:xfrm>
              <a:off x="1932" y="3165"/>
              <a:ext cx="36" cy="18"/>
            </a:xfrm>
            <a:custGeom>
              <a:avLst/>
              <a:gdLst>
                <a:gd name="T0" fmla="*/ 6 w 6"/>
                <a:gd name="T1" fmla="*/ 1 h 3"/>
                <a:gd name="T2" fmla="*/ 5 w 6"/>
                <a:gd name="T3" fmla="*/ 1 h 3"/>
                <a:gd name="T4" fmla="*/ 5 w 6"/>
                <a:gd name="T5" fmla="*/ 1 h 3"/>
                <a:gd name="T6" fmla="*/ 4 w 6"/>
                <a:gd name="T7" fmla="*/ 1 h 3"/>
                <a:gd name="T8" fmla="*/ 4 w 6"/>
                <a:gd name="T9" fmla="*/ 1 h 3"/>
                <a:gd name="T10" fmla="*/ 4 w 6"/>
                <a:gd name="T11" fmla="*/ 1 h 3"/>
                <a:gd name="T12" fmla="*/ 3 w 6"/>
                <a:gd name="T13" fmla="*/ 1 h 3"/>
                <a:gd name="T14" fmla="*/ 3 w 6"/>
                <a:gd name="T15" fmla="*/ 1 h 3"/>
                <a:gd name="T16" fmla="*/ 3 w 6"/>
                <a:gd name="T17" fmla="*/ 0 h 3"/>
                <a:gd name="T18" fmla="*/ 2 w 6"/>
                <a:gd name="T19" fmla="*/ 1 h 3"/>
                <a:gd name="T20" fmla="*/ 2 w 6"/>
                <a:gd name="T21" fmla="*/ 1 h 3"/>
                <a:gd name="T22" fmla="*/ 2 w 6"/>
                <a:gd name="T23" fmla="*/ 1 h 3"/>
                <a:gd name="T24" fmla="*/ 1 w 6"/>
                <a:gd name="T25" fmla="*/ 1 h 3"/>
                <a:gd name="T26" fmla="*/ 1 w 6"/>
                <a:gd name="T27" fmla="*/ 1 h 3"/>
                <a:gd name="T28" fmla="*/ 1 w 6"/>
                <a:gd name="T29" fmla="*/ 1 h 3"/>
                <a:gd name="T30" fmla="*/ 1 w 6"/>
                <a:gd name="T31" fmla="*/ 2 h 3"/>
                <a:gd name="T32" fmla="*/ 1 w 6"/>
                <a:gd name="T33" fmla="*/ 2 h 3"/>
                <a:gd name="T34" fmla="*/ 1 w 6"/>
                <a:gd name="T35" fmla="*/ 3 h 3"/>
                <a:gd name="T36" fmla="*/ 0 w 6"/>
                <a:gd name="T37" fmla="*/ 3 h 3"/>
                <a:gd name="T38" fmla="*/ 0 w 6"/>
                <a:gd name="T39" fmla="*/ 2 h 3"/>
                <a:gd name="T40" fmla="*/ 0 w 6"/>
                <a:gd name="T41" fmla="*/ 2 h 3"/>
                <a:gd name="T42" fmla="*/ 0 w 6"/>
                <a:gd name="T43" fmla="*/ 1 h 3"/>
                <a:gd name="T44" fmla="*/ 1 w 6"/>
                <a:gd name="T45" fmla="*/ 1 h 3"/>
                <a:gd name="T46" fmla="*/ 1 w 6"/>
                <a:gd name="T47" fmla="*/ 0 h 3"/>
                <a:gd name="T48" fmla="*/ 1 w 6"/>
                <a:gd name="T49" fmla="*/ 0 h 3"/>
                <a:gd name="T50" fmla="*/ 2 w 6"/>
                <a:gd name="T51" fmla="*/ 0 h 3"/>
                <a:gd name="T52" fmla="*/ 2 w 6"/>
                <a:gd name="T53" fmla="*/ 0 h 3"/>
                <a:gd name="T54" fmla="*/ 2 w 6"/>
                <a:gd name="T55" fmla="*/ 0 h 3"/>
                <a:gd name="T56" fmla="*/ 3 w 6"/>
                <a:gd name="T57" fmla="*/ 0 h 3"/>
                <a:gd name="T58" fmla="*/ 3 w 6"/>
                <a:gd name="T59" fmla="*/ 0 h 3"/>
                <a:gd name="T60" fmla="*/ 4 w 6"/>
                <a:gd name="T61" fmla="*/ 0 h 3"/>
                <a:gd name="T62" fmla="*/ 4 w 6"/>
                <a:gd name="T63" fmla="*/ 0 h 3"/>
                <a:gd name="T64" fmla="*/ 5 w 6"/>
                <a:gd name="T65" fmla="*/ 0 h 3"/>
                <a:gd name="T66" fmla="*/ 5 w 6"/>
                <a:gd name="T67" fmla="*/ 1 h 3"/>
                <a:gd name="T68" fmla="*/ 6 w 6"/>
                <a:gd name="T69" fmla="*/ 1 h 3"/>
                <a:gd name="T70" fmla="*/ 5 w 6"/>
                <a:gd name="T71" fmla="*/ 1 h 3"/>
                <a:gd name="T72" fmla="*/ 6 w 6"/>
                <a:gd name="T7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3">
                  <a:moveTo>
                    <a:pt x="6" y="1"/>
                  </a:move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6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6" name="Freeform 70"/>
            <p:cNvSpPr>
              <a:spLocks/>
            </p:cNvSpPr>
            <p:nvPr/>
          </p:nvSpPr>
          <p:spPr bwMode="auto">
            <a:xfrm>
              <a:off x="1962" y="3159"/>
              <a:ext cx="18" cy="12"/>
            </a:xfrm>
            <a:custGeom>
              <a:avLst/>
              <a:gdLst>
                <a:gd name="T0" fmla="*/ 3 w 3"/>
                <a:gd name="T1" fmla="*/ 1 h 2"/>
                <a:gd name="T2" fmla="*/ 3 w 3"/>
                <a:gd name="T3" fmla="*/ 1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2 w 3"/>
                <a:gd name="T11" fmla="*/ 1 h 2"/>
                <a:gd name="T12" fmla="*/ 1 w 3"/>
                <a:gd name="T13" fmla="*/ 1 h 2"/>
                <a:gd name="T14" fmla="*/ 1 w 3"/>
                <a:gd name="T15" fmla="*/ 1 h 2"/>
                <a:gd name="T16" fmla="*/ 1 w 3"/>
                <a:gd name="T17" fmla="*/ 2 h 2"/>
                <a:gd name="T18" fmla="*/ 1 w 3"/>
                <a:gd name="T19" fmla="*/ 2 h 2"/>
                <a:gd name="T20" fmla="*/ 0 w 3"/>
                <a:gd name="T21" fmla="*/ 2 h 2"/>
                <a:gd name="T22" fmla="*/ 0 w 3"/>
                <a:gd name="T23" fmla="*/ 1 h 2"/>
                <a:gd name="T24" fmla="*/ 1 w 3"/>
                <a:gd name="T25" fmla="*/ 1 h 2"/>
                <a:gd name="T26" fmla="*/ 1 w 3"/>
                <a:gd name="T27" fmla="*/ 0 h 2"/>
                <a:gd name="T28" fmla="*/ 1 w 3"/>
                <a:gd name="T29" fmla="*/ 0 h 2"/>
                <a:gd name="T30" fmla="*/ 2 w 3"/>
                <a:gd name="T31" fmla="*/ 0 h 2"/>
                <a:gd name="T32" fmla="*/ 2 w 3"/>
                <a:gd name="T33" fmla="*/ 0 h 2"/>
                <a:gd name="T34" fmla="*/ 3 w 3"/>
                <a:gd name="T35" fmla="*/ 0 h 2"/>
                <a:gd name="T36" fmla="*/ 3 w 3"/>
                <a:gd name="T37" fmla="*/ 1 h 2"/>
                <a:gd name="T38" fmla="*/ 3 w 3"/>
                <a:gd name="T39" fmla="*/ 1 h 2"/>
                <a:gd name="T40" fmla="*/ 3 w 3"/>
                <a:gd name="T4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7" name="Freeform 71"/>
            <p:cNvSpPr>
              <a:spLocks/>
            </p:cNvSpPr>
            <p:nvPr/>
          </p:nvSpPr>
          <p:spPr bwMode="auto">
            <a:xfrm>
              <a:off x="1956" y="3207"/>
              <a:ext cx="18" cy="24"/>
            </a:xfrm>
            <a:custGeom>
              <a:avLst/>
              <a:gdLst>
                <a:gd name="T0" fmla="*/ 3 w 3"/>
                <a:gd name="T1" fmla="*/ 0 h 4"/>
                <a:gd name="T2" fmla="*/ 3 w 3"/>
                <a:gd name="T3" fmla="*/ 0 h 4"/>
                <a:gd name="T4" fmla="*/ 3 w 3"/>
                <a:gd name="T5" fmla="*/ 1 h 4"/>
                <a:gd name="T6" fmla="*/ 3 w 3"/>
                <a:gd name="T7" fmla="*/ 1 h 4"/>
                <a:gd name="T8" fmla="*/ 3 w 3"/>
                <a:gd name="T9" fmla="*/ 2 h 4"/>
                <a:gd name="T10" fmla="*/ 3 w 3"/>
                <a:gd name="T11" fmla="*/ 2 h 4"/>
                <a:gd name="T12" fmla="*/ 3 w 3"/>
                <a:gd name="T13" fmla="*/ 3 h 4"/>
                <a:gd name="T14" fmla="*/ 3 w 3"/>
                <a:gd name="T15" fmla="*/ 3 h 4"/>
                <a:gd name="T16" fmla="*/ 3 w 3"/>
                <a:gd name="T17" fmla="*/ 4 h 4"/>
                <a:gd name="T18" fmla="*/ 3 w 3"/>
                <a:gd name="T19" fmla="*/ 3 h 4"/>
                <a:gd name="T20" fmla="*/ 2 w 3"/>
                <a:gd name="T21" fmla="*/ 3 h 4"/>
                <a:gd name="T22" fmla="*/ 2 w 3"/>
                <a:gd name="T23" fmla="*/ 3 h 4"/>
                <a:gd name="T24" fmla="*/ 2 w 3"/>
                <a:gd name="T25" fmla="*/ 2 h 4"/>
                <a:gd name="T26" fmla="*/ 1 w 3"/>
                <a:gd name="T27" fmla="*/ 2 h 4"/>
                <a:gd name="T28" fmla="*/ 1 w 3"/>
                <a:gd name="T29" fmla="*/ 2 h 4"/>
                <a:gd name="T30" fmla="*/ 1 w 3"/>
                <a:gd name="T31" fmla="*/ 1 h 4"/>
                <a:gd name="T32" fmla="*/ 0 w 3"/>
                <a:gd name="T33" fmla="*/ 1 h 4"/>
                <a:gd name="T34" fmla="*/ 1 w 3"/>
                <a:gd name="T35" fmla="*/ 1 h 4"/>
                <a:gd name="T36" fmla="*/ 1 w 3"/>
                <a:gd name="T37" fmla="*/ 1 h 4"/>
                <a:gd name="T38" fmla="*/ 1 w 3"/>
                <a:gd name="T39" fmla="*/ 1 h 4"/>
                <a:gd name="T40" fmla="*/ 2 w 3"/>
                <a:gd name="T41" fmla="*/ 1 h 4"/>
                <a:gd name="T42" fmla="*/ 2 w 3"/>
                <a:gd name="T43" fmla="*/ 1 h 4"/>
                <a:gd name="T44" fmla="*/ 2 w 3"/>
                <a:gd name="T45" fmla="*/ 0 h 4"/>
                <a:gd name="T46" fmla="*/ 3 w 3"/>
                <a:gd name="T47" fmla="*/ 0 h 4"/>
                <a:gd name="T48" fmla="*/ 3 w 3"/>
                <a:gd name="T4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8" name="Freeform 72"/>
            <p:cNvSpPr>
              <a:spLocks/>
            </p:cNvSpPr>
            <p:nvPr/>
          </p:nvSpPr>
          <p:spPr bwMode="auto">
            <a:xfrm>
              <a:off x="1968" y="3207"/>
              <a:ext cx="6" cy="24"/>
            </a:xfrm>
            <a:custGeom>
              <a:avLst/>
              <a:gdLst>
                <a:gd name="T0" fmla="*/ 1 w 1"/>
                <a:gd name="T1" fmla="*/ 3 h 4"/>
                <a:gd name="T2" fmla="*/ 0 w 1"/>
                <a:gd name="T3" fmla="*/ 4 h 4"/>
                <a:gd name="T4" fmla="*/ 0 w 1"/>
                <a:gd name="T5" fmla="*/ 3 h 4"/>
                <a:gd name="T6" fmla="*/ 0 w 1"/>
                <a:gd name="T7" fmla="*/ 3 h 4"/>
                <a:gd name="T8" fmla="*/ 1 w 1"/>
                <a:gd name="T9" fmla="*/ 2 h 4"/>
                <a:gd name="T10" fmla="*/ 1 w 1"/>
                <a:gd name="T11" fmla="*/ 2 h 4"/>
                <a:gd name="T12" fmla="*/ 1 w 1"/>
                <a:gd name="T13" fmla="*/ 1 h 4"/>
                <a:gd name="T14" fmla="*/ 1 w 1"/>
                <a:gd name="T15" fmla="*/ 1 h 4"/>
                <a:gd name="T16" fmla="*/ 1 w 1"/>
                <a:gd name="T17" fmla="*/ 0 h 4"/>
                <a:gd name="T18" fmla="*/ 1 w 1"/>
                <a:gd name="T19" fmla="*/ 0 h 4"/>
                <a:gd name="T20" fmla="*/ 1 w 1"/>
                <a:gd name="T21" fmla="*/ 0 h 4"/>
                <a:gd name="T22" fmla="*/ 1 w 1"/>
                <a:gd name="T23" fmla="*/ 0 h 4"/>
                <a:gd name="T24" fmla="*/ 1 w 1"/>
                <a:gd name="T25" fmla="*/ 1 h 4"/>
                <a:gd name="T26" fmla="*/ 1 w 1"/>
                <a:gd name="T27" fmla="*/ 1 h 4"/>
                <a:gd name="T28" fmla="*/ 1 w 1"/>
                <a:gd name="T29" fmla="*/ 2 h 4"/>
                <a:gd name="T30" fmla="*/ 1 w 1"/>
                <a:gd name="T31" fmla="*/ 2 h 4"/>
                <a:gd name="T32" fmla="*/ 1 w 1"/>
                <a:gd name="T33" fmla="*/ 3 h 4"/>
                <a:gd name="T34" fmla="*/ 1 w 1"/>
                <a:gd name="T35" fmla="*/ 3 h 4"/>
                <a:gd name="T36" fmla="*/ 1 w 1"/>
                <a:gd name="T37" fmla="*/ 4 h 4"/>
                <a:gd name="T38" fmla="*/ 1 w 1"/>
                <a:gd name="T39" fmla="*/ 4 h 4"/>
                <a:gd name="T40" fmla="*/ 1 w 1"/>
                <a:gd name="T4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4">
                  <a:moveTo>
                    <a:pt x="1" y="3"/>
                  </a:move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29" name="Freeform 73"/>
            <p:cNvSpPr>
              <a:spLocks/>
            </p:cNvSpPr>
            <p:nvPr/>
          </p:nvSpPr>
          <p:spPr bwMode="auto">
            <a:xfrm>
              <a:off x="1956" y="3207"/>
              <a:ext cx="18" cy="24"/>
            </a:xfrm>
            <a:custGeom>
              <a:avLst/>
              <a:gdLst>
                <a:gd name="T0" fmla="*/ 0 w 3"/>
                <a:gd name="T1" fmla="*/ 1 h 4"/>
                <a:gd name="T2" fmla="*/ 0 w 3"/>
                <a:gd name="T3" fmla="*/ 1 h 4"/>
                <a:gd name="T4" fmla="*/ 1 w 3"/>
                <a:gd name="T5" fmla="*/ 1 h 4"/>
                <a:gd name="T6" fmla="*/ 1 w 3"/>
                <a:gd name="T7" fmla="*/ 1 h 4"/>
                <a:gd name="T8" fmla="*/ 1 w 3"/>
                <a:gd name="T9" fmla="*/ 2 h 4"/>
                <a:gd name="T10" fmla="*/ 2 w 3"/>
                <a:gd name="T11" fmla="*/ 2 h 4"/>
                <a:gd name="T12" fmla="*/ 2 w 3"/>
                <a:gd name="T13" fmla="*/ 3 h 4"/>
                <a:gd name="T14" fmla="*/ 2 w 3"/>
                <a:gd name="T15" fmla="*/ 3 h 4"/>
                <a:gd name="T16" fmla="*/ 3 w 3"/>
                <a:gd name="T17" fmla="*/ 3 h 4"/>
                <a:gd name="T18" fmla="*/ 3 w 3"/>
                <a:gd name="T19" fmla="*/ 3 h 4"/>
                <a:gd name="T20" fmla="*/ 3 w 3"/>
                <a:gd name="T21" fmla="*/ 4 h 4"/>
                <a:gd name="T22" fmla="*/ 2 w 3"/>
                <a:gd name="T23" fmla="*/ 4 h 4"/>
                <a:gd name="T24" fmla="*/ 2 w 3"/>
                <a:gd name="T25" fmla="*/ 3 h 4"/>
                <a:gd name="T26" fmla="*/ 2 w 3"/>
                <a:gd name="T27" fmla="*/ 3 h 4"/>
                <a:gd name="T28" fmla="*/ 1 w 3"/>
                <a:gd name="T29" fmla="*/ 3 h 4"/>
                <a:gd name="T30" fmla="*/ 1 w 3"/>
                <a:gd name="T31" fmla="*/ 2 h 4"/>
                <a:gd name="T32" fmla="*/ 1 w 3"/>
                <a:gd name="T33" fmla="*/ 2 h 4"/>
                <a:gd name="T34" fmla="*/ 0 w 3"/>
                <a:gd name="T35" fmla="*/ 1 h 4"/>
                <a:gd name="T36" fmla="*/ 0 w 3"/>
                <a:gd name="T37" fmla="*/ 1 h 4"/>
                <a:gd name="T38" fmla="*/ 0 w 3"/>
                <a:gd name="T39" fmla="*/ 0 h 4"/>
                <a:gd name="T40" fmla="*/ 0 w 3"/>
                <a:gd name="T41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0" name="Freeform 74"/>
            <p:cNvSpPr>
              <a:spLocks/>
            </p:cNvSpPr>
            <p:nvPr/>
          </p:nvSpPr>
          <p:spPr bwMode="auto">
            <a:xfrm>
              <a:off x="1956" y="3207"/>
              <a:ext cx="18" cy="6"/>
            </a:xfrm>
            <a:custGeom>
              <a:avLst/>
              <a:gdLst>
                <a:gd name="T0" fmla="*/ 3 w 3"/>
                <a:gd name="T1" fmla="*/ 0 h 1"/>
                <a:gd name="T2" fmla="*/ 3 w 3"/>
                <a:gd name="T3" fmla="*/ 0 h 1"/>
                <a:gd name="T4" fmla="*/ 3 w 3"/>
                <a:gd name="T5" fmla="*/ 1 h 1"/>
                <a:gd name="T6" fmla="*/ 3 w 3"/>
                <a:gd name="T7" fmla="*/ 1 h 1"/>
                <a:gd name="T8" fmla="*/ 2 w 3"/>
                <a:gd name="T9" fmla="*/ 1 h 1"/>
                <a:gd name="T10" fmla="*/ 2 w 3"/>
                <a:gd name="T11" fmla="*/ 1 h 1"/>
                <a:gd name="T12" fmla="*/ 1 w 3"/>
                <a:gd name="T13" fmla="*/ 1 h 1"/>
                <a:gd name="T14" fmla="*/ 1 w 3"/>
                <a:gd name="T15" fmla="*/ 1 h 1"/>
                <a:gd name="T16" fmla="*/ 1 w 3"/>
                <a:gd name="T17" fmla="*/ 1 h 1"/>
                <a:gd name="T18" fmla="*/ 0 w 3"/>
                <a:gd name="T19" fmla="*/ 1 h 1"/>
                <a:gd name="T20" fmla="*/ 0 w 3"/>
                <a:gd name="T21" fmla="*/ 0 h 1"/>
                <a:gd name="T22" fmla="*/ 1 w 3"/>
                <a:gd name="T23" fmla="*/ 1 h 1"/>
                <a:gd name="T24" fmla="*/ 1 w 3"/>
                <a:gd name="T25" fmla="*/ 0 h 1"/>
                <a:gd name="T26" fmla="*/ 1 w 3"/>
                <a:gd name="T27" fmla="*/ 0 h 1"/>
                <a:gd name="T28" fmla="*/ 2 w 3"/>
                <a:gd name="T29" fmla="*/ 0 h 1"/>
                <a:gd name="T30" fmla="*/ 2 w 3"/>
                <a:gd name="T31" fmla="*/ 0 h 1"/>
                <a:gd name="T32" fmla="*/ 2 w 3"/>
                <a:gd name="T33" fmla="*/ 0 h 1"/>
                <a:gd name="T34" fmla="*/ 3 w 3"/>
                <a:gd name="T35" fmla="*/ 0 h 1"/>
                <a:gd name="T36" fmla="*/ 3 w 3"/>
                <a:gd name="T37" fmla="*/ 0 h 1"/>
                <a:gd name="T38" fmla="*/ 3 w 3"/>
                <a:gd name="T39" fmla="*/ 0 h 1"/>
                <a:gd name="T40" fmla="*/ 3 w 3"/>
                <a:gd name="T4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1" name="Freeform 75"/>
            <p:cNvSpPr>
              <a:spLocks/>
            </p:cNvSpPr>
            <p:nvPr/>
          </p:nvSpPr>
          <p:spPr bwMode="auto">
            <a:xfrm>
              <a:off x="1950" y="3225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0 h 1"/>
                <a:gd name="T18" fmla="*/ 1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2" name="Freeform 76"/>
            <p:cNvSpPr>
              <a:spLocks/>
            </p:cNvSpPr>
            <p:nvPr/>
          </p:nvSpPr>
          <p:spPr bwMode="auto">
            <a:xfrm>
              <a:off x="1794" y="3207"/>
              <a:ext cx="162" cy="18"/>
            </a:xfrm>
            <a:custGeom>
              <a:avLst/>
              <a:gdLst>
                <a:gd name="T0" fmla="*/ 1 w 27"/>
                <a:gd name="T1" fmla="*/ 0 h 3"/>
                <a:gd name="T2" fmla="*/ 3 w 27"/>
                <a:gd name="T3" fmla="*/ 0 h 3"/>
                <a:gd name="T4" fmla="*/ 4 w 27"/>
                <a:gd name="T5" fmla="*/ 0 h 3"/>
                <a:gd name="T6" fmla="*/ 6 w 27"/>
                <a:gd name="T7" fmla="*/ 0 h 3"/>
                <a:gd name="T8" fmla="*/ 8 w 27"/>
                <a:gd name="T9" fmla="*/ 0 h 3"/>
                <a:gd name="T10" fmla="*/ 10 w 27"/>
                <a:gd name="T11" fmla="*/ 0 h 3"/>
                <a:gd name="T12" fmla="*/ 11 w 27"/>
                <a:gd name="T13" fmla="*/ 0 h 3"/>
                <a:gd name="T14" fmla="*/ 13 w 27"/>
                <a:gd name="T15" fmla="*/ 0 h 3"/>
                <a:gd name="T16" fmla="*/ 15 w 27"/>
                <a:gd name="T17" fmla="*/ 0 h 3"/>
                <a:gd name="T18" fmla="*/ 16 w 27"/>
                <a:gd name="T19" fmla="*/ 0 h 3"/>
                <a:gd name="T20" fmla="*/ 18 w 27"/>
                <a:gd name="T21" fmla="*/ 1 h 3"/>
                <a:gd name="T22" fmla="*/ 20 w 27"/>
                <a:gd name="T23" fmla="*/ 1 h 3"/>
                <a:gd name="T24" fmla="*/ 21 w 27"/>
                <a:gd name="T25" fmla="*/ 1 h 3"/>
                <a:gd name="T26" fmla="*/ 23 w 27"/>
                <a:gd name="T27" fmla="*/ 2 h 3"/>
                <a:gd name="T28" fmla="*/ 24 w 27"/>
                <a:gd name="T29" fmla="*/ 2 h 3"/>
                <a:gd name="T30" fmla="*/ 26 w 27"/>
                <a:gd name="T31" fmla="*/ 2 h 3"/>
                <a:gd name="T32" fmla="*/ 26 w 27"/>
                <a:gd name="T33" fmla="*/ 3 h 3"/>
                <a:gd name="T34" fmla="*/ 25 w 27"/>
                <a:gd name="T35" fmla="*/ 3 h 3"/>
                <a:gd name="T36" fmla="*/ 23 w 27"/>
                <a:gd name="T37" fmla="*/ 2 h 3"/>
                <a:gd name="T38" fmla="*/ 22 w 27"/>
                <a:gd name="T39" fmla="*/ 2 h 3"/>
                <a:gd name="T40" fmla="*/ 20 w 27"/>
                <a:gd name="T41" fmla="*/ 2 h 3"/>
                <a:gd name="T42" fmla="*/ 19 w 27"/>
                <a:gd name="T43" fmla="*/ 1 h 3"/>
                <a:gd name="T44" fmla="*/ 17 w 27"/>
                <a:gd name="T45" fmla="*/ 1 h 3"/>
                <a:gd name="T46" fmla="*/ 15 w 27"/>
                <a:gd name="T47" fmla="*/ 1 h 3"/>
                <a:gd name="T48" fmla="*/ 14 w 27"/>
                <a:gd name="T49" fmla="*/ 1 h 3"/>
                <a:gd name="T50" fmla="*/ 12 w 27"/>
                <a:gd name="T51" fmla="*/ 1 h 3"/>
                <a:gd name="T52" fmla="*/ 10 w 27"/>
                <a:gd name="T53" fmla="*/ 1 h 3"/>
                <a:gd name="T54" fmla="*/ 9 w 27"/>
                <a:gd name="T55" fmla="*/ 1 h 3"/>
                <a:gd name="T56" fmla="*/ 7 w 27"/>
                <a:gd name="T57" fmla="*/ 1 h 3"/>
                <a:gd name="T58" fmla="*/ 5 w 27"/>
                <a:gd name="T59" fmla="*/ 1 h 3"/>
                <a:gd name="T60" fmla="*/ 4 w 27"/>
                <a:gd name="T61" fmla="*/ 1 h 3"/>
                <a:gd name="T62" fmla="*/ 2 w 27"/>
                <a:gd name="T63" fmla="*/ 1 h 3"/>
                <a:gd name="T64" fmla="*/ 0 w 27"/>
                <a:gd name="T6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3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1"/>
                  </a:lnTo>
                  <a:lnTo>
                    <a:pt x="19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5" y="3"/>
                  </a:lnTo>
                  <a:lnTo>
                    <a:pt x="24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3" name="Freeform 77"/>
            <p:cNvSpPr>
              <a:spLocks/>
            </p:cNvSpPr>
            <p:nvPr/>
          </p:nvSpPr>
          <p:spPr bwMode="auto">
            <a:xfrm>
              <a:off x="1950" y="3225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4" name="Freeform 78"/>
            <p:cNvSpPr>
              <a:spLocks/>
            </p:cNvSpPr>
            <p:nvPr/>
          </p:nvSpPr>
          <p:spPr bwMode="auto">
            <a:xfrm>
              <a:off x="1884" y="3087"/>
              <a:ext cx="90" cy="60"/>
            </a:xfrm>
            <a:custGeom>
              <a:avLst/>
              <a:gdLst>
                <a:gd name="T0" fmla="*/ 13 w 15"/>
                <a:gd name="T1" fmla="*/ 0 h 10"/>
                <a:gd name="T2" fmla="*/ 12 w 15"/>
                <a:gd name="T3" fmla="*/ 0 h 10"/>
                <a:gd name="T4" fmla="*/ 11 w 15"/>
                <a:gd name="T5" fmla="*/ 1 h 10"/>
                <a:gd name="T6" fmla="*/ 11 w 15"/>
                <a:gd name="T7" fmla="*/ 1 h 10"/>
                <a:gd name="T8" fmla="*/ 10 w 15"/>
                <a:gd name="T9" fmla="*/ 1 h 10"/>
                <a:gd name="T10" fmla="*/ 9 w 15"/>
                <a:gd name="T11" fmla="*/ 2 h 10"/>
                <a:gd name="T12" fmla="*/ 8 w 15"/>
                <a:gd name="T13" fmla="*/ 2 h 10"/>
                <a:gd name="T14" fmla="*/ 7 w 15"/>
                <a:gd name="T15" fmla="*/ 2 h 10"/>
                <a:gd name="T16" fmla="*/ 6 w 15"/>
                <a:gd name="T17" fmla="*/ 3 h 10"/>
                <a:gd name="T18" fmla="*/ 6 w 15"/>
                <a:gd name="T19" fmla="*/ 3 h 10"/>
                <a:gd name="T20" fmla="*/ 5 w 15"/>
                <a:gd name="T21" fmla="*/ 3 h 10"/>
                <a:gd name="T22" fmla="*/ 4 w 15"/>
                <a:gd name="T23" fmla="*/ 4 h 10"/>
                <a:gd name="T24" fmla="*/ 3 w 15"/>
                <a:gd name="T25" fmla="*/ 4 h 10"/>
                <a:gd name="T26" fmla="*/ 2 w 15"/>
                <a:gd name="T27" fmla="*/ 4 h 10"/>
                <a:gd name="T28" fmla="*/ 2 w 15"/>
                <a:gd name="T29" fmla="*/ 4 h 10"/>
                <a:gd name="T30" fmla="*/ 1 w 15"/>
                <a:gd name="T31" fmla="*/ 5 h 10"/>
                <a:gd name="T32" fmla="*/ 0 w 15"/>
                <a:gd name="T33" fmla="*/ 5 h 10"/>
                <a:gd name="T34" fmla="*/ 0 w 15"/>
                <a:gd name="T35" fmla="*/ 6 h 10"/>
                <a:gd name="T36" fmla="*/ 1 w 15"/>
                <a:gd name="T37" fmla="*/ 7 h 10"/>
                <a:gd name="T38" fmla="*/ 1 w 15"/>
                <a:gd name="T39" fmla="*/ 8 h 10"/>
                <a:gd name="T40" fmla="*/ 2 w 15"/>
                <a:gd name="T41" fmla="*/ 10 h 10"/>
                <a:gd name="T42" fmla="*/ 2 w 15"/>
                <a:gd name="T43" fmla="*/ 10 h 10"/>
                <a:gd name="T44" fmla="*/ 3 w 15"/>
                <a:gd name="T45" fmla="*/ 10 h 10"/>
                <a:gd name="T46" fmla="*/ 4 w 15"/>
                <a:gd name="T47" fmla="*/ 10 h 10"/>
                <a:gd name="T48" fmla="*/ 5 w 15"/>
                <a:gd name="T49" fmla="*/ 9 h 10"/>
                <a:gd name="T50" fmla="*/ 6 w 15"/>
                <a:gd name="T51" fmla="*/ 9 h 10"/>
                <a:gd name="T52" fmla="*/ 7 w 15"/>
                <a:gd name="T53" fmla="*/ 9 h 10"/>
                <a:gd name="T54" fmla="*/ 8 w 15"/>
                <a:gd name="T55" fmla="*/ 9 h 10"/>
                <a:gd name="T56" fmla="*/ 9 w 15"/>
                <a:gd name="T57" fmla="*/ 8 h 10"/>
                <a:gd name="T58" fmla="*/ 10 w 15"/>
                <a:gd name="T59" fmla="*/ 8 h 10"/>
                <a:gd name="T60" fmla="*/ 11 w 15"/>
                <a:gd name="T61" fmla="*/ 8 h 10"/>
                <a:gd name="T62" fmla="*/ 12 w 15"/>
                <a:gd name="T63" fmla="*/ 7 h 10"/>
                <a:gd name="T64" fmla="*/ 13 w 15"/>
                <a:gd name="T65" fmla="*/ 7 h 10"/>
                <a:gd name="T66" fmla="*/ 13 w 15"/>
                <a:gd name="T67" fmla="*/ 6 h 10"/>
                <a:gd name="T68" fmla="*/ 14 w 15"/>
                <a:gd name="T69" fmla="*/ 6 h 10"/>
                <a:gd name="T70" fmla="*/ 14 w 15"/>
                <a:gd name="T71" fmla="*/ 5 h 10"/>
                <a:gd name="T72" fmla="*/ 15 w 15"/>
                <a:gd name="T73" fmla="*/ 5 h 10"/>
                <a:gd name="T74" fmla="*/ 14 w 15"/>
                <a:gd name="T75" fmla="*/ 3 h 10"/>
                <a:gd name="T76" fmla="*/ 14 w 15"/>
                <a:gd name="T77" fmla="*/ 2 h 10"/>
                <a:gd name="T78" fmla="*/ 13 w 15"/>
                <a:gd name="T79" fmla="*/ 1 h 10"/>
                <a:gd name="T80" fmla="*/ 13 w 15"/>
                <a:gd name="T8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" h="10">
                  <a:moveTo>
                    <a:pt x="13" y="0"/>
                  </a:moveTo>
                  <a:lnTo>
                    <a:pt x="12" y="0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3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5" name="Freeform 79"/>
            <p:cNvSpPr>
              <a:spLocks/>
            </p:cNvSpPr>
            <p:nvPr/>
          </p:nvSpPr>
          <p:spPr bwMode="auto">
            <a:xfrm>
              <a:off x="1878" y="3087"/>
              <a:ext cx="84" cy="30"/>
            </a:xfrm>
            <a:custGeom>
              <a:avLst/>
              <a:gdLst>
                <a:gd name="T0" fmla="*/ 0 w 14"/>
                <a:gd name="T1" fmla="*/ 5 h 5"/>
                <a:gd name="T2" fmla="*/ 1 w 14"/>
                <a:gd name="T3" fmla="*/ 5 h 5"/>
                <a:gd name="T4" fmla="*/ 2 w 14"/>
                <a:gd name="T5" fmla="*/ 4 h 5"/>
                <a:gd name="T6" fmla="*/ 2 w 14"/>
                <a:gd name="T7" fmla="*/ 4 h 5"/>
                <a:gd name="T8" fmla="*/ 3 w 14"/>
                <a:gd name="T9" fmla="*/ 4 h 5"/>
                <a:gd name="T10" fmla="*/ 4 w 14"/>
                <a:gd name="T11" fmla="*/ 4 h 5"/>
                <a:gd name="T12" fmla="*/ 5 w 14"/>
                <a:gd name="T13" fmla="*/ 3 h 5"/>
                <a:gd name="T14" fmla="*/ 6 w 14"/>
                <a:gd name="T15" fmla="*/ 3 h 5"/>
                <a:gd name="T16" fmla="*/ 7 w 14"/>
                <a:gd name="T17" fmla="*/ 3 h 5"/>
                <a:gd name="T18" fmla="*/ 7 w 14"/>
                <a:gd name="T19" fmla="*/ 2 h 5"/>
                <a:gd name="T20" fmla="*/ 8 w 14"/>
                <a:gd name="T21" fmla="*/ 2 h 5"/>
                <a:gd name="T22" fmla="*/ 9 w 14"/>
                <a:gd name="T23" fmla="*/ 2 h 5"/>
                <a:gd name="T24" fmla="*/ 10 w 14"/>
                <a:gd name="T25" fmla="*/ 1 h 5"/>
                <a:gd name="T26" fmla="*/ 11 w 14"/>
                <a:gd name="T27" fmla="*/ 1 h 5"/>
                <a:gd name="T28" fmla="*/ 12 w 14"/>
                <a:gd name="T29" fmla="*/ 1 h 5"/>
                <a:gd name="T30" fmla="*/ 12 w 14"/>
                <a:gd name="T31" fmla="*/ 0 h 5"/>
                <a:gd name="T32" fmla="*/ 13 w 14"/>
                <a:gd name="T33" fmla="*/ 0 h 5"/>
                <a:gd name="T34" fmla="*/ 14 w 14"/>
                <a:gd name="T35" fmla="*/ 0 h 5"/>
                <a:gd name="T36" fmla="*/ 14 w 14"/>
                <a:gd name="T37" fmla="*/ 1 h 5"/>
                <a:gd name="T38" fmla="*/ 13 w 14"/>
                <a:gd name="T39" fmla="*/ 1 h 5"/>
                <a:gd name="T40" fmla="*/ 13 w 14"/>
                <a:gd name="T41" fmla="*/ 1 h 5"/>
                <a:gd name="T42" fmla="*/ 12 w 14"/>
                <a:gd name="T43" fmla="*/ 1 h 5"/>
                <a:gd name="T44" fmla="*/ 11 w 14"/>
                <a:gd name="T45" fmla="*/ 2 h 5"/>
                <a:gd name="T46" fmla="*/ 10 w 14"/>
                <a:gd name="T47" fmla="*/ 2 h 5"/>
                <a:gd name="T48" fmla="*/ 9 w 14"/>
                <a:gd name="T49" fmla="*/ 2 h 5"/>
                <a:gd name="T50" fmla="*/ 8 w 14"/>
                <a:gd name="T51" fmla="*/ 3 h 5"/>
                <a:gd name="T52" fmla="*/ 8 w 14"/>
                <a:gd name="T53" fmla="*/ 3 h 5"/>
                <a:gd name="T54" fmla="*/ 7 w 14"/>
                <a:gd name="T55" fmla="*/ 3 h 5"/>
                <a:gd name="T56" fmla="*/ 6 w 14"/>
                <a:gd name="T57" fmla="*/ 4 h 5"/>
                <a:gd name="T58" fmla="*/ 5 w 14"/>
                <a:gd name="T59" fmla="*/ 4 h 5"/>
                <a:gd name="T60" fmla="*/ 4 w 14"/>
                <a:gd name="T61" fmla="*/ 4 h 5"/>
                <a:gd name="T62" fmla="*/ 3 w 14"/>
                <a:gd name="T63" fmla="*/ 5 h 5"/>
                <a:gd name="T64" fmla="*/ 3 w 14"/>
                <a:gd name="T65" fmla="*/ 5 h 5"/>
                <a:gd name="T66" fmla="*/ 2 w 14"/>
                <a:gd name="T67" fmla="*/ 5 h 5"/>
                <a:gd name="T68" fmla="*/ 1 w 14"/>
                <a:gd name="T69" fmla="*/ 5 h 5"/>
                <a:gd name="T70" fmla="*/ 1 w 14"/>
                <a:gd name="T71" fmla="*/ 5 h 5"/>
                <a:gd name="T72" fmla="*/ 0 w 14"/>
                <a:gd name="T7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6" name="Freeform 80"/>
            <p:cNvSpPr>
              <a:spLocks/>
            </p:cNvSpPr>
            <p:nvPr/>
          </p:nvSpPr>
          <p:spPr bwMode="auto">
            <a:xfrm>
              <a:off x="1878" y="3117"/>
              <a:ext cx="18" cy="30"/>
            </a:xfrm>
            <a:custGeom>
              <a:avLst/>
              <a:gdLst>
                <a:gd name="T0" fmla="*/ 2 w 3"/>
                <a:gd name="T1" fmla="*/ 5 h 5"/>
                <a:gd name="T2" fmla="*/ 2 w 3"/>
                <a:gd name="T3" fmla="*/ 5 h 5"/>
                <a:gd name="T4" fmla="*/ 2 w 3"/>
                <a:gd name="T5" fmla="*/ 4 h 5"/>
                <a:gd name="T6" fmla="*/ 1 w 3"/>
                <a:gd name="T7" fmla="*/ 2 h 5"/>
                <a:gd name="T8" fmla="*/ 1 w 3"/>
                <a:gd name="T9" fmla="*/ 1 h 5"/>
                <a:gd name="T10" fmla="*/ 0 w 3"/>
                <a:gd name="T11" fmla="*/ 0 h 5"/>
                <a:gd name="T12" fmla="*/ 1 w 3"/>
                <a:gd name="T13" fmla="*/ 0 h 5"/>
                <a:gd name="T14" fmla="*/ 2 w 3"/>
                <a:gd name="T15" fmla="*/ 1 h 5"/>
                <a:gd name="T16" fmla="*/ 2 w 3"/>
                <a:gd name="T17" fmla="*/ 2 h 5"/>
                <a:gd name="T18" fmla="*/ 3 w 3"/>
                <a:gd name="T19" fmla="*/ 3 h 5"/>
                <a:gd name="T20" fmla="*/ 3 w 3"/>
                <a:gd name="T21" fmla="*/ 4 h 5"/>
                <a:gd name="T22" fmla="*/ 3 w 3"/>
                <a:gd name="T23" fmla="*/ 4 h 5"/>
                <a:gd name="T24" fmla="*/ 2 w 3"/>
                <a:gd name="T2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7" name="Freeform 81"/>
            <p:cNvSpPr>
              <a:spLocks/>
            </p:cNvSpPr>
            <p:nvPr/>
          </p:nvSpPr>
          <p:spPr bwMode="auto">
            <a:xfrm>
              <a:off x="1890" y="3111"/>
              <a:ext cx="84" cy="36"/>
            </a:xfrm>
            <a:custGeom>
              <a:avLst/>
              <a:gdLst>
                <a:gd name="T0" fmla="*/ 14 w 14"/>
                <a:gd name="T1" fmla="*/ 1 h 6"/>
                <a:gd name="T2" fmla="*/ 14 w 14"/>
                <a:gd name="T3" fmla="*/ 1 h 6"/>
                <a:gd name="T4" fmla="*/ 14 w 14"/>
                <a:gd name="T5" fmla="*/ 1 h 6"/>
                <a:gd name="T6" fmla="*/ 13 w 14"/>
                <a:gd name="T7" fmla="*/ 2 h 6"/>
                <a:gd name="T8" fmla="*/ 13 w 14"/>
                <a:gd name="T9" fmla="*/ 2 h 6"/>
                <a:gd name="T10" fmla="*/ 12 w 14"/>
                <a:gd name="T11" fmla="*/ 3 h 6"/>
                <a:gd name="T12" fmla="*/ 11 w 14"/>
                <a:gd name="T13" fmla="*/ 4 h 6"/>
                <a:gd name="T14" fmla="*/ 10 w 14"/>
                <a:gd name="T15" fmla="*/ 4 h 6"/>
                <a:gd name="T16" fmla="*/ 9 w 14"/>
                <a:gd name="T17" fmla="*/ 4 h 6"/>
                <a:gd name="T18" fmla="*/ 8 w 14"/>
                <a:gd name="T19" fmla="*/ 5 h 6"/>
                <a:gd name="T20" fmla="*/ 7 w 14"/>
                <a:gd name="T21" fmla="*/ 5 h 6"/>
                <a:gd name="T22" fmla="*/ 6 w 14"/>
                <a:gd name="T23" fmla="*/ 5 h 6"/>
                <a:gd name="T24" fmla="*/ 5 w 14"/>
                <a:gd name="T25" fmla="*/ 6 h 6"/>
                <a:gd name="T26" fmla="*/ 4 w 14"/>
                <a:gd name="T27" fmla="*/ 6 h 6"/>
                <a:gd name="T28" fmla="*/ 3 w 14"/>
                <a:gd name="T29" fmla="*/ 6 h 6"/>
                <a:gd name="T30" fmla="*/ 2 w 14"/>
                <a:gd name="T31" fmla="*/ 6 h 6"/>
                <a:gd name="T32" fmla="*/ 1 w 14"/>
                <a:gd name="T33" fmla="*/ 6 h 6"/>
                <a:gd name="T34" fmla="*/ 0 w 14"/>
                <a:gd name="T35" fmla="*/ 6 h 6"/>
                <a:gd name="T36" fmla="*/ 1 w 14"/>
                <a:gd name="T37" fmla="*/ 5 h 6"/>
                <a:gd name="T38" fmla="*/ 1 w 14"/>
                <a:gd name="T39" fmla="*/ 5 h 6"/>
                <a:gd name="T40" fmla="*/ 2 w 14"/>
                <a:gd name="T41" fmla="*/ 5 h 6"/>
                <a:gd name="T42" fmla="*/ 3 w 14"/>
                <a:gd name="T43" fmla="*/ 5 h 6"/>
                <a:gd name="T44" fmla="*/ 4 w 14"/>
                <a:gd name="T45" fmla="*/ 5 h 6"/>
                <a:gd name="T46" fmla="*/ 5 w 14"/>
                <a:gd name="T47" fmla="*/ 5 h 6"/>
                <a:gd name="T48" fmla="*/ 6 w 14"/>
                <a:gd name="T49" fmla="*/ 5 h 6"/>
                <a:gd name="T50" fmla="*/ 7 w 14"/>
                <a:gd name="T51" fmla="*/ 4 h 6"/>
                <a:gd name="T52" fmla="*/ 8 w 14"/>
                <a:gd name="T53" fmla="*/ 4 h 6"/>
                <a:gd name="T54" fmla="*/ 9 w 14"/>
                <a:gd name="T55" fmla="*/ 4 h 6"/>
                <a:gd name="T56" fmla="*/ 10 w 14"/>
                <a:gd name="T57" fmla="*/ 3 h 6"/>
                <a:gd name="T58" fmla="*/ 11 w 14"/>
                <a:gd name="T59" fmla="*/ 3 h 6"/>
                <a:gd name="T60" fmla="*/ 12 w 14"/>
                <a:gd name="T61" fmla="*/ 2 h 6"/>
                <a:gd name="T62" fmla="*/ 12 w 14"/>
                <a:gd name="T63" fmla="*/ 2 h 6"/>
                <a:gd name="T64" fmla="*/ 13 w 14"/>
                <a:gd name="T65" fmla="*/ 1 h 6"/>
                <a:gd name="T66" fmla="*/ 13 w 14"/>
                <a:gd name="T67" fmla="*/ 1 h 6"/>
                <a:gd name="T68" fmla="*/ 13 w 14"/>
                <a:gd name="T69" fmla="*/ 0 h 6"/>
                <a:gd name="T70" fmla="*/ 13 w 14"/>
                <a:gd name="T71" fmla="*/ 1 h 6"/>
                <a:gd name="T72" fmla="*/ 14 w 14"/>
                <a:gd name="T7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" h="6">
                  <a:moveTo>
                    <a:pt x="14" y="1"/>
                  </a:moveTo>
                  <a:lnTo>
                    <a:pt x="14" y="1"/>
                  </a:lnTo>
                  <a:lnTo>
                    <a:pt x="14" y="1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8" name="Freeform 82"/>
            <p:cNvSpPr>
              <a:spLocks/>
            </p:cNvSpPr>
            <p:nvPr/>
          </p:nvSpPr>
          <p:spPr bwMode="auto">
            <a:xfrm>
              <a:off x="1962" y="3087"/>
              <a:ext cx="12" cy="30"/>
            </a:xfrm>
            <a:custGeom>
              <a:avLst/>
              <a:gdLst>
                <a:gd name="T0" fmla="*/ 0 w 2"/>
                <a:gd name="T1" fmla="*/ 0 h 5"/>
                <a:gd name="T2" fmla="*/ 1 w 2"/>
                <a:gd name="T3" fmla="*/ 0 h 5"/>
                <a:gd name="T4" fmla="*/ 1 w 2"/>
                <a:gd name="T5" fmla="*/ 1 h 5"/>
                <a:gd name="T6" fmla="*/ 1 w 2"/>
                <a:gd name="T7" fmla="*/ 2 h 5"/>
                <a:gd name="T8" fmla="*/ 2 w 2"/>
                <a:gd name="T9" fmla="*/ 3 h 5"/>
                <a:gd name="T10" fmla="*/ 2 w 2"/>
                <a:gd name="T11" fmla="*/ 5 h 5"/>
                <a:gd name="T12" fmla="*/ 1 w 2"/>
                <a:gd name="T13" fmla="*/ 5 h 5"/>
                <a:gd name="T14" fmla="*/ 1 w 2"/>
                <a:gd name="T15" fmla="*/ 4 h 5"/>
                <a:gd name="T16" fmla="*/ 1 w 2"/>
                <a:gd name="T17" fmla="*/ 3 h 5"/>
                <a:gd name="T18" fmla="*/ 0 w 2"/>
                <a:gd name="T19" fmla="*/ 2 h 5"/>
                <a:gd name="T20" fmla="*/ 0 w 2"/>
                <a:gd name="T21" fmla="*/ 0 h 5"/>
                <a:gd name="T22" fmla="*/ 0 w 2"/>
                <a:gd name="T23" fmla="*/ 1 h 5"/>
                <a:gd name="T24" fmla="*/ 0 w 2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39" name="Freeform 83"/>
            <p:cNvSpPr>
              <a:spLocks/>
            </p:cNvSpPr>
            <p:nvPr/>
          </p:nvSpPr>
          <p:spPr bwMode="auto">
            <a:xfrm>
              <a:off x="1872" y="3075"/>
              <a:ext cx="102" cy="48"/>
            </a:xfrm>
            <a:custGeom>
              <a:avLst/>
              <a:gdLst>
                <a:gd name="T0" fmla="*/ 8 w 17"/>
                <a:gd name="T1" fmla="*/ 4 h 8"/>
                <a:gd name="T2" fmla="*/ 7 w 17"/>
                <a:gd name="T3" fmla="*/ 4 h 8"/>
                <a:gd name="T4" fmla="*/ 6 w 17"/>
                <a:gd name="T5" fmla="*/ 5 h 8"/>
                <a:gd name="T6" fmla="*/ 5 w 17"/>
                <a:gd name="T7" fmla="*/ 5 h 8"/>
                <a:gd name="T8" fmla="*/ 4 w 17"/>
                <a:gd name="T9" fmla="*/ 5 h 8"/>
                <a:gd name="T10" fmla="*/ 3 w 17"/>
                <a:gd name="T11" fmla="*/ 5 h 8"/>
                <a:gd name="T12" fmla="*/ 3 w 17"/>
                <a:gd name="T13" fmla="*/ 5 h 8"/>
                <a:gd name="T14" fmla="*/ 3 w 17"/>
                <a:gd name="T15" fmla="*/ 4 h 8"/>
                <a:gd name="T16" fmla="*/ 2 w 17"/>
                <a:gd name="T17" fmla="*/ 5 h 8"/>
                <a:gd name="T18" fmla="*/ 1 w 17"/>
                <a:gd name="T19" fmla="*/ 5 h 8"/>
                <a:gd name="T20" fmla="*/ 0 w 17"/>
                <a:gd name="T21" fmla="*/ 6 h 8"/>
                <a:gd name="T22" fmla="*/ 0 w 17"/>
                <a:gd name="T23" fmla="*/ 7 h 8"/>
                <a:gd name="T24" fmla="*/ 0 w 17"/>
                <a:gd name="T25" fmla="*/ 7 h 8"/>
                <a:gd name="T26" fmla="*/ 1 w 17"/>
                <a:gd name="T27" fmla="*/ 8 h 8"/>
                <a:gd name="T28" fmla="*/ 1 w 17"/>
                <a:gd name="T29" fmla="*/ 8 h 8"/>
                <a:gd name="T30" fmla="*/ 3 w 17"/>
                <a:gd name="T31" fmla="*/ 8 h 8"/>
                <a:gd name="T32" fmla="*/ 4 w 17"/>
                <a:gd name="T33" fmla="*/ 8 h 8"/>
                <a:gd name="T34" fmla="*/ 5 w 17"/>
                <a:gd name="T35" fmla="*/ 7 h 8"/>
                <a:gd name="T36" fmla="*/ 7 w 17"/>
                <a:gd name="T37" fmla="*/ 7 h 8"/>
                <a:gd name="T38" fmla="*/ 8 w 17"/>
                <a:gd name="T39" fmla="*/ 6 h 8"/>
                <a:gd name="T40" fmla="*/ 10 w 17"/>
                <a:gd name="T41" fmla="*/ 6 h 8"/>
                <a:gd name="T42" fmla="*/ 11 w 17"/>
                <a:gd name="T43" fmla="*/ 5 h 8"/>
                <a:gd name="T44" fmla="*/ 13 w 17"/>
                <a:gd name="T45" fmla="*/ 5 h 8"/>
                <a:gd name="T46" fmla="*/ 14 w 17"/>
                <a:gd name="T47" fmla="*/ 4 h 8"/>
                <a:gd name="T48" fmla="*/ 15 w 17"/>
                <a:gd name="T49" fmla="*/ 3 h 8"/>
                <a:gd name="T50" fmla="*/ 16 w 17"/>
                <a:gd name="T51" fmla="*/ 3 h 8"/>
                <a:gd name="T52" fmla="*/ 16 w 17"/>
                <a:gd name="T53" fmla="*/ 2 h 8"/>
                <a:gd name="T54" fmla="*/ 16 w 17"/>
                <a:gd name="T55" fmla="*/ 1 h 8"/>
                <a:gd name="T56" fmla="*/ 16 w 17"/>
                <a:gd name="T57" fmla="*/ 1 h 8"/>
                <a:gd name="T58" fmla="*/ 16 w 17"/>
                <a:gd name="T59" fmla="*/ 0 h 8"/>
                <a:gd name="T60" fmla="*/ 15 w 17"/>
                <a:gd name="T61" fmla="*/ 0 h 8"/>
                <a:gd name="T62" fmla="*/ 14 w 17"/>
                <a:gd name="T63" fmla="*/ 0 h 8"/>
                <a:gd name="T64" fmla="*/ 13 w 17"/>
                <a:gd name="T65" fmla="*/ 1 h 8"/>
                <a:gd name="T66" fmla="*/ 13 w 17"/>
                <a:gd name="T67" fmla="*/ 1 h 8"/>
                <a:gd name="T68" fmla="*/ 13 w 17"/>
                <a:gd name="T69" fmla="*/ 2 h 8"/>
                <a:gd name="T70" fmla="*/ 12 w 17"/>
                <a:gd name="T71" fmla="*/ 2 h 8"/>
                <a:gd name="T72" fmla="*/ 12 w 17"/>
                <a:gd name="T73" fmla="*/ 3 h 8"/>
                <a:gd name="T74" fmla="*/ 11 w 17"/>
                <a:gd name="T75" fmla="*/ 3 h 8"/>
                <a:gd name="T76" fmla="*/ 10 w 17"/>
                <a:gd name="T77" fmla="*/ 3 h 8"/>
                <a:gd name="T78" fmla="*/ 9 w 17"/>
                <a:gd name="T7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" h="8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5" y="7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0" name="Freeform 84"/>
            <p:cNvSpPr>
              <a:spLocks/>
            </p:cNvSpPr>
            <p:nvPr/>
          </p:nvSpPr>
          <p:spPr bwMode="auto">
            <a:xfrm>
              <a:off x="1884" y="3099"/>
              <a:ext cx="42" cy="12"/>
            </a:xfrm>
            <a:custGeom>
              <a:avLst/>
              <a:gdLst>
                <a:gd name="T0" fmla="*/ 0 w 7"/>
                <a:gd name="T1" fmla="*/ 0 h 2"/>
                <a:gd name="T2" fmla="*/ 1 w 7"/>
                <a:gd name="T3" fmla="*/ 0 h 2"/>
                <a:gd name="T4" fmla="*/ 1 w 7"/>
                <a:gd name="T5" fmla="*/ 0 h 2"/>
                <a:gd name="T6" fmla="*/ 1 w 7"/>
                <a:gd name="T7" fmla="*/ 1 h 2"/>
                <a:gd name="T8" fmla="*/ 1 w 7"/>
                <a:gd name="T9" fmla="*/ 1 h 2"/>
                <a:gd name="T10" fmla="*/ 1 w 7"/>
                <a:gd name="T11" fmla="*/ 1 h 2"/>
                <a:gd name="T12" fmla="*/ 1 w 7"/>
                <a:gd name="T13" fmla="*/ 1 h 2"/>
                <a:gd name="T14" fmla="*/ 2 w 7"/>
                <a:gd name="T15" fmla="*/ 1 h 2"/>
                <a:gd name="T16" fmla="*/ 2 w 7"/>
                <a:gd name="T17" fmla="*/ 1 h 2"/>
                <a:gd name="T18" fmla="*/ 2 w 7"/>
                <a:gd name="T19" fmla="*/ 1 h 2"/>
                <a:gd name="T20" fmla="*/ 3 w 7"/>
                <a:gd name="T21" fmla="*/ 1 h 2"/>
                <a:gd name="T22" fmla="*/ 3 w 7"/>
                <a:gd name="T23" fmla="*/ 0 h 2"/>
                <a:gd name="T24" fmla="*/ 4 w 7"/>
                <a:gd name="T25" fmla="*/ 0 h 2"/>
                <a:gd name="T26" fmla="*/ 4 w 7"/>
                <a:gd name="T27" fmla="*/ 0 h 2"/>
                <a:gd name="T28" fmla="*/ 5 w 7"/>
                <a:gd name="T29" fmla="*/ 0 h 2"/>
                <a:gd name="T30" fmla="*/ 5 w 7"/>
                <a:gd name="T31" fmla="*/ 0 h 2"/>
                <a:gd name="T32" fmla="*/ 6 w 7"/>
                <a:gd name="T33" fmla="*/ 0 h 2"/>
                <a:gd name="T34" fmla="*/ 6 w 7"/>
                <a:gd name="T35" fmla="*/ 0 h 2"/>
                <a:gd name="T36" fmla="*/ 7 w 7"/>
                <a:gd name="T37" fmla="*/ 0 h 2"/>
                <a:gd name="T38" fmla="*/ 6 w 7"/>
                <a:gd name="T39" fmla="*/ 1 h 2"/>
                <a:gd name="T40" fmla="*/ 6 w 7"/>
                <a:gd name="T41" fmla="*/ 1 h 2"/>
                <a:gd name="T42" fmla="*/ 5 w 7"/>
                <a:gd name="T43" fmla="*/ 1 h 2"/>
                <a:gd name="T44" fmla="*/ 5 w 7"/>
                <a:gd name="T45" fmla="*/ 1 h 2"/>
                <a:gd name="T46" fmla="*/ 4 w 7"/>
                <a:gd name="T47" fmla="*/ 1 h 2"/>
                <a:gd name="T48" fmla="*/ 4 w 7"/>
                <a:gd name="T49" fmla="*/ 1 h 2"/>
                <a:gd name="T50" fmla="*/ 3 w 7"/>
                <a:gd name="T51" fmla="*/ 1 h 2"/>
                <a:gd name="T52" fmla="*/ 3 w 7"/>
                <a:gd name="T53" fmla="*/ 2 h 2"/>
                <a:gd name="T54" fmla="*/ 2 w 7"/>
                <a:gd name="T55" fmla="*/ 1 h 2"/>
                <a:gd name="T56" fmla="*/ 2 w 7"/>
                <a:gd name="T57" fmla="*/ 2 h 2"/>
                <a:gd name="T58" fmla="*/ 1 w 7"/>
                <a:gd name="T59" fmla="*/ 1 h 2"/>
                <a:gd name="T60" fmla="*/ 1 w 7"/>
                <a:gd name="T61" fmla="*/ 1 h 2"/>
                <a:gd name="T62" fmla="*/ 0 w 7"/>
                <a:gd name="T63" fmla="*/ 1 h 2"/>
                <a:gd name="T64" fmla="*/ 0 w 7"/>
                <a:gd name="T65" fmla="*/ 1 h 2"/>
                <a:gd name="T66" fmla="*/ 0 w 7"/>
                <a:gd name="T67" fmla="*/ 1 h 2"/>
                <a:gd name="T68" fmla="*/ 0 w 7"/>
                <a:gd name="T69" fmla="*/ 0 h 2"/>
                <a:gd name="T70" fmla="*/ 1 w 7"/>
                <a:gd name="T71" fmla="*/ 0 h 2"/>
                <a:gd name="T72" fmla="*/ 0 w 7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1" name="Freeform 85"/>
            <p:cNvSpPr>
              <a:spLocks/>
            </p:cNvSpPr>
            <p:nvPr/>
          </p:nvSpPr>
          <p:spPr bwMode="auto">
            <a:xfrm>
              <a:off x="1872" y="3099"/>
              <a:ext cx="18" cy="18"/>
            </a:xfrm>
            <a:custGeom>
              <a:avLst/>
              <a:gdLst>
                <a:gd name="T0" fmla="*/ 0 w 3"/>
                <a:gd name="T1" fmla="*/ 3 h 3"/>
                <a:gd name="T2" fmla="*/ 0 w 3"/>
                <a:gd name="T3" fmla="*/ 3 h 3"/>
                <a:gd name="T4" fmla="*/ 0 w 3"/>
                <a:gd name="T5" fmla="*/ 2 h 3"/>
                <a:gd name="T6" fmla="*/ 0 w 3"/>
                <a:gd name="T7" fmla="*/ 2 h 3"/>
                <a:gd name="T8" fmla="*/ 0 w 3"/>
                <a:gd name="T9" fmla="*/ 2 h 3"/>
                <a:gd name="T10" fmla="*/ 0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2 w 3"/>
                <a:gd name="T17" fmla="*/ 0 h 3"/>
                <a:gd name="T18" fmla="*/ 2 w 3"/>
                <a:gd name="T19" fmla="*/ 0 h 3"/>
                <a:gd name="T20" fmla="*/ 3 w 3"/>
                <a:gd name="T21" fmla="*/ 0 h 3"/>
                <a:gd name="T22" fmla="*/ 2 w 3"/>
                <a:gd name="T23" fmla="*/ 1 h 3"/>
                <a:gd name="T24" fmla="*/ 2 w 3"/>
                <a:gd name="T25" fmla="*/ 1 h 3"/>
                <a:gd name="T26" fmla="*/ 1 w 3"/>
                <a:gd name="T27" fmla="*/ 2 h 3"/>
                <a:gd name="T28" fmla="*/ 1 w 3"/>
                <a:gd name="T29" fmla="*/ 2 h 3"/>
                <a:gd name="T30" fmla="*/ 1 w 3"/>
                <a:gd name="T31" fmla="*/ 2 h 3"/>
                <a:gd name="T32" fmla="*/ 1 w 3"/>
                <a:gd name="T33" fmla="*/ 3 h 3"/>
                <a:gd name="T34" fmla="*/ 1 w 3"/>
                <a:gd name="T35" fmla="*/ 3 h 3"/>
                <a:gd name="T36" fmla="*/ 1 w 3"/>
                <a:gd name="T37" fmla="*/ 3 h 3"/>
                <a:gd name="T38" fmla="*/ 1 w 3"/>
                <a:gd name="T39" fmla="*/ 3 h 3"/>
                <a:gd name="T40" fmla="*/ 0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2" name="Freeform 86"/>
            <p:cNvSpPr>
              <a:spLocks/>
            </p:cNvSpPr>
            <p:nvPr/>
          </p:nvSpPr>
          <p:spPr bwMode="auto">
            <a:xfrm flipH="1" flipV="1">
              <a:off x="1872" y="3111"/>
              <a:ext cx="54" cy="12"/>
            </a:xfrm>
            <a:custGeom>
              <a:avLst/>
              <a:gdLst>
                <a:gd name="T0" fmla="*/ 9 w 9"/>
                <a:gd name="T1" fmla="*/ 0 h 2"/>
                <a:gd name="T2" fmla="*/ 9 w 9"/>
                <a:gd name="T3" fmla="*/ 0 h 2"/>
                <a:gd name="T4" fmla="*/ 9 w 9"/>
                <a:gd name="T5" fmla="*/ 1 h 2"/>
                <a:gd name="T6" fmla="*/ 8 w 9"/>
                <a:gd name="T7" fmla="*/ 1 h 2"/>
                <a:gd name="T8" fmla="*/ 7 w 9"/>
                <a:gd name="T9" fmla="*/ 1 h 2"/>
                <a:gd name="T10" fmla="*/ 6 w 9"/>
                <a:gd name="T11" fmla="*/ 2 h 2"/>
                <a:gd name="T12" fmla="*/ 5 w 9"/>
                <a:gd name="T13" fmla="*/ 2 h 2"/>
                <a:gd name="T14" fmla="*/ 5 w 9"/>
                <a:gd name="T15" fmla="*/ 2 h 2"/>
                <a:gd name="T16" fmla="*/ 4 w 9"/>
                <a:gd name="T17" fmla="*/ 2 h 2"/>
                <a:gd name="T18" fmla="*/ 3 w 9"/>
                <a:gd name="T19" fmla="*/ 2 h 2"/>
                <a:gd name="T20" fmla="*/ 3 w 9"/>
                <a:gd name="T21" fmla="*/ 2 h 2"/>
                <a:gd name="T22" fmla="*/ 2 w 9"/>
                <a:gd name="T23" fmla="*/ 2 h 2"/>
                <a:gd name="T24" fmla="*/ 1 w 9"/>
                <a:gd name="T25" fmla="*/ 2 h 2"/>
                <a:gd name="T26" fmla="*/ 1 w 9"/>
                <a:gd name="T27" fmla="*/ 2 h 2"/>
                <a:gd name="T28" fmla="*/ 1 w 9"/>
                <a:gd name="T29" fmla="*/ 2 h 2"/>
                <a:gd name="T30" fmla="*/ 0 w 9"/>
                <a:gd name="T31" fmla="*/ 2 h 2"/>
                <a:gd name="T32" fmla="*/ 0 w 9"/>
                <a:gd name="T33" fmla="*/ 1 h 2"/>
                <a:gd name="T34" fmla="*/ 0 w 9"/>
                <a:gd name="T35" fmla="*/ 1 h 2"/>
                <a:gd name="T36" fmla="*/ 1 w 9"/>
                <a:gd name="T37" fmla="*/ 1 h 2"/>
                <a:gd name="T38" fmla="*/ 1 w 9"/>
                <a:gd name="T39" fmla="*/ 1 h 2"/>
                <a:gd name="T40" fmla="*/ 1 w 9"/>
                <a:gd name="T41" fmla="*/ 1 h 2"/>
                <a:gd name="T42" fmla="*/ 1 w 9"/>
                <a:gd name="T43" fmla="*/ 1 h 2"/>
                <a:gd name="T44" fmla="*/ 1 w 9"/>
                <a:gd name="T45" fmla="*/ 1 h 2"/>
                <a:gd name="T46" fmla="*/ 2 w 9"/>
                <a:gd name="T47" fmla="*/ 1 h 2"/>
                <a:gd name="T48" fmla="*/ 2 w 9"/>
                <a:gd name="T49" fmla="*/ 1 h 2"/>
                <a:gd name="T50" fmla="*/ 2 w 9"/>
                <a:gd name="T51" fmla="*/ 1 h 2"/>
                <a:gd name="T52" fmla="*/ 3 w 9"/>
                <a:gd name="T53" fmla="*/ 1 h 2"/>
                <a:gd name="T54" fmla="*/ 4 w 9"/>
                <a:gd name="T55" fmla="*/ 1 h 2"/>
                <a:gd name="T56" fmla="*/ 4 w 9"/>
                <a:gd name="T57" fmla="*/ 1 h 2"/>
                <a:gd name="T58" fmla="*/ 5 w 9"/>
                <a:gd name="T59" fmla="*/ 1 h 2"/>
                <a:gd name="T60" fmla="*/ 6 w 9"/>
                <a:gd name="T61" fmla="*/ 1 h 2"/>
                <a:gd name="T62" fmla="*/ 6 w 9"/>
                <a:gd name="T63" fmla="*/ 0 h 2"/>
                <a:gd name="T64" fmla="*/ 7 w 9"/>
                <a:gd name="T65" fmla="*/ 0 h 2"/>
                <a:gd name="T66" fmla="*/ 8 w 9"/>
                <a:gd name="T67" fmla="*/ 0 h 2"/>
                <a:gd name="T68" fmla="*/ 9 w 9"/>
                <a:gd name="T69" fmla="*/ 0 h 2"/>
                <a:gd name="T70" fmla="*/ 9 w 9"/>
                <a:gd name="T71" fmla="*/ 0 h 2"/>
                <a:gd name="T72" fmla="*/ 9 w 9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2">
                  <a:moveTo>
                    <a:pt x="9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3" name="Freeform 87"/>
            <p:cNvSpPr>
              <a:spLocks/>
            </p:cNvSpPr>
            <p:nvPr/>
          </p:nvSpPr>
          <p:spPr bwMode="auto">
            <a:xfrm>
              <a:off x="1926" y="3081"/>
              <a:ext cx="48" cy="30"/>
            </a:xfrm>
            <a:custGeom>
              <a:avLst/>
              <a:gdLst>
                <a:gd name="T0" fmla="*/ 8 w 8"/>
                <a:gd name="T1" fmla="*/ 0 h 5"/>
                <a:gd name="T2" fmla="*/ 8 w 8"/>
                <a:gd name="T3" fmla="*/ 0 h 5"/>
                <a:gd name="T4" fmla="*/ 8 w 8"/>
                <a:gd name="T5" fmla="*/ 0 h 5"/>
                <a:gd name="T6" fmla="*/ 8 w 8"/>
                <a:gd name="T7" fmla="*/ 1 h 5"/>
                <a:gd name="T8" fmla="*/ 8 w 8"/>
                <a:gd name="T9" fmla="*/ 1 h 5"/>
                <a:gd name="T10" fmla="*/ 8 w 8"/>
                <a:gd name="T11" fmla="*/ 2 h 5"/>
                <a:gd name="T12" fmla="*/ 7 w 8"/>
                <a:gd name="T13" fmla="*/ 2 h 5"/>
                <a:gd name="T14" fmla="*/ 7 w 8"/>
                <a:gd name="T15" fmla="*/ 2 h 5"/>
                <a:gd name="T16" fmla="*/ 6 w 8"/>
                <a:gd name="T17" fmla="*/ 3 h 5"/>
                <a:gd name="T18" fmla="*/ 6 w 8"/>
                <a:gd name="T19" fmla="*/ 3 h 5"/>
                <a:gd name="T20" fmla="*/ 5 w 8"/>
                <a:gd name="T21" fmla="*/ 3 h 5"/>
                <a:gd name="T22" fmla="*/ 5 w 8"/>
                <a:gd name="T23" fmla="*/ 4 h 5"/>
                <a:gd name="T24" fmla="*/ 4 w 8"/>
                <a:gd name="T25" fmla="*/ 4 h 5"/>
                <a:gd name="T26" fmla="*/ 3 w 8"/>
                <a:gd name="T27" fmla="*/ 4 h 5"/>
                <a:gd name="T28" fmla="*/ 3 w 8"/>
                <a:gd name="T29" fmla="*/ 4 h 5"/>
                <a:gd name="T30" fmla="*/ 2 w 8"/>
                <a:gd name="T31" fmla="*/ 5 h 5"/>
                <a:gd name="T32" fmla="*/ 1 w 8"/>
                <a:gd name="T33" fmla="*/ 5 h 5"/>
                <a:gd name="T34" fmla="*/ 0 w 8"/>
                <a:gd name="T35" fmla="*/ 5 h 5"/>
                <a:gd name="T36" fmla="*/ 0 w 8"/>
                <a:gd name="T37" fmla="*/ 5 h 5"/>
                <a:gd name="T38" fmla="*/ 1 w 8"/>
                <a:gd name="T39" fmla="*/ 4 h 5"/>
                <a:gd name="T40" fmla="*/ 2 w 8"/>
                <a:gd name="T41" fmla="*/ 4 h 5"/>
                <a:gd name="T42" fmla="*/ 2 w 8"/>
                <a:gd name="T43" fmla="*/ 4 h 5"/>
                <a:gd name="T44" fmla="*/ 3 w 8"/>
                <a:gd name="T45" fmla="*/ 3 h 5"/>
                <a:gd name="T46" fmla="*/ 4 w 8"/>
                <a:gd name="T47" fmla="*/ 3 h 5"/>
                <a:gd name="T48" fmla="*/ 4 w 8"/>
                <a:gd name="T49" fmla="*/ 3 h 5"/>
                <a:gd name="T50" fmla="*/ 5 w 8"/>
                <a:gd name="T51" fmla="*/ 3 h 5"/>
                <a:gd name="T52" fmla="*/ 5 w 8"/>
                <a:gd name="T53" fmla="*/ 2 h 5"/>
                <a:gd name="T54" fmla="*/ 6 w 8"/>
                <a:gd name="T55" fmla="*/ 2 h 5"/>
                <a:gd name="T56" fmla="*/ 6 w 8"/>
                <a:gd name="T57" fmla="*/ 2 h 5"/>
                <a:gd name="T58" fmla="*/ 7 w 8"/>
                <a:gd name="T59" fmla="*/ 1 h 5"/>
                <a:gd name="T60" fmla="*/ 7 w 8"/>
                <a:gd name="T61" fmla="*/ 1 h 5"/>
                <a:gd name="T62" fmla="*/ 7 w 8"/>
                <a:gd name="T63" fmla="*/ 1 h 5"/>
                <a:gd name="T64" fmla="*/ 7 w 8"/>
                <a:gd name="T65" fmla="*/ 0 h 5"/>
                <a:gd name="T66" fmla="*/ 7 w 8"/>
                <a:gd name="T67" fmla="*/ 0 h 5"/>
                <a:gd name="T68" fmla="*/ 7 w 8"/>
                <a:gd name="T69" fmla="*/ 0 h 5"/>
                <a:gd name="T70" fmla="*/ 7 w 8"/>
                <a:gd name="T71" fmla="*/ 0 h 5"/>
                <a:gd name="T72" fmla="*/ 8 w 8"/>
                <a:gd name="T7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4" name="Freeform 88"/>
            <p:cNvSpPr>
              <a:spLocks/>
            </p:cNvSpPr>
            <p:nvPr/>
          </p:nvSpPr>
          <p:spPr bwMode="auto">
            <a:xfrm>
              <a:off x="1944" y="3075"/>
              <a:ext cx="30" cy="6"/>
            </a:xfrm>
            <a:custGeom>
              <a:avLst/>
              <a:gdLst>
                <a:gd name="T0" fmla="*/ 0 w 5"/>
                <a:gd name="T1" fmla="*/ 1 h 1"/>
                <a:gd name="T2" fmla="*/ 1 w 5"/>
                <a:gd name="T3" fmla="*/ 0 h 1"/>
                <a:gd name="T4" fmla="*/ 2 w 5"/>
                <a:gd name="T5" fmla="*/ 0 h 1"/>
                <a:gd name="T6" fmla="*/ 2 w 5"/>
                <a:gd name="T7" fmla="*/ 0 h 1"/>
                <a:gd name="T8" fmla="*/ 3 w 5"/>
                <a:gd name="T9" fmla="*/ 0 h 1"/>
                <a:gd name="T10" fmla="*/ 3 w 5"/>
                <a:gd name="T11" fmla="*/ 0 h 1"/>
                <a:gd name="T12" fmla="*/ 4 w 5"/>
                <a:gd name="T13" fmla="*/ 0 h 1"/>
                <a:gd name="T14" fmla="*/ 4 w 5"/>
                <a:gd name="T15" fmla="*/ 0 h 1"/>
                <a:gd name="T16" fmla="*/ 5 w 5"/>
                <a:gd name="T17" fmla="*/ 0 h 1"/>
                <a:gd name="T18" fmla="*/ 5 w 5"/>
                <a:gd name="T19" fmla="*/ 1 h 1"/>
                <a:gd name="T20" fmla="*/ 4 w 5"/>
                <a:gd name="T21" fmla="*/ 1 h 1"/>
                <a:gd name="T22" fmla="*/ 4 w 5"/>
                <a:gd name="T23" fmla="*/ 1 h 1"/>
                <a:gd name="T24" fmla="*/ 4 w 5"/>
                <a:gd name="T25" fmla="*/ 1 h 1"/>
                <a:gd name="T26" fmla="*/ 4 w 5"/>
                <a:gd name="T27" fmla="*/ 1 h 1"/>
                <a:gd name="T28" fmla="*/ 3 w 5"/>
                <a:gd name="T29" fmla="*/ 1 h 1"/>
                <a:gd name="T30" fmla="*/ 3 w 5"/>
                <a:gd name="T31" fmla="*/ 1 h 1"/>
                <a:gd name="T32" fmla="*/ 2 w 5"/>
                <a:gd name="T33" fmla="*/ 1 h 1"/>
                <a:gd name="T34" fmla="*/ 2 w 5"/>
                <a:gd name="T35" fmla="*/ 1 h 1"/>
                <a:gd name="T36" fmla="*/ 1 w 5"/>
                <a:gd name="T37" fmla="*/ 1 h 1"/>
                <a:gd name="T38" fmla="*/ 1 w 5"/>
                <a:gd name="T39" fmla="*/ 0 h 1"/>
                <a:gd name="T40" fmla="*/ 0 w 5"/>
                <a:gd name="T4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5" name="Freeform 89"/>
            <p:cNvSpPr>
              <a:spLocks/>
            </p:cNvSpPr>
            <p:nvPr/>
          </p:nvSpPr>
          <p:spPr bwMode="auto">
            <a:xfrm>
              <a:off x="1920" y="3075"/>
              <a:ext cx="36" cy="24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1 w 6"/>
                <a:gd name="T5" fmla="*/ 3 h 4"/>
                <a:gd name="T6" fmla="*/ 1 w 6"/>
                <a:gd name="T7" fmla="*/ 3 h 4"/>
                <a:gd name="T8" fmla="*/ 1 w 6"/>
                <a:gd name="T9" fmla="*/ 3 h 4"/>
                <a:gd name="T10" fmla="*/ 2 w 6"/>
                <a:gd name="T11" fmla="*/ 3 h 4"/>
                <a:gd name="T12" fmla="*/ 3 w 6"/>
                <a:gd name="T13" fmla="*/ 3 h 4"/>
                <a:gd name="T14" fmla="*/ 3 w 6"/>
                <a:gd name="T15" fmla="*/ 3 h 4"/>
                <a:gd name="T16" fmla="*/ 3 w 6"/>
                <a:gd name="T17" fmla="*/ 2 h 4"/>
                <a:gd name="T18" fmla="*/ 4 w 6"/>
                <a:gd name="T19" fmla="*/ 2 h 4"/>
                <a:gd name="T20" fmla="*/ 4 w 6"/>
                <a:gd name="T21" fmla="*/ 2 h 4"/>
                <a:gd name="T22" fmla="*/ 4 w 6"/>
                <a:gd name="T23" fmla="*/ 2 h 4"/>
                <a:gd name="T24" fmla="*/ 5 w 6"/>
                <a:gd name="T25" fmla="*/ 1 h 4"/>
                <a:gd name="T26" fmla="*/ 5 w 6"/>
                <a:gd name="T27" fmla="*/ 1 h 4"/>
                <a:gd name="T28" fmla="*/ 5 w 6"/>
                <a:gd name="T29" fmla="*/ 1 h 4"/>
                <a:gd name="T30" fmla="*/ 5 w 6"/>
                <a:gd name="T31" fmla="*/ 1 h 4"/>
                <a:gd name="T32" fmla="*/ 5 w 6"/>
                <a:gd name="T33" fmla="*/ 1 h 4"/>
                <a:gd name="T34" fmla="*/ 4 w 6"/>
                <a:gd name="T35" fmla="*/ 1 h 4"/>
                <a:gd name="T36" fmla="*/ 5 w 6"/>
                <a:gd name="T37" fmla="*/ 0 h 4"/>
                <a:gd name="T38" fmla="*/ 5 w 6"/>
                <a:gd name="T39" fmla="*/ 0 h 4"/>
                <a:gd name="T40" fmla="*/ 6 w 6"/>
                <a:gd name="T41" fmla="*/ 1 h 4"/>
                <a:gd name="T42" fmla="*/ 6 w 6"/>
                <a:gd name="T43" fmla="*/ 1 h 4"/>
                <a:gd name="T44" fmla="*/ 6 w 6"/>
                <a:gd name="T45" fmla="*/ 2 h 4"/>
                <a:gd name="T46" fmla="*/ 5 w 6"/>
                <a:gd name="T47" fmla="*/ 2 h 4"/>
                <a:gd name="T48" fmla="*/ 5 w 6"/>
                <a:gd name="T49" fmla="*/ 2 h 4"/>
                <a:gd name="T50" fmla="*/ 5 w 6"/>
                <a:gd name="T51" fmla="*/ 3 h 4"/>
                <a:gd name="T52" fmla="*/ 4 w 6"/>
                <a:gd name="T53" fmla="*/ 3 h 4"/>
                <a:gd name="T54" fmla="*/ 4 w 6"/>
                <a:gd name="T55" fmla="*/ 3 h 4"/>
                <a:gd name="T56" fmla="*/ 3 w 6"/>
                <a:gd name="T57" fmla="*/ 3 h 4"/>
                <a:gd name="T58" fmla="*/ 3 w 6"/>
                <a:gd name="T59" fmla="*/ 3 h 4"/>
                <a:gd name="T60" fmla="*/ 2 w 6"/>
                <a:gd name="T61" fmla="*/ 4 h 4"/>
                <a:gd name="T62" fmla="*/ 2 w 6"/>
                <a:gd name="T63" fmla="*/ 4 h 4"/>
                <a:gd name="T64" fmla="*/ 1 w 6"/>
                <a:gd name="T65" fmla="*/ 4 h 4"/>
                <a:gd name="T66" fmla="*/ 1 w 6"/>
                <a:gd name="T67" fmla="*/ 4 h 4"/>
                <a:gd name="T68" fmla="*/ 1 w 6"/>
                <a:gd name="T69" fmla="*/ 4 h 4"/>
                <a:gd name="T70" fmla="*/ 1 w 6"/>
                <a:gd name="T71" fmla="*/ 4 h 4"/>
                <a:gd name="T72" fmla="*/ 0 w 6"/>
                <a:gd name="T7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6" name="Freeform 90"/>
            <p:cNvSpPr>
              <a:spLocks/>
            </p:cNvSpPr>
            <p:nvPr/>
          </p:nvSpPr>
          <p:spPr bwMode="auto">
            <a:xfrm>
              <a:off x="1746" y="2895"/>
              <a:ext cx="156" cy="234"/>
            </a:xfrm>
            <a:custGeom>
              <a:avLst/>
              <a:gdLst>
                <a:gd name="T0" fmla="*/ 0 w 26"/>
                <a:gd name="T1" fmla="*/ 2 h 39"/>
                <a:gd name="T2" fmla="*/ 2 w 26"/>
                <a:gd name="T3" fmla="*/ 0 h 39"/>
                <a:gd name="T4" fmla="*/ 26 w 26"/>
                <a:gd name="T5" fmla="*/ 37 h 39"/>
                <a:gd name="T6" fmla="*/ 24 w 26"/>
                <a:gd name="T7" fmla="*/ 39 h 39"/>
                <a:gd name="T8" fmla="*/ 0 w 26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9">
                  <a:moveTo>
                    <a:pt x="0" y="2"/>
                  </a:moveTo>
                  <a:lnTo>
                    <a:pt x="2" y="0"/>
                  </a:lnTo>
                  <a:lnTo>
                    <a:pt x="26" y="37"/>
                  </a:lnTo>
                  <a:lnTo>
                    <a:pt x="24" y="39"/>
                  </a:lnTo>
                  <a:lnTo>
                    <a:pt x="0" y="2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7" name="Freeform 91"/>
            <p:cNvSpPr>
              <a:spLocks/>
            </p:cNvSpPr>
            <p:nvPr/>
          </p:nvSpPr>
          <p:spPr bwMode="auto">
            <a:xfrm>
              <a:off x="1746" y="2895"/>
              <a:ext cx="18" cy="12"/>
            </a:xfrm>
            <a:custGeom>
              <a:avLst/>
              <a:gdLst>
                <a:gd name="T0" fmla="*/ 2 w 3"/>
                <a:gd name="T1" fmla="*/ 0 h 2"/>
                <a:gd name="T2" fmla="*/ 3 w 3"/>
                <a:gd name="T3" fmla="*/ 0 h 2"/>
                <a:gd name="T4" fmla="*/ 0 w 3"/>
                <a:gd name="T5" fmla="*/ 2 h 2"/>
                <a:gd name="T6" fmla="*/ 0 w 3"/>
                <a:gd name="T7" fmla="*/ 1 h 2"/>
                <a:gd name="T8" fmla="*/ 2 w 3"/>
                <a:gd name="T9" fmla="*/ 0 h 2"/>
                <a:gd name="T10" fmla="*/ 3 w 3"/>
                <a:gd name="T11" fmla="*/ 0 h 2"/>
                <a:gd name="T12" fmla="*/ 2 w 3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8" name="Freeform 92"/>
            <p:cNvSpPr>
              <a:spLocks/>
            </p:cNvSpPr>
            <p:nvPr/>
          </p:nvSpPr>
          <p:spPr bwMode="auto">
            <a:xfrm>
              <a:off x="1758" y="2895"/>
              <a:ext cx="144" cy="222"/>
            </a:xfrm>
            <a:custGeom>
              <a:avLst/>
              <a:gdLst>
                <a:gd name="T0" fmla="*/ 24 w 24"/>
                <a:gd name="T1" fmla="*/ 37 h 37"/>
                <a:gd name="T2" fmla="*/ 24 w 24"/>
                <a:gd name="T3" fmla="*/ 37 h 37"/>
                <a:gd name="T4" fmla="*/ 0 w 24"/>
                <a:gd name="T5" fmla="*/ 0 h 37"/>
                <a:gd name="T6" fmla="*/ 1 w 24"/>
                <a:gd name="T7" fmla="*/ 0 h 37"/>
                <a:gd name="T8" fmla="*/ 24 w 24"/>
                <a:gd name="T9" fmla="*/ 37 h 37"/>
                <a:gd name="T10" fmla="*/ 24 w 24"/>
                <a:gd name="T11" fmla="*/ 37 h 37"/>
                <a:gd name="T12" fmla="*/ 24 w 24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7">
                  <a:moveTo>
                    <a:pt x="24" y="37"/>
                  </a:moveTo>
                  <a:lnTo>
                    <a:pt x="24" y="37"/>
                  </a:lnTo>
                  <a:lnTo>
                    <a:pt x="0" y="0"/>
                  </a:lnTo>
                  <a:lnTo>
                    <a:pt x="1" y="0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3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49" name="Freeform 93"/>
            <p:cNvSpPr>
              <a:spLocks/>
            </p:cNvSpPr>
            <p:nvPr/>
          </p:nvSpPr>
          <p:spPr bwMode="auto">
            <a:xfrm>
              <a:off x="1890" y="3117"/>
              <a:ext cx="12" cy="18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2 w 2"/>
                <a:gd name="T5" fmla="*/ 0 h 3"/>
                <a:gd name="T6" fmla="*/ 2 w 2"/>
                <a:gd name="T7" fmla="*/ 0 h 3"/>
                <a:gd name="T8" fmla="*/ 0 w 2"/>
                <a:gd name="T9" fmla="*/ 3 h 3"/>
                <a:gd name="T10" fmla="*/ 0 w 2"/>
                <a:gd name="T11" fmla="*/ 2 h 3"/>
                <a:gd name="T12" fmla="*/ 0 w 2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0" name="Freeform 94"/>
            <p:cNvSpPr>
              <a:spLocks/>
            </p:cNvSpPr>
            <p:nvPr/>
          </p:nvSpPr>
          <p:spPr bwMode="auto">
            <a:xfrm>
              <a:off x="1740" y="2901"/>
              <a:ext cx="150" cy="228"/>
            </a:xfrm>
            <a:custGeom>
              <a:avLst/>
              <a:gdLst>
                <a:gd name="T0" fmla="*/ 1 w 25"/>
                <a:gd name="T1" fmla="*/ 1 h 38"/>
                <a:gd name="T2" fmla="*/ 1 w 25"/>
                <a:gd name="T3" fmla="*/ 0 h 38"/>
                <a:gd name="T4" fmla="*/ 25 w 25"/>
                <a:gd name="T5" fmla="*/ 38 h 38"/>
                <a:gd name="T6" fmla="*/ 25 w 25"/>
                <a:gd name="T7" fmla="*/ 38 h 38"/>
                <a:gd name="T8" fmla="*/ 0 w 25"/>
                <a:gd name="T9" fmla="*/ 1 h 38"/>
                <a:gd name="T10" fmla="*/ 1 w 25"/>
                <a:gd name="T11" fmla="*/ 0 h 38"/>
                <a:gd name="T12" fmla="*/ 1 w 25"/>
                <a:gd name="T13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8">
                  <a:moveTo>
                    <a:pt x="1" y="1"/>
                  </a:moveTo>
                  <a:lnTo>
                    <a:pt x="1" y="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1" name="Freeform 95"/>
            <p:cNvSpPr>
              <a:spLocks/>
            </p:cNvSpPr>
            <p:nvPr/>
          </p:nvSpPr>
          <p:spPr bwMode="auto">
            <a:xfrm>
              <a:off x="1722" y="2907"/>
              <a:ext cx="168" cy="222"/>
            </a:xfrm>
            <a:custGeom>
              <a:avLst/>
              <a:gdLst>
                <a:gd name="T0" fmla="*/ 4 w 28"/>
                <a:gd name="T1" fmla="*/ 0 h 37"/>
                <a:gd name="T2" fmla="*/ 0 w 28"/>
                <a:gd name="T3" fmla="*/ 0 h 37"/>
                <a:gd name="T4" fmla="*/ 24 w 28"/>
                <a:gd name="T5" fmla="*/ 37 h 37"/>
                <a:gd name="T6" fmla="*/ 28 w 28"/>
                <a:gd name="T7" fmla="*/ 37 h 37"/>
                <a:gd name="T8" fmla="*/ 4 w 28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7">
                  <a:moveTo>
                    <a:pt x="4" y="0"/>
                  </a:moveTo>
                  <a:lnTo>
                    <a:pt x="0" y="0"/>
                  </a:lnTo>
                  <a:lnTo>
                    <a:pt x="24" y="37"/>
                  </a:lnTo>
                  <a:lnTo>
                    <a:pt x="28" y="37"/>
                  </a:lnTo>
                  <a:lnTo>
                    <a:pt x="4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2" name="Freeform 96"/>
            <p:cNvSpPr>
              <a:spLocks/>
            </p:cNvSpPr>
            <p:nvPr/>
          </p:nvSpPr>
          <p:spPr bwMode="auto">
            <a:xfrm>
              <a:off x="1722" y="2901"/>
              <a:ext cx="24" cy="12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  <a:gd name="T4" fmla="*/ 4 w 4"/>
                <a:gd name="T5" fmla="*/ 0 h 2"/>
                <a:gd name="T6" fmla="*/ 4 w 4"/>
                <a:gd name="T7" fmla="*/ 1 h 2"/>
                <a:gd name="T8" fmla="*/ 0 w 4"/>
                <a:gd name="T9" fmla="*/ 2 h 2"/>
                <a:gd name="T10" fmla="*/ 0 w 4"/>
                <a:gd name="T11" fmla="*/ 1 h 2"/>
                <a:gd name="T12" fmla="*/ 0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lnTo>
                    <a:pt x="0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3" name="Freeform 97"/>
            <p:cNvSpPr>
              <a:spLocks/>
            </p:cNvSpPr>
            <p:nvPr/>
          </p:nvSpPr>
          <p:spPr bwMode="auto">
            <a:xfrm>
              <a:off x="1722" y="2907"/>
              <a:ext cx="144" cy="222"/>
            </a:xfrm>
            <a:custGeom>
              <a:avLst/>
              <a:gdLst>
                <a:gd name="T0" fmla="*/ 24 w 24"/>
                <a:gd name="T1" fmla="*/ 37 h 37"/>
                <a:gd name="T2" fmla="*/ 24 w 24"/>
                <a:gd name="T3" fmla="*/ 37 h 37"/>
                <a:gd name="T4" fmla="*/ 0 w 24"/>
                <a:gd name="T5" fmla="*/ 0 h 37"/>
                <a:gd name="T6" fmla="*/ 0 w 24"/>
                <a:gd name="T7" fmla="*/ 0 h 37"/>
                <a:gd name="T8" fmla="*/ 24 w 24"/>
                <a:gd name="T9" fmla="*/ 36 h 37"/>
                <a:gd name="T10" fmla="*/ 24 w 24"/>
                <a:gd name="T11" fmla="*/ 36 h 37"/>
                <a:gd name="T12" fmla="*/ 24 w 24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7">
                  <a:moveTo>
                    <a:pt x="24" y="37"/>
                  </a:moveTo>
                  <a:lnTo>
                    <a:pt x="24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4" name="Freeform 98"/>
            <p:cNvSpPr>
              <a:spLocks/>
            </p:cNvSpPr>
            <p:nvPr/>
          </p:nvSpPr>
          <p:spPr bwMode="auto">
            <a:xfrm>
              <a:off x="1866" y="3123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2 h 2"/>
                <a:gd name="T4" fmla="*/ 0 w 4"/>
                <a:gd name="T5" fmla="*/ 1 h 2"/>
                <a:gd name="T6" fmla="*/ 0 w 4"/>
                <a:gd name="T7" fmla="*/ 0 h 2"/>
                <a:gd name="T8" fmla="*/ 4 w 4"/>
                <a:gd name="T9" fmla="*/ 1 h 2"/>
                <a:gd name="T10" fmla="*/ 4 w 4"/>
                <a:gd name="T11" fmla="*/ 1 h 2"/>
                <a:gd name="T12" fmla="*/ 4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5" name="Freeform 99"/>
            <p:cNvSpPr>
              <a:spLocks/>
            </p:cNvSpPr>
            <p:nvPr/>
          </p:nvSpPr>
          <p:spPr bwMode="auto">
            <a:xfrm>
              <a:off x="1740" y="2901"/>
              <a:ext cx="150" cy="228"/>
            </a:xfrm>
            <a:custGeom>
              <a:avLst/>
              <a:gdLst>
                <a:gd name="T0" fmla="*/ 1 w 25"/>
                <a:gd name="T1" fmla="*/ 0 h 38"/>
                <a:gd name="T2" fmla="*/ 1 w 25"/>
                <a:gd name="T3" fmla="*/ 0 h 38"/>
                <a:gd name="T4" fmla="*/ 25 w 25"/>
                <a:gd name="T5" fmla="*/ 38 h 38"/>
                <a:gd name="T6" fmla="*/ 25 w 25"/>
                <a:gd name="T7" fmla="*/ 38 h 38"/>
                <a:gd name="T8" fmla="*/ 0 w 25"/>
                <a:gd name="T9" fmla="*/ 1 h 38"/>
                <a:gd name="T10" fmla="*/ 1 w 25"/>
                <a:gd name="T11" fmla="*/ 1 h 38"/>
                <a:gd name="T12" fmla="*/ 1 w 25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8">
                  <a:moveTo>
                    <a:pt x="1" y="0"/>
                  </a:moveTo>
                  <a:lnTo>
                    <a:pt x="1" y="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6" name="Freeform 100"/>
            <p:cNvSpPr>
              <a:spLocks/>
            </p:cNvSpPr>
            <p:nvPr/>
          </p:nvSpPr>
          <p:spPr bwMode="auto">
            <a:xfrm>
              <a:off x="1752" y="3003"/>
              <a:ext cx="48" cy="30"/>
            </a:xfrm>
            <a:custGeom>
              <a:avLst/>
              <a:gdLst>
                <a:gd name="T0" fmla="*/ 6 w 8"/>
                <a:gd name="T1" fmla="*/ 0 h 5"/>
                <a:gd name="T2" fmla="*/ 6 w 8"/>
                <a:gd name="T3" fmla="*/ 0 h 5"/>
                <a:gd name="T4" fmla="*/ 5 w 8"/>
                <a:gd name="T5" fmla="*/ 0 h 5"/>
                <a:gd name="T6" fmla="*/ 5 w 8"/>
                <a:gd name="T7" fmla="*/ 0 h 5"/>
                <a:gd name="T8" fmla="*/ 5 w 8"/>
                <a:gd name="T9" fmla="*/ 1 h 5"/>
                <a:gd name="T10" fmla="*/ 4 w 8"/>
                <a:gd name="T11" fmla="*/ 1 h 5"/>
                <a:gd name="T12" fmla="*/ 4 w 8"/>
                <a:gd name="T13" fmla="*/ 1 h 5"/>
                <a:gd name="T14" fmla="*/ 3 w 8"/>
                <a:gd name="T15" fmla="*/ 1 h 5"/>
                <a:gd name="T16" fmla="*/ 3 w 8"/>
                <a:gd name="T17" fmla="*/ 1 h 5"/>
                <a:gd name="T18" fmla="*/ 3 w 8"/>
                <a:gd name="T19" fmla="*/ 2 h 5"/>
                <a:gd name="T20" fmla="*/ 2 w 8"/>
                <a:gd name="T21" fmla="*/ 2 h 5"/>
                <a:gd name="T22" fmla="*/ 2 w 8"/>
                <a:gd name="T23" fmla="*/ 2 h 5"/>
                <a:gd name="T24" fmla="*/ 2 w 8"/>
                <a:gd name="T25" fmla="*/ 2 h 5"/>
                <a:gd name="T26" fmla="*/ 1 w 8"/>
                <a:gd name="T27" fmla="*/ 2 h 5"/>
                <a:gd name="T28" fmla="*/ 1 w 8"/>
                <a:gd name="T29" fmla="*/ 2 h 5"/>
                <a:gd name="T30" fmla="*/ 0 w 8"/>
                <a:gd name="T31" fmla="*/ 2 h 5"/>
                <a:gd name="T32" fmla="*/ 0 w 8"/>
                <a:gd name="T33" fmla="*/ 3 h 5"/>
                <a:gd name="T34" fmla="*/ 0 w 8"/>
                <a:gd name="T35" fmla="*/ 3 h 5"/>
                <a:gd name="T36" fmla="*/ 0 w 8"/>
                <a:gd name="T37" fmla="*/ 4 h 5"/>
                <a:gd name="T38" fmla="*/ 0 w 8"/>
                <a:gd name="T39" fmla="*/ 4 h 5"/>
                <a:gd name="T40" fmla="*/ 1 w 8"/>
                <a:gd name="T41" fmla="*/ 5 h 5"/>
                <a:gd name="T42" fmla="*/ 1 w 8"/>
                <a:gd name="T43" fmla="*/ 4 h 5"/>
                <a:gd name="T44" fmla="*/ 2 w 8"/>
                <a:gd name="T45" fmla="*/ 4 h 5"/>
                <a:gd name="T46" fmla="*/ 2 w 8"/>
                <a:gd name="T47" fmla="*/ 4 h 5"/>
                <a:gd name="T48" fmla="*/ 2 w 8"/>
                <a:gd name="T49" fmla="*/ 4 h 5"/>
                <a:gd name="T50" fmla="*/ 3 w 8"/>
                <a:gd name="T51" fmla="*/ 4 h 5"/>
                <a:gd name="T52" fmla="*/ 3 w 8"/>
                <a:gd name="T53" fmla="*/ 3 h 5"/>
                <a:gd name="T54" fmla="*/ 4 w 8"/>
                <a:gd name="T55" fmla="*/ 3 h 5"/>
                <a:gd name="T56" fmla="*/ 4 w 8"/>
                <a:gd name="T57" fmla="*/ 3 h 5"/>
                <a:gd name="T58" fmla="*/ 5 w 8"/>
                <a:gd name="T59" fmla="*/ 3 h 5"/>
                <a:gd name="T60" fmla="*/ 5 w 8"/>
                <a:gd name="T61" fmla="*/ 3 h 5"/>
                <a:gd name="T62" fmla="*/ 5 w 8"/>
                <a:gd name="T63" fmla="*/ 2 h 5"/>
                <a:gd name="T64" fmla="*/ 6 w 8"/>
                <a:gd name="T65" fmla="*/ 2 h 5"/>
                <a:gd name="T66" fmla="*/ 6 w 8"/>
                <a:gd name="T67" fmla="*/ 2 h 5"/>
                <a:gd name="T68" fmla="*/ 7 w 8"/>
                <a:gd name="T69" fmla="*/ 2 h 5"/>
                <a:gd name="T70" fmla="*/ 7 w 8"/>
                <a:gd name="T71" fmla="*/ 2 h 5"/>
                <a:gd name="T72" fmla="*/ 8 w 8"/>
                <a:gd name="T73" fmla="*/ 2 h 5"/>
                <a:gd name="T74" fmla="*/ 8 w 8"/>
                <a:gd name="T75" fmla="*/ 1 h 5"/>
                <a:gd name="T76" fmla="*/ 8 w 8"/>
                <a:gd name="T77" fmla="*/ 1 h 5"/>
                <a:gd name="T78" fmla="*/ 8 w 8"/>
                <a:gd name="T79" fmla="*/ 1 h 5"/>
                <a:gd name="T80" fmla="*/ 7 w 8"/>
                <a:gd name="T81" fmla="*/ 1 h 5"/>
                <a:gd name="T82" fmla="*/ 7 w 8"/>
                <a:gd name="T83" fmla="*/ 0 h 5"/>
                <a:gd name="T84" fmla="*/ 7 w 8"/>
                <a:gd name="T85" fmla="*/ 0 h 5"/>
                <a:gd name="T86" fmla="*/ 7 w 8"/>
                <a:gd name="T87" fmla="*/ 0 h 5"/>
                <a:gd name="T88" fmla="*/ 6 w 8"/>
                <a:gd name="T8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7" name="Freeform 101"/>
            <p:cNvSpPr>
              <a:spLocks/>
            </p:cNvSpPr>
            <p:nvPr/>
          </p:nvSpPr>
          <p:spPr bwMode="auto">
            <a:xfrm>
              <a:off x="1746" y="3003"/>
              <a:ext cx="42" cy="18"/>
            </a:xfrm>
            <a:custGeom>
              <a:avLst/>
              <a:gdLst>
                <a:gd name="T0" fmla="*/ 0 w 7"/>
                <a:gd name="T1" fmla="*/ 3 h 3"/>
                <a:gd name="T2" fmla="*/ 1 w 7"/>
                <a:gd name="T3" fmla="*/ 2 h 3"/>
                <a:gd name="T4" fmla="*/ 1 w 7"/>
                <a:gd name="T5" fmla="*/ 2 h 3"/>
                <a:gd name="T6" fmla="*/ 2 w 7"/>
                <a:gd name="T7" fmla="*/ 2 h 3"/>
                <a:gd name="T8" fmla="*/ 2 w 7"/>
                <a:gd name="T9" fmla="*/ 2 h 3"/>
                <a:gd name="T10" fmla="*/ 2 w 7"/>
                <a:gd name="T11" fmla="*/ 2 h 3"/>
                <a:gd name="T12" fmla="*/ 3 w 7"/>
                <a:gd name="T13" fmla="*/ 2 h 3"/>
                <a:gd name="T14" fmla="*/ 3 w 7"/>
                <a:gd name="T15" fmla="*/ 1 h 3"/>
                <a:gd name="T16" fmla="*/ 4 w 7"/>
                <a:gd name="T17" fmla="*/ 1 h 3"/>
                <a:gd name="T18" fmla="*/ 4 w 7"/>
                <a:gd name="T19" fmla="*/ 1 h 3"/>
                <a:gd name="T20" fmla="*/ 4 w 7"/>
                <a:gd name="T21" fmla="*/ 1 h 3"/>
                <a:gd name="T22" fmla="*/ 5 w 7"/>
                <a:gd name="T23" fmla="*/ 1 h 3"/>
                <a:gd name="T24" fmla="*/ 5 w 7"/>
                <a:gd name="T25" fmla="*/ 0 h 3"/>
                <a:gd name="T26" fmla="*/ 6 w 7"/>
                <a:gd name="T27" fmla="*/ 0 h 3"/>
                <a:gd name="T28" fmla="*/ 6 w 7"/>
                <a:gd name="T29" fmla="*/ 0 h 3"/>
                <a:gd name="T30" fmla="*/ 6 w 7"/>
                <a:gd name="T31" fmla="*/ 0 h 3"/>
                <a:gd name="T32" fmla="*/ 7 w 7"/>
                <a:gd name="T33" fmla="*/ 0 h 3"/>
                <a:gd name="T34" fmla="*/ 7 w 7"/>
                <a:gd name="T35" fmla="*/ 0 h 3"/>
                <a:gd name="T36" fmla="*/ 7 w 7"/>
                <a:gd name="T37" fmla="*/ 0 h 3"/>
                <a:gd name="T38" fmla="*/ 7 w 7"/>
                <a:gd name="T39" fmla="*/ 1 h 3"/>
                <a:gd name="T40" fmla="*/ 7 w 7"/>
                <a:gd name="T41" fmla="*/ 1 h 3"/>
                <a:gd name="T42" fmla="*/ 6 w 7"/>
                <a:gd name="T43" fmla="*/ 1 h 3"/>
                <a:gd name="T44" fmla="*/ 6 w 7"/>
                <a:gd name="T45" fmla="*/ 1 h 3"/>
                <a:gd name="T46" fmla="*/ 5 w 7"/>
                <a:gd name="T47" fmla="*/ 1 h 3"/>
                <a:gd name="T48" fmla="*/ 5 w 7"/>
                <a:gd name="T49" fmla="*/ 1 h 3"/>
                <a:gd name="T50" fmla="*/ 5 w 7"/>
                <a:gd name="T51" fmla="*/ 2 h 3"/>
                <a:gd name="T52" fmla="*/ 4 w 7"/>
                <a:gd name="T53" fmla="*/ 2 h 3"/>
                <a:gd name="T54" fmla="*/ 4 w 7"/>
                <a:gd name="T55" fmla="*/ 2 h 3"/>
                <a:gd name="T56" fmla="*/ 4 w 7"/>
                <a:gd name="T57" fmla="*/ 2 h 3"/>
                <a:gd name="T58" fmla="*/ 3 w 7"/>
                <a:gd name="T59" fmla="*/ 2 h 3"/>
                <a:gd name="T60" fmla="*/ 3 w 7"/>
                <a:gd name="T61" fmla="*/ 2 h 3"/>
                <a:gd name="T62" fmla="*/ 2 w 7"/>
                <a:gd name="T63" fmla="*/ 3 h 3"/>
                <a:gd name="T64" fmla="*/ 2 w 7"/>
                <a:gd name="T65" fmla="*/ 3 h 3"/>
                <a:gd name="T66" fmla="*/ 1 w 7"/>
                <a:gd name="T67" fmla="*/ 3 h 3"/>
                <a:gd name="T68" fmla="*/ 1 w 7"/>
                <a:gd name="T69" fmla="*/ 3 h 3"/>
                <a:gd name="T70" fmla="*/ 1 w 7"/>
                <a:gd name="T71" fmla="*/ 2 h 3"/>
                <a:gd name="T72" fmla="*/ 0 w 7"/>
                <a:gd name="T7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8" name="Freeform 102"/>
            <p:cNvSpPr>
              <a:spLocks/>
            </p:cNvSpPr>
            <p:nvPr/>
          </p:nvSpPr>
          <p:spPr bwMode="auto">
            <a:xfrm>
              <a:off x="1746" y="3015"/>
              <a:ext cx="12" cy="18"/>
            </a:xfrm>
            <a:custGeom>
              <a:avLst/>
              <a:gdLst>
                <a:gd name="T0" fmla="*/ 2 w 2"/>
                <a:gd name="T1" fmla="*/ 3 h 3"/>
                <a:gd name="T2" fmla="*/ 1 w 2"/>
                <a:gd name="T3" fmla="*/ 3 h 3"/>
                <a:gd name="T4" fmla="*/ 1 w 2"/>
                <a:gd name="T5" fmla="*/ 2 h 3"/>
                <a:gd name="T6" fmla="*/ 1 w 2"/>
                <a:gd name="T7" fmla="*/ 2 h 3"/>
                <a:gd name="T8" fmla="*/ 1 w 2"/>
                <a:gd name="T9" fmla="*/ 1 h 3"/>
                <a:gd name="T10" fmla="*/ 0 w 2"/>
                <a:gd name="T11" fmla="*/ 1 h 3"/>
                <a:gd name="T12" fmla="*/ 1 w 2"/>
                <a:gd name="T13" fmla="*/ 0 h 3"/>
                <a:gd name="T14" fmla="*/ 1 w 2"/>
                <a:gd name="T15" fmla="*/ 1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1 w 2"/>
                <a:gd name="T23" fmla="*/ 2 h 3"/>
                <a:gd name="T24" fmla="*/ 2 w 2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2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59" name="Freeform 103"/>
            <p:cNvSpPr>
              <a:spLocks/>
            </p:cNvSpPr>
            <p:nvPr/>
          </p:nvSpPr>
          <p:spPr bwMode="auto">
            <a:xfrm>
              <a:off x="1752" y="3009"/>
              <a:ext cx="48" cy="24"/>
            </a:xfrm>
            <a:custGeom>
              <a:avLst/>
              <a:gdLst>
                <a:gd name="T0" fmla="*/ 8 w 8"/>
                <a:gd name="T1" fmla="*/ 1 h 4"/>
                <a:gd name="T2" fmla="*/ 8 w 8"/>
                <a:gd name="T3" fmla="*/ 1 h 4"/>
                <a:gd name="T4" fmla="*/ 7 w 8"/>
                <a:gd name="T5" fmla="*/ 1 h 4"/>
                <a:gd name="T6" fmla="*/ 7 w 8"/>
                <a:gd name="T7" fmla="*/ 1 h 4"/>
                <a:gd name="T8" fmla="*/ 7 w 8"/>
                <a:gd name="T9" fmla="*/ 1 h 4"/>
                <a:gd name="T10" fmla="*/ 6 w 8"/>
                <a:gd name="T11" fmla="*/ 2 h 4"/>
                <a:gd name="T12" fmla="*/ 6 w 8"/>
                <a:gd name="T13" fmla="*/ 2 h 4"/>
                <a:gd name="T14" fmla="*/ 5 w 8"/>
                <a:gd name="T15" fmla="*/ 2 h 4"/>
                <a:gd name="T16" fmla="*/ 5 w 8"/>
                <a:gd name="T17" fmla="*/ 2 h 4"/>
                <a:gd name="T18" fmla="*/ 4 w 8"/>
                <a:gd name="T19" fmla="*/ 3 h 4"/>
                <a:gd name="T20" fmla="*/ 4 w 8"/>
                <a:gd name="T21" fmla="*/ 3 h 4"/>
                <a:gd name="T22" fmla="*/ 3 w 8"/>
                <a:gd name="T23" fmla="*/ 3 h 4"/>
                <a:gd name="T24" fmla="*/ 3 w 8"/>
                <a:gd name="T25" fmla="*/ 3 h 4"/>
                <a:gd name="T26" fmla="*/ 3 w 8"/>
                <a:gd name="T27" fmla="*/ 3 h 4"/>
                <a:gd name="T28" fmla="*/ 2 w 8"/>
                <a:gd name="T29" fmla="*/ 4 h 4"/>
                <a:gd name="T30" fmla="*/ 2 w 8"/>
                <a:gd name="T31" fmla="*/ 4 h 4"/>
                <a:gd name="T32" fmla="*/ 1 w 8"/>
                <a:gd name="T33" fmla="*/ 4 h 4"/>
                <a:gd name="T34" fmla="*/ 1 w 8"/>
                <a:gd name="T35" fmla="*/ 4 h 4"/>
                <a:gd name="T36" fmla="*/ 0 w 8"/>
                <a:gd name="T37" fmla="*/ 3 h 4"/>
                <a:gd name="T38" fmla="*/ 1 w 8"/>
                <a:gd name="T39" fmla="*/ 3 h 4"/>
                <a:gd name="T40" fmla="*/ 1 w 8"/>
                <a:gd name="T41" fmla="*/ 3 h 4"/>
                <a:gd name="T42" fmla="*/ 2 w 8"/>
                <a:gd name="T43" fmla="*/ 3 h 4"/>
                <a:gd name="T44" fmla="*/ 2 w 8"/>
                <a:gd name="T45" fmla="*/ 2 h 4"/>
                <a:gd name="T46" fmla="*/ 3 w 8"/>
                <a:gd name="T47" fmla="*/ 2 h 4"/>
                <a:gd name="T48" fmla="*/ 3 w 8"/>
                <a:gd name="T49" fmla="*/ 2 h 4"/>
                <a:gd name="T50" fmla="*/ 4 w 8"/>
                <a:gd name="T51" fmla="*/ 2 h 4"/>
                <a:gd name="T52" fmla="*/ 4 w 8"/>
                <a:gd name="T53" fmla="*/ 2 h 4"/>
                <a:gd name="T54" fmla="*/ 4 w 8"/>
                <a:gd name="T55" fmla="*/ 1 h 4"/>
                <a:gd name="T56" fmla="*/ 5 w 8"/>
                <a:gd name="T57" fmla="*/ 1 h 4"/>
                <a:gd name="T58" fmla="*/ 5 w 8"/>
                <a:gd name="T59" fmla="*/ 1 h 4"/>
                <a:gd name="T60" fmla="*/ 6 w 8"/>
                <a:gd name="T61" fmla="*/ 1 h 4"/>
                <a:gd name="T62" fmla="*/ 6 w 8"/>
                <a:gd name="T63" fmla="*/ 1 h 4"/>
                <a:gd name="T64" fmla="*/ 7 w 8"/>
                <a:gd name="T65" fmla="*/ 1 h 4"/>
                <a:gd name="T66" fmla="*/ 7 w 8"/>
                <a:gd name="T67" fmla="*/ 0 h 4"/>
                <a:gd name="T68" fmla="*/ 7 w 8"/>
                <a:gd name="T69" fmla="*/ 0 h 4"/>
                <a:gd name="T70" fmla="*/ 7 w 8"/>
                <a:gd name="T71" fmla="*/ 0 h 4"/>
                <a:gd name="T72" fmla="*/ 8 w 8"/>
                <a:gd name="T7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0" name="Freeform 104"/>
            <p:cNvSpPr>
              <a:spLocks/>
            </p:cNvSpPr>
            <p:nvPr/>
          </p:nvSpPr>
          <p:spPr bwMode="auto">
            <a:xfrm>
              <a:off x="1788" y="2997"/>
              <a:ext cx="12" cy="18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0 h 3"/>
                <a:gd name="T4" fmla="*/ 1 w 2"/>
                <a:gd name="T5" fmla="*/ 0 h 3"/>
                <a:gd name="T6" fmla="*/ 1 w 2"/>
                <a:gd name="T7" fmla="*/ 1 h 3"/>
                <a:gd name="T8" fmla="*/ 1 w 2"/>
                <a:gd name="T9" fmla="*/ 1 h 3"/>
                <a:gd name="T10" fmla="*/ 2 w 2"/>
                <a:gd name="T11" fmla="*/ 1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3 h 3"/>
                <a:gd name="T20" fmla="*/ 1 w 2"/>
                <a:gd name="T21" fmla="*/ 2 h 3"/>
                <a:gd name="T22" fmla="*/ 1 w 2"/>
                <a:gd name="T23" fmla="*/ 2 h 3"/>
                <a:gd name="T24" fmla="*/ 1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1 h 3"/>
                <a:gd name="T34" fmla="*/ 1 w 2"/>
                <a:gd name="T35" fmla="*/ 1 h 3"/>
                <a:gd name="T36" fmla="*/ 0 w 2"/>
                <a:gd name="T37" fmla="*/ 1 h 3"/>
                <a:gd name="T38" fmla="*/ 0 w 2"/>
                <a:gd name="T39" fmla="*/ 1 h 3"/>
                <a:gd name="T40" fmla="*/ 0 w 2"/>
                <a:gd name="T4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1" name="Freeform 105"/>
            <p:cNvSpPr>
              <a:spLocks/>
            </p:cNvSpPr>
            <p:nvPr/>
          </p:nvSpPr>
          <p:spPr bwMode="auto">
            <a:xfrm>
              <a:off x="1728" y="2991"/>
              <a:ext cx="42" cy="78"/>
            </a:xfrm>
            <a:custGeom>
              <a:avLst/>
              <a:gdLst>
                <a:gd name="T0" fmla="*/ 0 w 7"/>
                <a:gd name="T1" fmla="*/ 0 h 13"/>
                <a:gd name="T2" fmla="*/ 1 w 7"/>
                <a:gd name="T3" fmla="*/ 0 h 13"/>
                <a:gd name="T4" fmla="*/ 1 w 7"/>
                <a:gd name="T5" fmla="*/ 0 h 13"/>
                <a:gd name="T6" fmla="*/ 2 w 7"/>
                <a:gd name="T7" fmla="*/ 0 h 13"/>
                <a:gd name="T8" fmla="*/ 2 w 7"/>
                <a:gd name="T9" fmla="*/ 1 h 13"/>
                <a:gd name="T10" fmla="*/ 3 w 7"/>
                <a:gd name="T11" fmla="*/ 2 h 13"/>
                <a:gd name="T12" fmla="*/ 4 w 7"/>
                <a:gd name="T13" fmla="*/ 3 h 13"/>
                <a:gd name="T14" fmla="*/ 5 w 7"/>
                <a:gd name="T15" fmla="*/ 4 h 13"/>
                <a:gd name="T16" fmla="*/ 5 w 7"/>
                <a:gd name="T17" fmla="*/ 6 h 13"/>
                <a:gd name="T18" fmla="*/ 6 w 7"/>
                <a:gd name="T19" fmla="*/ 7 h 13"/>
                <a:gd name="T20" fmla="*/ 7 w 7"/>
                <a:gd name="T21" fmla="*/ 8 h 13"/>
                <a:gd name="T22" fmla="*/ 7 w 7"/>
                <a:gd name="T23" fmla="*/ 10 h 13"/>
                <a:gd name="T24" fmla="*/ 7 w 7"/>
                <a:gd name="T25" fmla="*/ 11 h 13"/>
                <a:gd name="T26" fmla="*/ 7 w 7"/>
                <a:gd name="T27" fmla="*/ 12 h 13"/>
                <a:gd name="T28" fmla="*/ 7 w 7"/>
                <a:gd name="T29" fmla="*/ 12 h 13"/>
                <a:gd name="T30" fmla="*/ 7 w 7"/>
                <a:gd name="T31" fmla="*/ 13 h 13"/>
                <a:gd name="T32" fmla="*/ 7 w 7"/>
                <a:gd name="T33" fmla="*/ 13 h 13"/>
                <a:gd name="T34" fmla="*/ 6 w 7"/>
                <a:gd name="T35" fmla="*/ 13 h 13"/>
                <a:gd name="T36" fmla="*/ 6 w 7"/>
                <a:gd name="T37" fmla="*/ 13 h 13"/>
                <a:gd name="T38" fmla="*/ 5 w 7"/>
                <a:gd name="T39" fmla="*/ 13 h 13"/>
                <a:gd name="T40" fmla="*/ 5 w 7"/>
                <a:gd name="T41" fmla="*/ 12 h 13"/>
                <a:gd name="T42" fmla="*/ 4 w 7"/>
                <a:gd name="T43" fmla="*/ 11 h 13"/>
                <a:gd name="T44" fmla="*/ 3 w 7"/>
                <a:gd name="T45" fmla="*/ 10 h 13"/>
                <a:gd name="T46" fmla="*/ 2 w 7"/>
                <a:gd name="T47" fmla="*/ 9 h 13"/>
                <a:gd name="T48" fmla="*/ 2 w 7"/>
                <a:gd name="T49" fmla="*/ 7 h 13"/>
                <a:gd name="T50" fmla="*/ 1 w 7"/>
                <a:gd name="T51" fmla="*/ 6 h 13"/>
                <a:gd name="T52" fmla="*/ 0 w 7"/>
                <a:gd name="T53" fmla="*/ 5 h 13"/>
                <a:gd name="T54" fmla="*/ 0 w 7"/>
                <a:gd name="T55" fmla="*/ 3 h 13"/>
                <a:gd name="T56" fmla="*/ 0 w 7"/>
                <a:gd name="T57" fmla="*/ 2 h 13"/>
                <a:gd name="T58" fmla="*/ 0 w 7"/>
                <a:gd name="T59" fmla="*/ 1 h 13"/>
                <a:gd name="T60" fmla="*/ 0 w 7"/>
                <a:gd name="T61" fmla="*/ 0 h 13"/>
                <a:gd name="T62" fmla="*/ 0 w 7"/>
                <a:gd name="T63" fmla="*/ 0 h 13"/>
                <a:gd name="T64" fmla="*/ 0 w 7"/>
                <a:gd name="T6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4" y="11"/>
                  </a:lnTo>
                  <a:lnTo>
                    <a:pt x="3" y="10"/>
                  </a:lnTo>
                  <a:lnTo>
                    <a:pt x="2" y="9"/>
                  </a:lnTo>
                  <a:lnTo>
                    <a:pt x="2" y="7"/>
                  </a:lnTo>
                  <a:lnTo>
                    <a:pt x="1" y="6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2" name="Freeform 106"/>
            <p:cNvSpPr>
              <a:spLocks/>
            </p:cNvSpPr>
            <p:nvPr/>
          </p:nvSpPr>
          <p:spPr bwMode="auto">
            <a:xfrm>
              <a:off x="1728" y="2985"/>
              <a:ext cx="36" cy="42"/>
            </a:xfrm>
            <a:custGeom>
              <a:avLst/>
              <a:gdLst>
                <a:gd name="T0" fmla="*/ 5 w 6"/>
                <a:gd name="T1" fmla="*/ 7 h 7"/>
                <a:gd name="T2" fmla="*/ 5 w 6"/>
                <a:gd name="T3" fmla="*/ 7 h 7"/>
                <a:gd name="T4" fmla="*/ 4 w 6"/>
                <a:gd name="T5" fmla="*/ 5 h 7"/>
                <a:gd name="T6" fmla="*/ 4 w 6"/>
                <a:gd name="T7" fmla="*/ 4 h 7"/>
                <a:gd name="T8" fmla="*/ 3 w 6"/>
                <a:gd name="T9" fmla="*/ 3 h 7"/>
                <a:gd name="T10" fmla="*/ 2 w 6"/>
                <a:gd name="T11" fmla="*/ 2 h 7"/>
                <a:gd name="T12" fmla="*/ 2 w 6"/>
                <a:gd name="T13" fmla="*/ 2 h 7"/>
                <a:gd name="T14" fmla="*/ 1 w 6"/>
                <a:gd name="T15" fmla="*/ 1 h 7"/>
                <a:gd name="T16" fmla="*/ 1 w 6"/>
                <a:gd name="T17" fmla="*/ 1 h 7"/>
                <a:gd name="T18" fmla="*/ 1 w 6"/>
                <a:gd name="T19" fmla="*/ 1 h 7"/>
                <a:gd name="T20" fmla="*/ 0 w 6"/>
                <a:gd name="T21" fmla="*/ 0 h 7"/>
                <a:gd name="T22" fmla="*/ 1 w 6"/>
                <a:gd name="T23" fmla="*/ 0 h 7"/>
                <a:gd name="T24" fmla="*/ 1 w 6"/>
                <a:gd name="T25" fmla="*/ 0 h 7"/>
                <a:gd name="T26" fmla="*/ 2 w 6"/>
                <a:gd name="T27" fmla="*/ 1 h 7"/>
                <a:gd name="T28" fmla="*/ 3 w 6"/>
                <a:gd name="T29" fmla="*/ 2 h 7"/>
                <a:gd name="T30" fmla="*/ 4 w 6"/>
                <a:gd name="T31" fmla="*/ 3 h 7"/>
                <a:gd name="T32" fmla="*/ 4 w 6"/>
                <a:gd name="T33" fmla="*/ 4 h 7"/>
                <a:gd name="T34" fmla="*/ 5 w 6"/>
                <a:gd name="T35" fmla="*/ 5 h 7"/>
                <a:gd name="T36" fmla="*/ 6 w 6"/>
                <a:gd name="T37" fmla="*/ 6 h 7"/>
                <a:gd name="T38" fmla="*/ 6 w 6"/>
                <a:gd name="T39" fmla="*/ 6 h 7"/>
                <a:gd name="T40" fmla="*/ 5 w 6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5" y="7"/>
                  </a:moveTo>
                  <a:lnTo>
                    <a:pt x="5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5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3" name="Freeform 107"/>
            <p:cNvSpPr>
              <a:spLocks/>
            </p:cNvSpPr>
            <p:nvPr/>
          </p:nvSpPr>
          <p:spPr bwMode="auto">
            <a:xfrm>
              <a:off x="1758" y="3021"/>
              <a:ext cx="18" cy="54"/>
            </a:xfrm>
            <a:custGeom>
              <a:avLst/>
              <a:gdLst>
                <a:gd name="T0" fmla="*/ 2 w 3"/>
                <a:gd name="T1" fmla="*/ 8 h 9"/>
                <a:gd name="T2" fmla="*/ 2 w 3"/>
                <a:gd name="T3" fmla="*/ 8 h 9"/>
                <a:gd name="T4" fmla="*/ 2 w 3"/>
                <a:gd name="T5" fmla="*/ 8 h 9"/>
                <a:gd name="T6" fmla="*/ 2 w 3"/>
                <a:gd name="T7" fmla="*/ 7 h 9"/>
                <a:gd name="T8" fmla="*/ 2 w 3"/>
                <a:gd name="T9" fmla="*/ 7 h 9"/>
                <a:gd name="T10" fmla="*/ 2 w 3"/>
                <a:gd name="T11" fmla="*/ 6 h 9"/>
                <a:gd name="T12" fmla="*/ 1 w 3"/>
                <a:gd name="T13" fmla="*/ 5 h 9"/>
                <a:gd name="T14" fmla="*/ 1 w 3"/>
                <a:gd name="T15" fmla="*/ 3 h 9"/>
                <a:gd name="T16" fmla="*/ 1 w 3"/>
                <a:gd name="T17" fmla="*/ 2 h 9"/>
                <a:gd name="T18" fmla="*/ 0 w 3"/>
                <a:gd name="T19" fmla="*/ 1 h 9"/>
                <a:gd name="T20" fmla="*/ 1 w 3"/>
                <a:gd name="T21" fmla="*/ 0 h 9"/>
                <a:gd name="T22" fmla="*/ 1 w 3"/>
                <a:gd name="T23" fmla="*/ 2 h 9"/>
                <a:gd name="T24" fmla="*/ 2 w 3"/>
                <a:gd name="T25" fmla="*/ 3 h 9"/>
                <a:gd name="T26" fmla="*/ 2 w 3"/>
                <a:gd name="T27" fmla="*/ 4 h 9"/>
                <a:gd name="T28" fmla="*/ 3 w 3"/>
                <a:gd name="T29" fmla="*/ 5 h 9"/>
                <a:gd name="T30" fmla="*/ 3 w 3"/>
                <a:gd name="T31" fmla="*/ 7 h 9"/>
                <a:gd name="T32" fmla="*/ 3 w 3"/>
                <a:gd name="T33" fmla="*/ 7 h 9"/>
                <a:gd name="T34" fmla="*/ 3 w 3"/>
                <a:gd name="T35" fmla="*/ 8 h 9"/>
                <a:gd name="T36" fmla="*/ 2 w 3"/>
                <a:gd name="T37" fmla="*/ 9 h 9"/>
                <a:gd name="T38" fmla="*/ 2 w 3"/>
                <a:gd name="T39" fmla="*/ 9 h 9"/>
                <a:gd name="T40" fmla="*/ 2 w 3"/>
                <a:gd name="T4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9"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4" name="Freeform 108"/>
            <p:cNvSpPr>
              <a:spLocks/>
            </p:cNvSpPr>
            <p:nvPr/>
          </p:nvSpPr>
          <p:spPr bwMode="auto">
            <a:xfrm>
              <a:off x="1734" y="3033"/>
              <a:ext cx="36" cy="42"/>
            </a:xfrm>
            <a:custGeom>
              <a:avLst/>
              <a:gdLst>
                <a:gd name="T0" fmla="*/ 1 w 6"/>
                <a:gd name="T1" fmla="*/ 0 h 7"/>
                <a:gd name="T2" fmla="*/ 1 w 6"/>
                <a:gd name="T3" fmla="*/ 0 h 7"/>
                <a:gd name="T4" fmla="*/ 2 w 6"/>
                <a:gd name="T5" fmla="*/ 2 h 7"/>
                <a:gd name="T6" fmla="*/ 3 w 6"/>
                <a:gd name="T7" fmla="*/ 3 h 7"/>
                <a:gd name="T8" fmla="*/ 3 w 6"/>
                <a:gd name="T9" fmla="*/ 4 h 7"/>
                <a:gd name="T10" fmla="*/ 4 w 6"/>
                <a:gd name="T11" fmla="*/ 5 h 7"/>
                <a:gd name="T12" fmla="*/ 5 w 6"/>
                <a:gd name="T13" fmla="*/ 5 h 7"/>
                <a:gd name="T14" fmla="*/ 5 w 6"/>
                <a:gd name="T15" fmla="*/ 6 h 7"/>
                <a:gd name="T16" fmla="*/ 6 w 6"/>
                <a:gd name="T17" fmla="*/ 6 h 7"/>
                <a:gd name="T18" fmla="*/ 6 w 6"/>
                <a:gd name="T19" fmla="*/ 6 h 7"/>
                <a:gd name="T20" fmla="*/ 6 w 6"/>
                <a:gd name="T21" fmla="*/ 7 h 7"/>
                <a:gd name="T22" fmla="*/ 5 w 6"/>
                <a:gd name="T23" fmla="*/ 7 h 7"/>
                <a:gd name="T24" fmla="*/ 5 w 6"/>
                <a:gd name="T25" fmla="*/ 7 h 7"/>
                <a:gd name="T26" fmla="*/ 4 w 6"/>
                <a:gd name="T27" fmla="*/ 6 h 7"/>
                <a:gd name="T28" fmla="*/ 3 w 6"/>
                <a:gd name="T29" fmla="*/ 5 h 7"/>
                <a:gd name="T30" fmla="*/ 2 w 6"/>
                <a:gd name="T31" fmla="*/ 4 h 7"/>
                <a:gd name="T32" fmla="*/ 2 w 6"/>
                <a:gd name="T33" fmla="*/ 3 h 7"/>
                <a:gd name="T34" fmla="*/ 1 w 6"/>
                <a:gd name="T35" fmla="*/ 2 h 7"/>
                <a:gd name="T36" fmla="*/ 0 w 6"/>
                <a:gd name="T37" fmla="*/ 0 h 7"/>
                <a:gd name="T38" fmla="*/ 0 w 6"/>
                <a:gd name="T39" fmla="*/ 0 h 7"/>
                <a:gd name="T40" fmla="*/ 1 w 6"/>
                <a:gd name="T4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1" y="0"/>
                  </a:moveTo>
                  <a:lnTo>
                    <a:pt x="1" y="0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4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4" y="6"/>
                  </a:lnTo>
                  <a:lnTo>
                    <a:pt x="3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5" name="Freeform 109"/>
            <p:cNvSpPr>
              <a:spLocks/>
            </p:cNvSpPr>
            <p:nvPr/>
          </p:nvSpPr>
          <p:spPr bwMode="auto">
            <a:xfrm>
              <a:off x="1722" y="2985"/>
              <a:ext cx="18" cy="48"/>
            </a:xfrm>
            <a:custGeom>
              <a:avLst/>
              <a:gdLst>
                <a:gd name="T0" fmla="*/ 2 w 3"/>
                <a:gd name="T1" fmla="*/ 1 h 8"/>
                <a:gd name="T2" fmla="*/ 2 w 3"/>
                <a:gd name="T3" fmla="*/ 1 h 8"/>
                <a:gd name="T4" fmla="*/ 1 w 3"/>
                <a:gd name="T5" fmla="*/ 1 h 8"/>
                <a:gd name="T6" fmla="*/ 1 w 3"/>
                <a:gd name="T7" fmla="*/ 2 h 8"/>
                <a:gd name="T8" fmla="*/ 1 w 3"/>
                <a:gd name="T9" fmla="*/ 2 h 8"/>
                <a:gd name="T10" fmla="*/ 1 w 3"/>
                <a:gd name="T11" fmla="*/ 3 h 8"/>
                <a:gd name="T12" fmla="*/ 2 w 3"/>
                <a:gd name="T13" fmla="*/ 4 h 8"/>
                <a:gd name="T14" fmla="*/ 2 w 3"/>
                <a:gd name="T15" fmla="*/ 5 h 8"/>
                <a:gd name="T16" fmla="*/ 2 w 3"/>
                <a:gd name="T17" fmla="*/ 7 h 8"/>
                <a:gd name="T18" fmla="*/ 3 w 3"/>
                <a:gd name="T19" fmla="*/ 8 h 8"/>
                <a:gd name="T20" fmla="*/ 2 w 3"/>
                <a:gd name="T21" fmla="*/ 8 h 8"/>
                <a:gd name="T22" fmla="*/ 2 w 3"/>
                <a:gd name="T23" fmla="*/ 7 h 8"/>
                <a:gd name="T24" fmla="*/ 1 w 3"/>
                <a:gd name="T25" fmla="*/ 6 h 8"/>
                <a:gd name="T26" fmla="*/ 1 w 3"/>
                <a:gd name="T27" fmla="*/ 4 h 8"/>
                <a:gd name="T28" fmla="*/ 0 w 3"/>
                <a:gd name="T29" fmla="*/ 3 h 8"/>
                <a:gd name="T30" fmla="*/ 0 w 3"/>
                <a:gd name="T31" fmla="*/ 2 h 8"/>
                <a:gd name="T32" fmla="*/ 0 w 3"/>
                <a:gd name="T33" fmla="*/ 1 h 8"/>
                <a:gd name="T34" fmla="*/ 1 w 3"/>
                <a:gd name="T35" fmla="*/ 1 h 8"/>
                <a:gd name="T36" fmla="*/ 1 w 3"/>
                <a:gd name="T37" fmla="*/ 0 h 8"/>
                <a:gd name="T38" fmla="*/ 1 w 3"/>
                <a:gd name="T39" fmla="*/ 0 h 8"/>
                <a:gd name="T40" fmla="*/ 2 w 3"/>
                <a:gd name="T4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8"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6" name="Freeform 110"/>
            <p:cNvSpPr>
              <a:spLocks/>
            </p:cNvSpPr>
            <p:nvPr/>
          </p:nvSpPr>
          <p:spPr bwMode="auto">
            <a:xfrm>
              <a:off x="1728" y="2985"/>
              <a:ext cx="54" cy="84"/>
            </a:xfrm>
            <a:custGeom>
              <a:avLst/>
              <a:gdLst>
                <a:gd name="T0" fmla="*/ 0 w 9"/>
                <a:gd name="T1" fmla="*/ 1 h 14"/>
                <a:gd name="T2" fmla="*/ 1 w 9"/>
                <a:gd name="T3" fmla="*/ 1 h 14"/>
                <a:gd name="T4" fmla="*/ 1 w 9"/>
                <a:gd name="T5" fmla="*/ 1 h 14"/>
                <a:gd name="T6" fmla="*/ 2 w 9"/>
                <a:gd name="T7" fmla="*/ 1 h 14"/>
                <a:gd name="T8" fmla="*/ 2 w 9"/>
                <a:gd name="T9" fmla="*/ 2 h 14"/>
                <a:gd name="T10" fmla="*/ 3 w 9"/>
                <a:gd name="T11" fmla="*/ 3 h 14"/>
                <a:gd name="T12" fmla="*/ 4 w 9"/>
                <a:gd name="T13" fmla="*/ 4 h 14"/>
                <a:gd name="T14" fmla="*/ 5 w 9"/>
                <a:gd name="T15" fmla="*/ 5 h 14"/>
                <a:gd name="T16" fmla="*/ 5 w 9"/>
                <a:gd name="T17" fmla="*/ 7 h 14"/>
                <a:gd name="T18" fmla="*/ 6 w 9"/>
                <a:gd name="T19" fmla="*/ 8 h 14"/>
                <a:gd name="T20" fmla="*/ 7 w 9"/>
                <a:gd name="T21" fmla="*/ 9 h 14"/>
                <a:gd name="T22" fmla="*/ 7 w 9"/>
                <a:gd name="T23" fmla="*/ 11 h 14"/>
                <a:gd name="T24" fmla="*/ 7 w 9"/>
                <a:gd name="T25" fmla="*/ 12 h 14"/>
                <a:gd name="T26" fmla="*/ 7 w 9"/>
                <a:gd name="T27" fmla="*/ 13 h 14"/>
                <a:gd name="T28" fmla="*/ 7 w 9"/>
                <a:gd name="T29" fmla="*/ 13 h 14"/>
                <a:gd name="T30" fmla="*/ 7 w 9"/>
                <a:gd name="T31" fmla="*/ 14 h 14"/>
                <a:gd name="T32" fmla="*/ 7 w 9"/>
                <a:gd name="T33" fmla="*/ 14 h 14"/>
                <a:gd name="T34" fmla="*/ 7 w 9"/>
                <a:gd name="T35" fmla="*/ 14 h 14"/>
                <a:gd name="T36" fmla="*/ 8 w 9"/>
                <a:gd name="T37" fmla="*/ 14 h 14"/>
                <a:gd name="T38" fmla="*/ 8 w 9"/>
                <a:gd name="T39" fmla="*/ 14 h 14"/>
                <a:gd name="T40" fmla="*/ 9 w 9"/>
                <a:gd name="T41" fmla="*/ 14 h 14"/>
                <a:gd name="T42" fmla="*/ 9 w 9"/>
                <a:gd name="T43" fmla="*/ 13 h 14"/>
                <a:gd name="T44" fmla="*/ 9 w 9"/>
                <a:gd name="T45" fmla="*/ 13 h 14"/>
                <a:gd name="T46" fmla="*/ 9 w 9"/>
                <a:gd name="T47" fmla="*/ 12 h 14"/>
                <a:gd name="T48" fmla="*/ 9 w 9"/>
                <a:gd name="T49" fmla="*/ 11 h 14"/>
                <a:gd name="T50" fmla="*/ 9 w 9"/>
                <a:gd name="T51" fmla="*/ 11 h 14"/>
                <a:gd name="T52" fmla="*/ 9 w 9"/>
                <a:gd name="T53" fmla="*/ 10 h 14"/>
                <a:gd name="T54" fmla="*/ 9 w 9"/>
                <a:gd name="T55" fmla="*/ 9 h 14"/>
                <a:gd name="T56" fmla="*/ 9 w 9"/>
                <a:gd name="T57" fmla="*/ 8 h 14"/>
                <a:gd name="T58" fmla="*/ 8 w 9"/>
                <a:gd name="T59" fmla="*/ 8 h 14"/>
                <a:gd name="T60" fmla="*/ 8 w 9"/>
                <a:gd name="T61" fmla="*/ 7 h 14"/>
                <a:gd name="T62" fmla="*/ 8 w 9"/>
                <a:gd name="T63" fmla="*/ 6 h 14"/>
                <a:gd name="T64" fmla="*/ 7 w 9"/>
                <a:gd name="T65" fmla="*/ 5 h 14"/>
                <a:gd name="T66" fmla="*/ 7 w 9"/>
                <a:gd name="T67" fmla="*/ 5 h 14"/>
                <a:gd name="T68" fmla="*/ 7 w 9"/>
                <a:gd name="T69" fmla="*/ 4 h 14"/>
                <a:gd name="T70" fmla="*/ 6 w 9"/>
                <a:gd name="T71" fmla="*/ 3 h 14"/>
                <a:gd name="T72" fmla="*/ 6 w 9"/>
                <a:gd name="T73" fmla="*/ 3 h 14"/>
                <a:gd name="T74" fmla="*/ 5 w 9"/>
                <a:gd name="T75" fmla="*/ 2 h 14"/>
                <a:gd name="T76" fmla="*/ 5 w 9"/>
                <a:gd name="T77" fmla="*/ 2 h 14"/>
                <a:gd name="T78" fmla="*/ 4 w 9"/>
                <a:gd name="T79" fmla="*/ 1 h 14"/>
                <a:gd name="T80" fmla="*/ 4 w 9"/>
                <a:gd name="T81" fmla="*/ 1 h 14"/>
                <a:gd name="T82" fmla="*/ 3 w 9"/>
                <a:gd name="T83" fmla="*/ 0 h 14"/>
                <a:gd name="T84" fmla="*/ 3 w 9"/>
                <a:gd name="T85" fmla="*/ 0 h 14"/>
                <a:gd name="T86" fmla="*/ 2 w 9"/>
                <a:gd name="T87" fmla="*/ 0 h 14"/>
                <a:gd name="T88" fmla="*/ 2 w 9"/>
                <a:gd name="T89" fmla="*/ 0 h 14"/>
                <a:gd name="T90" fmla="*/ 1 w 9"/>
                <a:gd name="T91" fmla="*/ 0 h 14"/>
                <a:gd name="T92" fmla="*/ 1 w 9"/>
                <a:gd name="T93" fmla="*/ 0 h 14"/>
                <a:gd name="T94" fmla="*/ 1 w 9"/>
                <a:gd name="T95" fmla="*/ 0 h 14"/>
                <a:gd name="T96" fmla="*/ 0 w 9"/>
                <a:gd name="T9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" h="14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7"/>
                  </a:lnTo>
                  <a:lnTo>
                    <a:pt x="6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7" name="Freeform 111"/>
            <p:cNvSpPr>
              <a:spLocks/>
            </p:cNvSpPr>
            <p:nvPr/>
          </p:nvSpPr>
          <p:spPr bwMode="auto">
            <a:xfrm>
              <a:off x="1728" y="2985"/>
              <a:ext cx="36" cy="42"/>
            </a:xfrm>
            <a:custGeom>
              <a:avLst/>
              <a:gdLst>
                <a:gd name="T0" fmla="*/ 5 w 6"/>
                <a:gd name="T1" fmla="*/ 7 h 7"/>
                <a:gd name="T2" fmla="*/ 5 w 6"/>
                <a:gd name="T3" fmla="*/ 7 h 7"/>
                <a:gd name="T4" fmla="*/ 4 w 6"/>
                <a:gd name="T5" fmla="*/ 5 h 7"/>
                <a:gd name="T6" fmla="*/ 4 w 6"/>
                <a:gd name="T7" fmla="*/ 4 h 7"/>
                <a:gd name="T8" fmla="*/ 3 w 6"/>
                <a:gd name="T9" fmla="*/ 3 h 7"/>
                <a:gd name="T10" fmla="*/ 2 w 6"/>
                <a:gd name="T11" fmla="*/ 2 h 7"/>
                <a:gd name="T12" fmla="*/ 2 w 6"/>
                <a:gd name="T13" fmla="*/ 2 h 7"/>
                <a:gd name="T14" fmla="*/ 1 w 6"/>
                <a:gd name="T15" fmla="*/ 1 h 7"/>
                <a:gd name="T16" fmla="*/ 1 w 6"/>
                <a:gd name="T17" fmla="*/ 1 h 7"/>
                <a:gd name="T18" fmla="*/ 1 w 6"/>
                <a:gd name="T19" fmla="*/ 1 h 7"/>
                <a:gd name="T20" fmla="*/ 0 w 6"/>
                <a:gd name="T21" fmla="*/ 0 h 7"/>
                <a:gd name="T22" fmla="*/ 1 w 6"/>
                <a:gd name="T23" fmla="*/ 0 h 7"/>
                <a:gd name="T24" fmla="*/ 1 w 6"/>
                <a:gd name="T25" fmla="*/ 0 h 7"/>
                <a:gd name="T26" fmla="*/ 2 w 6"/>
                <a:gd name="T27" fmla="*/ 1 h 7"/>
                <a:gd name="T28" fmla="*/ 3 w 6"/>
                <a:gd name="T29" fmla="*/ 2 h 7"/>
                <a:gd name="T30" fmla="*/ 4 w 6"/>
                <a:gd name="T31" fmla="*/ 3 h 7"/>
                <a:gd name="T32" fmla="*/ 4 w 6"/>
                <a:gd name="T33" fmla="*/ 4 h 7"/>
                <a:gd name="T34" fmla="*/ 5 w 6"/>
                <a:gd name="T35" fmla="*/ 5 h 7"/>
                <a:gd name="T36" fmla="*/ 6 w 6"/>
                <a:gd name="T37" fmla="*/ 6 h 7"/>
                <a:gd name="T38" fmla="*/ 6 w 6"/>
                <a:gd name="T39" fmla="*/ 6 h 7"/>
                <a:gd name="T40" fmla="*/ 5 w 6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5" y="7"/>
                  </a:moveTo>
                  <a:lnTo>
                    <a:pt x="5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5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8" name="Freeform 112"/>
            <p:cNvSpPr>
              <a:spLocks/>
            </p:cNvSpPr>
            <p:nvPr/>
          </p:nvSpPr>
          <p:spPr bwMode="auto">
            <a:xfrm>
              <a:off x="1758" y="3021"/>
              <a:ext cx="18" cy="54"/>
            </a:xfrm>
            <a:custGeom>
              <a:avLst/>
              <a:gdLst>
                <a:gd name="T0" fmla="*/ 2 w 3"/>
                <a:gd name="T1" fmla="*/ 9 h 9"/>
                <a:gd name="T2" fmla="*/ 2 w 3"/>
                <a:gd name="T3" fmla="*/ 8 h 9"/>
                <a:gd name="T4" fmla="*/ 2 w 3"/>
                <a:gd name="T5" fmla="*/ 8 h 9"/>
                <a:gd name="T6" fmla="*/ 2 w 3"/>
                <a:gd name="T7" fmla="*/ 7 h 9"/>
                <a:gd name="T8" fmla="*/ 2 w 3"/>
                <a:gd name="T9" fmla="*/ 7 h 9"/>
                <a:gd name="T10" fmla="*/ 2 w 3"/>
                <a:gd name="T11" fmla="*/ 6 h 9"/>
                <a:gd name="T12" fmla="*/ 1 w 3"/>
                <a:gd name="T13" fmla="*/ 5 h 9"/>
                <a:gd name="T14" fmla="*/ 1 w 3"/>
                <a:gd name="T15" fmla="*/ 3 h 9"/>
                <a:gd name="T16" fmla="*/ 1 w 3"/>
                <a:gd name="T17" fmla="*/ 2 h 9"/>
                <a:gd name="T18" fmla="*/ 0 w 3"/>
                <a:gd name="T19" fmla="*/ 1 h 9"/>
                <a:gd name="T20" fmla="*/ 1 w 3"/>
                <a:gd name="T21" fmla="*/ 0 h 9"/>
                <a:gd name="T22" fmla="*/ 1 w 3"/>
                <a:gd name="T23" fmla="*/ 2 h 9"/>
                <a:gd name="T24" fmla="*/ 2 w 3"/>
                <a:gd name="T25" fmla="*/ 3 h 9"/>
                <a:gd name="T26" fmla="*/ 2 w 3"/>
                <a:gd name="T27" fmla="*/ 4 h 9"/>
                <a:gd name="T28" fmla="*/ 3 w 3"/>
                <a:gd name="T29" fmla="*/ 5 h 9"/>
                <a:gd name="T30" fmla="*/ 3 w 3"/>
                <a:gd name="T31" fmla="*/ 7 h 9"/>
                <a:gd name="T32" fmla="*/ 3 w 3"/>
                <a:gd name="T33" fmla="*/ 7 h 9"/>
                <a:gd name="T34" fmla="*/ 3 w 3"/>
                <a:gd name="T35" fmla="*/ 8 h 9"/>
                <a:gd name="T36" fmla="*/ 2 w 3"/>
                <a:gd name="T37" fmla="*/ 9 h 9"/>
                <a:gd name="T38" fmla="*/ 2 w 3"/>
                <a:gd name="T39" fmla="*/ 8 h 9"/>
                <a:gd name="T40" fmla="*/ 2 w 3"/>
                <a:gd name="T4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9">
                  <a:moveTo>
                    <a:pt x="2" y="9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69" name="Freeform 113"/>
            <p:cNvSpPr>
              <a:spLocks/>
            </p:cNvSpPr>
            <p:nvPr/>
          </p:nvSpPr>
          <p:spPr bwMode="auto">
            <a:xfrm>
              <a:off x="1770" y="3015"/>
              <a:ext cx="12" cy="60"/>
            </a:xfrm>
            <a:custGeom>
              <a:avLst/>
              <a:gdLst>
                <a:gd name="T0" fmla="*/ 1 w 2"/>
                <a:gd name="T1" fmla="*/ 0 h 10"/>
                <a:gd name="T2" fmla="*/ 1 w 2"/>
                <a:gd name="T3" fmla="*/ 0 h 10"/>
                <a:gd name="T4" fmla="*/ 1 w 2"/>
                <a:gd name="T5" fmla="*/ 1 h 10"/>
                <a:gd name="T6" fmla="*/ 1 w 2"/>
                <a:gd name="T7" fmla="*/ 2 h 10"/>
                <a:gd name="T8" fmla="*/ 2 w 2"/>
                <a:gd name="T9" fmla="*/ 3 h 10"/>
                <a:gd name="T10" fmla="*/ 2 w 2"/>
                <a:gd name="T11" fmla="*/ 3 h 10"/>
                <a:gd name="T12" fmla="*/ 2 w 2"/>
                <a:gd name="T13" fmla="*/ 4 h 10"/>
                <a:gd name="T14" fmla="*/ 2 w 2"/>
                <a:gd name="T15" fmla="*/ 5 h 10"/>
                <a:gd name="T16" fmla="*/ 2 w 2"/>
                <a:gd name="T17" fmla="*/ 6 h 10"/>
                <a:gd name="T18" fmla="*/ 2 w 2"/>
                <a:gd name="T19" fmla="*/ 6 h 10"/>
                <a:gd name="T20" fmla="*/ 2 w 2"/>
                <a:gd name="T21" fmla="*/ 7 h 10"/>
                <a:gd name="T22" fmla="*/ 2 w 2"/>
                <a:gd name="T23" fmla="*/ 8 h 10"/>
                <a:gd name="T24" fmla="*/ 2 w 2"/>
                <a:gd name="T25" fmla="*/ 8 h 10"/>
                <a:gd name="T26" fmla="*/ 2 w 2"/>
                <a:gd name="T27" fmla="*/ 9 h 10"/>
                <a:gd name="T28" fmla="*/ 1 w 2"/>
                <a:gd name="T29" fmla="*/ 9 h 10"/>
                <a:gd name="T30" fmla="*/ 1 w 2"/>
                <a:gd name="T31" fmla="*/ 10 h 10"/>
                <a:gd name="T32" fmla="*/ 0 w 2"/>
                <a:gd name="T33" fmla="*/ 10 h 10"/>
                <a:gd name="T34" fmla="*/ 0 w 2"/>
                <a:gd name="T35" fmla="*/ 10 h 10"/>
                <a:gd name="T36" fmla="*/ 0 w 2"/>
                <a:gd name="T37" fmla="*/ 9 h 10"/>
                <a:gd name="T38" fmla="*/ 0 w 2"/>
                <a:gd name="T39" fmla="*/ 9 h 10"/>
                <a:gd name="T40" fmla="*/ 1 w 2"/>
                <a:gd name="T41" fmla="*/ 9 h 10"/>
                <a:gd name="T42" fmla="*/ 1 w 2"/>
                <a:gd name="T43" fmla="*/ 9 h 10"/>
                <a:gd name="T44" fmla="*/ 1 w 2"/>
                <a:gd name="T45" fmla="*/ 8 h 10"/>
                <a:gd name="T46" fmla="*/ 1 w 2"/>
                <a:gd name="T47" fmla="*/ 8 h 10"/>
                <a:gd name="T48" fmla="*/ 2 w 2"/>
                <a:gd name="T49" fmla="*/ 8 h 10"/>
                <a:gd name="T50" fmla="*/ 2 w 2"/>
                <a:gd name="T51" fmla="*/ 7 h 10"/>
                <a:gd name="T52" fmla="*/ 2 w 2"/>
                <a:gd name="T53" fmla="*/ 7 h 10"/>
                <a:gd name="T54" fmla="*/ 1 w 2"/>
                <a:gd name="T55" fmla="*/ 6 h 10"/>
                <a:gd name="T56" fmla="*/ 1 w 2"/>
                <a:gd name="T57" fmla="*/ 5 h 10"/>
                <a:gd name="T58" fmla="*/ 1 w 2"/>
                <a:gd name="T59" fmla="*/ 4 h 10"/>
                <a:gd name="T60" fmla="*/ 1 w 2"/>
                <a:gd name="T61" fmla="*/ 4 h 10"/>
                <a:gd name="T62" fmla="*/ 1 w 2"/>
                <a:gd name="T63" fmla="*/ 3 h 10"/>
                <a:gd name="T64" fmla="*/ 1 w 2"/>
                <a:gd name="T65" fmla="*/ 2 h 10"/>
                <a:gd name="T66" fmla="*/ 0 w 2"/>
                <a:gd name="T67" fmla="*/ 1 h 10"/>
                <a:gd name="T68" fmla="*/ 0 w 2"/>
                <a:gd name="T69" fmla="*/ 1 h 10"/>
                <a:gd name="T70" fmla="*/ 0 w 2"/>
                <a:gd name="T71" fmla="*/ 1 h 10"/>
                <a:gd name="T72" fmla="*/ 1 w 2"/>
                <a:gd name="T7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0" name="Freeform 114"/>
            <p:cNvSpPr>
              <a:spLocks/>
            </p:cNvSpPr>
            <p:nvPr/>
          </p:nvSpPr>
          <p:spPr bwMode="auto">
            <a:xfrm>
              <a:off x="1728" y="2979"/>
              <a:ext cx="48" cy="42"/>
            </a:xfrm>
            <a:custGeom>
              <a:avLst/>
              <a:gdLst>
                <a:gd name="T0" fmla="*/ 1 w 8"/>
                <a:gd name="T1" fmla="*/ 2 h 7"/>
                <a:gd name="T2" fmla="*/ 0 w 8"/>
                <a:gd name="T3" fmla="*/ 1 h 7"/>
                <a:gd name="T4" fmla="*/ 0 w 8"/>
                <a:gd name="T5" fmla="*/ 1 h 7"/>
                <a:gd name="T6" fmla="*/ 1 w 8"/>
                <a:gd name="T7" fmla="*/ 1 h 7"/>
                <a:gd name="T8" fmla="*/ 1 w 8"/>
                <a:gd name="T9" fmla="*/ 0 h 7"/>
                <a:gd name="T10" fmla="*/ 2 w 8"/>
                <a:gd name="T11" fmla="*/ 0 h 7"/>
                <a:gd name="T12" fmla="*/ 2 w 8"/>
                <a:gd name="T13" fmla="*/ 1 h 7"/>
                <a:gd name="T14" fmla="*/ 3 w 8"/>
                <a:gd name="T15" fmla="*/ 1 h 7"/>
                <a:gd name="T16" fmla="*/ 3 w 8"/>
                <a:gd name="T17" fmla="*/ 1 h 7"/>
                <a:gd name="T18" fmla="*/ 4 w 8"/>
                <a:gd name="T19" fmla="*/ 1 h 7"/>
                <a:gd name="T20" fmla="*/ 5 w 8"/>
                <a:gd name="T21" fmla="*/ 2 h 7"/>
                <a:gd name="T22" fmla="*/ 5 w 8"/>
                <a:gd name="T23" fmla="*/ 2 h 7"/>
                <a:gd name="T24" fmla="*/ 6 w 8"/>
                <a:gd name="T25" fmla="*/ 3 h 7"/>
                <a:gd name="T26" fmla="*/ 6 w 8"/>
                <a:gd name="T27" fmla="*/ 3 h 7"/>
                <a:gd name="T28" fmla="*/ 7 w 8"/>
                <a:gd name="T29" fmla="*/ 4 h 7"/>
                <a:gd name="T30" fmla="*/ 7 w 8"/>
                <a:gd name="T31" fmla="*/ 5 h 7"/>
                <a:gd name="T32" fmla="*/ 7 w 8"/>
                <a:gd name="T33" fmla="*/ 6 h 7"/>
                <a:gd name="T34" fmla="*/ 8 w 8"/>
                <a:gd name="T35" fmla="*/ 6 h 7"/>
                <a:gd name="T36" fmla="*/ 7 w 8"/>
                <a:gd name="T37" fmla="*/ 7 h 7"/>
                <a:gd name="T38" fmla="*/ 7 w 8"/>
                <a:gd name="T39" fmla="*/ 6 h 7"/>
                <a:gd name="T40" fmla="*/ 6 w 8"/>
                <a:gd name="T41" fmla="*/ 5 h 7"/>
                <a:gd name="T42" fmla="*/ 6 w 8"/>
                <a:gd name="T43" fmla="*/ 5 h 7"/>
                <a:gd name="T44" fmla="*/ 5 w 8"/>
                <a:gd name="T45" fmla="*/ 4 h 7"/>
                <a:gd name="T46" fmla="*/ 5 w 8"/>
                <a:gd name="T47" fmla="*/ 3 h 7"/>
                <a:gd name="T48" fmla="*/ 4 w 8"/>
                <a:gd name="T49" fmla="*/ 3 h 7"/>
                <a:gd name="T50" fmla="*/ 4 w 8"/>
                <a:gd name="T51" fmla="*/ 2 h 7"/>
                <a:gd name="T52" fmla="*/ 3 w 8"/>
                <a:gd name="T53" fmla="*/ 2 h 7"/>
                <a:gd name="T54" fmla="*/ 3 w 8"/>
                <a:gd name="T55" fmla="*/ 2 h 7"/>
                <a:gd name="T56" fmla="*/ 3 w 8"/>
                <a:gd name="T57" fmla="*/ 2 h 7"/>
                <a:gd name="T58" fmla="*/ 2 w 8"/>
                <a:gd name="T59" fmla="*/ 1 h 7"/>
                <a:gd name="T60" fmla="*/ 2 w 8"/>
                <a:gd name="T61" fmla="*/ 1 h 7"/>
                <a:gd name="T62" fmla="*/ 1 w 8"/>
                <a:gd name="T63" fmla="*/ 1 h 7"/>
                <a:gd name="T64" fmla="*/ 1 w 8"/>
                <a:gd name="T65" fmla="*/ 1 h 7"/>
                <a:gd name="T66" fmla="*/ 1 w 8"/>
                <a:gd name="T67" fmla="*/ 2 h 7"/>
                <a:gd name="T68" fmla="*/ 1 w 8"/>
                <a:gd name="T69" fmla="*/ 2 h 7"/>
                <a:gd name="T70" fmla="*/ 0 w 8"/>
                <a:gd name="T71" fmla="*/ 1 h 7"/>
                <a:gd name="T72" fmla="*/ 1 w 8"/>
                <a:gd name="T7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7">
                  <a:moveTo>
                    <a:pt x="1" y="2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7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1" name="Freeform 115"/>
            <p:cNvSpPr>
              <a:spLocks/>
            </p:cNvSpPr>
            <p:nvPr/>
          </p:nvSpPr>
          <p:spPr bwMode="auto">
            <a:xfrm>
              <a:off x="1734" y="2991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2" name="Freeform 116"/>
            <p:cNvSpPr>
              <a:spLocks/>
            </p:cNvSpPr>
            <p:nvPr/>
          </p:nvSpPr>
          <p:spPr bwMode="auto">
            <a:xfrm>
              <a:off x="1740" y="2985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1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3" name="Freeform 117"/>
            <p:cNvSpPr>
              <a:spLocks/>
            </p:cNvSpPr>
            <p:nvPr/>
          </p:nvSpPr>
          <p:spPr bwMode="auto">
            <a:xfrm>
              <a:off x="1746" y="298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4" name="Freeform 118"/>
            <p:cNvSpPr>
              <a:spLocks/>
            </p:cNvSpPr>
            <p:nvPr/>
          </p:nvSpPr>
          <p:spPr bwMode="auto">
            <a:xfrm>
              <a:off x="1740" y="29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5" name="Freeform 119"/>
            <p:cNvSpPr>
              <a:spLocks/>
            </p:cNvSpPr>
            <p:nvPr/>
          </p:nvSpPr>
          <p:spPr bwMode="auto">
            <a:xfrm>
              <a:off x="1746" y="2991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6" name="Freeform 120"/>
            <p:cNvSpPr>
              <a:spLocks/>
            </p:cNvSpPr>
            <p:nvPr/>
          </p:nvSpPr>
          <p:spPr bwMode="auto">
            <a:xfrm>
              <a:off x="1746" y="3003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7" name="Freeform 121"/>
            <p:cNvSpPr>
              <a:spLocks/>
            </p:cNvSpPr>
            <p:nvPr/>
          </p:nvSpPr>
          <p:spPr bwMode="auto">
            <a:xfrm>
              <a:off x="1752" y="2997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8" name="Freeform 122"/>
            <p:cNvSpPr>
              <a:spLocks/>
            </p:cNvSpPr>
            <p:nvPr/>
          </p:nvSpPr>
          <p:spPr bwMode="auto">
            <a:xfrm>
              <a:off x="1752" y="301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79" name="Freeform 123"/>
            <p:cNvSpPr>
              <a:spLocks/>
            </p:cNvSpPr>
            <p:nvPr/>
          </p:nvSpPr>
          <p:spPr bwMode="auto">
            <a:xfrm>
              <a:off x="1758" y="3009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0" name="Freeform 124"/>
            <p:cNvSpPr>
              <a:spLocks/>
            </p:cNvSpPr>
            <p:nvPr/>
          </p:nvSpPr>
          <p:spPr bwMode="auto">
            <a:xfrm>
              <a:off x="1758" y="302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1" name="Freeform 125"/>
            <p:cNvSpPr>
              <a:spLocks/>
            </p:cNvSpPr>
            <p:nvPr/>
          </p:nvSpPr>
          <p:spPr bwMode="auto">
            <a:xfrm>
              <a:off x="1758" y="3021"/>
              <a:ext cx="18" cy="6"/>
            </a:xfrm>
            <a:custGeom>
              <a:avLst/>
              <a:gdLst>
                <a:gd name="T0" fmla="*/ 2 w 3"/>
                <a:gd name="T1" fmla="*/ 0 h 1"/>
                <a:gd name="T2" fmla="*/ 3 w 3"/>
                <a:gd name="T3" fmla="*/ 0 h 1"/>
                <a:gd name="T4" fmla="*/ 1 w 3"/>
                <a:gd name="T5" fmla="*/ 1 h 1"/>
                <a:gd name="T6" fmla="*/ 0 w 3"/>
                <a:gd name="T7" fmla="*/ 0 h 1"/>
                <a:gd name="T8" fmla="*/ 2 w 3"/>
                <a:gd name="T9" fmla="*/ 0 h 1"/>
                <a:gd name="T10" fmla="*/ 2 w 3"/>
                <a:gd name="T11" fmla="*/ 0 h 1"/>
                <a:gd name="T12" fmla="*/ 2 w 3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3" y="0"/>
                  </a:lnTo>
                  <a:lnTo>
                    <a:pt x="1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2" name="Freeform 126"/>
            <p:cNvSpPr>
              <a:spLocks/>
            </p:cNvSpPr>
            <p:nvPr/>
          </p:nvSpPr>
          <p:spPr bwMode="auto">
            <a:xfrm>
              <a:off x="1770" y="3015"/>
              <a:ext cx="6" cy="6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3" name="Freeform 127"/>
            <p:cNvSpPr>
              <a:spLocks/>
            </p:cNvSpPr>
            <p:nvPr/>
          </p:nvSpPr>
          <p:spPr bwMode="auto">
            <a:xfrm>
              <a:off x="1764" y="3027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1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4" name="Freeform 128"/>
            <p:cNvSpPr>
              <a:spLocks/>
            </p:cNvSpPr>
            <p:nvPr/>
          </p:nvSpPr>
          <p:spPr bwMode="auto">
            <a:xfrm>
              <a:off x="1764" y="3039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5" name="Freeform 129"/>
            <p:cNvSpPr>
              <a:spLocks/>
            </p:cNvSpPr>
            <p:nvPr/>
          </p:nvSpPr>
          <p:spPr bwMode="auto">
            <a:xfrm>
              <a:off x="1770" y="3039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6" name="Freeform 130"/>
            <p:cNvSpPr>
              <a:spLocks/>
            </p:cNvSpPr>
            <p:nvPr/>
          </p:nvSpPr>
          <p:spPr bwMode="auto">
            <a:xfrm>
              <a:off x="1776" y="303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7" name="Freeform 131"/>
            <p:cNvSpPr>
              <a:spLocks/>
            </p:cNvSpPr>
            <p:nvPr/>
          </p:nvSpPr>
          <p:spPr bwMode="auto">
            <a:xfrm>
              <a:off x="1770" y="3045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8" name="Freeform 132"/>
            <p:cNvSpPr>
              <a:spLocks/>
            </p:cNvSpPr>
            <p:nvPr/>
          </p:nvSpPr>
          <p:spPr bwMode="auto">
            <a:xfrm>
              <a:off x="1770" y="3057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89" name="Freeform 133"/>
            <p:cNvSpPr>
              <a:spLocks/>
            </p:cNvSpPr>
            <p:nvPr/>
          </p:nvSpPr>
          <p:spPr bwMode="auto">
            <a:xfrm>
              <a:off x="1734" y="2985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0" name="Freeform 134"/>
            <p:cNvSpPr>
              <a:spLocks/>
            </p:cNvSpPr>
            <p:nvPr/>
          </p:nvSpPr>
          <p:spPr bwMode="auto">
            <a:xfrm>
              <a:off x="1770" y="3063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1" name="Freeform 135"/>
            <p:cNvSpPr>
              <a:spLocks/>
            </p:cNvSpPr>
            <p:nvPr/>
          </p:nvSpPr>
          <p:spPr bwMode="auto">
            <a:xfrm>
              <a:off x="1698" y="3027"/>
              <a:ext cx="48" cy="24"/>
            </a:xfrm>
            <a:custGeom>
              <a:avLst/>
              <a:gdLst>
                <a:gd name="T0" fmla="*/ 7 w 8"/>
                <a:gd name="T1" fmla="*/ 0 h 4"/>
                <a:gd name="T2" fmla="*/ 7 w 8"/>
                <a:gd name="T3" fmla="*/ 0 h 4"/>
                <a:gd name="T4" fmla="*/ 6 w 8"/>
                <a:gd name="T5" fmla="*/ 0 h 4"/>
                <a:gd name="T6" fmla="*/ 5 w 8"/>
                <a:gd name="T7" fmla="*/ 0 h 4"/>
                <a:gd name="T8" fmla="*/ 5 w 8"/>
                <a:gd name="T9" fmla="*/ 0 h 4"/>
                <a:gd name="T10" fmla="*/ 5 w 8"/>
                <a:gd name="T11" fmla="*/ 1 h 4"/>
                <a:gd name="T12" fmla="*/ 4 w 8"/>
                <a:gd name="T13" fmla="*/ 1 h 4"/>
                <a:gd name="T14" fmla="*/ 4 w 8"/>
                <a:gd name="T15" fmla="*/ 1 h 4"/>
                <a:gd name="T16" fmla="*/ 3 w 8"/>
                <a:gd name="T17" fmla="*/ 1 h 4"/>
                <a:gd name="T18" fmla="*/ 3 w 8"/>
                <a:gd name="T19" fmla="*/ 1 h 4"/>
                <a:gd name="T20" fmla="*/ 2 w 8"/>
                <a:gd name="T21" fmla="*/ 2 h 4"/>
                <a:gd name="T22" fmla="*/ 2 w 8"/>
                <a:gd name="T23" fmla="*/ 2 h 4"/>
                <a:gd name="T24" fmla="*/ 1 w 8"/>
                <a:gd name="T25" fmla="*/ 2 h 4"/>
                <a:gd name="T26" fmla="*/ 1 w 8"/>
                <a:gd name="T27" fmla="*/ 2 h 4"/>
                <a:gd name="T28" fmla="*/ 0 w 8"/>
                <a:gd name="T29" fmla="*/ 2 h 4"/>
                <a:gd name="T30" fmla="*/ 0 w 8"/>
                <a:gd name="T31" fmla="*/ 3 h 4"/>
                <a:gd name="T32" fmla="*/ 0 w 8"/>
                <a:gd name="T33" fmla="*/ 3 h 4"/>
                <a:gd name="T34" fmla="*/ 0 w 8"/>
                <a:gd name="T35" fmla="*/ 3 h 4"/>
                <a:gd name="T36" fmla="*/ 0 w 8"/>
                <a:gd name="T37" fmla="*/ 4 h 4"/>
                <a:gd name="T38" fmla="*/ 0 w 8"/>
                <a:gd name="T39" fmla="*/ 4 h 4"/>
                <a:gd name="T40" fmla="*/ 0 w 8"/>
                <a:gd name="T41" fmla="*/ 4 h 4"/>
                <a:gd name="T42" fmla="*/ 1 w 8"/>
                <a:gd name="T43" fmla="*/ 4 h 4"/>
                <a:gd name="T44" fmla="*/ 1 w 8"/>
                <a:gd name="T45" fmla="*/ 4 h 4"/>
                <a:gd name="T46" fmla="*/ 2 w 8"/>
                <a:gd name="T47" fmla="*/ 4 h 4"/>
                <a:gd name="T48" fmla="*/ 2 w 8"/>
                <a:gd name="T49" fmla="*/ 3 h 4"/>
                <a:gd name="T50" fmla="*/ 2 w 8"/>
                <a:gd name="T51" fmla="*/ 3 h 4"/>
                <a:gd name="T52" fmla="*/ 3 w 8"/>
                <a:gd name="T53" fmla="*/ 3 h 4"/>
                <a:gd name="T54" fmla="*/ 3 w 8"/>
                <a:gd name="T55" fmla="*/ 3 h 4"/>
                <a:gd name="T56" fmla="*/ 4 w 8"/>
                <a:gd name="T57" fmla="*/ 3 h 4"/>
                <a:gd name="T58" fmla="*/ 4 w 8"/>
                <a:gd name="T59" fmla="*/ 3 h 4"/>
                <a:gd name="T60" fmla="*/ 5 w 8"/>
                <a:gd name="T61" fmla="*/ 2 h 4"/>
                <a:gd name="T62" fmla="*/ 5 w 8"/>
                <a:gd name="T63" fmla="*/ 2 h 4"/>
                <a:gd name="T64" fmla="*/ 6 w 8"/>
                <a:gd name="T65" fmla="*/ 2 h 4"/>
                <a:gd name="T66" fmla="*/ 6 w 8"/>
                <a:gd name="T67" fmla="*/ 2 h 4"/>
                <a:gd name="T68" fmla="*/ 7 w 8"/>
                <a:gd name="T69" fmla="*/ 2 h 4"/>
                <a:gd name="T70" fmla="*/ 7 w 8"/>
                <a:gd name="T71" fmla="*/ 2 h 4"/>
                <a:gd name="T72" fmla="*/ 8 w 8"/>
                <a:gd name="T73" fmla="*/ 1 h 4"/>
                <a:gd name="T74" fmla="*/ 8 w 8"/>
                <a:gd name="T75" fmla="*/ 1 h 4"/>
                <a:gd name="T76" fmla="*/ 8 w 8"/>
                <a:gd name="T77" fmla="*/ 1 h 4"/>
                <a:gd name="T78" fmla="*/ 8 w 8"/>
                <a:gd name="T79" fmla="*/ 1 h 4"/>
                <a:gd name="T80" fmla="*/ 8 w 8"/>
                <a:gd name="T81" fmla="*/ 0 h 4"/>
                <a:gd name="T82" fmla="*/ 8 w 8"/>
                <a:gd name="T83" fmla="*/ 0 h 4"/>
                <a:gd name="T84" fmla="*/ 8 w 8"/>
                <a:gd name="T85" fmla="*/ 0 h 4"/>
                <a:gd name="T86" fmla="*/ 7 w 8"/>
                <a:gd name="T87" fmla="*/ 0 h 4"/>
                <a:gd name="T88" fmla="*/ 7 w 8"/>
                <a:gd name="T8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" h="4">
                  <a:moveTo>
                    <a:pt x="7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2" name="Freeform 136"/>
            <p:cNvSpPr>
              <a:spLocks/>
            </p:cNvSpPr>
            <p:nvPr/>
          </p:nvSpPr>
          <p:spPr bwMode="auto">
            <a:xfrm>
              <a:off x="1692" y="3021"/>
              <a:ext cx="48" cy="24"/>
            </a:xfrm>
            <a:custGeom>
              <a:avLst/>
              <a:gdLst>
                <a:gd name="T0" fmla="*/ 0 w 8"/>
                <a:gd name="T1" fmla="*/ 4 h 4"/>
                <a:gd name="T2" fmla="*/ 0 w 8"/>
                <a:gd name="T3" fmla="*/ 3 h 4"/>
                <a:gd name="T4" fmla="*/ 1 w 8"/>
                <a:gd name="T5" fmla="*/ 3 h 4"/>
                <a:gd name="T6" fmla="*/ 1 w 8"/>
                <a:gd name="T7" fmla="*/ 3 h 4"/>
                <a:gd name="T8" fmla="*/ 2 w 8"/>
                <a:gd name="T9" fmla="*/ 3 h 4"/>
                <a:gd name="T10" fmla="*/ 2 w 8"/>
                <a:gd name="T11" fmla="*/ 2 h 4"/>
                <a:gd name="T12" fmla="*/ 3 w 8"/>
                <a:gd name="T13" fmla="*/ 2 h 4"/>
                <a:gd name="T14" fmla="*/ 3 w 8"/>
                <a:gd name="T15" fmla="*/ 2 h 4"/>
                <a:gd name="T16" fmla="*/ 4 w 8"/>
                <a:gd name="T17" fmla="*/ 2 h 4"/>
                <a:gd name="T18" fmla="*/ 4 w 8"/>
                <a:gd name="T19" fmla="*/ 2 h 4"/>
                <a:gd name="T20" fmla="*/ 4 w 8"/>
                <a:gd name="T21" fmla="*/ 2 h 4"/>
                <a:gd name="T22" fmla="*/ 5 w 8"/>
                <a:gd name="T23" fmla="*/ 1 h 4"/>
                <a:gd name="T24" fmla="*/ 5 w 8"/>
                <a:gd name="T25" fmla="*/ 1 h 4"/>
                <a:gd name="T26" fmla="*/ 6 w 8"/>
                <a:gd name="T27" fmla="*/ 1 h 4"/>
                <a:gd name="T28" fmla="*/ 6 w 8"/>
                <a:gd name="T29" fmla="*/ 1 h 4"/>
                <a:gd name="T30" fmla="*/ 7 w 8"/>
                <a:gd name="T31" fmla="*/ 1 h 4"/>
                <a:gd name="T32" fmla="*/ 7 w 8"/>
                <a:gd name="T33" fmla="*/ 0 h 4"/>
                <a:gd name="T34" fmla="*/ 8 w 8"/>
                <a:gd name="T35" fmla="*/ 0 h 4"/>
                <a:gd name="T36" fmla="*/ 8 w 8"/>
                <a:gd name="T37" fmla="*/ 1 h 4"/>
                <a:gd name="T38" fmla="*/ 8 w 8"/>
                <a:gd name="T39" fmla="*/ 1 h 4"/>
                <a:gd name="T40" fmla="*/ 7 w 8"/>
                <a:gd name="T41" fmla="*/ 1 h 4"/>
                <a:gd name="T42" fmla="*/ 7 w 8"/>
                <a:gd name="T43" fmla="*/ 2 h 4"/>
                <a:gd name="T44" fmla="*/ 6 w 8"/>
                <a:gd name="T45" fmla="*/ 2 h 4"/>
                <a:gd name="T46" fmla="*/ 6 w 8"/>
                <a:gd name="T47" fmla="*/ 2 h 4"/>
                <a:gd name="T48" fmla="*/ 5 w 8"/>
                <a:gd name="T49" fmla="*/ 2 h 4"/>
                <a:gd name="T50" fmla="*/ 5 w 8"/>
                <a:gd name="T51" fmla="*/ 2 h 4"/>
                <a:gd name="T52" fmla="*/ 4 w 8"/>
                <a:gd name="T53" fmla="*/ 3 h 4"/>
                <a:gd name="T54" fmla="*/ 4 w 8"/>
                <a:gd name="T55" fmla="*/ 3 h 4"/>
                <a:gd name="T56" fmla="*/ 3 w 8"/>
                <a:gd name="T57" fmla="*/ 3 h 4"/>
                <a:gd name="T58" fmla="*/ 3 w 8"/>
                <a:gd name="T59" fmla="*/ 3 h 4"/>
                <a:gd name="T60" fmla="*/ 3 w 8"/>
                <a:gd name="T61" fmla="*/ 3 h 4"/>
                <a:gd name="T62" fmla="*/ 2 w 8"/>
                <a:gd name="T63" fmla="*/ 3 h 4"/>
                <a:gd name="T64" fmla="*/ 2 w 8"/>
                <a:gd name="T65" fmla="*/ 4 h 4"/>
                <a:gd name="T66" fmla="*/ 1 w 8"/>
                <a:gd name="T67" fmla="*/ 4 h 4"/>
                <a:gd name="T68" fmla="*/ 1 w 8"/>
                <a:gd name="T69" fmla="*/ 4 h 4"/>
                <a:gd name="T70" fmla="*/ 1 w 8"/>
                <a:gd name="T71" fmla="*/ 4 h 4"/>
                <a:gd name="T72" fmla="*/ 0 w 8"/>
                <a:gd name="T7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0" y="4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3" name="Freeform 137"/>
            <p:cNvSpPr>
              <a:spLocks/>
            </p:cNvSpPr>
            <p:nvPr/>
          </p:nvSpPr>
          <p:spPr bwMode="auto">
            <a:xfrm>
              <a:off x="1692" y="3045"/>
              <a:ext cx="12" cy="12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2 h 2"/>
                <a:gd name="T4" fmla="*/ 0 w 2"/>
                <a:gd name="T5" fmla="*/ 1 h 2"/>
                <a:gd name="T6" fmla="*/ 0 w 2"/>
                <a:gd name="T7" fmla="*/ 1 h 2"/>
                <a:gd name="T8" fmla="*/ 0 w 2"/>
                <a:gd name="T9" fmla="*/ 0 h 2"/>
                <a:gd name="T10" fmla="*/ 0 w 2"/>
                <a:gd name="T11" fmla="*/ 0 h 2"/>
                <a:gd name="T12" fmla="*/ 1 w 2"/>
                <a:gd name="T13" fmla="*/ 0 h 2"/>
                <a:gd name="T14" fmla="*/ 1 w 2"/>
                <a:gd name="T15" fmla="*/ 0 h 2"/>
                <a:gd name="T16" fmla="*/ 1 w 2"/>
                <a:gd name="T17" fmla="*/ 0 h 2"/>
                <a:gd name="T18" fmla="*/ 1 w 2"/>
                <a:gd name="T19" fmla="*/ 1 h 2"/>
                <a:gd name="T20" fmla="*/ 2 w 2"/>
                <a:gd name="T21" fmla="*/ 1 h 2"/>
                <a:gd name="T22" fmla="*/ 1 w 2"/>
                <a:gd name="T23" fmla="*/ 1 h 2"/>
                <a:gd name="T24" fmla="*/ 1 w 2"/>
                <a:gd name="T2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4" name="Freeform 138"/>
            <p:cNvSpPr>
              <a:spLocks/>
            </p:cNvSpPr>
            <p:nvPr/>
          </p:nvSpPr>
          <p:spPr bwMode="auto">
            <a:xfrm>
              <a:off x="1698" y="3033"/>
              <a:ext cx="48" cy="24"/>
            </a:xfrm>
            <a:custGeom>
              <a:avLst/>
              <a:gdLst>
                <a:gd name="T0" fmla="*/ 8 w 8"/>
                <a:gd name="T1" fmla="*/ 0 h 4"/>
                <a:gd name="T2" fmla="*/ 8 w 8"/>
                <a:gd name="T3" fmla="*/ 1 h 4"/>
                <a:gd name="T4" fmla="*/ 7 w 8"/>
                <a:gd name="T5" fmla="*/ 1 h 4"/>
                <a:gd name="T6" fmla="*/ 7 w 8"/>
                <a:gd name="T7" fmla="*/ 1 h 4"/>
                <a:gd name="T8" fmla="*/ 6 w 8"/>
                <a:gd name="T9" fmla="*/ 1 h 4"/>
                <a:gd name="T10" fmla="*/ 6 w 8"/>
                <a:gd name="T11" fmla="*/ 2 h 4"/>
                <a:gd name="T12" fmla="*/ 5 w 8"/>
                <a:gd name="T13" fmla="*/ 2 h 4"/>
                <a:gd name="T14" fmla="*/ 5 w 8"/>
                <a:gd name="T15" fmla="*/ 2 h 4"/>
                <a:gd name="T16" fmla="*/ 4 w 8"/>
                <a:gd name="T17" fmla="*/ 2 h 4"/>
                <a:gd name="T18" fmla="*/ 4 w 8"/>
                <a:gd name="T19" fmla="*/ 2 h 4"/>
                <a:gd name="T20" fmla="*/ 4 w 8"/>
                <a:gd name="T21" fmla="*/ 2 h 4"/>
                <a:gd name="T22" fmla="*/ 3 w 8"/>
                <a:gd name="T23" fmla="*/ 3 h 4"/>
                <a:gd name="T24" fmla="*/ 3 w 8"/>
                <a:gd name="T25" fmla="*/ 3 h 4"/>
                <a:gd name="T26" fmla="*/ 2 w 8"/>
                <a:gd name="T27" fmla="*/ 3 h 4"/>
                <a:gd name="T28" fmla="*/ 2 w 8"/>
                <a:gd name="T29" fmla="*/ 3 h 4"/>
                <a:gd name="T30" fmla="*/ 1 w 8"/>
                <a:gd name="T31" fmla="*/ 3 h 4"/>
                <a:gd name="T32" fmla="*/ 1 w 8"/>
                <a:gd name="T33" fmla="*/ 4 h 4"/>
                <a:gd name="T34" fmla="*/ 0 w 8"/>
                <a:gd name="T35" fmla="*/ 4 h 4"/>
                <a:gd name="T36" fmla="*/ 0 w 8"/>
                <a:gd name="T37" fmla="*/ 3 h 4"/>
                <a:gd name="T38" fmla="*/ 0 w 8"/>
                <a:gd name="T39" fmla="*/ 3 h 4"/>
                <a:gd name="T40" fmla="*/ 1 w 8"/>
                <a:gd name="T41" fmla="*/ 3 h 4"/>
                <a:gd name="T42" fmla="*/ 1 w 8"/>
                <a:gd name="T43" fmla="*/ 2 h 4"/>
                <a:gd name="T44" fmla="*/ 2 w 8"/>
                <a:gd name="T45" fmla="*/ 2 h 4"/>
                <a:gd name="T46" fmla="*/ 2 w 8"/>
                <a:gd name="T47" fmla="*/ 2 h 4"/>
                <a:gd name="T48" fmla="*/ 3 w 8"/>
                <a:gd name="T49" fmla="*/ 2 h 4"/>
                <a:gd name="T50" fmla="*/ 3 w 8"/>
                <a:gd name="T51" fmla="*/ 2 h 4"/>
                <a:gd name="T52" fmla="*/ 4 w 8"/>
                <a:gd name="T53" fmla="*/ 1 h 4"/>
                <a:gd name="T54" fmla="*/ 4 w 8"/>
                <a:gd name="T55" fmla="*/ 1 h 4"/>
                <a:gd name="T56" fmla="*/ 5 w 8"/>
                <a:gd name="T57" fmla="*/ 1 h 4"/>
                <a:gd name="T58" fmla="*/ 5 w 8"/>
                <a:gd name="T59" fmla="*/ 1 h 4"/>
                <a:gd name="T60" fmla="*/ 6 w 8"/>
                <a:gd name="T61" fmla="*/ 1 h 4"/>
                <a:gd name="T62" fmla="*/ 6 w 8"/>
                <a:gd name="T63" fmla="*/ 1 h 4"/>
                <a:gd name="T64" fmla="*/ 7 w 8"/>
                <a:gd name="T65" fmla="*/ 0 h 4"/>
                <a:gd name="T66" fmla="*/ 7 w 8"/>
                <a:gd name="T67" fmla="*/ 0 h 4"/>
                <a:gd name="T68" fmla="*/ 8 w 8"/>
                <a:gd name="T69" fmla="*/ 0 h 4"/>
                <a:gd name="T70" fmla="*/ 7 w 8"/>
                <a:gd name="T71" fmla="*/ 0 h 4"/>
                <a:gd name="T72" fmla="*/ 8 w 8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5" name="Freeform 139"/>
            <p:cNvSpPr>
              <a:spLocks/>
            </p:cNvSpPr>
            <p:nvPr/>
          </p:nvSpPr>
          <p:spPr bwMode="auto">
            <a:xfrm>
              <a:off x="1740" y="3021"/>
              <a:ext cx="6" cy="12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0 w 1"/>
                <a:gd name="T5" fmla="*/ 0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1 h 2"/>
                <a:gd name="T12" fmla="*/ 1 w 1"/>
                <a:gd name="T13" fmla="*/ 1 h 2"/>
                <a:gd name="T14" fmla="*/ 1 w 1"/>
                <a:gd name="T15" fmla="*/ 2 h 2"/>
                <a:gd name="T16" fmla="*/ 1 w 1"/>
                <a:gd name="T17" fmla="*/ 2 h 2"/>
                <a:gd name="T18" fmla="*/ 1 w 1"/>
                <a:gd name="T19" fmla="*/ 2 h 2"/>
                <a:gd name="T20" fmla="*/ 0 w 1"/>
                <a:gd name="T21" fmla="*/ 2 h 2"/>
                <a:gd name="T22" fmla="*/ 0 w 1"/>
                <a:gd name="T23" fmla="*/ 2 h 2"/>
                <a:gd name="T24" fmla="*/ 0 w 1"/>
                <a:gd name="T25" fmla="*/ 2 h 2"/>
                <a:gd name="T26" fmla="*/ 0 w 1"/>
                <a:gd name="T27" fmla="*/ 2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0 w 1"/>
                <a:gd name="T35" fmla="*/ 1 h 2"/>
                <a:gd name="T36" fmla="*/ 0 w 1"/>
                <a:gd name="T37" fmla="*/ 1 h 2"/>
                <a:gd name="T38" fmla="*/ 0 w 1"/>
                <a:gd name="T39" fmla="*/ 1 h 2"/>
                <a:gd name="T40" fmla="*/ 0 w 1"/>
                <a:gd name="T4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6" name="Freeform 140"/>
            <p:cNvSpPr>
              <a:spLocks/>
            </p:cNvSpPr>
            <p:nvPr/>
          </p:nvSpPr>
          <p:spPr bwMode="auto">
            <a:xfrm>
              <a:off x="1698" y="3315"/>
              <a:ext cx="30" cy="78"/>
            </a:xfrm>
            <a:custGeom>
              <a:avLst/>
              <a:gdLst>
                <a:gd name="T0" fmla="*/ 5 w 5"/>
                <a:gd name="T1" fmla="*/ 0 h 13"/>
                <a:gd name="T2" fmla="*/ 3 w 5"/>
                <a:gd name="T3" fmla="*/ 13 h 13"/>
                <a:gd name="T4" fmla="*/ 0 w 5"/>
                <a:gd name="T5" fmla="*/ 1 h 13"/>
                <a:gd name="T6" fmla="*/ 5 w 5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3">
                  <a:moveTo>
                    <a:pt x="5" y="0"/>
                  </a:moveTo>
                  <a:lnTo>
                    <a:pt x="3" y="13"/>
                  </a:lnTo>
                  <a:lnTo>
                    <a:pt x="0" y="1"/>
                  </a:lnTo>
                  <a:lnTo>
                    <a:pt x="5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7" name="Freeform 141"/>
            <p:cNvSpPr>
              <a:spLocks/>
            </p:cNvSpPr>
            <p:nvPr/>
          </p:nvSpPr>
          <p:spPr bwMode="auto">
            <a:xfrm>
              <a:off x="1716" y="3315"/>
              <a:ext cx="18" cy="84"/>
            </a:xfrm>
            <a:custGeom>
              <a:avLst/>
              <a:gdLst>
                <a:gd name="T0" fmla="*/ 0 w 3"/>
                <a:gd name="T1" fmla="*/ 13 h 14"/>
                <a:gd name="T2" fmla="*/ 0 w 3"/>
                <a:gd name="T3" fmla="*/ 13 h 14"/>
                <a:gd name="T4" fmla="*/ 2 w 3"/>
                <a:gd name="T5" fmla="*/ 0 h 14"/>
                <a:gd name="T6" fmla="*/ 3 w 3"/>
                <a:gd name="T7" fmla="*/ 0 h 14"/>
                <a:gd name="T8" fmla="*/ 0 w 3"/>
                <a:gd name="T9" fmla="*/ 13 h 14"/>
                <a:gd name="T10" fmla="*/ 0 w 3"/>
                <a:gd name="T11" fmla="*/ 14 h 14"/>
                <a:gd name="T12" fmla="*/ 0 w 3"/>
                <a:gd name="T1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0" y="13"/>
                  </a:moveTo>
                  <a:lnTo>
                    <a:pt x="0" y="13"/>
                  </a:lnTo>
                  <a:lnTo>
                    <a:pt x="2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8" name="Freeform 142"/>
            <p:cNvSpPr>
              <a:spLocks/>
            </p:cNvSpPr>
            <p:nvPr/>
          </p:nvSpPr>
          <p:spPr bwMode="auto">
            <a:xfrm>
              <a:off x="1692" y="3315"/>
              <a:ext cx="24" cy="84"/>
            </a:xfrm>
            <a:custGeom>
              <a:avLst/>
              <a:gdLst>
                <a:gd name="T0" fmla="*/ 1 w 4"/>
                <a:gd name="T1" fmla="*/ 1 h 14"/>
                <a:gd name="T2" fmla="*/ 1 w 4"/>
                <a:gd name="T3" fmla="*/ 0 h 14"/>
                <a:gd name="T4" fmla="*/ 4 w 4"/>
                <a:gd name="T5" fmla="*/ 13 h 14"/>
                <a:gd name="T6" fmla="*/ 4 w 4"/>
                <a:gd name="T7" fmla="*/ 14 h 14"/>
                <a:gd name="T8" fmla="*/ 0 w 4"/>
                <a:gd name="T9" fmla="*/ 1 h 14"/>
                <a:gd name="T10" fmla="*/ 1 w 4"/>
                <a:gd name="T11" fmla="*/ 0 h 14"/>
                <a:gd name="T12" fmla="*/ 1 w 4"/>
                <a:gd name="T13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4">
                  <a:moveTo>
                    <a:pt x="1" y="1"/>
                  </a:moveTo>
                  <a:lnTo>
                    <a:pt x="1" y="0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199" name="Freeform 143"/>
            <p:cNvSpPr>
              <a:spLocks/>
            </p:cNvSpPr>
            <p:nvPr/>
          </p:nvSpPr>
          <p:spPr bwMode="auto">
            <a:xfrm>
              <a:off x="1698" y="3315"/>
              <a:ext cx="36" cy="6"/>
            </a:xfrm>
            <a:custGeom>
              <a:avLst/>
              <a:gdLst>
                <a:gd name="T0" fmla="*/ 5 w 6"/>
                <a:gd name="T1" fmla="*/ 0 h 1"/>
                <a:gd name="T2" fmla="*/ 5 w 6"/>
                <a:gd name="T3" fmla="*/ 1 h 1"/>
                <a:gd name="T4" fmla="*/ 0 w 6"/>
                <a:gd name="T5" fmla="*/ 1 h 1"/>
                <a:gd name="T6" fmla="*/ 0 w 6"/>
                <a:gd name="T7" fmla="*/ 0 h 1"/>
                <a:gd name="T8" fmla="*/ 5 w 6"/>
                <a:gd name="T9" fmla="*/ 0 h 1"/>
                <a:gd name="T10" fmla="*/ 6 w 6"/>
                <a:gd name="T11" fmla="*/ 0 h 1"/>
                <a:gd name="T12" fmla="*/ 5 w 6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5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0" name="Freeform 144"/>
            <p:cNvSpPr>
              <a:spLocks/>
            </p:cNvSpPr>
            <p:nvPr/>
          </p:nvSpPr>
          <p:spPr bwMode="auto">
            <a:xfrm>
              <a:off x="1668" y="2925"/>
              <a:ext cx="72" cy="402"/>
            </a:xfrm>
            <a:custGeom>
              <a:avLst/>
              <a:gdLst>
                <a:gd name="T0" fmla="*/ 3 w 12"/>
                <a:gd name="T1" fmla="*/ 0 h 67"/>
                <a:gd name="T2" fmla="*/ 0 w 12"/>
                <a:gd name="T3" fmla="*/ 2 h 67"/>
                <a:gd name="T4" fmla="*/ 9 w 12"/>
                <a:gd name="T5" fmla="*/ 67 h 67"/>
                <a:gd name="T6" fmla="*/ 12 w 12"/>
                <a:gd name="T7" fmla="*/ 66 h 67"/>
                <a:gd name="T8" fmla="*/ 3 w 1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7">
                  <a:moveTo>
                    <a:pt x="3" y="0"/>
                  </a:moveTo>
                  <a:lnTo>
                    <a:pt x="0" y="2"/>
                  </a:lnTo>
                  <a:lnTo>
                    <a:pt x="9" y="67"/>
                  </a:lnTo>
                  <a:lnTo>
                    <a:pt x="12" y="66"/>
                  </a:lnTo>
                  <a:lnTo>
                    <a:pt x="3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1" name="Freeform 145"/>
            <p:cNvSpPr>
              <a:spLocks/>
            </p:cNvSpPr>
            <p:nvPr/>
          </p:nvSpPr>
          <p:spPr bwMode="auto">
            <a:xfrm>
              <a:off x="1668" y="2925"/>
              <a:ext cx="18" cy="12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0 h 2"/>
                <a:gd name="T8" fmla="*/ 0 w 3"/>
                <a:gd name="T9" fmla="*/ 2 h 2"/>
                <a:gd name="T10" fmla="*/ 0 w 3"/>
                <a:gd name="T11" fmla="*/ 1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2" name="Freeform 146"/>
            <p:cNvSpPr>
              <a:spLocks/>
            </p:cNvSpPr>
            <p:nvPr/>
          </p:nvSpPr>
          <p:spPr bwMode="auto">
            <a:xfrm>
              <a:off x="1668" y="2931"/>
              <a:ext cx="54" cy="396"/>
            </a:xfrm>
            <a:custGeom>
              <a:avLst/>
              <a:gdLst>
                <a:gd name="T0" fmla="*/ 9 w 9"/>
                <a:gd name="T1" fmla="*/ 66 h 66"/>
                <a:gd name="T2" fmla="*/ 8 w 9"/>
                <a:gd name="T3" fmla="*/ 66 h 66"/>
                <a:gd name="T4" fmla="*/ 0 w 9"/>
                <a:gd name="T5" fmla="*/ 1 h 66"/>
                <a:gd name="T6" fmla="*/ 0 w 9"/>
                <a:gd name="T7" fmla="*/ 0 h 66"/>
                <a:gd name="T8" fmla="*/ 9 w 9"/>
                <a:gd name="T9" fmla="*/ 66 h 66"/>
                <a:gd name="T10" fmla="*/ 9 w 9"/>
                <a:gd name="T11" fmla="*/ 66 h 66"/>
                <a:gd name="T12" fmla="*/ 9 w 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6">
                  <a:moveTo>
                    <a:pt x="9" y="66"/>
                  </a:moveTo>
                  <a:lnTo>
                    <a:pt x="8" y="66"/>
                  </a:lnTo>
                  <a:lnTo>
                    <a:pt x="0" y="1"/>
                  </a:lnTo>
                  <a:lnTo>
                    <a:pt x="0" y="0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9" y="6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3" name="Freeform 147"/>
            <p:cNvSpPr>
              <a:spLocks/>
            </p:cNvSpPr>
            <p:nvPr/>
          </p:nvSpPr>
          <p:spPr bwMode="auto">
            <a:xfrm>
              <a:off x="1722" y="3315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1 h 2"/>
                <a:gd name="T4" fmla="*/ 0 w 4"/>
                <a:gd name="T5" fmla="*/ 2 h 2"/>
                <a:gd name="T6" fmla="*/ 0 w 4"/>
                <a:gd name="T7" fmla="*/ 2 h 2"/>
                <a:gd name="T8" fmla="*/ 3 w 4"/>
                <a:gd name="T9" fmla="*/ 0 h 2"/>
                <a:gd name="T10" fmla="*/ 3 w 4"/>
                <a:gd name="T11" fmla="*/ 1 h 2"/>
                <a:gd name="T12" fmla="*/ 4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4" name="Freeform 148"/>
            <p:cNvSpPr>
              <a:spLocks/>
            </p:cNvSpPr>
            <p:nvPr/>
          </p:nvSpPr>
          <p:spPr bwMode="auto">
            <a:xfrm>
              <a:off x="1686" y="2925"/>
              <a:ext cx="60" cy="396"/>
            </a:xfrm>
            <a:custGeom>
              <a:avLst/>
              <a:gdLst>
                <a:gd name="T0" fmla="*/ 0 w 10"/>
                <a:gd name="T1" fmla="*/ 0 h 66"/>
                <a:gd name="T2" fmla="*/ 1 w 10"/>
                <a:gd name="T3" fmla="*/ 0 h 66"/>
                <a:gd name="T4" fmla="*/ 10 w 10"/>
                <a:gd name="T5" fmla="*/ 66 h 66"/>
                <a:gd name="T6" fmla="*/ 9 w 10"/>
                <a:gd name="T7" fmla="*/ 66 h 66"/>
                <a:gd name="T8" fmla="*/ 0 w 10"/>
                <a:gd name="T9" fmla="*/ 0 h 66"/>
                <a:gd name="T10" fmla="*/ 0 w 10"/>
                <a:gd name="T11" fmla="*/ 0 h 66"/>
                <a:gd name="T12" fmla="*/ 0 w 10"/>
                <a:gd name="T1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6">
                  <a:moveTo>
                    <a:pt x="0" y="0"/>
                  </a:moveTo>
                  <a:lnTo>
                    <a:pt x="1" y="0"/>
                  </a:lnTo>
                  <a:lnTo>
                    <a:pt x="10" y="66"/>
                  </a:lnTo>
                  <a:lnTo>
                    <a:pt x="9" y="6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5" name="Freeform 149"/>
            <p:cNvSpPr>
              <a:spLocks/>
            </p:cNvSpPr>
            <p:nvPr/>
          </p:nvSpPr>
          <p:spPr bwMode="auto">
            <a:xfrm>
              <a:off x="1644" y="2937"/>
              <a:ext cx="78" cy="390"/>
            </a:xfrm>
            <a:custGeom>
              <a:avLst/>
              <a:gdLst>
                <a:gd name="T0" fmla="*/ 0 w 13"/>
                <a:gd name="T1" fmla="*/ 1 h 65"/>
                <a:gd name="T2" fmla="*/ 4 w 13"/>
                <a:gd name="T3" fmla="*/ 0 h 65"/>
                <a:gd name="T4" fmla="*/ 13 w 13"/>
                <a:gd name="T5" fmla="*/ 65 h 65"/>
                <a:gd name="T6" fmla="*/ 7 w 13"/>
                <a:gd name="T7" fmla="*/ 65 h 65"/>
                <a:gd name="T8" fmla="*/ 0 w 13"/>
                <a:gd name="T9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5">
                  <a:moveTo>
                    <a:pt x="0" y="1"/>
                  </a:moveTo>
                  <a:lnTo>
                    <a:pt x="4" y="0"/>
                  </a:lnTo>
                  <a:lnTo>
                    <a:pt x="13" y="65"/>
                  </a:lnTo>
                  <a:lnTo>
                    <a:pt x="7" y="65"/>
                  </a:lnTo>
                  <a:lnTo>
                    <a:pt x="0" y="1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6" name="Freeform 150"/>
            <p:cNvSpPr>
              <a:spLocks/>
            </p:cNvSpPr>
            <p:nvPr/>
          </p:nvSpPr>
          <p:spPr bwMode="auto">
            <a:xfrm>
              <a:off x="1644" y="2931"/>
              <a:ext cx="24" cy="18"/>
            </a:xfrm>
            <a:custGeom>
              <a:avLst/>
              <a:gdLst>
                <a:gd name="T0" fmla="*/ 4 w 4"/>
                <a:gd name="T1" fmla="*/ 1 h 3"/>
                <a:gd name="T2" fmla="*/ 4 w 4"/>
                <a:gd name="T3" fmla="*/ 1 h 3"/>
                <a:gd name="T4" fmla="*/ 0 w 4"/>
                <a:gd name="T5" fmla="*/ 3 h 3"/>
                <a:gd name="T6" fmla="*/ 0 w 4"/>
                <a:gd name="T7" fmla="*/ 2 h 3"/>
                <a:gd name="T8" fmla="*/ 4 w 4"/>
                <a:gd name="T9" fmla="*/ 0 h 3"/>
                <a:gd name="T10" fmla="*/ 4 w 4"/>
                <a:gd name="T11" fmla="*/ 0 h 3"/>
                <a:gd name="T12" fmla="*/ 4 w 4"/>
                <a:gd name="T1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lnTo>
                    <a:pt x="4" y="1"/>
                  </a:lnTo>
                  <a:lnTo>
                    <a:pt x="0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7" name="Freeform 151"/>
            <p:cNvSpPr>
              <a:spLocks/>
            </p:cNvSpPr>
            <p:nvPr/>
          </p:nvSpPr>
          <p:spPr bwMode="auto">
            <a:xfrm>
              <a:off x="1668" y="2931"/>
              <a:ext cx="54" cy="396"/>
            </a:xfrm>
            <a:custGeom>
              <a:avLst/>
              <a:gdLst>
                <a:gd name="T0" fmla="*/ 9 w 9"/>
                <a:gd name="T1" fmla="*/ 66 h 66"/>
                <a:gd name="T2" fmla="*/ 8 w 9"/>
                <a:gd name="T3" fmla="*/ 66 h 66"/>
                <a:gd name="T4" fmla="*/ 0 w 9"/>
                <a:gd name="T5" fmla="*/ 1 h 66"/>
                <a:gd name="T6" fmla="*/ 0 w 9"/>
                <a:gd name="T7" fmla="*/ 0 h 66"/>
                <a:gd name="T8" fmla="*/ 9 w 9"/>
                <a:gd name="T9" fmla="*/ 66 h 66"/>
                <a:gd name="T10" fmla="*/ 9 w 9"/>
                <a:gd name="T11" fmla="*/ 66 h 66"/>
                <a:gd name="T12" fmla="*/ 9 w 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6">
                  <a:moveTo>
                    <a:pt x="9" y="66"/>
                  </a:moveTo>
                  <a:lnTo>
                    <a:pt x="8" y="66"/>
                  </a:lnTo>
                  <a:lnTo>
                    <a:pt x="0" y="1"/>
                  </a:lnTo>
                  <a:lnTo>
                    <a:pt x="0" y="0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9" y="6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8" name="Freeform 152"/>
            <p:cNvSpPr>
              <a:spLocks/>
            </p:cNvSpPr>
            <p:nvPr/>
          </p:nvSpPr>
          <p:spPr bwMode="auto">
            <a:xfrm>
              <a:off x="1680" y="3321"/>
              <a:ext cx="42" cy="6"/>
            </a:xfrm>
            <a:custGeom>
              <a:avLst/>
              <a:gdLst>
                <a:gd name="T0" fmla="*/ 1 w 7"/>
                <a:gd name="T1" fmla="*/ 1 h 1"/>
                <a:gd name="T2" fmla="*/ 1 w 7"/>
                <a:gd name="T3" fmla="*/ 0 h 1"/>
                <a:gd name="T4" fmla="*/ 7 w 7"/>
                <a:gd name="T5" fmla="*/ 1 h 1"/>
                <a:gd name="T6" fmla="*/ 7 w 7"/>
                <a:gd name="T7" fmla="*/ 1 h 1"/>
                <a:gd name="T8" fmla="*/ 1 w 7"/>
                <a:gd name="T9" fmla="*/ 1 h 1"/>
                <a:gd name="T10" fmla="*/ 0 w 7"/>
                <a:gd name="T11" fmla="*/ 1 h 1"/>
                <a:gd name="T12" fmla="*/ 1 w 7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1" y="1"/>
                  </a:moveTo>
                  <a:lnTo>
                    <a:pt x="1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09" name="Freeform 153"/>
            <p:cNvSpPr>
              <a:spLocks/>
            </p:cNvSpPr>
            <p:nvPr/>
          </p:nvSpPr>
          <p:spPr bwMode="auto">
            <a:xfrm>
              <a:off x="1638" y="2943"/>
              <a:ext cx="48" cy="384"/>
            </a:xfrm>
            <a:custGeom>
              <a:avLst/>
              <a:gdLst>
                <a:gd name="T0" fmla="*/ 1 w 8"/>
                <a:gd name="T1" fmla="*/ 1 h 64"/>
                <a:gd name="T2" fmla="*/ 1 w 8"/>
                <a:gd name="T3" fmla="*/ 0 h 64"/>
                <a:gd name="T4" fmla="*/ 8 w 8"/>
                <a:gd name="T5" fmla="*/ 64 h 64"/>
                <a:gd name="T6" fmla="*/ 7 w 8"/>
                <a:gd name="T7" fmla="*/ 64 h 64"/>
                <a:gd name="T8" fmla="*/ 0 w 8"/>
                <a:gd name="T9" fmla="*/ 0 h 64"/>
                <a:gd name="T10" fmla="*/ 1 w 8"/>
                <a:gd name="T11" fmla="*/ 0 h 64"/>
                <a:gd name="T12" fmla="*/ 1 w 8"/>
                <a:gd name="T13" fmla="*/ 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4">
                  <a:moveTo>
                    <a:pt x="1" y="1"/>
                  </a:moveTo>
                  <a:lnTo>
                    <a:pt x="1" y="0"/>
                  </a:lnTo>
                  <a:lnTo>
                    <a:pt x="8" y="64"/>
                  </a:lnTo>
                  <a:lnTo>
                    <a:pt x="7" y="6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0" name="Freeform 154"/>
            <p:cNvSpPr>
              <a:spLocks/>
            </p:cNvSpPr>
            <p:nvPr/>
          </p:nvSpPr>
          <p:spPr bwMode="auto">
            <a:xfrm>
              <a:off x="1584" y="2817"/>
              <a:ext cx="186" cy="126"/>
            </a:xfrm>
            <a:custGeom>
              <a:avLst/>
              <a:gdLst>
                <a:gd name="T0" fmla="*/ 24 w 31"/>
                <a:gd name="T1" fmla="*/ 15 h 21"/>
                <a:gd name="T2" fmla="*/ 25 w 31"/>
                <a:gd name="T3" fmla="*/ 15 h 21"/>
                <a:gd name="T4" fmla="*/ 26 w 31"/>
                <a:gd name="T5" fmla="*/ 15 h 21"/>
                <a:gd name="T6" fmla="*/ 28 w 31"/>
                <a:gd name="T7" fmla="*/ 14 h 21"/>
                <a:gd name="T8" fmla="*/ 29 w 31"/>
                <a:gd name="T9" fmla="*/ 13 h 21"/>
                <a:gd name="T10" fmla="*/ 30 w 31"/>
                <a:gd name="T11" fmla="*/ 12 h 21"/>
                <a:gd name="T12" fmla="*/ 31 w 31"/>
                <a:gd name="T13" fmla="*/ 10 h 21"/>
                <a:gd name="T14" fmla="*/ 31 w 31"/>
                <a:gd name="T15" fmla="*/ 9 h 21"/>
                <a:gd name="T16" fmla="*/ 31 w 31"/>
                <a:gd name="T17" fmla="*/ 5 h 21"/>
                <a:gd name="T18" fmla="*/ 29 w 31"/>
                <a:gd name="T19" fmla="*/ 3 h 21"/>
                <a:gd name="T20" fmla="*/ 26 w 31"/>
                <a:gd name="T21" fmla="*/ 1 h 21"/>
                <a:gd name="T22" fmla="*/ 24 w 31"/>
                <a:gd name="T23" fmla="*/ 0 h 21"/>
                <a:gd name="T24" fmla="*/ 21 w 31"/>
                <a:gd name="T25" fmla="*/ 0 h 21"/>
                <a:gd name="T26" fmla="*/ 19 w 31"/>
                <a:gd name="T27" fmla="*/ 0 h 21"/>
                <a:gd name="T28" fmla="*/ 16 w 31"/>
                <a:gd name="T29" fmla="*/ 0 h 21"/>
                <a:gd name="T30" fmla="*/ 14 w 31"/>
                <a:gd name="T31" fmla="*/ 1 h 21"/>
                <a:gd name="T32" fmla="*/ 11 w 31"/>
                <a:gd name="T33" fmla="*/ 2 h 21"/>
                <a:gd name="T34" fmla="*/ 9 w 31"/>
                <a:gd name="T35" fmla="*/ 3 h 21"/>
                <a:gd name="T36" fmla="*/ 7 w 31"/>
                <a:gd name="T37" fmla="*/ 4 h 21"/>
                <a:gd name="T38" fmla="*/ 5 w 31"/>
                <a:gd name="T39" fmla="*/ 6 h 21"/>
                <a:gd name="T40" fmla="*/ 1 w 31"/>
                <a:gd name="T41" fmla="*/ 10 h 21"/>
                <a:gd name="T42" fmla="*/ 0 w 31"/>
                <a:gd name="T43" fmla="*/ 14 h 21"/>
                <a:gd name="T44" fmla="*/ 2 w 31"/>
                <a:gd name="T45" fmla="*/ 17 h 21"/>
                <a:gd name="T46" fmla="*/ 5 w 31"/>
                <a:gd name="T47" fmla="*/ 19 h 21"/>
                <a:gd name="T48" fmla="*/ 7 w 31"/>
                <a:gd name="T49" fmla="*/ 20 h 21"/>
                <a:gd name="T50" fmla="*/ 10 w 31"/>
                <a:gd name="T51" fmla="*/ 21 h 21"/>
                <a:gd name="T52" fmla="*/ 11 w 31"/>
                <a:gd name="T53" fmla="*/ 21 h 21"/>
                <a:gd name="T54" fmla="*/ 13 w 31"/>
                <a:gd name="T55" fmla="*/ 20 h 21"/>
                <a:gd name="T56" fmla="*/ 14 w 31"/>
                <a:gd name="T57" fmla="*/ 20 h 21"/>
                <a:gd name="T58" fmla="*/ 15 w 31"/>
                <a:gd name="T59" fmla="*/ 19 h 21"/>
                <a:gd name="T60" fmla="*/ 16 w 31"/>
                <a:gd name="T61" fmla="*/ 18 h 21"/>
                <a:gd name="T62" fmla="*/ 17 w 31"/>
                <a:gd name="T63" fmla="*/ 18 h 21"/>
                <a:gd name="T64" fmla="*/ 15 w 31"/>
                <a:gd name="T65" fmla="*/ 18 h 21"/>
                <a:gd name="T66" fmla="*/ 13 w 31"/>
                <a:gd name="T67" fmla="*/ 17 h 21"/>
                <a:gd name="T68" fmla="*/ 11 w 31"/>
                <a:gd name="T69" fmla="*/ 17 h 21"/>
                <a:gd name="T70" fmla="*/ 8 w 31"/>
                <a:gd name="T71" fmla="*/ 15 h 21"/>
                <a:gd name="T72" fmla="*/ 6 w 31"/>
                <a:gd name="T73" fmla="*/ 12 h 21"/>
                <a:gd name="T74" fmla="*/ 6 w 31"/>
                <a:gd name="T75" fmla="*/ 10 h 21"/>
                <a:gd name="T76" fmla="*/ 6 w 31"/>
                <a:gd name="T77" fmla="*/ 8 h 21"/>
                <a:gd name="T78" fmla="*/ 7 w 31"/>
                <a:gd name="T79" fmla="*/ 7 h 21"/>
                <a:gd name="T80" fmla="*/ 9 w 31"/>
                <a:gd name="T81" fmla="*/ 5 h 21"/>
                <a:gd name="T82" fmla="*/ 10 w 31"/>
                <a:gd name="T83" fmla="*/ 4 h 21"/>
                <a:gd name="T84" fmla="*/ 12 w 31"/>
                <a:gd name="T85" fmla="*/ 3 h 21"/>
                <a:gd name="T86" fmla="*/ 15 w 31"/>
                <a:gd name="T87" fmla="*/ 2 h 21"/>
                <a:gd name="T88" fmla="*/ 18 w 31"/>
                <a:gd name="T89" fmla="*/ 2 h 21"/>
                <a:gd name="T90" fmla="*/ 21 w 31"/>
                <a:gd name="T91" fmla="*/ 3 h 21"/>
                <a:gd name="T92" fmla="*/ 23 w 31"/>
                <a:gd name="T93" fmla="*/ 5 h 21"/>
                <a:gd name="T94" fmla="*/ 25 w 31"/>
                <a:gd name="T95" fmla="*/ 9 h 21"/>
                <a:gd name="T96" fmla="*/ 25 w 31"/>
                <a:gd name="T97" fmla="*/ 11 h 21"/>
                <a:gd name="T98" fmla="*/ 24 w 31"/>
                <a:gd name="T99" fmla="*/ 13 h 21"/>
                <a:gd name="T100" fmla="*/ 23 w 31"/>
                <a:gd name="T101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" h="21">
                  <a:moveTo>
                    <a:pt x="23" y="15"/>
                  </a:moveTo>
                  <a:lnTo>
                    <a:pt x="23" y="15"/>
                  </a:lnTo>
                  <a:lnTo>
                    <a:pt x="23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7" y="15"/>
                  </a:lnTo>
                  <a:lnTo>
                    <a:pt x="27" y="15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1"/>
                  </a:lnTo>
                  <a:lnTo>
                    <a:pt x="31" y="11"/>
                  </a:lnTo>
                  <a:lnTo>
                    <a:pt x="31" y="11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7"/>
                  </a:lnTo>
                  <a:lnTo>
                    <a:pt x="31" y="6"/>
                  </a:lnTo>
                  <a:lnTo>
                    <a:pt x="31" y="5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0" y="3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4" y="18"/>
                  </a:lnTo>
                  <a:lnTo>
                    <a:pt x="14" y="18"/>
                  </a:lnTo>
                  <a:lnTo>
                    <a:pt x="13" y="18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10" y="16"/>
                  </a:lnTo>
                  <a:lnTo>
                    <a:pt x="9" y="16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4" y="6"/>
                  </a:lnTo>
                  <a:lnTo>
                    <a:pt x="24" y="7"/>
                  </a:lnTo>
                  <a:lnTo>
                    <a:pt x="25" y="8"/>
                  </a:lnTo>
                  <a:lnTo>
                    <a:pt x="25" y="9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5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1" name="Freeform 155"/>
            <p:cNvSpPr>
              <a:spLocks/>
            </p:cNvSpPr>
            <p:nvPr/>
          </p:nvSpPr>
          <p:spPr bwMode="auto">
            <a:xfrm>
              <a:off x="1722" y="2901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1 h 2"/>
                <a:gd name="T4" fmla="*/ 4 w 4"/>
                <a:gd name="T5" fmla="*/ 1 h 2"/>
                <a:gd name="T6" fmla="*/ 3 w 4"/>
                <a:gd name="T7" fmla="*/ 1 h 2"/>
                <a:gd name="T8" fmla="*/ 3 w 4"/>
                <a:gd name="T9" fmla="*/ 1 h 2"/>
                <a:gd name="T10" fmla="*/ 3 w 4"/>
                <a:gd name="T11" fmla="*/ 1 h 2"/>
                <a:gd name="T12" fmla="*/ 3 w 4"/>
                <a:gd name="T13" fmla="*/ 1 h 2"/>
                <a:gd name="T14" fmla="*/ 2 w 4"/>
                <a:gd name="T15" fmla="*/ 1 h 2"/>
                <a:gd name="T16" fmla="*/ 2 w 4"/>
                <a:gd name="T17" fmla="*/ 1 h 2"/>
                <a:gd name="T18" fmla="*/ 2 w 4"/>
                <a:gd name="T19" fmla="*/ 1 h 2"/>
                <a:gd name="T20" fmla="*/ 2 w 4"/>
                <a:gd name="T21" fmla="*/ 1 h 2"/>
                <a:gd name="T22" fmla="*/ 2 w 4"/>
                <a:gd name="T23" fmla="*/ 1 h 2"/>
                <a:gd name="T24" fmla="*/ 1 w 4"/>
                <a:gd name="T25" fmla="*/ 1 h 2"/>
                <a:gd name="T26" fmla="*/ 1 w 4"/>
                <a:gd name="T27" fmla="*/ 1 h 2"/>
                <a:gd name="T28" fmla="*/ 1 w 4"/>
                <a:gd name="T29" fmla="*/ 2 h 2"/>
                <a:gd name="T30" fmla="*/ 1 w 4"/>
                <a:gd name="T31" fmla="*/ 2 h 2"/>
                <a:gd name="T32" fmla="*/ 0 w 4"/>
                <a:gd name="T33" fmla="*/ 2 h 2"/>
                <a:gd name="T34" fmla="*/ 0 w 4"/>
                <a:gd name="T35" fmla="*/ 2 h 2"/>
                <a:gd name="T36" fmla="*/ 0 w 4"/>
                <a:gd name="T37" fmla="*/ 1 h 2"/>
                <a:gd name="T38" fmla="*/ 0 w 4"/>
                <a:gd name="T39" fmla="*/ 1 h 2"/>
                <a:gd name="T40" fmla="*/ 0 w 4"/>
                <a:gd name="T41" fmla="*/ 1 h 2"/>
                <a:gd name="T42" fmla="*/ 1 w 4"/>
                <a:gd name="T43" fmla="*/ 1 h 2"/>
                <a:gd name="T44" fmla="*/ 1 w 4"/>
                <a:gd name="T45" fmla="*/ 1 h 2"/>
                <a:gd name="T46" fmla="*/ 1 w 4"/>
                <a:gd name="T47" fmla="*/ 1 h 2"/>
                <a:gd name="T48" fmla="*/ 1 w 4"/>
                <a:gd name="T49" fmla="*/ 1 h 2"/>
                <a:gd name="T50" fmla="*/ 2 w 4"/>
                <a:gd name="T51" fmla="*/ 0 h 2"/>
                <a:gd name="T52" fmla="*/ 2 w 4"/>
                <a:gd name="T53" fmla="*/ 0 h 2"/>
                <a:gd name="T54" fmla="*/ 2 w 4"/>
                <a:gd name="T55" fmla="*/ 0 h 2"/>
                <a:gd name="T56" fmla="*/ 2 w 4"/>
                <a:gd name="T57" fmla="*/ 0 h 2"/>
                <a:gd name="T58" fmla="*/ 3 w 4"/>
                <a:gd name="T59" fmla="*/ 0 h 2"/>
                <a:gd name="T60" fmla="*/ 3 w 4"/>
                <a:gd name="T61" fmla="*/ 0 h 2"/>
                <a:gd name="T62" fmla="*/ 3 w 4"/>
                <a:gd name="T63" fmla="*/ 0 h 2"/>
                <a:gd name="T64" fmla="*/ 3 w 4"/>
                <a:gd name="T65" fmla="*/ 0 h 2"/>
                <a:gd name="T66" fmla="*/ 3 w 4"/>
                <a:gd name="T67" fmla="*/ 0 h 2"/>
                <a:gd name="T68" fmla="*/ 4 w 4"/>
                <a:gd name="T69" fmla="*/ 0 h 2"/>
                <a:gd name="T70" fmla="*/ 4 w 4"/>
                <a:gd name="T71" fmla="*/ 0 h 2"/>
                <a:gd name="T72" fmla="*/ 4 w 4"/>
                <a:gd name="T7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2" name="Freeform 156"/>
            <p:cNvSpPr>
              <a:spLocks/>
            </p:cNvSpPr>
            <p:nvPr/>
          </p:nvSpPr>
          <p:spPr bwMode="auto">
            <a:xfrm>
              <a:off x="1746" y="2895"/>
              <a:ext cx="18" cy="12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0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1 w 3"/>
                <a:gd name="T11" fmla="*/ 1 h 2"/>
                <a:gd name="T12" fmla="*/ 1 w 3"/>
                <a:gd name="T13" fmla="*/ 1 h 2"/>
                <a:gd name="T14" fmla="*/ 1 w 3"/>
                <a:gd name="T15" fmla="*/ 1 h 2"/>
                <a:gd name="T16" fmla="*/ 0 w 3"/>
                <a:gd name="T17" fmla="*/ 2 h 2"/>
                <a:gd name="T18" fmla="*/ 0 w 3"/>
                <a:gd name="T19" fmla="*/ 2 h 2"/>
                <a:gd name="T20" fmla="*/ 0 w 3"/>
                <a:gd name="T21" fmla="*/ 1 h 2"/>
                <a:gd name="T22" fmla="*/ 0 w 3"/>
                <a:gd name="T23" fmla="*/ 1 h 2"/>
                <a:gd name="T24" fmla="*/ 0 w 3"/>
                <a:gd name="T25" fmla="*/ 1 h 2"/>
                <a:gd name="T26" fmla="*/ 1 w 3"/>
                <a:gd name="T27" fmla="*/ 1 h 2"/>
                <a:gd name="T28" fmla="*/ 1 w 3"/>
                <a:gd name="T29" fmla="*/ 0 h 2"/>
                <a:gd name="T30" fmla="*/ 1 w 3"/>
                <a:gd name="T31" fmla="*/ 0 h 2"/>
                <a:gd name="T32" fmla="*/ 1 w 3"/>
                <a:gd name="T33" fmla="*/ 0 h 2"/>
                <a:gd name="T34" fmla="*/ 2 w 3"/>
                <a:gd name="T35" fmla="*/ 0 h 2"/>
                <a:gd name="T36" fmla="*/ 2 w 3"/>
                <a:gd name="T37" fmla="*/ 0 h 2"/>
                <a:gd name="T38" fmla="*/ 2 w 3"/>
                <a:gd name="T39" fmla="*/ 0 h 2"/>
                <a:gd name="T40" fmla="*/ 3 w 3"/>
                <a:gd name="T4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3" name="Freeform 157"/>
            <p:cNvSpPr>
              <a:spLocks/>
            </p:cNvSpPr>
            <p:nvPr/>
          </p:nvSpPr>
          <p:spPr bwMode="auto">
            <a:xfrm>
              <a:off x="1758" y="2865"/>
              <a:ext cx="18" cy="30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1 h 5"/>
                <a:gd name="T6" fmla="*/ 3 w 3"/>
                <a:gd name="T7" fmla="*/ 1 h 5"/>
                <a:gd name="T8" fmla="*/ 3 w 3"/>
                <a:gd name="T9" fmla="*/ 1 h 5"/>
                <a:gd name="T10" fmla="*/ 3 w 3"/>
                <a:gd name="T11" fmla="*/ 2 h 5"/>
                <a:gd name="T12" fmla="*/ 2 w 3"/>
                <a:gd name="T13" fmla="*/ 2 h 5"/>
                <a:gd name="T14" fmla="*/ 2 w 3"/>
                <a:gd name="T15" fmla="*/ 2 h 5"/>
                <a:gd name="T16" fmla="*/ 2 w 3"/>
                <a:gd name="T17" fmla="*/ 3 h 5"/>
                <a:gd name="T18" fmla="*/ 2 w 3"/>
                <a:gd name="T19" fmla="*/ 3 h 5"/>
                <a:gd name="T20" fmla="*/ 2 w 3"/>
                <a:gd name="T21" fmla="*/ 3 h 5"/>
                <a:gd name="T22" fmla="*/ 2 w 3"/>
                <a:gd name="T23" fmla="*/ 4 h 5"/>
                <a:gd name="T24" fmla="*/ 2 w 3"/>
                <a:gd name="T25" fmla="*/ 4 h 5"/>
                <a:gd name="T26" fmla="*/ 1 w 3"/>
                <a:gd name="T27" fmla="*/ 4 h 5"/>
                <a:gd name="T28" fmla="*/ 1 w 3"/>
                <a:gd name="T29" fmla="*/ 5 h 5"/>
                <a:gd name="T30" fmla="*/ 1 w 3"/>
                <a:gd name="T31" fmla="*/ 5 h 5"/>
                <a:gd name="T32" fmla="*/ 1 w 3"/>
                <a:gd name="T33" fmla="*/ 5 h 5"/>
                <a:gd name="T34" fmla="*/ 1 w 3"/>
                <a:gd name="T35" fmla="*/ 5 h 5"/>
                <a:gd name="T36" fmla="*/ 0 w 3"/>
                <a:gd name="T37" fmla="*/ 5 h 5"/>
                <a:gd name="T38" fmla="*/ 0 w 3"/>
                <a:gd name="T39" fmla="*/ 5 h 5"/>
                <a:gd name="T40" fmla="*/ 0 w 3"/>
                <a:gd name="T41" fmla="*/ 4 h 5"/>
                <a:gd name="T42" fmla="*/ 0 w 3"/>
                <a:gd name="T43" fmla="*/ 4 h 5"/>
                <a:gd name="T44" fmla="*/ 1 w 3"/>
                <a:gd name="T45" fmla="*/ 4 h 5"/>
                <a:gd name="T46" fmla="*/ 1 w 3"/>
                <a:gd name="T47" fmla="*/ 4 h 5"/>
                <a:gd name="T48" fmla="*/ 1 w 3"/>
                <a:gd name="T49" fmla="*/ 3 h 5"/>
                <a:gd name="T50" fmla="*/ 1 w 3"/>
                <a:gd name="T51" fmla="*/ 3 h 5"/>
                <a:gd name="T52" fmla="*/ 1 w 3"/>
                <a:gd name="T53" fmla="*/ 3 h 5"/>
                <a:gd name="T54" fmla="*/ 1 w 3"/>
                <a:gd name="T55" fmla="*/ 2 h 5"/>
                <a:gd name="T56" fmla="*/ 2 w 3"/>
                <a:gd name="T57" fmla="*/ 2 h 5"/>
                <a:gd name="T58" fmla="*/ 2 w 3"/>
                <a:gd name="T59" fmla="*/ 2 h 5"/>
                <a:gd name="T60" fmla="*/ 2 w 3"/>
                <a:gd name="T61" fmla="*/ 1 h 5"/>
                <a:gd name="T62" fmla="*/ 2 w 3"/>
                <a:gd name="T63" fmla="*/ 1 h 5"/>
                <a:gd name="T64" fmla="*/ 2 w 3"/>
                <a:gd name="T65" fmla="*/ 1 h 5"/>
                <a:gd name="T66" fmla="*/ 2 w 3"/>
                <a:gd name="T67" fmla="*/ 1 h 5"/>
                <a:gd name="T68" fmla="*/ 2 w 3"/>
                <a:gd name="T69" fmla="*/ 0 h 5"/>
                <a:gd name="T70" fmla="*/ 2 w 3"/>
                <a:gd name="T71" fmla="*/ 0 h 5"/>
                <a:gd name="T72" fmla="*/ 3 w 3"/>
                <a:gd name="T7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4" name="Freeform 158"/>
            <p:cNvSpPr>
              <a:spLocks/>
            </p:cNvSpPr>
            <p:nvPr/>
          </p:nvSpPr>
          <p:spPr bwMode="auto">
            <a:xfrm>
              <a:off x="1758" y="2835"/>
              <a:ext cx="18" cy="30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0 h 5"/>
                <a:gd name="T4" fmla="*/ 1 w 3"/>
                <a:gd name="T5" fmla="*/ 0 h 5"/>
                <a:gd name="T6" fmla="*/ 1 w 3"/>
                <a:gd name="T7" fmla="*/ 1 h 5"/>
                <a:gd name="T8" fmla="*/ 2 w 3"/>
                <a:gd name="T9" fmla="*/ 1 h 5"/>
                <a:gd name="T10" fmla="*/ 2 w 3"/>
                <a:gd name="T11" fmla="*/ 2 h 5"/>
                <a:gd name="T12" fmla="*/ 2 w 3"/>
                <a:gd name="T13" fmla="*/ 3 h 5"/>
                <a:gd name="T14" fmla="*/ 2 w 3"/>
                <a:gd name="T15" fmla="*/ 4 h 5"/>
                <a:gd name="T16" fmla="*/ 3 w 3"/>
                <a:gd name="T17" fmla="*/ 5 h 5"/>
                <a:gd name="T18" fmla="*/ 3 w 3"/>
                <a:gd name="T19" fmla="*/ 5 h 5"/>
                <a:gd name="T20" fmla="*/ 2 w 3"/>
                <a:gd name="T21" fmla="*/ 5 h 5"/>
                <a:gd name="T22" fmla="*/ 2 w 3"/>
                <a:gd name="T23" fmla="*/ 5 h 5"/>
                <a:gd name="T24" fmla="*/ 2 w 3"/>
                <a:gd name="T25" fmla="*/ 4 h 5"/>
                <a:gd name="T26" fmla="*/ 2 w 3"/>
                <a:gd name="T27" fmla="*/ 3 h 5"/>
                <a:gd name="T28" fmla="*/ 1 w 3"/>
                <a:gd name="T29" fmla="*/ 3 h 5"/>
                <a:gd name="T30" fmla="*/ 1 w 3"/>
                <a:gd name="T31" fmla="*/ 2 h 5"/>
                <a:gd name="T32" fmla="*/ 1 w 3"/>
                <a:gd name="T33" fmla="*/ 1 h 5"/>
                <a:gd name="T34" fmla="*/ 0 w 3"/>
                <a:gd name="T35" fmla="*/ 1 h 5"/>
                <a:gd name="T36" fmla="*/ 0 w 3"/>
                <a:gd name="T37" fmla="*/ 0 h 5"/>
                <a:gd name="T38" fmla="*/ 0 w 3"/>
                <a:gd name="T39" fmla="*/ 0 h 5"/>
                <a:gd name="T40" fmla="*/ 0 w 3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5" name="Freeform 159"/>
            <p:cNvSpPr>
              <a:spLocks/>
            </p:cNvSpPr>
            <p:nvPr/>
          </p:nvSpPr>
          <p:spPr bwMode="auto">
            <a:xfrm>
              <a:off x="1710" y="2817"/>
              <a:ext cx="48" cy="18"/>
            </a:xfrm>
            <a:custGeom>
              <a:avLst/>
              <a:gdLst>
                <a:gd name="T0" fmla="*/ 1 w 8"/>
                <a:gd name="T1" fmla="*/ 0 h 3"/>
                <a:gd name="T2" fmla="*/ 1 w 8"/>
                <a:gd name="T3" fmla="*/ 0 h 3"/>
                <a:gd name="T4" fmla="*/ 1 w 8"/>
                <a:gd name="T5" fmla="*/ 0 h 3"/>
                <a:gd name="T6" fmla="*/ 1 w 8"/>
                <a:gd name="T7" fmla="*/ 0 h 3"/>
                <a:gd name="T8" fmla="*/ 2 w 8"/>
                <a:gd name="T9" fmla="*/ 0 h 3"/>
                <a:gd name="T10" fmla="*/ 3 w 8"/>
                <a:gd name="T11" fmla="*/ 0 h 3"/>
                <a:gd name="T12" fmla="*/ 3 w 8"/>
                <a:gd name="T13" fmla="*/ 0 h 3"/>
                <a:gd name="T14" fmla="*/ 4 w 8"/>
                <a:gd name="T15" fmla="*/ 0 h 3"/>
                <a:gd name="T16" fmla="*/ 4 w 8"/>
                <a:gd name="T17" fmla="*/ 0 h 3"/>
                <a:gd name="T18" fmla="*/ 5 w 8"/>
                <a:gd name="T19" fmla="*/ 1 h 3"/>
                <a:gd name="T20" fmla="*/ 5 w 8"/>
                <a:gd name="T21" fmla="*/ 1 h 3"/>
                <a:gd name="T22" fmla="*/ 6 w 8"/>
                <a:gd name="T23" fmla="*/ 1 h 3"/>
                <a:gd name="T24" fmla="*/ 6 w 8"/>
                <a:gd name="T25" fmla="*/ 1 h 3"/>
                <a:gd name="T26" fmla="*/ 7 w 8"/>
                <a:gd name="T27" fmla="*/ 1 h 3"/>
                <a:gd name="T28" fmla="*/ 7 w 8"/>
                <a:gd name="T29" fmla="*/ 2 h 3"/>
                <a:gd name="T30" fmla="*/ 7 w 8"/>
                <a:gd name="T31" fmla="*/ 2 h 3"/>
                <a:gd name="T32" fmla="*/ 8 w 8"/>
                <a:gd name="T33" fmla="*/ 2 h 3"/>
                <a:gd name="T34" fmla="*/ 8 w 8"/>
                <a:gd name="T35" fmla="*/ 3 h 3"/>
                <a:gd name="T36" fmla="*/ 8 w 8"/>
                <a:gd name="T37" fmla="*/ 3 h 3"/>
                <a:gd name="T38" fmla="*/ 7 w 8"/>
                <a:gd name="T39" fmla="*/ 3 h 3"/>
                <a:gd name="T40" fmla="*/ 7 w 8"/>
                <a:gd name="T41" fmla="*/ 3 h 3"/>
                <a:gd name="T42" fmla="*/ 7 w 8"/>
                <a:gd name="T43" fmla="*/ 2 h 3"/>
                <a:gd name="T44" fmla="*/ 6 w 8"/>
                <a:gd name="T45" fmla="*/ 2 h 3"/>
                <a:gd name="T46" fmla="*/ 6 w 8"/>
                <a:gd name="T47" fmla="*/ 2 h 3"/>
                <a:gd name="T48" fmla="*/ 5 w 8"/>
                <a:gd name="T49" fmla="*/ 2 h 3"/>
                <a:gd name="T50" fmla="*/ 5 w 8"/>
                <a:gd name="T51" fmla="*/ 1 h 3"/>
                <a:gd name="T52" fmla="*/ 4 w 8"/>
                <a:gd name="T53" fmla="*/ 1 h 3"/>
                <a:gd name="T54" fmla="*/ 4 w 8"/>
                <a:gd name="T55" fmla="*/ 1 h 3"/>
                <a:gd name="T56" fmla="*/ 3 w 8"/>
                <a:gd name="T57" fmla="*/ 1 h 3"/>
                <a:gd name="T58" fmla="*/ 3 w 8"/>
                <a:gd name="T59" fmla="*/ 1 h 3"/>
                <a:gd name="T60" fmla="*/ 2 w 8"/>
                <a:gd name="T61" fmla="*/ 1 h 3"/>
                <a:gd name="T62" fmla="*/ 2 w 8"/>
                <a:gd name="T63" fmla="*/ 1 h 3"/>
                <a:gd name="T64" fmla="*/ 1 w 8"/>
                <a:gd name="T65" fmla="*/ 1 h 3"/>
                <a:gd name="T66" fmla="*/ 1 w 8"/>
                <a:gd name="T67" fmla="*/ 1 h 3"/>
                <a:gd name="T68" fmla="*/ 0 w 8"/>
                <a:gd name="T69" fmla="*/ 0 h 3"/>
                <a:gd name="T70" fmla="*/ 0 w 8"/>
                <a:gd name="T71" fmla="*/ 0 h 3"/>
                <a:gd name="T72" fmla="*/ 1 w 8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3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6" name="Freeform 160"/>
            <p:cNvSpPr>
              <a:spLocks/>
            </p:cNvSpPr>
            <p:nvPr/>
          </p:nvSpPr>
          <p:spPr bwMode="auto">
            <a:xfrm>
              <a:off x="1620" y="2811"/>
              <a:ext cx="96" cy="36"/>
            </a:xfrm>
            <a:custGeom>
              <a:avLst/>
              <a:gdLst>
                <a:gd name="T0" fmla="*/ 0 w 16"/>
                <a:gd name="T1" fmla="*/ 5 h 6"/>
                <a:gd name="T2" fmla="*/ 1 w 16"/>
                <a:gd name="T3" fmla="*/ 5 h 6"/>
                <a:gd name="T4" fmla="*/ 1 w 16"/>
                <a:gd name="T5" fmla="*/ 4 h 6"/>
                <a:gd name="T6" fmla="*/ 2 w 16"/>
                <a:gd name="T7" fmla="*/ 4 h 6"/>
                <a:gd name="T8" fmla="*/ 3 w 16"/>
                <a:gd name="T9" fmla="*/ 3 h 6"/>
                <a:gd name="T10" fmla="*/ 4 w 16"/>
                <a:gd name="T11" fmla="*/ 3 h 6"/>
                <a:gd name="T12" fmla="*/ 5 w 16"/>
                <a:gd name="T13" fmla="*/ 2 h 6"/>
                <a:gd name="T14" fmla="*/ 6 w 16"/>
                <a:gd name="T15" fmla="*/ 2 h 6"/>
                <a:gd name="T16" fmla="*/ 7 w 16"/>
                <a:gd name="T17" fmla="*/ 2 h 6"/>
                <a:gd name="T18" fmla="*/ 8 w 16"/>
                <a:gd name="T19" fmla="*/ 1 h 6"/>
                <a:gd name="T20" fmla="*/ 9 w 16"/>
                <a:gd name="T21" fmla="*/ 1 h 6"/>
                <a:gd name="T22" fmla="*/ 10 w 16"/>
                <a:gd name="T23" fmla="*/ 1 h 6"/>
                <a:gd name="T24" fmla="*/ 12 w 16"/>
                <a:gd name="T25" fmla="*/ 1 h 6"/>
                <a:gd name="T26" fmla="*/ 12 w 16"/>
                <a:gd name="T27" fmla="*/ 1 h 6"/>
                <a:gd name="T28" fmla="*/ 14 w 16"/>
                <a:gd name="T29" fmla="*/ 0 h 6"/>
                <a:gd name="T30" fmla="*/ 15 w 16"/>
                <a:gd name="T31" fmla="*/ 1 h 6"/>
                <a:gd name="T32" fmla="*/ 16 w 16"/>
                <a:gd name="T33" fmla="*/ 1 h 6"/>
                <a:gd name="T34" fmla="*/ 15 w 16"/>
                <a:gd name="T35" fmla="*/ 1 h 6"/>
                <a:gd name="T36" fmla="*/ 14 w 16"/>
                <a:gd name="T37" fmla="*/ 1 h 6"/>
                <a:gd name="T38" fmla="*/ 13 w 16"/>
                <a:gd name="T39" fmla="*/ 1 h 6"/>
                <a:gd name="T40" fmla="*/ 12 w 16"/>
                <a:gd name="T41" fmla="*/ 1 h 6"/>
                <a:gd name="T42" fmla="*/ 11 w 16"/>
                <a:gd name="T43" fmla="*/ 2 h 6"/>
                <a:gd name="T44" fmla="*/ 10 w 16"/>
                <a:gd name="T45" fmla="*/ 2 h 6"/>
                <a:gd name="T46" fmla="*/ 9 w 16"/>
                <a:gd name="T47" fmla="*/ 2 h 6"/>
                <a:gd name="T48" fmla="*/ 8 w 16"/>
                <a:gd name="T49" fmla="*/ 2 h 6"/>
                <a:gd name="T50" fmla="*/ 7 w 16"/>
                <a:gd name="T51" fmla="*/ 3 h 6"/>
                <a:gd name="T52" fmla="*/ 6 w 16"/>
                <a:gd name="T53" fmla="*/ 3 h 6"/>
                <a:gd name="T54" fmla="*/ 5 w 16"/>
                <a:gd name="T55" fmla="*/ 3 h 6"/>
                <a:gd name="T56" fmla="*/ 4 w 16"/>
                <a:gd name="T57" fmla="*/ 4 h 6"/>
                <a:gd name="T58" fmla="*/ 3 w 16"/>
                <a:gd name="T59" fmla="*/ 4 h 6"/>
                <a:gd name="T60" fmla="*/ 2 w 16"/>
                <a:gd name="T61" fmla="*/ 5 h 6"/>
                <a:gd name="T62" fmla="*/ 2 w 16"/>
                <a:gd name="T63" fmla="*/ 5 h 6"/>
                <a:gd name="T64" fmla="*/ 1 w 16"/>
                <a:gd name="T65" fmla="*/ 6 h 6"/>
                <a:gd name="T66" fmla="*/ 1 w 16"/>
                <a:gd name="T6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" h="6">
                  <a:moveTo>
                    <a:pt x="0" y="5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7" name="Freeform 161"/>
            <p:cNvSpPr>
              <a:spLocks/>
            </p:cNvSpPr>
            <p:nvPr/>
          </p:nvSpPr>
          <p:spPr bwMode="auto">
            <a:xfrm>
              <a:off x="1578" y="2841"/>
              <a:ext cx="48" cy="78"/>
            </a:xfrm>
            <a:custGeom>
              <a:avLst/>
              <a:gdLst>
                <a:gd name="T0" fmla="*/ 2 w 8"/>
                <a:gd name="T1" fmla="*/ 13 h 13"/>
                <a:gd name="T2" fmla="*/ 2 w 8"/>
                <a:gd name="T3" fmla="*/ 13 h 13"/>
                <a:gd name="T4" fmla="*/ 1 w 8"/>
                <a:gd name="T5" fmla="*/ 12 h 13"/>
                <a:gd name="T6" fmla="*/ 1 w 8"/>
                <a:gd name="T7" fmla="*/ 11 h 13"/>
                <a:gd name="T8" fmla="*/ 0 w 8"/>
                <a:gd name="T9" fmla="*/ 10 h 13"/>
                <a:gd name="T10" fmla="*/ 1 w 8"/>
                <a:gd name="T11" fmla="*/ 9 h 13"/>
                <a:gd name="T12" fmla="*/ 1 w 8"/>
                <a:gd name="T13" fmla="*/ 8 h 13"/>
                <a:gd name="T14" fmla="*/ 1 w 8"/>
                <a:gd name="T15" fmla="*/ 8 h 13"/>
                <a:gd name="T16" fmla="*/ 1 w 8"/>
                <a:gd name="T17" fmla="*/ 7 h 13"/>
                <a:gd name="T18" fmla="*/ 2 w 8"/>
                <a:gd name="T19" fmla="*/ 6 h 13"/>
                <a:gd name="T20" fmla="*/ 2 w 8"/>
                <a:gd name="T21" fmla="*/ 5 h 13"/>
                <a:gd name="T22" fmla="*/ 3 w 8"/>
                <a:gd name="T23" fmla="*/ 4 h 13"/>
                <a:gd name="T24" fmla="*/ 4 w 8"/>
                <a:gd name="T25" fmla="*/ 3 h 13"/>
                <a:gd name="T26" fmla="*/ 4 w 8"/>
                <a:gd name="T27" fmla="*/ 3 h 13"/>
                <a:gd name="T28" fmla="*/ 5 w 8"/>
                <a:gd name="T29" fmla="*/ 2 h 13"/>
                <a:gd name="T30" fmla="*/ 6 w 8"/>
                <a:gd name="T31" fmla="*/ 1 h 13"/>
                <a:gd name="T32" fmla="*/ 7 w 8"/>
                <a:gd name="T33" fmla="*/ 1 h 13"/>
                <a:gd name="T34" fmla="*/ 7 w 8"/>
                <a:gd name="T35" fmla="*/ 0 h 13"/>
                <a:gd name="T36" fmla="*/ 8 w 8"/>
                <a:gd name="T37" fmla="*/ 1 h 13"/>
                <a:gd name="T38" fmla="*/ 7 w 8"/>
                <a:gd name="T39" fmla="*/ 1 h 13"/>
                <a:gd name="T40" fmla="*/ 6 w 8"/>
                <a:gd name="T41" fmla="*/ 2 h 13"/>
                <a:gd name="T42" fmla="*/ 6 w 8"/>
                <a:gd name="T43" fmla="*/ 3 h 13"/>
                <a:gd name="T44" fmla="*/ 5 w 8"/>
                <a:gd name="T45" fmla="*/ 3 h 13"/>
                <a:gd name="T46" fmla="*/ 4 w 8"/>
                <a:gd name="T47" fmla="*/ 4 h 13"/>
                <a:gd name="T48" fmla="*/ 4 w 8"/>
                <a:gd name="T49" fmla="*/ 5 h 13"/>
                <a:gd name="T50" fmla="*/ 3 w 8"/>
                <a:gd name="T51" fmla="*/ 6 h 13"/>
                <a:gd name="T52" fmla="*/ 3 w 8"/>
                <a:gd name="T53" fmla="*/ 6 h 13"/>
                <a:gd name="T54" fmla="*/ 2 w 8"/>
                <a:gd name="T55" fmla="*/ 7 h 13"/>
                <a:gd name="T56" fmla="*/ 2 w 8"/>
                <a:gd name="T57" fmla="*/ 8 h 13"/>
                <a:gd name="T58" fmla="*/ 1 w 8"/>
                <a:gd name="T59" fmla="*/ 9 h 13"/>
                <a:gd name="T60" fmla="*/ 1 w 8"/>
                <a:gd name="T61" fmla="*/ 9 h 13"/>
                <a:gd name="T62" fmla="*/ 1 w 8"/>
                <a:gd name="T63" fmla="*/ 10 h 13"/>
                <a:gd name="T64" fmla="*/ 1 w 8"/>
                <a:gd name="T65" fmla="*/ 11 h 13"/>
                <a:gd name="T66" fmla="*/ 2 w 8"/>
                <a:gd name="T67" fmla="*/ 11 h 13"/>
                <a:gd name="T68" fmla="*/ 2 w 8"/>
                <a:gd name="T69" fmla="*/ 12 h 13"/>
                <a:gd name="T70" fmla="*/ 2 w 8"/>
                <a:gd name="T71" fmla="*/ 12 h 13"/>
                <a:gd name="T72" fmla="*/ 2 w 8"/>
                <a:gd name="T73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lnTo>
                    <a:pt x="2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8" name="Freeform 162"/>
            <p:cNvSpPr>
              <a:spLocks/>
            </p:cNvSpPr>
            <p:nvPr/>
          </p:nvSpPr>
          <p:spPr bwMode="auto">
            <a:xfrm>
              <a:off x="1590" y="2913"/>
              <a:ext cx="54" cy="36"/>
            </a:xfrm>
            <a:custGeom>
              <a:avLst/>
              <a:gdLst>
                <a:gd name="T0" fmla="*/ 9 w 9"/>
                <a:gd name="T1" fmla="*/ 6 h 6"/>
                <a:gd name="T2" fmla="*/ 9 w 9"/>
                <a:gd name="T3" fmla="*/ 6 h 6"/>
                <a:gd name="T4" fmla="*/ 8 w 9"/>
                <a:gd name="T5" fmla="*/ 5 h 6"/>
                <a:gd name="T6" fmla="*/ 8 w 9"/>
                <a:gd name="T7" fmla="*/ 5 h 6"/>
                <a:gd name="T8" fmla="*/ 7 w 9"/>
                <a:gd name="T9" fmla="*/ 5 h 6"/>
                <a:gd name="T10" fmla="*/ 6 w 9"/>
                <a:gd name="T11" fmla="*/ 5 h 6"/>
                <a:gd name="T12" fmla="*/ 6 w 9"/>
                <a:gd name="T13" fmla="*/ 5 h 6"/>
                <a:gd name="T14" fmla="*/ 5 w 9"/>
                <a:gd name="T15" fmla="*/ 4 h 6"/>
                <a:gd name="T16" fmla="*/ 5 w 9"/>
                <a:gd name="T17" fmla="*/ 4 h 6"/>
                <a:gd name="T18" fmla="*/ 4 w 9"/>
                <a:gd name="T19" fmla="*/ 4 h 6"/>
                <a:gd name="T20" fmla="*/ 3 w 9"/>
                <a:gd name="T21" fmla="*/ 3 h 6"/>
                <a:gd name="T22" fmla="*/ 3 w 9"/>
                <a:gd name="T23" fmla="*/ 3 h 6"/>
                <a:gd name="T24" fmla="*/ 2 w 9"/>
                <a:gd name="T25" fmla="*/ 3 h 6"/>
                <a:gd name="T26" fmla="*/ 2 w 9"/>
                <a:gd name="T27" fmla="*/ 2 h 6"/>
                <a:gd name="T28" fmla="*/ 1 w 9"/>
                <a:gd name="T29" fmla="*/ 2 h 6"/>
                <a:gd name="T30" fmla="*/ 1 w 9"/>
                <a:gd name="T31" fmla="*/ 1 h 6"/>
                <a:gd name="T32" fmla="*/ 0 w 9"/>
                <a:gd name="T33" fmla="*/ 1 h 6"/>
                <a:gd name="T34" fmla="*/ 0 w 9"/>
                <a:gd name="T35" fmla="*/ 1 h 6"/>
                <a:gd name="T36" fmla="*/ 0 w 9"/>
                <a:gd name="T37" fmla="*/ 0 h 6"/>
                <a:gd name="T38" fmla="*/ 1 w 9"/>
                <a:gd name="T39" fmla="*/ 0 h 6"/>
                <a:gd name="T40" fmla="*/ 1 w 9"/>
                <a:gd name="T41" fmla="*/ 1 h 6"/>
                <a:gd name="T42" fmla="*/ 2 w 9"/>
                <a:gd name="T43" fmla="*/ 1 h 6"/>
                <a:gd name="T44" fmla="*/ 2 w 9"/>
                <a:gd name="T45" fmla="*/ 1 h 6"/>
                <a:gd name="T46" fmla="*/ 3 w 9"/>
                <a:gd name="T47" fmla="*/ 2 h 6"/>
                <a:gd name="T48" fmla="*/ 3 w 9"/>
                <a:gd name="T49" fmla="*/ 2 h 6"/>
                <a:gd name="T50" fmla="*/ 4 w 9"/>
                <a:gd name="T51" fmla="*/ 3 h 6"/>
                <a:gd name="T52" fmla="*/ 4 w 9"/>
                <a:gd name="T53" fmla="*/ 3 h 6"/>
                <a:gd name="T54" fmla="*/ 5 w 9"/>
                <a:gd name="T55" fmla="*/ 3 h 6"/>
                <a:gd name="T56" fmla="*/ 6 w 9"/>
                <a:gd name="T57" fmla="*/ 4 h 6"/>
                <a:gd name="T58" fmla="*/ 6 w 9"/>
                <a:gd name="T59" fmla="*/ 4 h 6"/>
                <a:gd name="T60" fmla="*/ 7 w 9"/>
                <a:gd name="T61" fmla="*/ 4 h 6"/>
                <a:gd name="T62" fmla="*/ 7 w 9"/>
                <a:gd name="T63" fmla="*/ 4 h 6"/>
                <a:gd name="T64" fmla="*/ 8 w 9"/>
                <a:gd name="T65" fmla="*/ 5 h 6"/>
                <a:gd name="T66" fmla="*/ 8 w 9"/>
                <a:gd name="T67" fmla="*/ 5 h 6"/>
                <a:gd name="T68" fmla="*/ 9 w 9"/>
                <a:gd name="T69" fmla="*/ 5 h 6"/>
                <a:gd name="T70" fmla="*/ 9 w 9"/>
                <a:gd name="T71" fmla="*/ 5 h 6"/>
                <a:gd name="T72" fmla="*/ 9 w 9"/>
                <a:gd name="T7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lnTo>
                    <a:pt x="9" y="6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19" name="Freeform 163"/>
            <p:cNvSpPr>
              <a:spLocks/>
            </p:cNvSpPr>
            <p:nvPr/>
          </p:nvSpPr>
          <p:spPr bwMode="auto">
            <a:xfrm>
              <a:off x="1644" y="2931"/>
              <a:ext cx="24" cy="18"/>
            </a:xfrm>
            <a:custGeom>
              <a:avLst/>
              <a:gdLst>
                <a:gd name="T0" fmla="*/ 4 w 4"/>
                <a:gd name="T1" fmla="*/ 1 h 3"/>
                <a:gd name="T2" fmla="*/ 4 w 4"/>
                <a:gd name="T3" fmla="*/ 1 h 3"/>
                <a:gd name="T4" fmla="*/ 4 w 4"/>
                <a:gd name="T5" fmla="*/ 1 h 3"/>
                <a:gd name="T6" fmla="*/ 4 w 4"/>
                <a:gd name="T7" fmla="*/ 1 h 3"/>
                <a:gd name="T8" fmla="*/ 3 w 4"/>
                <a:gd name="T9" fmla="*/ 1 h 3"/>
                <a:gd name="T10" fmla="*/ 3 w 4"/>
                <a:gd name="T11" fmla="*/ 1 h 3"/>
                <a:gd name="T12" fmla="*/ 3 w 4"/>
                <a:gd name="T13" fmla="*/ 1 h 3"/>
                <a:gd name="T14" fmla="*/ 3 w 4"/>
                <a:gd name="T15" fmla="*/ 1 h 3"/>
                <a:gd name="T16" fmla="*/ 2 w 4"/>
                <a:gd name="T17" fmla="*/ 2 h 3"/>
                <a:gd name="T18" fmla="*/ 2 w 4"/>
                <a:gd name="T19" fmla="*/ 2 h 3"/>
                <a:gd name="T20" fmla="*/ 2 w 4"/>
                <a:gd name="T21" fmla="*/ 2 h 3"/>
                <a:gd name="T22" fmla="*/ 2 w 4"/>
                <a:gd name="T23" fmla="*/ 2 h 3"/>
                <a:gd name="T24" fmla="*/ 1 w 4"/>
                <a:gd name="T25" fmla="*/ 2 h 3"/>
                <a:gd name="T26" fmla="*/ 1 w 4"/>
                <a:gd name="T27" fmla="*/ 2 h 3"/>
                <a:gd name="T28" fmla="*/ 1 w 4"/>
                <a:gd name="T29" fmla="*/ 2 h 3"/>
                <a:gd name="T30" fmla="*/ 0 w 4"/>
                <a:gd name="T31" fmla="*/ 2 h 3"/>
                <a:gd name="T32" fmla="*/ 0 w 4"/>
                <a:gd name="T33" fmla="*/ 2 h 3"/>
                <a:gd name="T34" fmla="*/ 0 w 4"/>
                <a:gd name="T35" fmla="*/ 3 h 3"/>
                <a:gd name="T36" fmla="*/ 0 w 4"/>
                <a:gd name="T37" fmla="*/ 2 h 3"/>
                <a:gd name="T38" fmla="*/ 0 w 4"/>
                <a:gd name="T39" fmla="*/ 2 h 3"/>
                <a:gd name="T40" fmla="*/ 0 w 4"/>
                <a:gd name="T41" fmla="*/ 2 h 3"/>
                <a:gd name="T42" fmla="*/ 0 w 4"/>
                <a:gd name="T43" fmla="*/ 2 h 3"/>
                <a:gd name="T44" fmla="*/ 1 w 4"/>
                <a:gd name="T45" fmla="*/ 1 h 3"/>
                <a:gd name="T46" fmla="*/ 1 w 4"/>
                <a:gd name="T47" fmla="*/ 1 h 3"/>
                <a:gd name="T48" fmla="*/ 1 w 4"/>
                <a:gd name="T49" fmla="*/ 1 h 3"/>
                <a:gd name="T50" fmla="*/ 1 w 4"/>
                <a:gd name="T51" fmla="*/ 1 h 3"/>
                <a:gd name="T52" fmla="*/ 2 w 4"/>
                <a:gd name="T53" fmla="*/ 1 h 3"/>
                <a:gd name="T54" fmla="*/ 2 w 4"/>
                <a:gd name="T55" fmla="*/ 1 h 3"/>
                <a:gd name="T56" fmla="*/ 2 w 4"/>
                <a:gd name="T57" fmla="*/ 1 h 3"/>
                <a:gd name="T58" fmla="*/ 2 w 4"/>
                <a:gd name="T59" fmla="*/ 1 h 3"/>
                <a:gd name="T60" fmla="*/ 3 w 4"/>
                <a:gd name="T61" fmla="*/ 1 h 3"/>
                <a:gd name="T62" fmla="*/ 3 w 4"/>
                <a:gd name="T63" fmla="*/ 1 h 3"/>
                <a:gd name="T64" fmla="*/ 3 w 4"/>
                <a:gd name="T65" fmla="*/ 0 h 3"/>
                <a:gd name="T66" fmla="*/ 3 w 4"/>
                <a:gd name="T67" fmla="*/ 0 h 3"/>
                <a:gd name="T68" fmla="*/ 4 w 4"/>
                <a:gd name="T69" fmla="*/ 0 h 3"/>
                <a:gd name="T70" fmla="*/ 4 w 4"/>
                <a:gd name="T71" fmla="*/ 0 h 3"/>
                <a:gd name="T72" fmla="*/ 4 w 4"/>
                <a:gd name="T7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0" name="Freeform 164"/>
            <p:cNvSpPr>
              <a:spLocks/>
            </p:cNvSpPr>
            <p:nvPr/>
          </p:nvSpPr>
          <p:spPr bwMode="auto">
            <a:xfrm>
              <a:off x="1668" y="2919"/>
              <a:ext cx="18" cy="18"/>
            </a:xfrm>
            <a:custGeom>
              <a:avLst/>
              <a:gdLst>
                <a:gd name="T0" fmla="*/ 3 w 3"/>
                <a:gd name="T1" fmla="*/ 0 h 3"/>
                <a:gd name="T2" fmla="*/ 3 w 3"/>
                <a:gd name="T3" fmla="*/ 1 h 3"/>
                <a:gd name="T4" fmla="*/ 3 w 3"/>
                <a:gd name="T5" fmla="*/ 1 h 3"/>
                <a:gd name="T6" fmla="*/ 3 w 3"/>
                <a:gd name="T7" fmla="*/ 1 h 3"/>
                <a:gd name="T8" fmla="*/ 3 w 3"/>
                <a:gd name="T9" fmla="*/ 2 h 3"/>
                <a:gd name="T10" fmla="*/ 3 w 3"/>
                <a:gd name="T11" fmla="*/ 2 h 3"/>
                <a:gd name="T12" fmla="*/ 2 w 3"/>
                <a:gd name="T13" fmla="*/ 2 h 3"/>
                <a:gd name="T14" fmla="*/ 2 w 3"/>
                <a:gd name="T15" fmla="*/ 2 h 3"/>
                <a:gd name="T16" fmla="*/ 2 w 3"/>
                <a:gd name="T17" fmla="*/ 2 h 3"/>
                <a:gd name="T18" fmla="*/ 2 w 3"/>
                <a:gd name="T19" fmla="*/ 2 h 3"/>
                <a:gd name="T20" fmla="*/ 2 w 3"/>
                <a:gd name="T21" fmla="*/ 2 h 3"/>
                <a:gd name="T22" fmla="*/ 1 w 3"/>
                <a:gd name="T23" fmla="*/ 2 h 3"/>
                <a:gd name="T24" fmla="*/ 1 w 3"/>
                <a:gd name="T25" fmla="*/ 2 h 3"/>
                <a:gd name="T26" fmla="*/ 1 w 3"/>
                <a:gd name="T27" fmla="*/ 3 h 3"/>
                <a:gd name="T28" fmla="*/ 1 w 3"/>
                <a:gd name="T29" fmla="*/ 3 h 3"/>
                <a:gd name="T30" fmla="*/ 1 w 3"/>
                <a:gd name="T31" fmla="*/ 3 h 3"/>
                <a:gd name="T32" fmla="*/ 0 w 3"/>
                <a:gd name="T33" fmla="*/ 3 h 3"/>
                <a:gd name="T34" fmla="*/ 0 w 3"/>
                <a:gd name="T35" fmla="*/ 3 h 3"/>
                <a:gd name="T36" fmla="*/ 0 w 3"/>
                <a:gd name="T37" fmla="*/ 2 h 3"/>
                <a:gd name="T38" fmla="*/ 0 w 3"/>
                <a:gd name="T39" fmla="*/ 2 h 3"/>
                <a:gd name="T40" fmla="*/ 0 w 3"/>
                <a:gd name="T41" fmla="*/ 2 h 3"/>
                <a:gd name="T42" fmla="*/ 0 w 3"/>
                <a:gd name="T43" fmla="*/ 2 h 3"/>
                <a:gd name="T44" fmla="*/ 1 w 3"/>
                <a:gd name="T45" fmla="*/ 2 h 3"/>
                <a:gd name="T46" fmla="*/ 1 w 3"/>
                <a:gd name="T47" fmla="*/ 2 h 3"/>
                <a:gd name="T48" fmla="*/ 1 w 3"/>
                <a:gd name="T49" fmla="*/ 2 h 3"/>
                <a:gd name="T50" fmla="*/ 1 w 3"/>
                <a:gd name="T51" fmla="*/ 2 h 3"/>
                <a:gd name="T52" fmla="*/ 1 w 3"/>
                <a:gd name="T53" fmla="*/ 1 h 3"/>
                <a:gd name="T54" fmla="*/ 2 w 3"/>
                <a:gd name="T55" fmla="*/ 1 h 3"/>
                <a:gd name="T56" fmla="*/ 2 w 3"/>
                <a:gd name="T57" fmla="*/ 1 h 3"/>
                <a:gd name="T58" fmla="*/ 2 w 3"/>
                <a:gd name="T59" fmla="*/ 1 h 3"/>
                <a:gd name="T60" fmla="*/ 2 w 3"/>
                <a:gd name="T61" fmla="*/ 1 h 3"/>
                <a:gd name="T62" fmla="*/ 2 w 3"/>
                <a:gd name="T63" fmla="*/ 1 h 3"/>
                <a:gd name="T64" fmla="*/ 3 w 3"/>
                <a:gd name="T65" fmla="*/ 1 h 3"/>
                <a:gd name="T66" fmla="*/ 3 w 3"/>
                <a:gd name="T67" fmla="*/ 1 h 3"/>
                <a:gd name="T68" fmla="*/ 3 w 3"/>
                <a:gd name="T69" fmla="*/ 1 h 3"/>
                <a:gd name="T70" fmla="*/ 3 w 3"/>
                <a:gd name="T71" fmla="*/ 1 h 3"/>
                <a:gd name="T72" fmla="*/ 3 w 3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1" name="Freeform 165"/>
            <p:cNvSpPr>
              <a:spLocks/>
            </p:cNvSpPr>
            <p:nvPr/>
          </p:nvSpPr>
          <p:spPr bwMode="auto">
            <a:xfrm>
              <a:off x="1638" y="2913"/>
              <a:ext cx="48" cy="12"/>
            </a:xfrm>
            <a:custGeom>
              <a:avLst/>
              <a:gdLst>
                <a:gd name="T0" fmla="*/ 1 w 8"/>
                <a:gd name="T1" fmla="*/ 0 h 2"/>
                <a:gd name="T2" fmla="*/ 1 w 8"/>
                <a:gd name="T3" fmla="*/ 0 h 2"/>
                <a:gd name="T4" fmla="*/ 1 w 8"/>
                <a:gd name="T5" fmla="*/ 0 h 2"/>
                <a:gd name="T6" fmla="*/ 2 w 8"/>
                <a:gd name="T7" fmla="*/ 0 h 2"/>
                <a:gd name="T8" fmla="*/ 2 w 8"/>
                <a:gd name="T9" fmla="*/ 1 h 2"/>
                <a:gd name="T10" fmla="*/ 2 w 8"/>
                <a:gd name="T11" fmla="*/ 1 h 2"/>
                <a:gd name="T12" fmla="*/ 3 w 8"/>
                <a:gd name="T13" fmla="*/ 1 h 2"/>
                <a:gd name="T14" fmla="*/ 3 w 8"/>
                <a:gd name="T15" fmla="*/ 1 h 2"/>
                <a:gd name="T16" fmla="*/ 4 w 8"/>
                <a:gd name="T17" fmla="*/ 1 h 2"/>
                <a:gd name="T18" fmla="*/ 4 w 8"/>
                <a:gd name="T19" fmla="*/ 1 h 2"/>
                <a:gd name="T20" fmla="*/ 5 w 8"/>
                <a:gd name="T21" fmla="*/ 1 h 2"/>
                <a:gd name="T22" fmla="*/ 5 w 8"/>
                <a:gd name="T23" fmla="*/ 1 h 2"/>
                <a:gd name="T24" fmla="*/ 6 w 8"/>
                <a:gd name="T25" fmla="*/ 1 h 2"/>
                <a:gd name="T26" fmla="*/ 6 w 8"/>
                <a:gd name="T27" fmla="*/ 1 h 2"/>
                <a:gd name="T28" fmla="*/ 7 w 8"/>
                <a:gd name="T29" fmla="*/ 1 h 2"/>
                <a:gd name="T30" fmla="*/ 7 w 8"/>
                <a:gd name="T31" fmla="*/ 1 h 2"/>
                <a:gd name="T32" fmla="*/ 8 w 8"/>
                <a:gd name="T33" fmla="*/ 1 h 2"/>
                <a:gd name="T34" fmla="*/ 8 w 8"/>
                <a:gd name="T35" fmla="*/ 1 h 2"/>
                <a:gd name="T36" fmla="*/ 8 w 8"/>
                <a:gd name="T37" fmla="*/ 2 h 2"/>
                <a:gd name="T38" fmla="*/ 8 w 8"/>
                <a:gd name="T39" fmla="*/ 2 h 2"/>
                <a:gd name="T40" fmla="*/ 7 w 8"/>
                <a:gd name="T41" fmla="*/ 2 h 2"/>
                <a:gd name="T42" fmla="*/ 7 w 8"/>
                <a:gd name="T43" fmla="*/ 2 h 2"/>
                <a:gd name="T44" fmla="*/ 6 w 8"/>
                <a:gd name="T45" fmla="*/ 2 h 2"/>
                <a:gd name="T46" fmla="*/ 6 w 8"/>
                <a:gd name="T47" fmla="*/ 2 h 2"/>
                <a:gd name="T48" fmla="*/ 5 w 8"/>
                <a:gd name="T49" fmla="*/ 2 h 2"/>
                <a:gd name="T50" fmla="*/ 5 w 8"/>
                <a:gd name="T51" fmla="*/ 2 h 2"/>
                <a:gd name="T52" fmla="*/ 4 w 8"/>
                <a:gd name="T53" fmla="*/ 2 h 2"/>
                <a:gd name="T54" fmla="*/ 4 w 8"/>
                <a:gd name="T55" fmla="*/ 2 h 2"/>
                <a:gd name="T56" fmla="*/ 3 w 8"/>
                <a:gd name="T57" fmla="*/ 2 h 2"/>
                <a:gd name="T58" fmla="*/ 3 w 8"/>
                <a:gd name="T59" fmla="*/ 2 h 2"/>
                <a:gd name="T60" fmla="*/ 2 w 8"/>
                <a:gd name="T61" fmla="*/ 1 h 2"/>
                <a:gd name="T62" fmla="*/ 2 w 8"/>
                <a:gd name="T63" fmla="*/ 1 h 2"/>
                <a:gd name="T64" fmla="*/ 1 w 8"/>
                <a:gd name="T65" fmla="*/ 1 h 2"/>
                <a:gd name="T66" fmla="*/ 1 w 8"/>
                <a:gd name="T67" fmla="*/ 1 h 2"/>
                <a:gd name="T68" fmla="*/ 0 w 8"/>
                <a:gd name="T69" fmla="*/ 1 h 2"/>
                <a:gd name="T70" fmla="*/ 0 w 8"/>
                <a:gd name="T71" fmla="*/ 1 h 2"/>
                <a:gd name="T72" fmla="*/ 1 w 8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2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2" name="Freeform 166"/>
            <p:cNvSpPr>
              <a:spLocks/>
            </p:cNvSpPr>
            <p:nvPr/>
          </p:nvSpPr>
          <p:spPr bwMode="auto">
            <a:xfrm>
              <a:off x="1614" y="2889"/>
              <a:ext cx="30" cy="30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1 w 5"/>
                <a:gd name="T5" fmla="*/ 0 h 5"/>
                <a:gd name="T6" fmla="*/ 1 w 5"/>
                <a:gd name="T7" fmla="*/ 1 h 5"/>
                <a:gd name="T8" fmla="*/ 2 w 5"/>
                <a:gd name="T9" fmla="*/ 2 h 5"/>
                <a:gd name="T10" fmla="*/ 2 w 5"/>
                <a:gd name="T11" fmla="*/ 2 h 5"/>
                <a:gd name="T12" fmla="*/ 3 w 5"/>
                <a:gd name="T13" fmla="*/ 3 h 5"/>
                <a:gd name="T14" fmla="*/ 4 w 5"/>
                <a:gd name="T15" fmla="*/ 3 h 5"/>
                <a:gd name="T16" fmla="*/ 4 w 5"/>
                <a:gd name="T17" fmla="*/ 4 h 5"/>
                <a:gd name="T18" fmla="*/ 5 w 5"/>
                <a:gd name="T19" fmla="*/ 4 h 5"/>
                <a:gd name="T20" fmla="*/ 4 w 5"/>
                <a:gd name="T21" fmla="*/ 5 h 5"/>
                <a:gd name="T22" fmla="*/ 4 w 5"/>
                <a:gd name="T23" fmla="*/ 4 h 5"/>
                <a:gd name="T24" fmla="*/ 3 w 5"/>
                <a:gd name="T25" fmla="*/ 4 h 5"/>
                <a:gd name="T26" fmla="*/ 2 w 5"/>
                <a:gd name="T27" fmla="*/ 3 h 5"/>
                <a:gd name="T28" fmla="*/ 2 w 5"/>
                <a:gd name="T29" fmla="*/ 3 h 5"/>
                <a:gd name="T30" fmla="*/ 1 w 5"/>
                <a:gd name="T31" fmla="*/ 2 h 5"/>
                <a:gd name="T32" fmla="*/ 1 w 5"/>
                <a:gd name="T33" fmla="*/ 2 h 5"/>
                <a:gd name="T34" fmla="*/ 0 w 5"/>
                <a:gd name="T35" fmla="*/ 1 h 5"/>
                <a:gd name="T36" fmla="*/ 0 w 5"/>
                <a:gd name="T37" fmla="*/ 0 h 5"/>
                <a:gd name="T38" fmla="*/ 0 w 5"/>
                <a:gd name="T39" fmla="*/ 0 h 5"/>
                <a:gd name="T40" fmla="*/ 1 w 5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3" name="Freeform 167"/>
            <p:cNvSpPr>
              <a:spLocks/>
            </p:cNvSpPr>
            <p:nvPr/>
          </p:nvSpPr>
          <p:spPr bwMode="auto">
            <a:xfrm>
              <a:off x="1614" y="2853"/>
              <a:ext cx="18" cy="36"/>
            </a:xfrm>
            <a:custGeom>
              <a:avLst/>
              <a:gdLst>
                <a:gd name="T0" fmla="*/ 3 w 3"/>
                <a:gd name="T1" fmla="*/ 0 h 6"/>
                <a:gd name="T2" fmla="*/ 3 w 3"/>
                <a:gd name="T3" fmla="*/ 0 h 6"/>
                <a:gd name="T4" fmla="*/ 2 w 3"/>
                <a:gd name="T5" fmla="*/ 1 h 6"/>
                <a:gd name="T6" fmla="*/ 2 w 3"/>
                <a:gd name="T7" fmla="*/ 1 h 6"/>
                <a:gd name="T8" fmla="*/ 2 w 3"/>
                <a:gd name="T9" fmla="*/ 1 h 6"/>
                <a:gd name="T10" fmla="*/ 2 w 3"/>
                <a:gd name="T11" fmla="*/ 2 h 6"/>
                <a:gd name="T12" fmla="*/ 2 w 3"/>
                <a:gd name="T13" fmla="*/ 2 h 6"/>
                <a:gd name="T14" fmla="*/ 2 w 3"/>
                <a:gd name="T15" fmla="*/ 2 h 6"/>
                <a:gd name="T16" fmla="*/ 1 w 3"/>
                <a:gd name="T17" fmla="*/ 3 h 6"/>
                <a:gd name="T18" fmla="*/ 1 w 3"/>
                <a:gd name="T19" fmla="*/ 3 h 6"/>
                <a:gd name="T20" fmla="*/ 1 w 3"/>
                <a:gd name="T21" fmla="*/ 4 h 6"/>
                <a:gd name="T22" fmla="*/ 1 w 3"/>
                <a:gd name="T23" fmla="*/ 4 h 6"/>
                <a:gd name="T24" fmla="*/ 1 w 3"/>
                <a:gd name="T25" fmla="*/ 4 h 6"/>
                <a:gd name="T26" fmla="*/ 1 w 3"/>
                <a:gd name="T27" fmla="*/ 5 h 6"/>
                <a:gd name="T28" fmla="*/ 1 w 3"/>
                <a:gd name="T29" fmla="*/ 5 h 6"/>
                <a:gd name="T30" fmla="*/ 1 w 3"/>
                <a:gd name="T31" fmla="*/ 5 h 6"/>
                <a:gd name="T32" fmla="*/ 1 w 3"/>
                <a:gd name="T33" fmla="*/ 6 h 6"/>
                <a:gd name="T34" fmla="*/ 1 w 3"/>
                <a:gd name="T35" fmla="*/ 6 h 6"/>
                <a:gd name="T36" fmla="*/ 0 w 3"/>
                <a:gd name="T37" fmla="*/ 6 h 6"/>
                <a:gd name="T38" fmla="*/ 0 w 3"/>
                <a:gd name="T39" fmla="*/ 6 h 6"/>
                <a:gd name="T40" fmla="*/ 0 w 3"/>
                <a:gd name="T41" fmla="*/ 5 h 6"/>
                <a:gd name="T42" fmla="*/ 0 w 3"/>
                <a:gd name="T43" fmla="*/ 5 h 6"/>
                <a:gd name="T44" fmla="*/ 0 w 3"/>
                <a:gd name="T45" fmla="*/ 5 h 6"/>
                <a:gd name="T46" fmla="*/ 0 w 3"/>
                <a:gd name="T47" fmla="*/ 4 h 6"/>
                <a:gd name="T48" fmla="*/ 0 w 3"/>
                <a:gd name="T49" fmla="*/ 4 h 6"/>
                <a:gd name="T50" fmla="*/ 0 w 3"/>
                <a:gd name="T51" fmla="*/ 3 h 6"/>
                <a:gd name="T52" fmla="*/ 0 w 3"/>
                <a:gd name="T53" fmla="*/ 3 h 6"/>
                <a:gd name="T54" fmla="*/ 1 w 3"/>
                <a:gd name="T55" fmla="*/ 2 h 6"/>
                <a:gd name="T56" fmla="*/ 1 w 3"/>
                <a:gd name="T57" fmla="*/ 2 h 6"/>
                <a:gd name="T58" fmla="*/ 1 w 3"/>
                <a:gd name="T59" fmla="*/ 2 h 6"/>
                <a:gd name="T60" fmla="*/ 1 w 3"/>
                <a:gd name="T61" fmla="*/ 1 h 6"/>
                <a:gd name="T62" fmla="*/ 1 w 3"/>
                <a:gd name="T63" fmla="*/ 1 h 6"/>
                <a:gd name="T64" fmla="*/ 2 w 3"/>
                <a:gd name="T65" fmla="*/ 1 h 6"/>
                <a:gd name="T66" fmla="*/ 2 w 3"/>
                <a:gd name="T67" fmla="*/ 0 h 6"/>
                <a:gd name="T68" fmla="*/ 2 w 3"/>
                <a:gd name="T69" fmla="*/ 0 h 6"/>
                <a:gd name="T70" fmla="*/ 2 w 3"/>
                <a:gd name="T71" fmla="*/ 0 h 6"/>
                <a:gd name="T72" fmla="*/ 3 w 3"/>
                <a:gd name="T7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4" name="Freeform 168"/>
            <p:cNvSpPr>
              <a:spLocks/>
            </p:cNvSpPr>
            <p:nvPr/>
          </p:nvSpPr>
          <p:spPr bwMode="auto">
            <a:xfrm>
              <a:off x="1626" y="2829"/>
              <a:ext cx="36" cy="24"/>
            </a:xfrm>
            <a:custGeom>
              <a:avLst/>
              <a:gdLst>
                <a:gd name="T0" fmla="*/ 6 w 6"/>
                <a:gd name="T1" fmla="*/ 1 h 4"/>
                <a:gd name="T2" fmla="*/ 6 w 6"/>
                <a:gd name="T3" fmla="*/ 1 h 4"/>
                <a:gd name="T4" fmla="*/ 6 w 6"/>
                <a:gd name="T5" fmla="*/ 1 h 4"/>
                <a:gd name="T6" fmla="*/ 5 w 6"/>
                <a:gd name="T7" fmla="*/ 1 h 4"/>
                <a:gd name="T8" fmla="*/ 5 w 6"/>
                <a:gd name="T9" fmla="*/ 1 h 4"/>
                <a:gd name="T10" fmla="*/ 4 w 6"/>
                <a:gd name="T11" fmla="*/ 1 h 4"/>
                <a:gd name="T12" fmla="*/ 4 w 6"/>
                <a:gd name="T13" fmla="*/ 1 h 4"/>
                <a:gd name="T14" fmla="*/ 4 w 6"/>
                <a:gd name="T15" fmla="*/ 2 h 4"/>
                <a:gd name="T16" fmla="*/ 3 w 6"/>
                <a:gd name="T17" fmla="*/ 2 h 4"/>
                <a:gd name="T18" fmla="*/ 3 w 6"/>
                <a:gd name="T19" fmla="*/ 2 h 4"/>
                <a:gd name="T20" fmla="*/ 3 w 6"/>
                <a:gd name="T21" fmla="*/ 2 h 4"/>
                <a:gd name="T22" fmla="*/ 2 w 6"/>
                <a:gd name="T23" fmla="*/ 3 h 4"/>
                <a:gd name="T24" fmla="*/ 2 w 6"/>
                <a:gd name="T25" fmla="*/ 3 h 4"/>
                <a:gd name="T26" fmla="*/ 2 w 6"/>
                <a:gd name="T27" fmla="*/ 3 h 4"/>
                <a:gd name="T28" fmla="*/ 1 w 6"/>
                <a:gd name="T29" fmla="*/ 4 h 4"/>
                <a:gd name="T30" fmla="*/ 1 w 6"/>
                <a:gd name="T31" fmla="*/ 4 h 4"/>
                <a:gd name="T32" fmla="*/ 1 w 6"/>
                <a:gd name="T33" fmla="*/ 4 h 4"/>
                <a:gd name="T34" fmla="*/ 1 w 6"/>
                <a:gd name="T35" fmla="*/ 4 h 4"/>
                <a:gd name="T36" fmla="*/ 0 w 6"/>
                <a:gd name="T37" fmla="*/ 4 h 4"/>
                <a:gd name="T38" fmla="*/ 0 w 6"/>
                <a:gd name="T39" fmla="*/ 4 h 4"/>
                <a:gd name="T40" fmla="*/ 1 w 6"/>
                <a:gd name="T41" fmla="*/ 3 h 4"/>
                <a:gd name="T42" fmla="*/ 1 w 6"/>
                <a:gd name="T43" fmla="*/ 3 h 4"/>
                <a:gd name="T44" fmla="*/ 1 w 6"/>
                <a:gd name="T45" fmla="*/ 3 h 4"/>
                <a:gd name="T46" fmla="*/ 2 w 6"/>
                <a:gd name="T47" fmla="*/ 2 h 4"/>
                <a:gd name="T48" fmla="*/ 2 w 6"/>
                <a:gd name="T49" fmla="*/ 2 h 4"/>
                <a:gd name="T50" fmla="*/ 2 w 6"/>
                <a:gd name="T51" fmla="*/ 2 h 4"/>
                <a:gd name="T52" fmla="*/ 3 w 6"/>
                <a:gd name="T53" fmla="*/ 1 h 4"/>
                <a:gd name="T54" fmla="*/ 3 w 6"/>
                <a:gd name="T55" fmla="*/ 1 h 4"/>
                <a:gd name="T56" fmla="*/ 3 w 6"/>
                <a:gd name="T57" fmla="*/ 1 h 4"/>
                <a:gd name="T58" fmla="*/ 4 w 6"/>
                <a:gd name="T59" fmla="*/ 1 h 4"/>
                <a:gd name="T60" fmla="*/ 4 w 6"/>
                <a:gd name="T61" fmla="*/ 0 h 4"/>
                <a:gd name="T62" fmla="*/ 4 w 6"/>
                <a:gd name="T63" fmla="*/ 0 h 4"/>
                <a:gd name="T64" fmla="*/ 5 w 6"/>
                <a:gd name="T65" fmla="*/ 0 h 4"/>
                <a:gd name="T66" fmla="*/ 5 w 6"/>
                <a:gd name="T67" fmla="*/ 0 h 4"/>
                <a:gd name="T68" fmla="*/ 6 w 6"/>
                <a:gd name="T69" fmla="*/ 0 h 4"/>
                <a:gd name="T70" fmla="*/ 6 w 6"/>
                <a:gd name="T71" fmla="*/ 0 h 4"/>
                <a:gd name="T72" fmla="*/ 6 w 6"/>
                <a:gd name="T7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5" name="Freeform 169"/>
            <p:cNvSpPr>
              <a:spLocks/>
            </p:cNvSpPr>
            <p:nvPr/>
          </p:nvSpPr>
          <p:spPr bwMode="auto">
            <a:xfrm>
              <a:off x="1662" y="2823"/>
              <a:ext cx="60" cy="18"/>
            </a:xfrm>
            <a:custGeom>
              <a:avLst/>
              <a:gdLst>
                <a:gd name="T0" fmla="*/ 9 w 10"/>
                <a:gd name="T1" fmla="*/ 3 h 3"/>
                <a:gd name="T2" fmla="*/ 9 w 10"/>
                <a:gd name="T3" fmla="*/ 3 h 3"/>
                <a:gd name="T4" fmla="*/ 9 w 10"/>
                <a:gd name="T5" fmla="*/ 2 h 3"/>
                <a:gd name="T6" fmla="*/ 8 w 10"/>
                <a:gd name="T7" fmla="*/ 2 h 3"/>
                <a:gd name="T8" fmla="*/ 8 w 10"/>
                <a:gd name="T9" fmla="*/ 2 h 3"/>
                <a:gd name="T10" fmla="*/ 7 w 10"/>
                <a:gd name="T11" fmla="*/ 2 h 3"/>
                <a:gd name="T12" fmla="*/ 6 w 10"/>
                <a:gd name="T13" fmla="*/ 2 h 3"/>
                <a:gd name="T14" fmla="*/ 6 w 10"/>
                <a:gd name="T15" fmla="*/ 1 h 3"/>
                <a:gd name="T16" fmla="*/ 5 w 10"/>
                <a:gd name="T17" fmla="*/ 1 h 3"/>
                <a:gd name="T18" fmla="*/ 5 w 10"/>
                <a:gd name="T19" fmla="*/ 1 h 3"/>
                <a:gd name="T20" fmla="*/ 4 w 10"/>
                <a:gd name="T21" fmla="*/ 1 h 3"/>
                <a:gd name="T22" fmla="*/ 4 w 10"/>
                <a:gd name="T23" fmla="*/ 1 h 3"/>
                <a:gd name="T24" fmla="*/ 3 w 10"/>
                <a:gd name="T25" fmla="*/ 1 h 3"/>
                <a:gd name="T26" fmla="*/ 2 w 10"/>
                <a:gd name="T27" fmla="*/ 1 h 3"/>
                <a:gd name="T28" fmla="*/ 2 w 10"/>
                <a:gd name="T29" fmla="*/ 1 h 3"/>
                <a:gd name="T30" fmla="*/ 1 w 10"/>
                <a:gd name="T31" fmla="*/ 1 h 3"/>
                <a:gd name="T32" fmla="*/ 1 w 10"/>
                <a:gd name="T33" fmla="*/ 2 h 3"/>
                <a:gd name="T34" fmla="*/ 0 w 10"/>
                <a:gd name="T35" fmla="*/ 2 h 3"/>
                <a:gd name="T36" fmla="*/ 0 w 10"/>
                <a:gd name="T37" fmla="*/ 1 h 3"/>
                <a:gd name="T38" fmla="*/ 0 w 10"/>
                <a:gd name="T39" fmla="*/ 1 h 3"/>
                <a:gd name="T40" fmla="*/ 1 w 10"/>
                <a:gd name="T41" fmla="*/ 1 h 3"/>
                <a:gd name="T42" fmla="*/ 2 w 10"/>
                <a:gd name="T43" fmla="*/ 0 h 3"/>
                <a:gd name="T44" fmla="*/ 2 w 10"/>
                <a:gd name="T45" fmla="*/ 0 h 3"/>
                <a:gd name="T46" fmla="*/ 3 w 10"/>
                <a:gd name="T47" fmla="*/ 0 h 3"/>
                <a:gd name="T48" fmla="*/ 4 w 10"/>
                <a:gd name="T49" fmla="*/ 0 h 3"/>
                <a:gd name="T50" fmla="*/ 4 w 10"/>
                <a:gd name="T51" fmla="*/ 0 h 3"/>
                <a:gd name="T52" fmla="*/ 5 w 10"/>
                <a:gd name="T53" fmla="*/ 0 h 3"/>
                <a:gd name="T54" fmla="*/ 5 w 10"/>
                <a:gd name="T55" fmla="*/ 0 h 3"/>
                <a:gd name="T56" fmla="*/ 6 w 10"/>
                <a:gd name="T57" fmla="*/ 1 h 3"/>
                <a:gd name="T58" fmla="*/ 7 w 10"/>
                <a:gd name="T59" fmla="*/ 1 h 3"/>
                <a:gd name="T60" fmla="*/ 7 w 10"/>
                <a:gd name="T61" fmla="*/ 1 h 3"/>
                <a:gd name="T62" fmla="*/ 8 w 10"/>
                <a:gd name="T63" fmla="*/ 1 h 3"/>
                <a:gd name="T64" fmla="*/ 8 w 10"/>
                <a:gd name="T65" fmla="*/ 1 h 3"/>
                <a:gd name="T66" fmla="*/ 9 w 10"/>
                <a:gd name="T67" fmla="*/ 2 h 3"/>
                <a:gd name="T68" fmla="*/ 10 w 10"/>
                <a:gd name="T69" fmla="*/ 2 h 3"/>
                <a:gd name="T70" fmla="*/ 10 w 10"/>
                <a:gd name="T71" fmla="*/ 2 h 3"/>
                <a:gd name="T72" fmla="*/ 9 w 10"/>
                <a:gd name="T7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3">
                  <a:moveTo>
                    <a:pt x="9" y="3"/>
                  </a:move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6" name="Freeform 170"/>
            <p:cNvSpPr>
              <a:spLocks/>
            </p:cNvSpPr>
            <p:nvPr/>
          </p:nvSpPr>
          <p:spPr bwMode="auto">
            <a:xfrm>
              <a:off x="1716" y="2835"/>
              <a:ext cx="18" cy="42"/>
            </a:xfrm>
            <a:custGeom>
              <a:avLst/>
              <a:gdLst>
                <a:gd name="T0" fmla="*/ 2 w 3"/>
                <a:gd name="T1" fmla="*/ 7 h 7"/>
                <a:gd name="T2" fmla="*/ 2 w 3"/>
                <a:gd name="T3" fmla="*/ 7 h 7"/>
                <a:gd name="T4" fmla="*/ 2 w 3"/>
                <a:gd name="T5" fmla="*/ 6 h 7"/>
                <a:gd name="T6" fmla="*/ 2 w 3"/>
                <a:gd name="T7" fmla="*/ 5 h 7"/>
                <a:gd name="T8" fmla="*/ 2 w 3"/>
                <a:gd name="T9" fmla="*/ 4 h 7"/>
                <a:gd name="T10" fmla="*/ 2 w 3"/>
                <a:gd name="T11" fmla="*/ 3 h 7"/>
                <a:gd name="T12" fmla="*/ 1 w 3"/>
                <a:gd name="T13" fmla="*/ 3 h 7"/>
                <a:gd name="T14" fmla="*/ 1 w 3"/>
                <a:gd name="T15" fmla="*/ 2 h 7"/>
                <a:gd name="T16" fmla="*/ 1 w 3"/>
                <a:gd name="T17" fmla="*/ 1 h 7"/>
                <a:gd name="T18" fmla="*/ 0 w 3"/>
                <a:gd name="T19" fmla="*/ 1 h 7"/>
                <a:gd name="T20" fmla="*/ 1 w 3"/>
                <a:gd name="T21" fmla="*/ 0 h 7"/>
                <a:gd name="T22" fmla="*/ 1 w 3"/>
                <a:gd name="T23" fmla="*/ 1 h 7"/>
                <a:gd name="T24" fmla="*/ 2 w 3"/>
                <a:gd name="T25" fmla="*/ 1 h 7"/>
                <a:gd name="T26" fmla="*/ 2 w 3"/>
                <a:gd name="T27" fmla="*/ 2 h 7"/>
                <a:gd name="T28" fmla="*/ 3 w 3"/>
                <a:gd name="T29" fmla="*/ 3 h 7"/>
                <a:gd name="T30" fmla="*/ 3 w 3"/>
                <a:gd name="T31" fmla="*/ 4 h 7"/>
                <a:gd name="T32" fmla="*/ 3 w 3"/>
                <a:gd name="T33" fmla="*/ 5 h 7"/>
                <a:gd name="T34" fmla="*/ 3 w 3"/>
                <a:gd name="T35" fmla="*/ 6 h 7"/>
                <a:gd name="T36" fmla="*/ 3 w 3"/>
                <a:gd name="T37" fmla="*/ 7 h 7"/>
                <a:gd name="T38" fmla="*/ 3 w 3"/>
                <a:gd name="T39" fmla="*/ 7 h 7"/>
                <a:gd name="T40" fmla="*/ 2 w 3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7">
                  <a:moveTo>
                    <a:pt x="2" y="7"/>
                  </a:move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7" name="Freeform 171"/>
            <p:cNvSpPr>
              <a:spLocks/>
            </p:cNvSpPr>
            <p:nvPr/>
          </p:nvSpPr>
          <p:spPr bwMode="auto">
            <a:xfrm>
              <a:off x="1722" y="2877"/>
              <a:ext cx="12" cy="36"/>
            </a:xfrm>
            <a:custGeom>
              <a:avLst/>
              <a:gdLst>
                <a:gd name="T0" fmla="*/ 0 w 2"/>
                <a:gd name="T1" fmla="*/ 6 h 6"/>
                <a:gd name="T2" fmla="*/ 0 w 2"/>
                <a:gd name="T3" fmla="*/ 5 h 6"/>
                <a:gd name="T4" fmla="*/ 0 w 2"/>
                <a:gd name="T5" fmla="*/ 5 h 6"/>
                <a:gd name="T6" fmla="*/ 0 w 2"/>
                <a:gd name="T7" fmla="*/ 4 h 6"/>
                <a:gd name="T8" fmla="*/ 0 w 2"/>
                <a:gd name="T9" fmla="*/ 4 h 6"/>
                <a:gd name="T10" fmla="*/ 0 w 2"/>
                <a:gd name="T11" fmla="*/ 4 h 6"/>
                <a:gd name="T12" fmla="*/ 0 w 2"/>
                <a:gd name="T13" fmla="*/ 4 h 6"/>
                <a:gd name="T14" fmla="*/ 1 w 2"/>
                <a:gd name="T15" fmla="*/ 3 h 6"/>
                <a:gd name="T16" fmla="*/ 1 w 2"/>
                <a:gd name="T17" fmla="*/ 3 h 6"/>
                <a:gd name="T18" fmla="*/ 1 w 2"/>
                <a:gd name="T19" fmla="*/ 2 h 6"/>
                <a:gd name="T20" fmla="*/ 1 w 2"/>
                <a:gd name="T21" fmla="*/ 2 h 6"/>
                <a:gd name="T22" fmla="*/ 1 w 2"/>
                <a:gd name="T23" fmla="*/ 2 h 6"/>
                <a:gd name="T24" fmla="*/ 1 w 2"/>
                <a:gd name="T25" fmla="*/ 1 h 6"/>
                <a:gd name="T26" fmla="*/ 1 w 2"/>
                <a:gd name="T27" fmla="*/ 1 h 6"/>
                <a:gd name="T28" fmla="*/ 1 w 2"/>
                <a:gd name="T29" fmla="*/ 1 h 6"/>
                <a:gd name="T30" fmla="*/ 1 w 2"/>
                <a:gd name="T31" fmla="*/ 0 h 6"/>
                <a:gd name="T32" fmla="*/ 1 w 2"/>
                <a:gd name="T33" fmla="*/ 0 h 6"/>
                <a:gd name="T34" fmla="*/ 1 w 2"/>
                <a:gd name="T35" fmla="*/ 0 h 6"/>
                <a:gd name="T36" fmla="*/ 2 w 2"/>
                <a:gd name="T37" fmla="*/ 0 h 6"/>
                <a:gd name="T38" fmla="*/ 2 w 2"/>
                <a:gd name="T39" fmla="*/ 0 h 6"/>
                <a:gd name="T40" fmla="*/ 2 w 2"/>
                <a:gd name="T41" fmla="*/ 0 h 6"/>
                <a:gd name="T42" fmla="*/ 2 w 2"/>
                <a:gd name="T43" fmla="*/ 1 h 6"/>
                <a:gd name="T44" fmla="*/ 2 w 2"/>
                <a:gd name="T45" fmla="*/ 1 h 6"/>
                <a:gd name="T46" fmla="*/ 2 w 2"/>
                <a:gd name="T47" fmla="*/ 2 h 6"/>
                <a:gd name="T48" fmla="*/ 2 w 2"/>
                <a:gd name="T49" fmla="*/ 2 h 6"/>
                <a:gd name="T50" fmla="*/ 2 w 2"/>
                <a:gd name="T51" fmla="*/ 2 h 6"/>
                <a:gd name="T52" fmla="*/ 2 w 2"/>
                <a:gd name="T53" fmla="*/ 3 h 6"/>
                <a:gd name="T54" fmla="*/ 2 w 2"/>
                <a:gd name="T55" fmla="*/ 3 h 6"/>
                <a:gd name="T56" fmla="*/ 1 w 2"/>
                <a:gd name="T57" fmla="*/ 4 h 6"/>
                <a:gd name="T58" fmla="*/ 1 w 2"/>
                <a:gd name="T59" fmla="*/ 4 h 6"/>
                <a:gd name="T60" fmla="*/ 1 w 2"/>
                <a:gd name="T61" fmla="*/ 4 h 6"/>
                <a:gd name="T62" fmla="*/ 1 w 2"/>
                <a:gd name="T63" fmla="*/ 5 h 6"/>
                <a:gd name="T64" fmla="*/ 1 w 2"/>
                <a:gd name="T65" fmla="*/ 5 h 6"/>
                <a:gd name="T66" fmla="*/ 0 w 2"/>
                <a:gd name="T67" fmla="*/ 5 h 6"/>
                <a:gd name="T68" fmla="*/ 0 w 2"/>
                <a:gd name="T69" fmla="*/ 5 h 6"/>
                <a:gd name="T70" fmla="*/ 0 w 2"/>
                <a:gd name="T71" fmla="*/ 5 h 6"/>
                <a:gd name="T72" fmla="*/ 0 w 2"/>
                <a:gd name="T7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" h="6">
                  <a:moveTo>
                    <a:pt x="0" y="6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8" name="Freeform 172"/>
            <p:cNvSpPr>
              <a:spLocks/>
            </p:cNvSpPr>
            <p:nvPr/>
          </p:nvSpPr>
          <p:spPr bwMode="auto">
            <a:xfrm>
              <a:off x="1602" y="2739"/>
              <a:ext cx="78" cy="96"/>
            </a:xfrm>
            <a:custGeom>
              <a:avLst/>
              <a:gdLst>
                <a:gd name="T0" fmla="*/ 9 w 13"/>
                <a:gd name="T1" fmla="*/ 0 h 16"/>
                <a:gd name="T2" fmla="*/ 9 w 13"/>
                <a:gd name="T3" fmla="*/ 0 h 16"/>
                <a:gd name="T4" fmla="*/ 8 w 13"/>
                <a:gd name="T5" fmla="*/ 0 h 16"/>
                <a:gd name="T6" fmla="*/ 7 w 13"/>
                <a:gd name="T7" fmla="*/ 0 h 16"/>
                <a:gd name="T8" fmla="*/ 7 w 13"/>
                <a:gd name="T9" fmla="*/ 0 h 16"/>
                <a:gd name="T10" fmla="*/ 6 w 13"/>
                <a:gd name="T11" fmla="*/ 0 h 16"/>
                <a:gd name="T12" fmla="*/ 6 w 13"/>
                <a:gd name="T13" fmla="*/ 0 h 16"/>
                <a:gd name="T14" fmla="*/ 5 w 13"/>
                <a:gd name="T15" fmla="*/ 0 h 16"/>
                <a:gd name="T16" fmla="*/ 4 w 13"/>
                <a:gd name="T17" fmla="*/ 0 h 16"/>
                <a:gd name="T18" fmla="*/ 3 w 13"/>
                <a:gd name="T19" fmla="*/ 1 h 16"/>
                <a:gd name="T20" fmla="*/ 3 w 13"/>
                <a:gd name="T21" fmla="*/ 1 h 16"/>
                <a:gd name="T22" fmla="*/ 2 w 13"/>
                <a:gd name="T23" fmla="*/ 1 h 16"/>
                <a:gd name="T24" fmla="*/ 2 w 13"/>
                <a:gd name="T25" fmla="*/ 2 h 16"/>
                <a:gd name="T26" fmla="*/ 1 w 13"/>
                <a:gd name="T27" fmla="*/ 2 h 16"/>
                <a:gd name="T28" fmla="*/ 1 w 13"/>
                <a:gd name="T29" fmla="*/ 3 h 16"/>
                <a:gd name="T30" fmla="*/ 1 w 13"/>
                <a:gd name="T31" fmla="*/ 3 h 16"/>
                <a:gd name="T32" fmla="*/ 0 w 13"/>
                <a:gd name="T33" fmla="*/ 3 h 16"/>
                <a:gd name="T34" fmla="*/ 1 w 13"/>
                <a:gd name="T35" fmla="*/ 5 h 16"/>
                <a:gd name="T36" fmla="*/ 2 w 13"/>
                <a:gd name="T37" fmla="*/ 7 h 16"/>
                <a:gd name="T38" fmla="*/ 2 w 13"/>
                <a:gd name="T39" fmla="*/ 8 h 16"/>
                <a:gd name="T40" fmla="*/ 3 w 13"/>
                <a:gd name="T41" fmla="*/ 10 h 16"/>
                <a:gd name="T42" fmla="*/ 4 w 13"/>
                <a:gd name="T43" fmla="*/ 11 h 16"/>
                <a:gd name="T44" fmla="*/ 5 w 13"/>
                <a:gd name="T45" fmla="*/ 13 h 16"/>
                <a:gd name="T46" fmla="*/ 5 w 13"/>
                <a:gd name="T47" fmla="*/ 14 h 16"/>
                <a:gd name="T48" fmla="*/ 6 w 13"/>
                <a:gd name="T49" fmla="*/ 16 h 16"/>
                <a:gd name="T50" fmla="*/ 6 w 13"/>
                <a:gd name="T51" fmla="*/ 16 h 16"/>
                <a:gd name="T52" fmla="*/ 7 w 13"/>
                <a:gd name="T53" fmla="*/ 16 h 16"/>
                <a:gd name="T54" fmla="*/ 7 w 13"/>
                <a:gd name="T55" fmla="*/ 16 h 16"/>
                <a:gd name="T56" fmla="*/ 8 w 13"/>
                <a:gd name="T57" fmla="*/ 16 h 16"/>
                <a:gd name="T58" fmla="*/ 8 w 13"/>
                <a:gd name="T59" fmla="*/ 15 h 16"/>
                <a:gd name="T60" fmla="*/ 9 w 13"/>
                <a:gd name="T61" fmla="*/ 15 h 16"/>
                <a:gd name="T62" fmla="*/ 9 w 13"/>
                <a:gd name="T63" fmla="*/ 15 h 16"/>
                <a:gd name="T64" fmla="*/ 10 w 13"/>
                <a:gd name="T65" fmla="*/ 15 h 16"/>
                <a:gd name="T66" fmla="*/ 10 w 13"/>
                <a:gd name="T67" fmla="*/ 15 h 16"/>
                <a:gd name="T68" fmla="*/ 11 w 13"/>
                <a:gd name="T69" fmla="*/ 15 h 16"/>
                <a:gd name="T70" fmla="*/ 11 w 13"/>
                <a:gd name="T71" fmla="*/ 14 h 16"/>
                <a:gd name="T72" fmla="*/ 11 w 13"/>
                <a:gd name="T73" fmla="*/ 14 h 16"/>
                <a:gd name="T74" fmla="*/ 12 w 13"/>
                <a:gd name="T75" fmla="*/ 14 h 16"/>
                <a:gd name="T76" fmla="*/ 12 w 13"/>
                <a:gd name="T77" fmla="*/ 14 h 16"/>
                <a:gd name="T78" fmla="*/ 13 w 13"/>
                <a:gd name="T79" fmla="*/ 14 h 16"/>
                <a:gd name="T80" fmla="*/ 13 w 13"/>
                <a:gd name="T81" fmla="*/ 13 h 16"/>
                <a:gd name="T82" fmla="*/ 12 w 13"/>
                <a:gd name="T83" fmla="*/ 12 h 16"/>
                <a:gd name="T84" fmla="*/ 12 w 13"/>
                <a:gd name="T85" fmla="*/ 10 h 16"/>
                <a:gd name="T86" fmla="*/ 12 w 13"/>
                <a:gd name="T87" fmla="*/ 8 h 16"/>
                <a:gd name="T88" fmla="*/ 11 w 13"/>
                <a:gd name="T89" fmla="*/ 7 h 16"/>
                <a:gd name="T90" fmla="*/ 11 w 13"/>
                <a:gd name="T91" fmla="*/ 5 h 16"/>
                <a:gd name="T92" fmla="*/ 10 w 13"/>
                <a:gd name="T93" fmla="*/ 4 h 16"/>
                <a:gd name="T94" fmla="*/ 10 w 13"/>
                <a:gd name="T95" fmla="*/ 2 h 16"/>
                <a:gd name="T96" fmla="*/ 9 w 13"/>
                <a:gd name="T9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" h="16">
                  <a:moveTo>
                    <a:pt x="9" y="0"/>
                  </a:moveTo>
                  <a:lnTo>
                    <a:pt x="9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5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29" name="Freeform 173"/>
            <p:cNvSpPr>
              <a:spLocks/>
            </p:cNvSpPr>
            <p:nvPr/>
          </p:nvSpPr>
          <p:spPr bwMode="auto">
            <a:xfrm>
              <a:off x="1602" y="2733"/>
              <a:ext cx="54" cy="30"/>
            </a:xfrm>
            <a:custGeom>
              <a:avLst/>
              <a:gdLst>
                <a:gd name="T0" fmla="*/ 0 w 9"/>
                <a:gd name="T1" fmla="*/ 5 h 5"/>
                <a:gd name="T2" fmla="*/ 0 w 9"/>
                <a:gd name="T3" fmla="*/ 4 h 5"/>
                <a:gd name="T4" fmla="*/ 0 w 9"/>
                <a:gd name="T5" fmla="*/ 4 h 5"/>
                <a:gd name="T6" fmla="*/ 1 w 9"/>
                <a:gd name="T7" fmla="*/ 3 h 5"/>
                <a:gd name="T8" fmla="*/ 1 w 9"/>
                <a:gd name="T9" fmla="*/ 3 h 5"/>
                <a:gd name="T10" fmla="*/ 2 w 9"/>
                <a:gd name="T11" fmla="*/ 2 h 5"/>
                <a:gd name="T12" fmla="*/ 2 w 9"/>
                <a:gd name="T13" fmla="*/ 2 h 5"/>
                <a:gd name="T14" fmla="*/ 3 w 9"/>
                <a:gd name="T15" fmla="*/ 2 h 5"/>
                <a:gd name="T16" fmla="*/ 3 w 9"/>
                <a:gd name="T17" fmla="*/ 1 h 5"/>
                <a:gd name="T18" fmla="*/ 4 w 9"/>
                <a:gd name="T19" fmla="*/ 1 h 5"/>
                <a:gd name="T20" fmla="*/ 5 w 9"/>
                <a:gd name="T21" fmla="*/ 1 h 5"/>
                <a:gd name="T22" fmla="*/ 5 w 9"/>
                <a:gd name="T23" fmla="*/ 1 h 5"/>
                <a:gd name="T24" fmla="*/ 6 w 9"/>
                <a:gd name="T25" fmla="*/ 1 h 5"/>
                <a:gd name="T26" fmla="*/ 7 w 9"/>
                <a:gd name="T27" fmla="*/ 0 h 5"/>
                <a:gd name="T28" fmla="*/ 7 w 9"/>
                <a:gd name="T29" fmla="*/ 0 h 5"/>
                <a:gd name="T30" fmla="*/ 8 w 9"/>
                <a:gd name="T31" fmla="*/ 1 h 5"/>
                <a:gd name="T32" fmla="*/ 9 w 9"/>
                <a:gd name="T33" fmla="*/ 1 h 5"/>
                <a:gd name="T34" fmla="*/ 9 w 9"/>
                <a:gd name="T35" fmla="*/ 1 h 5"/>
                <a:gd name="T36" fmla="*/ 9 w 9"/>
                <a:gd name="T37" fmla="*/ 2 h 5"/>
                <a:gd name="T38" fmla="*/ 9 w 9"/>
                <a:gd name="T39" fmla="*/ 1 h 5"/>
                <a:gd name="T40" fmla="*/ 8 w 9"/>
                <a:gd name="T41" fmla="*/ 1 h 5"/>
                <a:gd name="T42" fmla="*/ 7 w 9"/>
                <a:gd name="T43" fmla="*/ 1 h 5"/>
                <a:gd name="T44" fmla="*/ 7 w 9"/>
                <a:gd name="T45" fmla="*/ 1 h 5"/>
                <a:gd name="T46" fmla="*/ 6 w 9"/>
                <a:gd name="T47" fmla="*/ 1 h 5"/>
                <a:gd name="T48" fmla="*/ 6 w 9"/>
                <a:gd name="T49" fmla="*/ 1 h 5"/>
                <a:gd name="T50" fmla="*/ 5 w 9"/>
                <a:gd name="T51" fmla="*/ 2 h 5"/>
                <a:gd name="T52" fmla="*/ 4 w 9"/>
                <a:gd name="T53" fmla="*/ 2 h 5"/>
                <a:gd name="T54" fmla="*/ 4 w 9"/>
                <a:gd name="T55" fmla="*/ 2 h 5"/>
                <a:gd name="T56" fmla="*/ 3 w 9"/>
                <a:gd name="T57" fmla="*/ 2 h 5"/>
                <a:gd name="T58" fmla="*/ 3 w 9"/>
                <a:gd name="T59" fmla="*/ 3 h 5"/>
                <a:gd name="T60" fmla="*/ 2 w 9"/>
                <a:gd name="T61" fmla="*/ 3 h 5"/>
                <a:gd name="T62" fmla="*/ 2 w 9"/>
                <a:gd name="T63" fmla="*/ 4 h 5"/>
                <a:gd name="T64" fmla="*/ 1 w 9"/>
                <a:gd name="T65" fmla="*/ 4 h 5"/>
                <a:gd name="T66" fmla="*/ 1 w 9"/>
                <a:gd name="T67" fmla="*/ 4 h 5"/>
                <a:gd name="T68" fmla="*/ 1 w 9"/>
                <a:gd name="T69" fmla="*/ 5 h 5"/>
                <a:gd name="T70" fmla="*/ 1 w 9"/>
                <a:gd name="T71" fmla="*/ 4 h 5"/>
                <a:gd name="T72" fmla="*/ 0 w 9"/>
                <a:gd name="T7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0" name="Freeform 174"/>
            <p:cNvSpPr>
              <a:spLocks/>
            </p:cNvSpPr>
            <p:nvPr/>
          </p:nvSpPr>
          <p:spPr bwMode="auto">
            <a:xfrm>
              <a:off x="1602" y="2757"/>
              <a:ext cx="36" cy="78"/>
            </a:xfrm>
            <a:custGeom>
              <a:avLst/>
              <a:gdLst>
                <a:gd name="T0" fmla="*/ 6 w 6"/>
                <a:gd name="T1" fmla="*/ 13 h 13"/>
                <a:gd name="T2" fmla="*/ 6 w 6"/>
                <a:gd name="T3" fmla="*/ 13 h 13"/>
                <a:gd name="T4" fmla="*/ 5 w 6"/>
                <a:gd name="T5" fmla="*/ 11 h 13"/>
                <a:gd name="T6" fmla="*/ 4 w 6"/>
                <a:gd name="T7" fmla="*/ 10 h 13"/>
                <a:gd name="T8" fmla="*/ 3 w 6"/>
                <a:gd name="T9" fmla="*/ 8 h 13"/>
                <a:gd name="T10" fmla="*/ 3 w 6"/>
                <a:gd name="T11" fmla="*/ 7 h 13"/>
                <a:gd name="T12" fmla="*/ 2 w 6"/>
                <a:gd name="T13" fmla="*/ 5 h 13"/>
                <a:gd name="T14" fmla="*/ 1 w 6"/>
                <a:gd name="T15" fmla="*/ 4 h 13"/>
                <a:gd name="T16" fmla="*/ 1 w 6"/>
                <a:gd name="T17" fmla="*/ 2 h 13"/>
                <a:gd name="T18" fmla="*/ 0 w 6"/>
                <a:gd name="T19" fmla="*/ 1 h 13"/>
                <a:gd name="T20" fmla="*/ 1 w 6"/>
                <a:gd name="T21" fmla="*/ 0 h 13"/>
                <a:gd name="T22" fmla="*/ 2 w 6"/>
                <a:gd name="T23" fmla="*/ 2 h 13"/>
                <a:gd name="T24" fmla="*/ 2 w 6"/>
                <a:gd name="T25" fmla="*/ 3 h 13"/>
                <a:gd name="T26" fmla="*/ 3 w 6"/>
                <a:gd name="T27" fmla="*/ 5 h 13"/>
                <a:gd name="T28" fmla="*/ 4 w 6"/>
                <a:gd name="T29" fmla="*/ 6 h 13"/>
                <a:gd name="T30" fmla="*/ 4 w 6"/>
                <a:gd name="T31" fmla="*/ 8 h 13"/>
                <a:gd name="T32" fmla="*/ 5 w 6"/>
                <a:gd name="T33" fmla="*/ 10 h 13"/>
                <a:gd name="T34" fmla="*/ 6 w 6"/>
                <a:gd name="T35" fmla="*/ 11 h 13"/>
                <a:gd name="T36" fmla="*/ 6 w 6"/>
                <a:gd name="T37" fmla="*/ 13 h 13"/>
                <a:gd name="T38" fmla="*/ 6 w 6"/>
                <a:gd name="T39" fmla="*/ 12 h 13"/>
                <a:gd name="T40" fmla="*/ 6 w 6"/>
                <a:gd name="T4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13">
                  <a:moveTo>
                    <a:pt x="6" y="13"/>
                  </a:moveTo>
                  <a:lnTo>
                    <a:pt x="6" y="13"/>
                  </a:lnTo>
                  <a:lnTo>
                    <a:pt x="5" y="11"/>
                  </a:lnTo>
                  <a:lnTo>
                    <a:pt x="4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2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3"/>
                  </a:lnTo>
                  <a:lnTo>
                    <a:pt x="3" y="5"/>
                  </a:lnTo>
                  <a:lnTo>
                    <a:pt x="4" y="6"/>
                  </a:lnTo>
                  <a:lnTo>
                    <a:pt x="4" y="8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1" name="Freeform 175"/>
            <p:cNvSpPr>
              <a:spLocks/>
            </p:cNvSpPr>
            <p:nvPr/>
          </p:nvSpPr>
          <p:spPr bwMode="auto">
            <a:xfrm>
              <a:off x="1638" y="2817"/>
              <a:ext cx="42" cy="18"/>
            </a:xfrm>
            <a:custGeom>
              <a:avLst/>
              <a:gdLst>
                <a:gd name="T0" fmla="*/ 7 w 7"/>
                <a:gd name="T1" fmla="*/ 0 h 3"/>
                <a:gd name="T2" fmla="*/ 7 w 7"/>
                <a:gd name="T3" fmla="*/ 1 h 3"/>
                <a:gd name="T4" fmla="*/ 7 w 7"/>
                <a:gd name="T5" fmla="*/ 1 h 3"/>
                <a:gd name="T6" fmla="*/ 6 w 7"/>
                <a:gd name="T7" fmla="*/ 1 h 3"/>
                <a:gd name="T8" fmla="*/ 6 w 7"/>
                <a:gd name="T9" fmla="*/ 1 h 3"/>
                <a:gd name="T10" fmla="*/ 6 w 7"/>
                <a:gd name="T11" fmla="*/ 2 h 3"/>
                <a:gd name="T12" fmla="*/ 5 w 7"/>
                <a:gd name="T13" fmla="*/ 2 h 3"/>
                <a:gd name="T14" fmla="*/ 5 w 7"/>
                <a:gd name="T15" fmla="*/ 2 h 3"/>
                <a:gd name="T16" fmla="*/ 4 w 7"/>
                <a:gd name="T17" fmla="*/ 2 h 3"/>
                <a:gd name="T18" fmla="*/ 4 w 7"/>
                <a:gd name="T19" fmla="*/ 2 h 3"/>
                <a:gd name="T20" fmla="*/ 3 w 7"/>
                <a:gd name="T21" fmla="*/ 3 h 3"/>
                <a:gd name="T22" fmla="*/ 3 w 7"/>
                <a:gd name="T23" fmla="*/ 3 h 3"/>
                <a:gd name="T24" fmla="*/ 2 w 7"/>
                <a:gd name="T25" fmla="*/ 3 h 3"/>
                <a:gd name="T26" fmla="*/ 2 w 7"/>
                <a:gd name="T27" fmla="*/ 3 h 3"/>
                <a:gd name="T28" fmla="*/ 1 w 7"/>
                <a:gd name="T29" fmla="*/ 3 h 3"/>
                <a:gd name="T30" fmla="*/ 1 w 7"/>
                <a:gd name="T31" fmla="*/ 3 h 3"/>
                <a:gd name="T32" fmla="*/ 0 w 7"/>
                <a:gd name="T33" fmla="*/ 3 h 3"/>
                <a:gd name="T34" fmla="*/ 0 w 7"/>
                <a:gd name="T35" fmla="*/ 3 h 3"/>
                <a:gd name="T36" fmla="*/ 0 w 7"/>
                <a:gd name="T37" fmla="*/ 2 h 3"/>
                <a:gd name="T38" fmla="*/ 0 w 7"/>
                <a:gd name="T39" fmla="*/ 2 h 3"/>
                <a:gd name="T40" fmla="*/ 1 w 7"/>
                <a:gd name="T41" fmla="*/ 2 h 3"/>
                <a:gd name="T42" fmla="*/ 1 w 7"/>
                <a:gd name="T43" fmla="*/ 2 h 3"/>
                <a:gd name="T44" fmla="*/ 2 w 7"/>
                <a:gd name="T45" fmla="*/ 2 h 3"/>
                <a:gd name="T46" fmla="*/ 2 w 7"/>
                <a:gd name="T47" fmla="*/ 2 h 3"/>
                <a:gd name="T48" fmla="*/ 3 w 7"/>
                <a:gd name="T49" fmla="*/ 2 h 3"/>
                <a:gd name="T50" fmla="*/ 3 w 7"/>
                <a:gd name="T51" fmla="*/ 2 h 3"/>
                <a:gd name="T52" fmla="*/ 3 w 7"/>
                <a:gd name="T53" fmla="*/ 2 h 3"/>
                <a:gd name="T54" fmla="*/ 4 w 7"/>
                <a:gd name="T55" fmla="*/ 1 h 3"/>
                <a:gd name="T56" fmla="*/ 4 w 7"/>
                <a:gd name="T57" fmla="*/ 1 h 3"/>
                <a:gd name="T58" fmla="*/ 5 w 7"/>
                <a:gd name="T59" fmla="*/ 1 h 3"/>
                <a:gd name="T60" fmla="*/ 5 w 7"/>
                <a:gd name="T61" fmla="*/ 1 h 3"/>
                <a:gd name="T62" fmla="*/ 6 w 7"/>
                <a:gd name="T63" fmla="*/ 1 h 3"/>
                <a:gd name="T64" fmla="*/ 6 w 7"/>
                <a:gd name="T65" fmla="*/ 0 h 3"/>
                <a:gd name="T66" fmla="*/ 6 w 7"/>
                <a:gd name="T67" fmla="*/ 0 h 3"/>
                <a:gd name="T68" fmla="*/ 7 w 7"/>
                <a:gd name="T69" fmla="*/ 0 h 3"/>
                <a:gd name="T70" fmla="*/ 7 w 7"/>
                <a:gd name="T71" fmla="*/ 1 h 3"/>
                <a:gd name="T72" fmla="*/ 7 w 7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2" name="Freeform 176"/>
            <p:cNvSpPr>
              <a:spLocks/>
            </p:cNvSpPr>
            <p:nvPr/>
          </p:nvSpPr>
          <p:spPr bwMode="auto">
            <a:xfrm>
              <a:off x="1656" y="2739"/>
              <a:ext cx="24" cy="84"/>
            </a:xfrm>
            <a:custGeom>
              <a:avLst/>
              <a:gdLst>
                <a:gd name="T0" fmla="*/ 0 w 4"/>
                <a:gd name="T1" fmla="*/ 0 h 14"/>
                <a:gd name="T2" fmla="*/ 0 w 4"/>
                <a:gd name="T3" fmla="*/ 0 h 14"/>
                <a:gd name="T4" fmla="*/ 1 w 4"/>
                <a:gd name="T5" fmla="*/ 2 h 14"/>
                <a:gd name="T6" fmla="*/ 2 w 4"/>
                <a:gd name="T7" fmla="*/ 3 h 14"/>
                <a:gd name="T8" fmla="*/ 2 w 4"/>
                <a:gd name="T9" fmla="*/ 5 h 14"/>
                <a:gd name="T10" fmla="*/ 3 w 4"/>
                <a:gd name="T11" fmla="*/ 7 h 14"/>
                <a:gd name="T12" fmla="*/ 3 w 4"/>
                <a:gd name="T13" fmla="*/ 8 h 14"/>
                <a:gd name="T14" fmla="*/ 3 w 4"/>
                <a:gd name="T15" fmla="*/ 10 h 14"/>
                <a:gd name="T16" fmla="*/ 4 w 4"/>
                <a:gd name="T17" fmla="*/ 12 h 14"/>
                <a:gd name="T18" fmla="*/ 4 w 4"/>
                <a:gd name="T19" fmla="*/ 13 h 14"/>
                <a:gd name="T20" fmla="*/ 4 w 4"/>
                <a:gd name="T21" fmla="*/ 14 h 14"/>
                <a:gd name="T22" fmla="*/ 3 w 4"/>
                <a:gd name="T23" fmla="*/ 12 h 14"/>
                <a:gd name="T24" fmla="*/ 3 w 4"/>
                <a:gd name="T25" fmla="*/ 10 h 14"/>
                <a:gd name="T26" fmla="*/ 2 w 4"/>
                <a:gd name="T27" fmla="*/ 8 h 14"/>
                <a:gd name="T28" fmla="*/ 2 w 4"/>
                <a:gd name="T29" fmla="*/ 7 h 14"/>
                <a:gd name="T30" fmla="*/ 1 w 4"/>
                <a:gd name="T31" fmla="*/ 5 h 14"/>
                <a:gd name="T32" fmla="*/ 1 w 4"/>
                <a:gd name="T33" fmla="*/ 4 h 14"/>
                <a:gd name="T34" fmla="*/ 0 w 4"/>
                <a:gd name="T35" fmla="*/ 2 h 14"/>
                <a:gd name="T36" fmla="*/ 0 w 4"/>
                <a:gd name="T37" fmla="*/ 0 h 14"/>
                <a:gd name="T38" fmla="*/ 0 w 4"/>
                <a:gd name="T39" fmla="*/ 1 h 14"/>
                <a:gd name="T40" fmla="*/ 0 w 4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14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3" name="Freeform 177"/>
            <p:cNvSpPr>
              <a:spLocks/>
            </p:cNvSpPr>
            <p:nvPr/>
          </p:nvSpPr>
          <p:spPr bwMode="auto">
            <a:xfrm>
              <a:off x="1620" y="2757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4" name="Freeform 178"/>
            <p:cNvSpPr>
              <a:spLocks/>
            </p:cNvSpPr>
            <p:nvPr/>
          </p:nvSpPr>
          <p:spPr bwMode="auto">
            <a:xfrm>
              <a:off x="1608" y="2757"/>
              <a:ext cx="18" cy="12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1 h 2"/>
                <a:gd name="T4" fmla="*/ 2 w 3"/>
                <a:gd name="T5" fmla="*/ 0 h 2"/>
                <a:gd name="T6" fmla="*/ 3 w 3"/>
                <a:gd name="T7" fmla="*/ 1 h 2"/>
                <a:gd name="T8" fmla="*/ 0 w 3"/>
                <a:gd name="T9" fmla="*/ 2 h 2"/>
                <a:gd name="T10" fmla="*/ 0 w 3"/>
                <a:gd name="T11" fmla="*/ 2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5" name="Freeform 179"/>
            <p:cNvSpPr>
              <a:spLocks/>
            </p:cNvSpPr>
            <p:nvPr/>
          </p:nvSpPr>
          <p:spPr bwMode="auto">
            <a:xfrm>
              <a:off x="1626" y="2769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6" name="Freeform 180"/>
            <p:cNvSpPr>
              <a:spLocks/>
            </p:cNvSpPr>
            <p:nvPr/>
          </p:nvSpPr>
          <p:spPr bwMode="auto">
            <a:xfrm>
              <a:off x="1608" y="2769"/>
              <a:ext cx="18" cy="12"/>
            </a:xfrm>
            <a:custGeom>
              <a:avLst/>
              <a:gdLst>
                <a:gd name="T0" fmla="*/ 1 w 3"/>
                <a:gd name="T1" fmla="*/ 1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1 h 2"/>
                <a:gd name="T8" fmla="*/ 1 w 3"/>
                <a:gd name="T9" fmla="*/ 2 h 2"/>
                <a:gd name="T10" fmla="*/ 1 w 3"/>
                <a:gd name="T11" fmla="*/ 1 h 2"/>
                <a:gd name="T12" fmla="*/ 1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1" y="1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7" name="Freeform 181"/>
            <p:cNvSpPr>
              <a:spLocks/>
            </p:cNvSpPr>
            <p:nvPr/>
          </p:nvSpPr>
          <p:spPr bwMode="auto">
            <a:xfrm>
              <a:off x="1608" y="277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8" name="Freeform 182"/>
            <p:cNvSpPr>
              <a:spLocks/>
            </p:cNvSpPr>
            <p:nvPr/>
          </p:nvSpPr>
          <p:spPr bwMode="auto">
            <a:xfrm>
              <a:off x="1614" y="2781"/>
              <a:ext cx="18" cy="6"/>
            </a:xfrm>
            <a:custGeom>
              <a:avLst/>
              <a:gdLst>
                <a:gd name="T0" fmla="*/ 0 w 3"/>
                <a:gd name="T1" fmla="*/ 1 h 1"/>
                <a:gd name="T2" fmla="*/ 0 w 3"/>
                <a:gd name="T3" fmla="*/ 0 h 1"/>
                <a:gd name="T4" fmla="*/ 3 w 3"/>
                <a:gd name="T5" fmla="*/ 0 h 1"/>
                <a:gd name="T6" fmla="*/ 3 w 3"/>
                <a:gd name="T7" fmla="*/ 0 h 1"/>
                <a:gd name="T8" fmla="*/ 1 w 3"/>
                <a:gd name="T9" fmla="*/ 1 h 1"/>
                <a:gd name="T10" fmla="*/ 0 w 3"/>
                <a:gd name="T11" fmla="*/ 1 h 1"/>
                <a:gd name="T12" fmla="*/ 0 w 3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39" name="Freeform 183"/>
            <p:cNvSpPr>
              <a:spLocks/>
            </p:cNvSpPr>
            <p:nvPr/>
          </p:nvSpPr>
          <p:spPr bwMode="auto">
            <a:xfrm>
              <a:off x="1614" y="278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0" name="Freeform 184"/>
            <p:cNvSpPr>
              <a:spLocks/>
            </p:cNvSpPr>
            <p:nvPr/>
          </p:nvSpPr>
          <p:spPr bwMode="auto">
            <a:xfrm>
              <a:off x="1632" y="2787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1" name="Freeform 185"/>
            <p:cNvSpPr>
              <a:spLocks/>
            </p:cNvSpPr>
            <p:nvPr/>
          </p:nvSpPr>
          <p:spPr bwMode="auto">
            <a:xfrm>
              <a:off x="1620" y="2787"/>
              <a:ext cx="12" cy="12"/>
            </a:xfrm>
            <a:custGeom>
              <a:avLst/>
              <a:gdLst>
                <a:gd name="T0" fmla="*/ 0 w 2"/>
                <a:gd name="T1" fmla="*/ 2 h 2"/>
                <a:gd name="T2" fmla="*/ 0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0 w 2"/>
                <a:gd name="T9" fmla="*/ 2 h 2"/>
                <a:gd name="T10" fmla="*/ 0 w 2"/>
                <a:gd name="T11" fmla="*/ 2 h 2"/>
                <a:gd name="T12" fmla="*/ 0 w 2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2" name="Freeform 186"/>
            <p:cNvSpPr>
              <a:spLocks/>
            </p:cNvSpPr>
            <p:nvPr/>
          </p:nvSpPr>
          <p:spPr bwMode="auto">
            <a:xfrm>
              <a:off x="1626" y="2799"/>
              <a:ext cx="12" cy="6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0 w 2"/>
                <a:gd name="T9" fmla="*/ 1 h 1"/>
                <a:gd name="T10" fmla="*/ 0 w 2"/>
                <a:gd name="T11" fmla="*/ 1 h 1"/>
                <a:gd name="T12" fmla="*/ 0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3" name="Freeform 187"/>
            <p:cNvSpPr>
              <a:spLocks/>
            </p:cNvSpPr>
            <p:nvPr/>
          </p:nvSpPr>
          <p:spPr bwMode="auto">
            <a:xfrm>
              <a:off x="1638" y="280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4" name="Freeform 188"/>
            <p:cNvSpPr>
              <a:spLocks/>
            </p:cNvSpPr>
            <p:nvPr/>
          </p:nvSpPr>
          <p:spPr bwMode="auto">
            <a:xfrm>
              <a:off x="1626" y="2805"/>
              <a:ext cx="18" cy="12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1 h 2"/>
                <a:gd name="T4" fmla="*/ 2 w 3"/>
                <a:gd name="T5" fmla="*/ 0 h 2"/>
                <a:gd name="T6" fmla="*/ 3 w 3"/>
                <a:gd name="T7" fmla="*/ 1 h 2"/>
                <a:gd name="T8" fmla="*/ 1 w 3"/>
                <a:gd name="T9" fmla="*/ 2 h 2"/>
                <a:gd name="T10" fmla="*/ 0 w 3"/>
                <a:gd name="T11" fmla="*/ 1 h 2"/>
                <a:gd name="T12" fmla="*/ 0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5" name="Freeform 189"/>
            <p:cNvSpPr>
              <a:spLocks/>
            </p:cNvSpPr>
            <p:nvPr/>
          </p:nvSpPr>
          <p:spPr bwMode="auto">
            <a:xfrm>
              <a:off x="1626" y="281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6" name="Freeform 190"/>
            <p:cNvSpPr>
              <a:spLocks/>
            </p:cNvSpPr>
            <p:nvPr/>
          </p:nvSpPr>
          <p:spPr bwMode="auto">
            <a:xfrm>
              <a:off x="1632" y="2817"/>
              <a:ext cx="18" cy="12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1 h 2"/>
                <a:gd name="T8" fmla="*/ 0 w 3"/>
                <a:gd name="T9" fmla="*/ 2 h 2"/>
                <a:gd name="T10" fmla="*/ 0 w 3"/>
                <a:gd name="T11" fmla="*/ 1 h 2"/>
                <a:gd name="T12" fmla="*/ 0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7" name="Freeform 191"/>
            <p:cNvSpPr>
              <a:spLocks/>
            </p:cNvSpPr>
            <p:nvPr/>
          </p:nvSpPr>
          <p:spPr bwMode="auto">
            <a:xfrm>
              <a:off x="1650" y="2823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8" name="Freeform 192"/>
            <p:cNvSpPr>
              <a:spLocks/>
            </p:cNvSpPr>
            <p:nvPr/>
          </p:nvSpPr>
          <p:spPr bwMode="auto">
            <a:xfrm>
              <a:off x="1638" y="2823"/>
              <a:ext cx="12" cy="12"/>
            </a:xfrm>
            <a:custGeom>
              <a:avLst/>
              <a:gdLst>
                <a:gd name="T0" fmla="*/ 0 w 2"/>
                <a:gd name="T1" fmla="*/ 1 h 2"/>
                <a:gd name="T2" fmla="*/ 0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0 w 2"/>
                <a:gd name="T9" fmla="*/ 2 h 2"/>
                <a:gd name="T10" fmla="*/ 0 w 2"/>
                <a:gd name="T11" fmla="*/ 1 h 2"/>
                <a:gd name="T12" fmla="*/ 0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49" name="Freeform 193"/>
            <p:cNvSpPr>
              <a:spLocks/>
            </p:cNvSpPr>
            <p:nvPr/>
          </p:nvSpPr>
          <p:spPr bwMode="auto">
            <a:xfrm>
              <a:off x="1632" y="2829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0" name="Freeform 194"/>
            <p:cNvSpPr>
              <a:spLocks/>
            </p:cNvSpPr>
            <p:nvPr/>
          </p:nvSpPr>
          <p:spPr bwMode="auto">
            <a:xfrm>
              <a:off x="1704" y="2829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1" name="Freeform 195"/>
            <p:cNvSpPr>
              <a:spLocks/>
            </p:cNvSpPr>
            <p:nvPr/>
          </p:nvSpPr>
          <p:spPr bwMode="auto">
            <a:xfrm>
              <a:off x="1704" y="2823"/>
              <a:ext cx="30" cy="12"/>
            </a:xfrm>
            <a:custGeom>
              <a:avLst/>
              <a:gdLst>
                <a:gd name="T0" fmla="*/ 5 w 5"/>
                <a:gd name="T1" fmla="*/ 0 h 2"/>
                <a:gd name="T2" fmla="*/ 5 w 5"/>
                <a:gd name="T3" fmla="*/ 0 h 2"/>
                <a:gd name="T4" fmla="*/ 1 w 5"/>
                <a:gd name="T5" fmla="*/ 2 h 2"/>
                <a:gd name="T6" fmla="*/ 0 w 5"/>
                <a:gd name="T7" fmla="*/ 1 h 2"/>
                <a:gd name="T8" fmla="*/ 5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0"/>
                  </a:lnTo>
                  <a:lnTo>
                    <a:pt x="1" y="2"/>
                  </a:ln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2" name="Freeform 196"/>
            <p:cNvSpPr>
              <a:spLocks/>
            </p:cNvSpPr>
            <p:nvPr/>
          </p:nvSpPr>
          <p:spPr bwMode="auto">
            <a:xfrm>
              <a:off x="1722" y="2829"/>
              <a:ext cx="36" cy="12"/>
            </a:xfrm>
            <a:custGeom>
              <a:avLst/>
              <a:gdLst>
                <a:gd name="T0" fmla="*/ 6 w 6"/>
                <a:gd name="T1" fmla="*/ 0 h 2"/>
                <a:gd name="T2" fmla="*/ 6 w 6"/>
                <a:gd name="T3" fmla="*/ 1 h 2"/>
                <a:gd name="T4" fmla="*/ 0 w 6"/>
                <a:gd name="T5" fmla="*/ 2 h 2"/>
                <a:gd name="T6" fmla="*/ 0 w 6"/>
                <a:gd name="T7" fmla="*/ 2 h 2"/>
                <a:gd name="T8" fmla="*/ 5 w 6"/>
                <a:gd name="T9" fmla="*/ 0 h 2"/>
                <a:gd name="T10" fmla="*/ 6 w 6"/>
                <a:gd name="T11" fmla="*/ 0 h 2"/>
                <a:gd name="T12" fmla="*/ 6 w 6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3" name="Freeform 197"/>
            <p:cNvSpPr>
              <a:spLocks/>
            </p:cNvSpPr>
            <p:nvPr/>
          </p:nvSpPr>
          <p:spPr bwMode="auto">
            <a:xfrm>
              <a:off x="1752" y="282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4" name="Freeform 198"/>
            <p:cNvSpPr>
              <a:spLocks/>
            </p:cNvSpPr>
            <p:nvPr/>
          </p:nvSpPr>
          <p:spPr bwMode="auto">
            <a:xfrm>
              <a:off x="1614" y="2919"/>
              <a:ext cx="36" cy="18"/>
            </a:xfrm>
            <a:custGeom>
              <a:avLst/>
              <a:gdLst>
                <a:gd name="T0" fmla="*/ 0 w 6"/>
                <a:gd name="T1" fmla="*/ 2 h 3"/>
                <a:gd name="T2" fmla="*/ 0 w 6"/>
                <a:gd name="T3" fmla="*/ 2 h 3"/>
                <a:gd name="T4" fmla="*/ 6 w 6"/>
                <a:gd name="T5" fmla="*/ 0 h 3"/>
                <a:gd name="T6" fmla="*/ 6 w 6"/>
                <a:gd name="T7" fmla="*/ 0 h 3"/>
                <a:gd name="T8" fmla="*/ 0 w 6"/>
                <a:gd name="T9" fmla="*/ 3 h 3"/>
                <a:gd name="T10" fmla="*/ 0 w 6"/>
                <a:gd name="T11" fmla="*/ 2 h 3"/>
                <a:gd name="T12" fmla="*/ 0 w 6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5" name="Freeform 199"/>
            <p:cNvSpPr>
              <a:spLocks/>
            </p:cNvSpPr>
            <p:nvPr/>
          </p:nvSpPr>
          <p:spPr bwMode="auto">
            <a:xfrm>
              <a:off x="1626" y="2919"/>
              <a:ext cx="36" cy="24"/>
            </a:xfrm>
            <a:custGeom>
              <a:avLst/>
              <a:gdLst>
                <a:gd name="T0" fmla="*/ 0 w 6"/>
                <a:gd name="T1" fmla="*/ 3 h 4"/>
                <a:gd name="T2" fmla="*/ 0 w 6"/>
                <a:gd name="T3" fmla="*/ 3 h 4"/>
                <a:gd name="T4" fmla="*/ 6 w 6"/>
                <a:gd name="T5" fmla="*/ 0 h 4"/>
                <a:gd name="T6" fmla="*/ 6 w 6"/>
                <a:gd name="T7" fmla="*/ 1 h 4"/>
                <a:gd name="T8" fmla="*/ 0 w 6"/>
                <a:gd name="T9" fmla="*/ 4 h 4"/>
                <a:gd name="T10" fmla="*/ 0 w 6"/>
                <a:gd name="T11" fmla="*/ 3 h 4"/>
                <a:gd name="T12" fmla="*/ 0 w 6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3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6" name="Freeform 200"/>
            <p:cNvSpPr>
              <a:spLocks/>
            </p:cNvSpPr>
            <p:nvPr/>
          </p:nvSpPr>
          <p:spPr bwMode="auto">
            <a:xfrm>
              <a:off x="1668" y="3045"/>
              <a:ext cx="6" cy="30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0 h 5"/>
                <a:gd name="T4" fmla="*/ 0 w 1"/>
                <a:gd name="T5" fmla="*/ 0 h 5"/>
                <a:gd name="T6" fmla="*/ 0 w 1"/>
                <a:gd name="T7" fmla="*/ 1 h 5"/>
                <a:gd name="T8" fmla="*/ 0 w 1"/>
                <a:gd name="T9" fmla="*/ 1 h 5"/>
                <a:gd name="T10" fmla="*/ 0 w 1"/>
                <a:gd name="T11" fmla="*/ 1 h 5"/>
                <a:gd name="T12" fmla="*/ 0 w 1"/>
                <a:gd name="T13" fmla="*/ 2 h 5"/>
                <a:gd name="T14" fmla="*/ 0 w 1"/>
                <a:gd name="T15" fmla="*/ 2 h 5"/>
                <a:gd name="T16" fmla="*/ 0 w 1"/>
                <a:gd name="T17" fmla="*/ 3 h 5"/>
                <a:gd name="T18" fmla="*/ 0 w 1"/>
                <a:gd name="T19" fmla="*/ 4 h 5"/>
                <a:gd name="T20" fmla="*/ 0 w 1"/>
                <a:gd name="T21" fmla="*/ 5 h 5"/>
                <a:gd name="T22" fmla="*/ 0 w 1"/>
                <a:gd name="T23" fmla="*/ 5 h 5"/>
                <a:gd name="T24" fmla="*/ 1 w 1"/>
                <a:gd name="T25" fmla="*/ 5 h 5"/>
                <a:gd name="T26" fmla="*/ 1 w 1"/>
                <a:gd name="T27" fmla="*/ 5 h 5"/>
                <a:gd name="T28" fmla="*/ 1 w 1"/>
                <a:gd name="T29" fmla="*/ 5 h 5"/>
                <a:gd name="T30" fmla="*/ 1 w 1"/>
                <a:gd name="T31" fmla="*/ 5 h 5"/>
                <a:gd name="T32" fmla="*/ 1 w 1"/>
                <a:gd name="T33" fmla="*/ 4 h 5"/>
                <a:gd name="T34" fmla="*/ 1 w 1"/>
                <a:gd name="T35" fmla="*/ 4 h 5"/>
                <a:gd name="T36" fmla="*/ 1 w 1"/>
                <a:gd name="T37" fmla="*/ 4 h 5"/>
                <a:gd name="T38" fmla="*/ 1 w 1"/>
                <a:gd name="T39" fmla="*/ 3 h 5"/>
                <a:gd name="T40" fmla="*/ 1 w 1"/>
                <a:gd name="T41" fmla="*/ 3 h 5"/>
                <a:gd name="T42" fmla="*/ 1 w 1"/>
                <a:gd name="T43" fmla="*/ 2 h 5"/>
                <a:gd name="T44" fmla="*/ 1 w 1"/>
                <a:gd name="T45" fmla="*/ 1 h 5"/>
                <a:gd name="T46" fmla="*/ 0 w 1"/>
                <a:gd name="T47" fmla="*/ 0 h 5"/>
                <a:gd name="T48" fmla="*/ 0 w 1"/>
                <a:gd name="T4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B2B5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7" name="Freeform 201"/>
            <p:cNvSpPr>
              <a:spLocks/>
            </p:cNvSpPr>
            <p:nvPr/>
          </p:nvSpPr>
          <p:spPr bwMode="auto">
            <a:xfrm>
              <a:off x="1662" y="3045"/>
              <a:ext cx="12" cy="18"/>
            </a:xfrm>
            <a:custGeom>
              <a:avLst/>
              <a:gdLst>
                <a:gd name="T0" fmla="*/ 1 w 2"/>
                <a:gd name="T1" fmla="*/ 3 h 3"/>
                <a:gd name="T2" fmla="*/ 0 w 2"/>
                <a:gd name="T3" fmla="*/ 3 h 3"/>
                <a:gd name="T4" fmla="*/ 0 w 2"/>
                <a:gd name="T5" fmla="*/ 2 h 3"/>
                <a:gd name="T6" fmla="*/ 0 w 2"/>
                <a:gd name="T7" fmla="*/ 2 h 3"/>
                <a:gd name="T8" fmla="*/ 0 w 2"/>
                <a:gd name="T9" fmla="*/ 1 h 3"/>
                <a:gd name="T10" fmla="*/ 1 w 2"/>
                <a:gd name="T11" fmla="*/ 1 h 3"/>
                <a:gd name="T12" fmla="*/ 1 w 2"/>
                <a:gd name="T13" fmla="*/ 1 h 3"/>
                <a:gd name="T14" fmla="*/ 1 w 2"/>
                <a:gd name="T15" fmla="*/ 0 h 3"/>
                <a:gd name="T16" fmla="*/ 1 w 2"/>
                <a:gd name="T17" fmla="*/ 0 h 3"/>
                <a:gd name="T18" fmla="*/ 1 w 2"/>
                <a:gd name="T19" fmla="*/ 0 h 3"/>
                <a:gd name="T20" fmla="*/ 1 w 2"/>
                <a:gd name="T21" fmla="*/ 1 h 3"/>
                <a:gd name="T22" fmla="*/ 2 w 2"/>
                <a:gd name="T23" fmla="*/ 1 h 3"/>
                <a:gd name="T24" fmla="*/ 2 w 2"/>
                <a:gd name="T25" fmla="*/ 1 h 3"/>
                <a:gd name="T26" fmla="*/ 1 w 2"/>
                <a:gd name="T27" fmla="*/ 1 h 3"/>
                <a:gd name="T28" fmla="*/ 1 w 2"/>
                <a:gd name="T29" fmla="*/ 1 h 3"/>
                <a:gd name="T30" fmla="*/ 1 w 2"/>
                <a:gd name="T31" fmla="*/ 1 h 3"/>
                <a:gd name="T32" fmla="*/ 1 w 2"/>
                <a:gd name="T33" fmla="*/ 2 h 3"/>
                <a:gd name="T34" fmla="*/ 1 w 2"/>
                <a:gd name="T35" fmla="*/ 2 h 3"/>
                <a:gd name="T36" fmla="*/ 1 w 2"/>
                <a:gd name="T37" fmla="*/ 3 h 3"/>
                <a:gd name="T38" fmla="*/ 1 w 2"/>
                <a:gd name="T39" fmla="*/ 3 h 3"/>
                <a:gd name="T40" fmla="*/ 1 w 2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8" name="Freeform 202"/>
            <p:cNvSpPr>
              <a:spLocks/>
            </p:cNvSpPr>
            <p:nvPr/>
          </p:nvSpPr>
          <p:spPr bwMode="auto">
            <a:xfrm>
              <a:off x="1668" y="3063"/>
              <a:ext cx="6" cy="18"/>
            </a:xfrm>
            <a:custGeom>
              <a:avLst/>
              <a:gdLst>
                <a:gd name="T0" fmla="*/ 1 w 1"/>
                <a:gd name="T1" fmla="*/ 3 h 3"/>
                <a:gd name="T2" fmla="*/ 1 w 1"/>
                <a:gd name="T3" fmla="*/ 3 h 3"/>
                <a:gd name="T4" fmla="*/ 0 w 1"/>
                <a:gd name="T5" fmla="*/ 2 h 3"/>
                <a:gd name="T6" fmla="*/ 0 w 1"/>
                <a:gd name="T7" fmla="*/ 2 h 3"/>
                <a:gd name="T8" fmla="*/ 0 w 1"/>
                <a:gd name="T9" fmla="*/ 1 h 3"/>
                <a:gd name="T10" fmla="*/ 0 w 1"/>
                <a:gd name="T11" fmla="*/ 0 h 3"/>
                <a:gd name="T12" fmla="*/ 0 w 1"/>
                <a:gd name="T13" fmla="*/ 0 h 3"/>
                <a:gd name="T14" fmla="*/ 1 w 1"/>
                <a:gd name="T15" fmla="*/ 1 h 3"/>
                <a:gd name="T16" fmla="*/ 1 w 1"/>
                <a:gd name="T17" fmla="*/ 1 h 3"/>
                <a:gd name="T18" fmla="*/ 1 w 1"/>
                <a:gd name="T19" fmla="*/ 2 h 3"/>
                <a:gd name="T20" fmla="*/ 1 w 1"/>
                <a:gd name="T21" fmla="*/ 2 h 3"/>
                <a:gd name="T22" fmla="*/ 1 w 1"/>
                <a:gd name="T23" fmla="*/ 2 h 3"/>
                <a:gd name="T24" fmla="*/ 1 w 1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59" name="Freeform 203"/>
            <p:cNvSpPr>
              <a:spLocks/>
            </p:cNvSpPr>
            <p:nvPr/>
          </p:nvSpPr>
          <p:spPr bwMode="auto">
            <a:xfrm>
              <a:off x="1674" y="3063"/>
              <a:ext cx="6" cy="1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0 h 3"/>
                <a:gd name="T6" fmla="*/ 1 w 1"/>
                <a:gd name="T7" fmla="*/ 1 h 3"/>
                <a:gd name="T8" fmla="*/ 1 w 1"/>
                <a:gd name="T9" fmla="*/ 1 h 3"/>
                <a:gd name="T10" fmla="*/ 1 w 1"/>
                <a:gd name="T11" fmla="*/ 1 h 3"/>
                <a:gd name="T12" fmla="*/ 0 w 1"/>
                <a:gd name="T13" fmla="*/ 2 h 3"/>
                <a:gd name="T14" fmla="*/ 0 w 1"/>
                <a:gd name="T15" fmla="*/ 2 h 3"/>
                <a:gd name="T16" fmla="*/ 0 w 1"/>
                <a:gd name="T17" fmla="*/ 2 h 3"/>
                <a:gd name="T18" fmla="*/ 0 w 1"/>
                <a:gd name="T19" fmla="*/ 3 h 3"/>
                <a:gd name="T20" fmla="*/ 0 w 1"/>
                <a:gd name="T21" fmla="*/ 2 h 3"/>
                <a:gd name="T22" fmla="*/ 0 w 1"/>
                <a:gd name="T23" fmla="*/ 2 h 3"/>
                <a:gd name="T24" fmla="*/ 0 w 1"/>
                <a:gd name="T25" fmla="*/ 2 h 3"/>
                <a:gd name="T26" fmla="*/ 0 w 1"/>
                <a:gd name="T27" fmla="*/ 2 h 3"/>
                <a:gd name="T28" fmla="*/ 0 w 1"/>
                <a:gd name="T29" fmla="*/ 1 h 3"/>
                <a:gd name="T30" fmla="*/ 0 w 1"/>
                <a:gd name="T31" fmla="*/ 1 h 3"/>
                <a:gd name="T32" fmla="*/ 0 w 1"/>
                <a:gd name="T33" fmla="*/ 1 h 3"/>
                <a:gd name="T34" fmla="*/ 0 w 1"/>
                <a:gd name="T35" fmla="*/ 0 h 3"/>
                <a:gd name="T36" fmla="*/ 0 w 1"/>
                <a:gd name="T37" fmla="*/ 0 h 3"/>
                <a:gd name="T38" fmla="*/ 0 w 1"/>
                <a:gd name="T39" fmla="*/ 0 h 3"/>
                <a:gd name="T40" fmla="*/ 0 w 1"/>
                <a:gd name="T4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0" name="Freeform 204"/>
            <p:cNvSpPr>
              <a:spLocks/>
            </p:cNvSpPr>
            <p:nvPr/>
          </p:nvSpPr>
          <p:spPr bwMode="auto">
            <a:xfrm>
              <a:off x="1668" y="3045"/>
              <a:ext cx="12" cy="1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1 w 2"/>
                <a:gd name="T5" fmla="*/ 0 h 3"/>
                <a:gd name="T6" fmla="*/ 1 w 2"/>
                <a:gd name="T7" fmla="*/ 1 h 3"/>
                <a:gd name="T8" fmla="*/ 2 w 2"/>
                <a:gd name="T9" fmla="*/ 2 h 3"/>
                <a:gd name="T10" fmla="*/ 1 w 2"/>
                <a:gd name="T11" fmla="*/ 3 h 3"/>
                <a:gd name="T12" fmla="*/ 1 w 2"/>
                <a:gd name="T13" fmla="*/ 3 h 3"/>
                <a:gd name="T14" fmla="*/ 1 w 2"/>
                <a:gd name="T15" fmla="*/ 2 h 3"/>
                <a:gd name="T16" fmla="*/ 0 w 2"/>
                <a:gd name="T17" fmla="*/ 1 h 3"/>
                <a:gd name="T18" fmla="*/ 0 w 2"/>
                <a:gd name="T19" fmla="*/ 1 h 3"/>
                <a:gd name="T20" fmla="*/ 0 w 2"/>
                <a:gd name="T21" fmla="*/ 1 h 3"/>
                <a:gd name="T22" fmla="*/ 0 w 2"/>
                <a:gd name="T23" fmla="*/ 1 h 3"/>
                <a:gd name="T24" fmla="*/ 0 w 2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1" name="Freeform 205"/>
            <p:cNvSpPr>
              <a:spLocks/>
            </p:cNvSpPr>
            <p:nvPr/>
          </p:nvSpPr>
          <p:spPr bwMode="auto">
            <a:xfrm>
              <a:off x="1668" y="3243"/>
              <a:ext cx="18" cy="60"/>
            </a:xfrm>
            <a:custGeom>
              <a:avLst/>
              <a:gdLst>
                <a:gd name="T0" fmla="*/ 1 w 3"/>
                <a:gd name="T1" fmla="*/ 0 h 10"/>
                <a:gd name="T2" fmla="*/ 1 w 3"/>
                <a:gd name="T3" fmla="*/ 0 h 10"/>
                <a:gd name="T4" fmla="*/ 1 w 3"/>
                <a:gd name="T5" fmla="*/ 1 h 10"/>
                <a:gd name="T6" fmla="*/ 2 w 3"/>
                <a:gd name="T7" fmla="*/ 1 h 10"/>
                <a:gd name="T8" fmla="*/ 2 w 3"/>
                <a:gd name="T9" fmla="*/ 2 h 10"/>
                <a:gd name="T10" fmla="*/ 2 w 3"/>
                <a:gd name="T11" fmla="*/ 2 h 10"/>
                <a:gd name="T12" fmla="*/ 3 w 3"/>
                <a:gd name="T13" fmla="*/ 3 h 10"/>
                <a:gd name="T14" fmla="*/ 3 w 3"/>
                <a:gd name="T15" fmla="*/ 4 h 10"/>
                <a:gd name="T16" fmla="*/ 3 w 3"/>
                <a:gd name="T17" fmla="*/ 5 h 10"/>
                <a:gd name="T18" fmla="*/ 3 w 3"/>
                <a:gd name="T19" fmla="*/ 6 h 10"/>
                <a:gd name="T20" fmla="*/ 3 w 3"/>
                <a:gd name="T21" fmla="*/ 7 h 10"/>
                <a:gd name="T22" fmla="*/ 3 w 3"/>
                <a:gd name="T23" fmla="*/ 8 h 10"/>
                <a:gd name="T24" fmla="*/ 3 w 3"/>
                <a:gd name="T25" fmla="*/ 8 h 10"/>
                <a:gd name="T26" fmla="*/ 3 w 3"/>
                <a:gd name="T27" fmla="*/ 9 h 10"/>
                <a:gd name="T28" fmla="*/ 3 w 3"/>
                <a:gd name="T29" fmla="*/ 9 h 10"/>
                <a:gd name="T30" fmla="*/ 3 w 3"/>
                <a:gd name="T31" fmla="*/ 10 h 10"/>
                <a:gd name="T32" fmla="*/ 3 w 3"/>
                <a:gd name="T33" fmla="*/ 10 h 10"/>
                <a:gd name="T34" fmla="*/ 2 w 3"/>
                <a:gd name="T35" fmla="*/ 10 h 10"/>
                <a:gd name="T36" fmla="*/ 2 w 3"/>
                <a:gd name="T37" fmla="*/ 10 h 10"/>
                <a:gd name="T38" fmla="*/ 2 w 3"/>
                <a:gd name="T39" fmla="*/ 9 h 10"/>
                <a:gd name="T40" fmla="*/ 2 w 3"/>
                <a:gd name="T41" fmla="*/ 9 h 10"/>
                <a:gd name="T42" fmla="*/ 1 w 3"/>
                <a:gd name="T43" fmla="*/ 8 h 10"/>
                <a:gd name="T44" fmla="*/ 1 w 3"/>
                <a:gd name="T45" fmla="*/ 7 h 10"/>
                <a:gd name="T46" fmla="*/ 1 w 3"/>
                <a:gd name="T47" fmla="*/ 6 h 10"/>
                <a:gd name="T48" fmla="*/ 0 w 3"/>
                <a:gd name="T49" fmla="*/ 5 h 10"/>
                <a:gd name="T50" fmla="*/ 0 w 3"/>
                <a:gd name="T51" fmla="*/ 4 h 10"/>
                <a:gd name="T52" fmla="*/ 0 w 3"/>
                <a:gd name="T53" fmla="*/ 3 h 10"/>
                <a:gd name="T54" fmla="*/ 0 w 3"/>
                <a:gd name="T55" fmla="*/ 3 h 10"/>
                <a:gd name="T56" fmla="*/ 0 w 3"/>
                <a:gd name="T57" fmla="*/ 2 h 10"/>
                <a:gd name="T58" fmla="*/ 0 w 3"/>
                <a:gd name="T59" fmla="*/ 1 h 10"/>
                <a:gd name="T60" fmla="*/ 1 w 3"/>
                <a:gd name="T61" fmla="*/ 1 h 10"/>
                <a:gd name="T62" fmla="*/ 1 w 3"/>
                <a:gd name="T63" fmla="*/ 1 h 10"/>
                <a:gd name="T64" fmla="*/ 1 w 3"/>
                <a:gd name="T6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2" name="Freeform 206"/>
            <p:cNvSpPr>
              <a:spLocks/>
            </p:cNvSpPr>
            <p:nvPr/>
          </p:nvSpPr>
          <p:spPr bwMode="auto">
            <a:xfrm>
              <a:off x="1674" y="3243"/>
              <a:ext cx="12" cy="30"/>
            </a:xfrm>
            <a:custGeom>
              <a:avLst/>
              <a:gdLst>
                <a:gd name="T0" fmla="*/ 2 w 2"/>
                <a:gd name="T1" fmla="*/ 5 h 5"/>
                <a:gd name="T2" fmla="*/ 2 w 2"/>
                <a:gd name="T3" fmla="*/ 5 h 5"/>
                <a:gd name="T4" fmla="*/ 2 w 2"/>
                <a:gd name="T5" fmla="*/ 4 h 5"/>
                <a:gd name="T6" fmla="*/ 1 w 2"/>
                <a:gd name="T7" fmla="*/ 3 h 5"/>
                <a:gd name="T8" fmla="*/ 1 w 2"/>
                <a:gd name="T9" fmla="*/ 2 h 5"/>
                <a:gd name="T10" fmla="*/ 1 w 2"/>
                <a:gd name="T11" fmla="*/ 2 h 5"/>
                <a:gd name="T12" fmla="*/ 0 w 2"/>
                <a:gd name="T13" fmla="*/ 1 h 5"/>
                <a:gd name="T14" fmla="*/ 0 w 2"/>
                <a:gd name="T15" fmla="*/ 1 h 5"/>
                <a:gd name="T16" fmla="*/ 0 w 2"/>
                <a:gd name="T17" fmla="*/ 1 h 5"/>
                <a:gd name="T18" fmla="*/ 0 w 2"/>
                <a:gd name="T19" fmla="*/ 1 h 5"/>
                <a:gd name="T20" fmla="*/ 0 w 2"/>
                <a:gd name="T21" fmla="*/ 0 h 5"/>
                <a:gd name="T22" fmla="*/ 0 w 2"/>
                <a:gd name="T23" fmla="*/ 0 h 5"/>
                <a:gd name="T24" fmla="*/ 1 w 2"/>
                <a:gd name="T25" fmla="*/ 0 h 5"/>
                <a:gd name="T26" fmla="*/ 1 w 2"/>
                <a:gd name="T27" fmla="*/ 1 h 5"/>
                <a:gd name="T28" fmla="*/ 2 w 2"/>
                <a:gd name="T29" fmla="*/ 1 h 5"/>
                <a:gd name="T30" fmla="*/ 2 w 2"/>
                <a:gd name="T31" fmla="*/ 2 h 5"/>
                <a:gd name="T32" fmla="*/ 2 w 2"/>
                <a:gd name="T33" fmla="*/ 3 h 5"/>
                <a:gd name="T34" fmla="*/ 2 w 2"/>
                <a:gd name="T35" fmla="*/ 4 h 5"/>
                <a:gd name="T36" fmla="*/ 2 w 2"/>
                <a:gd name="T37" fmla="*/ 5 h 5"/>
                <a:gd name="T38" fmla="*/ 2 w 2"/>
                <a:gd name="T39" fmla="*/ 5 h 5"/>
                <a:gd name="T40" fmla="*/ 2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3" name="Freeform 207"/>
            <p:cNvSpPr>
              <a:spLocks/>
            </p:cNvSpPr>
            <p:nvPr/>
          </p:nvSpPr>
          <p:spPr bwMode="auto">
            <a:xfrm>
              <a:off x="1686" y="3273"/>
              <a:ext cx="6" cy="30"/>
            </a:xfrm>
            <a:custGeom>
              <a:avLst/>
              <a:gdLst>
                <a:gd name="T0" fmla="*/ 0 w 1"/>
                <a:gd name="T1" fmla="*/ 4 h 5"/>
                <a:gd name="T2" fmla="*/ 0 w 1"/>
                <a:gd name="T3" fmla="*/ 4 h 5"/>
                <a:gd name="T4" fmla="*/ 0 w 1"/>
                <a:gd name="T5" fmla="*/ 4 h 5"/>
                <a:gd name="T6" fmla="*/ 0 w 1"/>
                <a:gd name="T7" fmla="*/ 4 h 5"/>
                <a:gd name="T8" fmla="*/ 0 w 1"/>
                <a:gd name="T9" fmla="*/ 4 h 5"/>
                <a:gd name="T10" fmla="*/ 0 w 1"/>
                <a:gd name="T11" fmla="*/ 3 h 5"/>
                <a:gd name="T12" fmla="*/ 0 w 1"/>
                <a:gd name="T13" fmla="*/ 3 h 5"/>
                <a:gd name="T14" fmla="*/ 0 w 1"/>
                <a:gd name="T15" fmla="*/ 2 h 5"/>
                <a:gd name="T16" fmla="*/ 0 w 1"/>
                <a:gd name="T17" fmla="*/ 1 h 5"/>
                <a:gd name="T18" fmla="*/ 0 w 1"/>
                <a:gd name="T19" fmla="*/ 0 h 5"/>
                <a:gd name="T20" fmla="*/ 0 w 1"/>
                <a:gd name="T21" fmla="*/ 0 h 5"/>
                <a:gd name="T22" fmla="*/ 1 w 1"/>
                <a:gd name="T23" fmla="*/ 1 h 5"/>
                <a:gd name="T24" fmla="*/ 1 w 1"/>
                <a:gd name="T25" fmla="*/ 2 h 5"/>
                <a:gd name="T26" fmla="*/ 1 w 1"/>
                <a:gd name="T27" fmla="*/ 3 h 5"/>
                <a:gd name="T28" fmla="*/ 1 w 1"/>
                <a:gd name="T29" fmla="*/ 3 h 5"/>
                <a:gd name="T30" fmla="*/ 1 w 1"/>
                <a:gd name="T31" fmla="*/ 4 h 5"/>
                <a:gd name="T32" fmla="*/ 0 w 1"/>
                <a:gd name="T33" fmla="*/ 5 h 5"/>
                <a:gd name="T34" fmla="*/ 0 w 1"/>
                <a:gd name="T35" fmla="*/ 5 h 5"/>
                <a:gd name="T36" fmla="*/ 0 w 1"/>
                <a:gd name="T37" fmla="*/ 5 h 5"/>
                <a:gd name="T38" fmla="*/ 0 w 1"/>
                <a:gd name="T39" fmla="*/ 5 h 5"/>
                <a:gd name="T40" fmla="*/ 0 w 1"/>
                <a:gd name="T4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5">
                  <a:moveTo>
                    <a:pt x="0" y="4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4" name="Freeform 208"/>
            <p:cNvSpPr>
              <a:spLocks/>
            </p:cNvSpPr>
            <p:nvPr/>
          </p:nvSpPr>
          <p:spPr bwMode="auto">
            <a:xfrm>
              <a:off x="1668" y="3273"/>
              <a:ext cx="18" cy="30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1 w 3"/>
                <a:gd name="T5" fmla="*/ 1 h 5"/>
                <a:gd name="T6" fmla="*/ 1 w 3"/>
                <a:gd name="T7" fmla="*/ 2 h 5"/>
                <a:gd name="T8" fmla="*/ 2 w 3"/>
                <a:gd name="T9" fmla="*/ 3 h 5"/>
                <a:gd name="T10" fmla="*/ 2 w 3"/>
                <a:gd name="T11" fmla="*/ 4 h 5"/>
                <a:gd name="T12" fmla="*/ 2 w 3"/>
                <a:gd name="T13" fmla="*/ 4 h 5"/>
                <a:gd name="T14" fmla="*/ 2 w 3"/>
                <a:gd name="T15" fmla="*/ 4 h 5"/>
                <a:gd name="T16" fmla="*/ 2 w 3"/>
                <a:gd name="T17" fmla="*/ 4 h 5"/>
                <a:gd name="T18" fmla="*/ 3 w 3"/>
                <a:gd name="T19" fmla="*/ 4 h 5"/>
                <a:gd name="T20" fmla="*/ 3 w 3"/>
                <a:gd name="T21" fmla="*/ 5 h 5"/>
                <a:gd name="T22" fmla="*/ 2 w 3"/>
                <a:gd name="T23" fmla="*/ 5 h 5"/>
                <a:gd name="T24" fmla="*/ 2 w 3"/>
                <a:gd name="T25" fmla="*/ 5 h 5"/>
                <a:gd name="T26" fmla="*/ 1 w 3"/>
                <a:gd name="T27" fmla="*/ 4 h 5"/>
                <a:gd name="T28" fmla="*/ 1 w 3"/>
                <a:gd name="T29" fmla="*/ 4 h 5"/>
                <a:gd name="T30" fmla="*/ 1 w 3"/>
                <a:gd name="T31" fmla="*/ 3 h 5"/>
                <a:gd name="T32" fmla="*/ 0 w 3"/>
                <a:gd name="T33" fmla="*/ 2 h 5"/>
                <a:gd name="T34" fmla="*/ 0 w 3"/>
                <a:gd name="T35" fmla="*/ 1 h 5"/>
                <a:gd name="T36" fmla="*/ 0 w 3"/>
                <a:gd name="T37" fmla="*/ 0 h 5"/>
                <a:gd name="T38" fmla="*/ 0 w 3"/>
                <a:gd name="T39" fmla="*/ 0 h 5"/>
                <a:gd name="T40" fmla="*/ 1 w 3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5" name="Freeform 209"/>
            <p:cNvSpPr>
              <a:spLocks/>
            </p:cNvSpPr>
            <p:nvPr/>
          </p:nvSpPr>
          <p:spPr bwMode="auto">
            <a:xfrm>
              <a:off x="1668" y="3243"/>
              <a:ext cx="6" cy="30"/>
            </a:xfrm>
            <a:custGeom>
              <a:avLst/>
              <a:gdLst>
                <a:gd name="T0" fmla="*/ 1 w 1"/>
                <a:gd name="T1" fmla="*/ 1 h 5"/>
                <a:gd name="T2" fmla="*/ 1 w 1"/>
                <a:gd name="T3" fmla="*/ 1 h 5"/>
                <a:gd name="T4" fmla="*/ 1 w 1"/>
                <a:gd name="T5" fmla="*/ 1 h 5"/>
                <a:gd name="T6" fmla="*/ 1 w 1"/>
                <a:gd name="T7" fmla="*/ 1 h 5"/>
                <a:gd name="T8" fmla="*/ 1 w 1"/>
                <a:gd name="T9" fmla="*/ 1 h 5"/>
                <a:gd name="T10" fmla="*/ 1 w 1"/>
                <a:gd name="T11" fmla="*/ 2 h 5"/>
                <a:gd name="T12" fmla="*/ 1 w 1"/>
                <a:gd name="T13" fmla="*/ 3 h 5"/>
                <a:gd name="T14" fmla="*/ 1 w 1"/>
                <a:gd name="T15" fmla="*/ 3 h 5"/>
                <a:gd name="T16" fmla="*/ 1 w 1"/>
                <a:gd name="T17" fmla="*/ 4 h 5"/>
                <a:gd name="T18" fmla="*/ 1 w 1"/>
                <a:gd name="T19" fmla="*/ 5 h 5"/>
                <a:gd name="T20" fmla="*/ 0 w 1"/>
                <a:gd name="T21" fmla="*/ 5 h 5"/>
                <a:gd name="T22" fmla="*/ 0 w 1"/>
                <a:gd name="T23" fmla="*/ 4 h 5"/>
                <a:gd name="T24" fmla="*/ 0 w 1"/>
                <a:gd name="T25" fmla="*/ 3 h 5"/>
                <a:gd name="T26" fmla="*/ 0 w 1"/>
                <a:gd name="T27" fmla="*/ 3 h 5"/>
                <a:gd name="T28" fmla="*/ 0 w 1"/>
                <a:gd name="T29" fmla="*/ 2 h 5"/>
                <a:gd name="T30" fmla="*/ 0 w 1"/>
                <a:gd name="T31" fmla="*/ 1 h 5"/>
                <a:gd name="T32" fmla="*/ 0 w 1"/>
                <a:gd name="T33" fmla="*/ 1 h 5"/>
                <a:gd name="T34" fmla="*/ 0 w 1"/>
                <a:gd name="T35" fmla="*/ 0 h 5"/>
                <a:gd name="T36" fmla="*/ 1 w 1"/>
                <a:gd name="T37" fmla="*/ 0 h 5"/>
                <a:gd name="T38" fmla="*/ 1 w 1"/>
                <a:gd name="T39" fmla="*/ 0 h 5"/>
                <a:gd name="T40" fmla="*/ 1 w 1"/>
                <a:gd name="T4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5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6" name="Freeform 210"/>
            <p:cNvSpPr>
              <a:spLocks/>
            </p:cNvSpPr>
            <p:nvPr/>
          </p:nvSpPr>
          <p:spPr bwMode="auto">
            <a:xfrm>
              <a:off x="1674" y="3243"/>
              <a:ext cx="24" cy="60"/>
            </a:xfrm>
            <a:custGeom>
              <a:avLst/>
              <a:gdLst>
                <a:gd name="T0" fmla="*/ 0 w 4"/>
                <a:gd name="T1" fmla="*/ 0 h 10"/>
                <a:gd name="T2" fmla="*/ 0 w 4"/>
                <a:gd name="T3" fmla="*/ 0 h 10"/>
                <a:gd name="T4" fmla="*/ 0 w 4"/>
                <a:gd name="T5" fmla="*/ 1 h 10"/>
                <a:gd name="T6" fmla="*/ 1 w 4"/>
                <a:gd name="T7" fmla="*/ 1 h 10"/>
                <a:gd name="T8" fmla="*/ 1 w 4"/>
                <a:gd name="T9" fmla="*/ 2 h 10"/>
                <a:gd name="T10" fmla="*/ 1 w 4"/>
                <a:gd name="T11" fmla="*/ 2 h 10"/>
                <a:gd name="T12" fmla="*/ 2 w 4"/>
                <a:gd name="T13" fmla="*/ 3 h 10"/>
                <a:gd name="T14" fmla="*/ 2 w 4"/>
                <a:gd name="T15" fmla="*/ 4 h 10"/>
                <a:gd name="T16" fmla="*/ 2 w 4"/>
                <a:gd name="T17" fmla="*/ 5 h 10"/>
                <a:gd name="T18" fmla="*/ 2 w 4"/>
                <a:gd name="T19" fmla="*/ 6 h 10"/>
                <a:gd name="T20" fmla="*/ 2 w 4"/>
                <a:gd name="T21" fmla="*/ 7 h 10"/>
                <a:gd name="T22" fmla="*/ 2 w 4"/>
                <a:gd name="T23" fmla="*/ 8 h 10"/>
                <a:gd name="T24" fmla="*/ 2 w 4"/>
                <a:gd name="T25" fmla="*/ 8 h 10"/>
                <a:gd name="T26" fmla="*/ 2 w 4"/>
                <a:gd name="T27" fmla="*/ 9 h 10"/>
                <a:gd name="T28" fmla="*/ 2 w 4"/>
                <a:gd name="T29" fmla="*/ 9 h 10"/>
                <a:gd name="T30" fmla="*/ 2 w 4"/>
                <a:gd name="T31" fmla="*/ 10 h 10"/>
                <a:gd name="T32" fmla="*/ 2 w 4"/>
                <a:gd name="T33" fmla="*/ 10 h 10"/>
                <a:gd name="T34" fmla="*/ 2 w 4"/>
                <a:gd name="T35" fmla="*/ 10 h 10"/>
                <a:gd name="T36" fmla="*/ 2 w 4"/>
                <a:gd name="T37" fmla="*/ 10 h 10"/>
                <a:gd name="T38" fmla="*/ 3 w 4"/>
                <a:gd name="T39" fmla="*/ 10 h 10"/>
                <a:gd name="T40" fmla="*/ 3 w 4"/>
                <a:gd name="T41" fmla="*/ 10 h 10"/>
                <a:gd name="T42" fmla="*/ 3 w 4"/>
                <a:gd name="T43" fmla="*/ 9 h 10"/>
                <a:gd name="T44" fmla="*/ 3 w 4"/>
                <a:gd name="T45" fmla="*/ 9 h 10"/>
                <a:gd name="T46" fmla="*/ 3 w 4"/>
                <a:gd name="T47" fmla="*/ 9 h 10"/>
                <a:gd name="T48" fmla="*/ 3 w 4"/>
                <a:gd name="T49" fmla="*/ 9 h 10"/>
                <a:gd name="T50" fmla="*/ 3 w 4"/>
                <a:gd name="T51" fmla="*/ 8 h 10"/>
                <a:gd name="T52" fmla="*/ 3 w 4"/>
                <a:gd name="T53" fmla="*/ 8 h 10"/>
                <a:gd name="T54" fmla="*/ 4 w 4"/>
                <a:gd name="T55" fmla="*/ 7 h 10"/>
                <a:gd name="T56" fmla="*/ 4 w 4"/>
                <a:gd name="T57" fmla="*/ 7 h 10"/>
                <a:gd name="T58" fmla="*/ 4 w 4"/>
                <a:gd name="T59" fmla="*/ 6 h 10"/>
                <a:gd name="T60" fmla="*/ 3 w 4"/>
                <a:gd name="T61" fmla="*/ 6 h 10"/>
                <a:gd name="T62" fmla="*/ 3 w 4"/>
                <a:gd name="T63" fmla="*/ 5 h 10"/>
                <a:gd name="T64" fmla="*/ 3 w 4"/>
                <a:gd name="T65" fmla="*/ 4 h 10"/>
                <a:gd name="T66" fmla="*/ 3 w 4"/>
                <a:gd name="T67" fmla="*/ 4 h 10"/>
                <a:gd name="T68" fmla="*/ 3 w 4"/>
                <a:gd name="T69" fmla="*/ 3 h 10"/>
                <a:gd name="T70" fmla="*/ 2 w 4"/>
                <a:gd name="T71" fmla="*/ 2 h 10"/>
                <a:gd name="T72" fmla="*/ 2 w 4"/>
                <a:gd name="T73" fmla="*/ 1 h 10"/>
                <a:gd name="T74" fmla="*/ 2 w 4"/>
                <a:gd name="T75" fmla="*/ 0 h 10"/>
                <a:gd name="T76" fmla="*/ 1 w 4"/>
                <a:gd name="T77" fmla="*/ 0 h 10"/>
                <a:gd name="T78" fmla="*/ 0 w 4"/>
                <a:gd name="T79" fmla="*/ 0 h 10"/>
                <a:gd name="T80" fmla="*/ 0 w 4"/>
                <a:gd name="T8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7" name="Freeform 211"/>
            <p:cNvSpPr>
              <a:spLocks/>
            </p:cNvSpPr>
            <p:nvPr/>
          </p:nvSpPr>
          <p:spPr bwMode="auto">
            <a:xfrm>
              <a:off x="1674" y="3243"/>
              <a:ext cx="12" cy="30"/>
            </a:xfrm>
            <a:custGeom>
              <a:avLst/>
              <a:gdLst>
                <a:gd name="T0" fmla="*/ 2 w 2"/>
                <a:gd name="T1" fmla="*/ 5 h 5"/>
                <a:gd name="T2" fmla="*/ 2 w 2"/>
                <a:gd name="T3" fmla="*/ 5 h 5"/>
                <a:gd name="T4" fmla="*/ 2 w 2"/>
                <a:gd name="T5" fmla="*/ 4 h 5"/>
                <a:gd name="T6" fmla="*/ 1 w 2"/>
                <a:gd name="T7" fmla="*/ 3 h 5"/>
                <a:gd name="T8" fmla="*/ 1 w 2"/>
                <a:gd name="T9" fmla="*/ 2 h 5"/>
                <a:gd name="T10" fmla="*/ 1 w 2"/>
                <a:gd name="T11" fmla="*/ 2 h 5"/>
                <a:gd name="T12" fmla="*/ 0 w 2"/>
                <a:gd name="T13" fmla="*/ 1 h 5"/>
                <a:gd name="T14" fmla="*/ 0 w 2"/>
                <a:gd name="T15" fmla="*/ 1 h 5"/>
                <a:gd name="T16" fmla="*/ 0 w 2"/>
                <a:gd name="T17" fmla="*/ 1 h 5"/>
                <a:gd name="T18" fmla="*/ 0 w 2"/>
                <a:gd name="T19" fmla="*/ 1 h 5"/>
                <a:gd name="T20" fmla="*/ 0 w 2"/>
                <a:gd name="T21" fmla="*/ 0 h 5"/>
                <a:gd name="T22" fmla="*/ 0 w 2"/>
                <a:gd name="T23" fmla="*/ 0 h 5"/>
                <a:gd name="T24" fmla="*/ 1 w 2"/>
                <a:gd name="T25" fmla="*/ 0 h 5"/>
                <a:gd name="T26" fmla="*/ 1 w 2"/>
                <a:gd name="T27" fmla="*/ 1 h 5"/>
                <a:gd name="T28" fmla="*/ 2 w 2"/>
                <a:gd name="T29" fmla="*/ 1 h 5"/>
                <a:gd name="T30" fmla="*/ 2 w 2"/>
                <a:gd name="T31" fmla="*/ 2 h 5"/>
                <a:gd name="T32" fmla="*/ 2 w 2"/>
                <a:gd name="T33" fmla="*/ 3 h 5"/>
                <a:gd name="T34" fmla="*/ 2 w 2"/>
                <a:gd name="T35" fmla="*/ 4 h 5"/>
                <a:gd name="T36" fmla="*/ 2 w 2"/>
                <a:gd name="T37" fmla="*/ 5 h 5"/>
                <a:gd name="T38" fmla="*/ 2 w 2"/>
                <a:gd name="T39" fmla="*/ 5 h 5"/>
                <a:gd name="T40" fmla="*/ 2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8" name="Freeform 212"/>
            <p:cNvSpPr>
              <a:spLocks/>
            </p:cNvSpPr>
            <p:nvPr/>
          </p:nvSpPr>
          <p:spPr bwMode="auto">
            <a:xfrm>
              <a:off x="1680" y="3273"/>
              <a:ext cx="12" cy="30"/>
            </a:xfrm>
            <a:custGeom>
              <a:avLst/>
              <a:gdLst>
                <a:gd name="T0" fmla="*/ 0 w 2"/>
                <a:gd name="T1" fmla="*/ 5 h 5"/>
                <a:gd name="T2" fmla="*/ 1 w 2"/>
                <a:gd name="T3" fmla="*/ 4 h 5"/>
                <a:gd name="T4" fmla="*/ 1 w 2"/>
                <a:gd name="T5" fmla="*/ 4 h 5"/>
                <a:gd name="T6" fmla="*/ 1 w 2"/>
                <a:gd name="T7" fmla="*/ 4 h 5"/>
                <a:gd name="T8" fmla="*/ 1 w 2"/>
                <a:gd name="T9" fmla="*/ 4 h 5"/>
                <a:gd name="T10" fmla="*/ 1 w 2"/>
                <a:gd name="T11" fmla="*/ 3 h 5"/>
                <a:gd name="T12" fmla="*/ 1 w 2"/>
                <a:gd name="T13" fmla="*/ 3 h 5"/>
                <a:gd name="T14" fmla="*/ 1 w 2"/>
                <a:gd name="T15" fmla="*/ 2 h 5"/>
                <a:gd name="T16" fmla="*/ 1 w 2"/>
                <a:gd name="T17" fmla="*/ 1 h 5"/>
                <a:gd name="T18" fmla="*/ 1 w 2"/>
                <a:gd name="T19" fmla="*/ 0 h 5"/>
                <a:gd name="T20" fmla="*/ 1 w 2"/>
                <a:gd name="T21" fmla="*/ 0 h 5"/>
                <a:gd name="T22" fmla="*/ 2 w 2"/>
                <a:gd name="T23" fmla="*/ 1 h 5"/>
                <a:gd name="T24" fmla="*/ 2 w 2"/>
                <a:gd name="T25" fmla="*/ 2 h 5"/>
                <a:gd name="T26" fmla="*/ 2 w 2"/>
                <a:gd name="T27" fmla="*/ 3 h 5"/>
                <a:gd name="T28" fmla="*/ 2 w 2"/>
                <a:gd name="T29" fmla="*/ 3 h 5"/>
                <a:gd name="T30" fmla="*/ 2 w 2"/>
                <a:gd name="T31" fmla="*/ 4 h 5"/>
                <a:gd name="T32" fmla="*/ 1 w 2"/>
                <a:gd name="T33" fmla="*/ 5 h 5"/>
                <a:gd name="T34" fmla="*/ 1 w 2"/>
                <a:gd name="T35" fmla="*/ 5 h 5"/>
                <a:gd name="T36" fmla="*/ 1 w 2"/>
                <a:gd name="T37" fmla="*/ 5 h 5"/>
                <a:gd name="T38" fmla="*/ 1 w 2"/>
                <a:gd name="T39" fmla="*/ 5 h 5"/>
                <a:gd name="T40" fmla="*/ 0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0" y="5"/>
                  </a:move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69" name="Freeform 213"/>
            <p:cNvSpPr>
              <a:spLocks/>
            </p:cNvSpPr>
            <p:nvPr/>
          </p:nvSpPr>
          <p:spPr bwMode="auto">
            <a:xfrm>
              <a:off x="1680" y="3267"/>
              <a:ext cx="18" cy="36"/>
            </a:xfrm>
            <a:custGeom>
              <a:avLst/>
              <a:gdLst>
                <a:gd name="T0" fmla="*/ 3 w 3"/>
                <a:gd name="T1" fmla="*/ 0 h 6"/>
                <a:gd name="T2" fmla="*/ 3 w 3"/>
                <a:gd name="T3" fmla="*/ 0 h 6"/>
                <a:gd name="T4" fmla="*/ 3 w 3"/>
                <a:gd name="T5" fmla="*/ 1 h 6"/>
                <a:gd name="T6" fmla="*/ 3 w 3"/>
                <a:gd name="T7" fmla="*/ 1 h 6"/>
                <a:gd name="T8" fmla="*/ 3 w 3"/>
                <a:gd name="T9" fmla="*/ 2 h 6"/>
                <a:gd name="T10" fmla="*/ 3 w 3"/>
                <a:gd name="T11" fmla="*/ 3 h 6"/>
                <a:gd name="T12" fmla="*/ 3 w 3"/>
                <a:gd name="T13" fmla="*/ 3 h 6"/>
                <a:gd name="T14" fmla="*/ 3 w 3"/>
                <a:gd name="T15" fmla="*/ 4 h 6"/>
                <a:gd name="T16" fmla="*/ 3 w 3"/>
                <a:gd name="T17" fmla="*/ 4 h 6"/>
                <a:gd name="T18" fmla="*/ 3 w 3"/>
                <a:gd name="T19" fmla="*/ 5 h 6"/>
                <a:gd name="T20" fmla="*/ 3 w 3"/>
                <a:gd name="T21" fmla="*/ 5 h 6"/>
                <a:gd name="T22" fmla="*/ 2 w 3"/>
                <a:gd name="T23" fmla="*/ 5 h 6"/>
                <a:gd name="T24" fmla="*/ 2 w 3"/>
                <a:gd name="T25" fmla="*/ 6 h 6"/>
                <a:gd name="T26" fmla="*/ 2 w 3"/>
                <a:gd name="T27" fmla="*/ 6 h 6"/>
                <a:gd name="T28" fmla="*/ 2 w 3"/>
                <a:gd name="T29" fmla="*/ 6 h 6"/>
                <a:gd name="T30" fmla="*/ 1 w 3"/>
                <a:gd name="T31" fmla="*/ 6 h 6"/>
                <a:gd name="T32" fmla="*/ 1 w 3"/>
                <a:gd name="T33" fmla="*/ 6 h 6"/>
                <a:gd name="T34" fmla="*/ 0 w 3"/>
                <a:gd name="T35" fmla="*/ 6 h 6"/>
                <a:gd name="T36" fmla="*/ 1 w 3"/>
                <a:gd name="T37" fmla="*/ 6 h 6"/>
                <a:gd name="T38" fmla="*/ 1 w 3"/>
                <a:gd name="T39" fmla="*/ 6 h 6"/>
                <a:gd name="T40" fmla="*/ 1 w 3"/>
                <a:gd name="T41" fmla="*/ 6 h 6"/>
                <a:gd name="T42" fmla="*/ 1 w 3"/>
                <a:gd name="T43" fmla="*/ 6 h 6"/>
                <a:gd name="T44" fmla="*/ 1 w 3"/>
                <a:gd name="T45" fmla="*/ 6 h 6"/>
                <a:gd name="T46" fmla="*/ 2 w 3"/>
                <a:gd name="T47" fmla="*/ 5 h 6"/>
                <a:gd name="T48" fmla="*/ 2 w 3"/>
                <a:gd name="T49" fmla="*/ 5 h 6"/>
                <a:gd name="T50" fmla="*/ 2 w 3"/>
                <a:gd name="T51" fmla="*/ 5 h 6"/>
                <a:gd name="T52" fmla="*/ 2 w 3"/>
                <a:gd name="T53" fmla="*/ 4 h 6"/>
                <a:gd name="T54" fmla="*/ 2 w 3"/>
                <a:gd name="T55" fmla="*/ 4 h 6"/>
                <a:gd name="T56" fmla="*/ 2 w 3"/>
                <a:gd name="T57" fmla="*/ 4 h 6"/>
                <a:gd name="T58" fmla="*/ 2 w 3"/>
                <a:gd name="T59" fmla="*/ 3 h 6"/>
                <a:gd name="T60" fmla="*/ 2 w 3"/>
                <a:gd name="T61" fmla="*/ 2 h 6"/>
                <a:gd name="T62" fmla="*/ 2 w 3"/>
                <a:gd name="T63" fmla="*/ 2 h 6"/>
                <a:gd name="T64" fmla="*/ 2 w 3"/>
                <a:gd name="T65" fmla="*/ 2 h 6"/>
                <a:gd name="T66" fmla="*/ 2 w 3"/>
                <a:gd name="T67" fmla="*/ 1 h 6"/>
                <a:gd name="T68" fmla="*/ 2 w 3"/>
                <a:gd name="T69" fmla="*/ 1 h 6"/>
                <a:gd name="T70" fmla="*/ 2 w 3"/>
                <a:gd name="T71" fmla="*/ 1 h 6"/>
                <a:gd name="T72" fmla="*/ 3 w 3"/>
                <a:gd name="T7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0" name="Freeform 214"/>
            <p:cNvSpPr>
              <a:spLocks/>
            </p:cNvSpPr>
            <p:nvPr/>
          </p:nvSpPr>
          <p:spPr bwMode="auto">
            <a:xfrm>
              <a:off x="1674" y="3243"/>
              <a:ext cx="24" cy="30"/>
            </a:xfrm>
            <a:custGeom>
              <a:avLst/>
              <a:gdLst>
                <a:gd name="T0" fmla="*/ 0 w 4"/>
                <a:gd name="T1" fmla="*/ 1 h 5"/>
                <a:gd name="T2" fmla="*/ 0 w 4"/>
                <a:gd name="T3" fmla="*/ 0 h 5"/>
                <a:gd name="T4" fmla="*/ 0 w 4"/>
                <a:gd name="T5" fmla="*/ 0 h 5"/>
                <a:gd name="T6" fmla="*/ 1 w 4"/>
                <a:gd name="T7" fmla="*/ 0 h 5"/>
                <a:gd name="T8" fmla="*/ 2 w 4"/>
                <a:gd name="T9" fmla="*/ 0 h 5"/>
                <a:gd name="T10" fmla="*/ 3 w 4"/>
                <a:gd name="T11" fmla="*/ 1 h 5"/>
                <a:gd name="T12" fmla="*/ 3 w 4"/>
                <a:gd name="T13" fmla="*/ 1 h 5"/>
                <a:gd name="T14" fmla="*/ 3 w 4"/>
                <a:gd name="T15" fmla="*/ 3 h 5"/>
                <a:gd name="T16" fmla="*/ 4 w 4"/>
                <a:gd name="T17" fmla="*/ 3 h 5"/>
                <a:gd name="T18" fmla="*/ 4 w 4"/>
                <a:gd name="T19" fmla="*/ 4 h 5"/>
                <a:gd name="T20" fmla="*/ 3 w 4"/>
                <a:gd name="T21" fmla="*/ 5 h 5"/>
                <a:gd name="T22" fmla="*/ 3 w 4"/>
                <a:gd name="T23" fmla="*/ 4 h 5"/>
                <a:gd name="T24" fmla="*/ 2 w 4"/>
                <a:gd name="T25" fmla="*/ 3 h 5"/>
                <a:gd name="T26" fmla="*/ 2 w 4"/>
                <a:gd name="T27" fmla="*/ 2 h 5"/>
                <a:gd name="T28" fmla="*/ 2 w 4"/>
                <a:gd name="T29" fmla="*/ 1 h 5"/>
                <a:gd name="T30" fmla="*/ 1 w 4"/>
                <a:gd name="T31" fmla="*/ 1 h 5"/>
                <a:gd name="T32" fmla="*/ 1 w 4"/>
                <a:gd name="T33" fmla="*/ 1 h 5"/>
                <a:gd name="T34" fmla="*/ 1 w 4"/>
                <a:gd name="T35" fmla="*/ 1 h 5"/>
                <a:gd name="T36" fmla="*/ 0 w 4"/>
                <a:gd name="T37" fmla="*/ 1 h 5"/>
                <a:gd name="T38" fmla="*/ 0 w 4"/>
                <a:gd name="T39" fmla="*/ 0 h 5"/>
                <a:gd name="T40" fmla="*/ 0 w 4"/>
                <a:gd name="T4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1" name="Freeform 215"/>
            <p:cNvSpPr>
              <a:spLocks/>
            </p:cNvSpPr>
            <p:nvPr/>
          </p:nvSpPr>
          <p:spPr bwMode="auto">
            <a:xfrm>
              <a:off x="1680" y="3243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2" name="Freeform 216"/>
            <p:cNvSpPr>
              <a:spLocks/>
            </p:cNvSpPr>
            <p:nvPr/>
          </p:nvSpPr>
          <p:spPr bwMode="auto">
            <a:xfrm>
              <a:off x="1680" y="3249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3" name="Freeform 217"/>
            <p:cNvSpPr>
              <a:spLocks/>
            </p:cNvSpPr>
            <p:nvPr/>
          </p:nvSpPr>
          <p:spPr bwMode="auto">
            <a:xfrm>
              <a:off x="1686" y="324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4" name="Freeform 218"/>
            <p:cNvSpPr>
              <a:spLocks/>
            </p:cNvSpPr>
            <p:nvPr/>
          </p:nvSpPr>
          <p:spPr bwMode="auto">
            <a:xfrm>
              <a:off x="1680" y="3255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5" name="Freeform 219"/>
            <p:cNvSpPr>
              <a:spLocks/>
            </p:cNvSpPr>
            <p:nvPr/>
          </p:nvSpPr>
          <p:spPr bwMode="auto">
            <a:xfrm>
              <a:off x="1686" y="325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6" name="Freeform 220"/>
            <p:cNvSpPr>
              <a:spLocks/>
            </p:cNvSpPr>
            <p:nvPr/>
          </p:nvSpPr>
          <p:spPr bwMode="auto">
            <a:xfrm>
              <a:off x="1692" y="3261"/>
              <a:ext cx="6" cy="6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7" name="Freeform 221"/>
            <p:cNvSpPr>
              <a:spLocks/>
            </p:cNvSpPr>
            <p:nvPr/>
          </p:nvSpPr>
          <p:spPr bwMode="auto">
            <a:xfrm>
              <a:off x="1686" y="326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8" name="Freeform 222"/>
            <p:cNvSpPr>
              <a:spLocks/>
            </p:cNvSpPr>
            <p:nvPr/>
          </p:nvSpPr>
          <p:spPr bwMode="auto">
            <a:xfrm>
              <a:off x="1692" y="3267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79" name="Freeform 223"/>
            <p:cNvSpPr>
              <a:spLocks/>
            </p:cNvSpPr>
            <p:nvPr/>
          </p:nvSpPr>
          <p:spPr bwMode="auto">
            <a:xfrm>
              <a:off x="1686" y="3273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0" name="Freeform 224"/>
            <p:cNvSpPr>
              <a:spLocks/>
            </p:cNvSpPr>
            <p:nvPr/>
          </p:nvSpPr>
          <p:spPr bwMode="auto">
            <a:xfrm>
              <a:off x="1686" y="3285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1 h 1"/>
                <a:gd name="T8" fmla="*/ 1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1" name="Freeform 225"/>
            <p:cNvSpPr>
              <a:spLocks/>
            </p:cNvSpPr>
            <p:nvPr/>
          </p:nvSpPr>
          <p:spPr bwMode="auto">
            <a:xfrm>
              <a:off x="1692" y="328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2" name="Freeform 226"/>
            <p:cNvSpPr>
              <a:spLocks/>
            </p:cNvSpPr>
            <p:nvPr/>
          </p:nvSpPr>
          <p:spPr bwMode="auto">
            <a:xfrm>
              <a:off x="1686" y="3291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3" name="Freeform 227"/>
            <p:cNvSpPr>
              <a:spLocks/>
            </p:cNvSpPr>
            <p:nvPr/>
          </p:nvSpPr>
          <p:spPr bwMode="auto">
            <a:xfrm>
              <a:off x="1692" y="3291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4" name="Freeform 228"/>
            <p:cNvSpPr>
              <a:spLocks/>
            </p:cNvSpPr>
            <p:nvPr/>
          </p:nvSpPr>
          <p:spPr bwMode="auto">
            <a:xfrm>
              <a:off x="1674" y="3243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5" name="Freeform 229"/>
            <p:cNvSpPr>
              <a:spLocks/>
            </p:cNvSpPr>
            <p:nvPr/>
          </p:nvSpPr>
          <p:spPr bwMode="auto">
            <a:xfrm>
              <a:off x="1680" y="3243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6" name="Freeform 230"/>
            <p:cNvSpPr>
              <a:spLocks/>
            </p:cNvSpPr>
            <p:nvPr/>
          </p:nvSpPr>
          <p:spPr bwMode="auto">
            <a:xfrm>
              <a:off x="1680" y="32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1 h 1"/>
                <a:gd name="T8" fmla="*/ 0 w 1"/>
                <a:gd name="T9" fmla="*/ 1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87" name="Freeform 231"/>
            <p:cNvSpPr>
              <a:spLocks/>
            </p:cNvSpPr>
            <p:nvPr/>
          </p:nvSpPr>
          <p:spPr bwMode="auto">
            <a:xfrm>
              <a:off x="1686" y="32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288" name="Group 232"/>
          <p:cNvGrpSpPr>
            <a:grpSpLocks/>
          </p:cNvGrpSpPr>
          <p:nvPr/>
        </p:nvGrpSpPr>
        <p:grpSpPr bwMode="auto">
          <a:xfrm rot="894811" flipH="1">
            <a:off x="8575142" y="4687693"/>
            <a:ext cx="666750" cy="1079500"/>
            <a:chOff x="1572" y="2727"/>
            <a:chExt cx="420" cy="680"/>
          </a:xfrm>
        </p:grpSpPr>
        <p:sp>
          <p:nvSpPr>
            <p:cNvPr id="289" name="AutoShape 233"/>
            <p:cNvSpPr>
              <a:spLocks noChangeAspect="1" noChangeArrowheads="1" noTextEdit="1"/>
            </p:cNvSpPr>
            <p:nvPr/>
          </p:nvSpPr>
          <p:spPr bwMode="auto">
            <a:xfrm>
              <a:off x="1572" y="2727"/>
              <a:ext cx="420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0" name="Freeform 234"/>
            <p:cNvSpPr>
              <a:spLocks/>
            </p:cNvSpPr>
            <p:nvPr/>
          </p:nvSpPr>
          <p:spPr bwMode="auto">
            <a:xfrm>
              <a:off x="1836" y="2937"/>
              <a:ext cx="144" cy="252"/>
            </a:xfrm>
            <a:custGeom>
              <a:avLst/>
              <a:gdLst>
                <a:gd name="T0" fmla="*/ 24 w 24"/>
                <a:gd name="T1" fmla="*/ 39 h 42"/>
                <a:gd name="T2" fmla="*/ 23 w 24"/>
                <a:gd name="T3" fmla="*/ 40 h 42"/>
                <a:gd name="T4" fmla="*/ 22 w 24"/>
                <a:gd name="T5" fmla="*/ 40 h 42"/>
                <a:gd name="T6" fmla="*/ 21 w 24"/>
                <a:gd name="T7" fmla="*/ 41 h 42"/>
                <a:gd name="T8" fmla="*/ 20 w 24"/>
                <a:gd name="T9" fmla="*/ 41 h 42"/>
                <a:gd name="T10" fmla="*/ 18 w 24"/>
                <a:gd name="T11" fmla="*/ 42 h 42"/>
                <a:gd name="T12" fmla="*/ 17 w 24"/>
                <a:gd name="T13" fmla="*/ 42 h 42"/>
                <a:gd name="T14" fmla="*/ 15 w 24"/>
                <a:gd name="T15" fmla="*/ 42 h 42"/>
                <a:gd name="T16" fmla="*/ 13 w 24"/>
                <a:gd name="T17" fmla="*/ 38 h 42"/>
                <a:gd name="T18" fmla="*/ 10 w 24"/>
                <a:gd name="T19" fmla="*/ 31 h 42"/>
                <a:gd name="T20" fmla="*/ 7 w 24"/>
                <a:gd name="T21" fmla="*/ 23 h 42"/>
                <a:gd name="T22" fmla="*/ 4 w 24"/>
                <a:gd name="T23" fmla="*/ 16 h 42"/>
                <a:gd name="T24" fmla="*/ 2 w 24"/>
                <a:gd name="T25" fmla="*/ 11 h 42"/>
                <a:gd name="T26" fmla="*/ 1 w 24"/>
                <a:gd name="T27" fmla="*/ 9 h 42"/>
                <a:gd name="T28" fmla="*/ 0 w 24"/>
                <a:gd name="T29" fmla="*/ 6 h 42"/>
                <a:gd name="T30" fmla="*/ 0 w 24"/>
                <a:gd name="T31" fmla="*/ 5 h 42"/>
                <a:gd name="T32" fmla="*/ 0 w 24"/>
                <a:gd name="T33" fmla="*/ 4 h 42"/>
                <a:gd name="T34" fmla="*/ 0 w 24"/>
                <a:gd name="T35" fmla="*/ 3 h 42"/>
                <a:gd name="T36" fmla="*/ 0 w 24"/>
                <a:gd name="T37" fmla="*/ 3 h 42"/>
                <a:gd name="T38" fmla="*/ 1 w 24"/>
                <a:gd name="T39" fmla="*/ 2 h 42"/>
                <a:gd name="T40" fmla="*/ 1 w 24"/>
                <a:gd name="T41" fmla="*/ 2 h 42"/>
                <a:gd name="T42" fmla="*/ 2 w 24"/>
                <a:gd name="T43" fmla="*/ 1 h 42"/>
                <a:gd name="T44" fmla="*/ 3 w 24"/>
                <a:gd name="T45" fmla="*/ 1 h 42"/>
                <a:gd name="T46" fmla="*/ 3 w 24"/>
                <a:gd name="T47" fmla="*/ 0 h 42"/>
                <a:gd name="T48" fmla="*/ 4 w 24"/>
                <a:gd name="T49" fmla="*/ 0 h 42"/>
                <a:gd name="T50" fmla="*/ 5 w 24"/>
                <a:gd name="T51" fmla="*/ 0 h 42"/>
                <a:gd name="T52" fmla="*/ 6 w 24"/>
                <a:gd name="T53" fmla="*/ 0 h 42"/>
                <a:gd name="T54" fmla="*/ 6 w 24"/>
                <a:gd name="T55" fmla="*/ 0 h 42"/>
                <a:gd name="T56" fmla="*/ 7 w 24"/>
                <a:gd name="T57" fmla="*/ 0 h 42"/>
                <a:gd name="T58" fmla="*/ 8 w 24"/>
                <a:gd name="T59" fmla="*/ 0 h 42"/>
                <a:gd name="T60" fmla="*/ 8 w 24"/>
                <a:gd name="T61" fmla="*/ 0 h 42"/>
                <a:gd name="T62" fmla="*/ 9 w 24"/>
                <a:gd name="T63" fmla="*/ 1 h 42"/>
                <a:gd name="T64" fmla="*/ 10 w 24"/>
                <a:gd name="T65" fmla="*/ 1 h 42"/>
                <a:gd name="T66" fmla="*/ 10 w 24"/>
                <a:gd name="T67" fmla="*/ 2 h 42"/>
                <a:gd name="T68" fmla="*/ 11 w 24"/>
                <a:gd name="T69" fmla="*/ 2 h 42"/>
                <a:gd name="T70" fmla="*/ 11 w 24"/>
                <a:gd name="T71" fmla="*/ 3 h 42"/>
                <a:gd name="T72" fmla="*/ 12 w 24"/>
                <a:gd name="T73" fmla="*/ 6 h 42"/>
                <a:gd name="T74" fmla="*/ 14 w 24"/>
                <a:gd name="T75" fmla="*/ 10 h 42"/>
                <a:gd name="T76" fmla="*/ 16 w 24"/>
                <a:gd name="T77" fmla="*/ 16 h 42"/>
                <a:gd name="T78" fmla="*/ 19 w 24"/>
                <a:gd name="T79" fmla="*/ 24 h 42"/>
                <a:gd name="T80" fmla="*/ 22 w 24"/>
                <a:gd name="T81" fmla="*/ 30 h 42"/>
                <a:gd name="T82" fmla="*/ 24 w 24"/>
                <a:gd name="T83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" h="42">
                  <a:moveTo>
                    <a:pt x="24" y="38"/>
                  </a:moveTo>
                  <a:lnTo>
                    <a:pt x="24" y="39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20" y="41"/>
                  </a:lnTo>
                  <a:lnTo>
                    <a:pt x="20" y="41"/>
                  </a:lnTo>
                  <a:lnTo>
                    <a:pt x="19" y="41"/>
                  </a:lnTo>
                  <a:lnTo>
                    <a:pt x="18" y="42"/>
                  </a:lnTo>
                  <a:lnTo>
                    <a:pt x="18" y="42"/>
                  </a:lnTo>
                  <a:lnTo>
                    <a:pt x="17" y="42"/>
                  </a:lnTo>
                  <a:lnTo>
                    <a:pt x="16" y="42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3" y="38"/>
                  </a:lnTo>
                  <a:lnTo>
                    <a:pt x="12" y="35"/>
                  </a:lnTo>
                  <a:lnTo>
                    <a:pt x="10" y="31"/>
                  </a:lnTo>
                  <a:lnTo>
                    <a:pt x="9" y="27"/>
                  </a:lnTo>
                  <a:lnTo>
                    <a:pt x="7" y="23"/>
                  </a:lnTo>
                  <a:lnTo>
                    <a:pt x="5" y="19"/>
                  </a:lnTo>
                  <a:lnTo>
                    <a:pt x="4" y="16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4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9" y="24"/>
                  </a:lnTo>
                  <a:lnTo>
                    <a:pt x="20" y="27"/>
                  </a:lnTo>
                  <a:lnTo>
                    <a:pt x="22" y="30"/>
                  </a:lnTo>
                  <a:lnTo>
                    <a:pt x="23" y="33"/>
                  </a:lnTo>
                  <a:lnTo>
                    <a:pt x="24" y="36"/>
                  </a:lnTo>
                  <a:lnTo>
                    <a:pt x="24" y="38"/>
                  </a:lnTo>
                </a:path>
              </a:pathLst>
            </a:custGeom>
            <a:solidFill>
              <a:srgbClr val="E648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1" name="Freeform 235"/>
            <p:cNvSpPr>
              <a:spLocks/>
            </p:cNvSpPr>
            <p:nvPr/>
          </p:nvSpPr>
          <p:spPr bwMode="auto">
            <a:xfrm>
              <a:off x="1920" y="3165"/>
              <a:ext cx="66" cy="24"/>
            </a:xfrm>
            <a:custGeom>
              <a:avLst/>
              <a:gdLst>
                <a:gd name="T0" fmla="*/ 1 w 11"/>
                <a:gd name="T1" fmla="*/ 3 h 4"/>
                <a:gd name="T2" fmla="*/ 1 w 11"/>
                <a:gd name="T3" fmla="*/ 3 h 4"/>
                <a:gd name="T4" fmla="*/ 1 w 11"/>
                <a:gd name="T5" fmla="*/ 3 h 4"/>
                <a:gd name="T6" fmla="*/ 2 w 11"/>
                <a:gd name="T7" fmla="*/ 3 h 4"/>
                <a:gd name="T8" fmla="*/ 3 w 11"/>
                <a:gd name="T9" fmla="*/ 3 h 4"/>
                <a:gd name="T10" fmla="*/ 3 w 11"/>
                <a:gd name="T11" fmla="*/ 3 h 4"/>
                <a:gd name="T12" fmla="*/ 4 w 11"/>
                <a:gd name="T13" fmla="*/ 3 h 4"/>
                <a:gd name="T14" fmla="*/ 5 w 11"/>
                <a:gd name="T15" fmla="*/ 3 h 4"/>
                <a:gd name="T16" fmla="*/ 5 w 11"/>
                <a:gd name="T17" fmla="*/ 3 h 4"/>
                <a:gd name="T18" fmla="*/ 6 w 11"/>
                <a:gd name="T19" fmla="*/ 3 h 4"/>
                <a:gd name="T20" fmla="*/ 7 w 11"/>
                <a:gd name="T21" fmla="*/ 3 h 4"/>
                <a:gd name="T22" fmla="*/ 7 w 11"/>
                <a:gd name="T23" fmla="*/ 2 h 4"/>
                <a:gd name="T24" fmla="*/ 8 w 11"/>
                <a:gd name="T25" fmla="*/ 2 h 4"/>
                <a:gd name="T26" fmla="*/ 8 w 11"/>
                <a:gd name="T27" fmla="*/ 2 h 4"/>
                <a:gd name="T28" fmla="*/ 9 w 11"/>
                <a:gd name="T29" fmla="*/ 1 h 4"/>
                <a:gd name="T30" fmla="*/ 9 w 11"/>
                <a:gd name="T31" fmla="*/ 1 h 4"/>
                <a:gd name="T32" fmla="*/ 10 w 11"/>
                <a:gd name="T33" fmla="*/ 0 h 4"/>
                <a:gd name="T34" fmla="*/ 10 w 11"/>
                <a:gd name="T35" fmla="*/ 0 h 4"/>
                <a:gd name="T36" fmla="*/ 11 w 11"/>
                <a:gd name="T37" fmla="*/ 0 h 4"/>
                <a:gd name="T38" fmla="*/ 10 w 11"/>
                <a:gd name="T39" fmla="*/ 1 h 4"/>
                <a:gd name="T40" fmla="*/ 10 w 11"/>
                <a:gd name="T41" fmla="*/ 1 h 4"/>
                <a:gd name="T42" fmla="*/ 9 w 11"/>
                <a:gd name="T43" fmla="*/ 2 h 4"/>
                <a:gd name="T44" fmla="*/ 9 w 11"/>
                <a:gd name="T45" fmla="*/ 2 h 4"/>
                <a:gd name="T46" fmla="*/ 8 w 11"/>
                <a:gd name="T47" fmla="*/ 3 h 4"/>
                <a:gd name="T48" fmla="*/ 8 w 11"/>
                <a:gd name="T49" fmla="*/ 3 h 4"/>
                <a:gd name="T50" fmla="*/ 7 w 11"/>
                <a:gd name="T51" fmla="*/ 3 h 4"/>
                <a:gd name="T52" fmla="*/ 6 w 11"/>
                <a:gd name="T53" fmla="*/ 3 h 4"/>
                <a:gd name="T54" fmla="*/ 6 w 11"/>
                <a:gd name="T55" fmla="*/ 4 h 4"/>
                <a:gd name="T56" fmla="*/ 5 w 11"/>
                <a:gd name="T57" fmla="*/ 4 h 4"/>
                <a:gd name="T58" fmla="*/ 4 w 11"/>
                <a:gd name="T59" fmla="*/ 4 h 4"/>
                <a:gd name="T60" fmla="*/ 4 w 11"/>
                <a:gd name="T61" fmla="*/ 4 h 4"/>
                <a:gd name="T62" fmla="*/ 3 w 11"/>
                <a:gd name="T63" fmla="*/ 4 h 4"/>
                <a:gd name="T64" fmla="*/ 2 w 11"/>
                <a:gd name="T65" fmla="*/ 4 h 4"/>
                <a:gd name="T66" fmla="*/ 1 w 11"/>
                <a:gd name="T67" fmla="*/ 4 h 4"/>
                <a:gd name="T68" fmla="*/ 1 w 11"/>
                <a:gd name="T69" fmla="*/ 4 h 4"/>
                <a:gd name="T70" fmla="*/ 0 w 11"/>
                <a:gd name="T71" fmla="*/ 4 h 4"/>
                <a:gd name="T72" fmla="*/ 1 w 11"/>
                <a:gd name="T7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" h="4">
                  <a:moveTo>
                    <a:pt x="1" y="3"/>
                  </a:move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2" name="Freeform 236"/>
            <p:cNvSpPr>
              <a:spLocks/>
            </p:cNvSpPr>
            <p:nvPr/>
          </p:nvSpPr>
          <p:spPr bwMode="auto">
            <a:xfrm>
              <a:off x="1848" y="3009"/>
              <a:ext cx="78" cy="180"/>
            </a:xfrm>
            <a:custGeom>
              <a:avLst/>
              <a:gdLst>
                <a:gd name="T0" fmla="*/ 1 w 13"/>
                <a:gd name="T1" fmla="*/ 0 h 30"/>
                <a:gd name="T2" fmla="*/ 1 w 13"/>
                <a:gd name="T3" fmla="*/ 0 h 30"/>
                <a:gd name="T4" fmla="*/ 2 w 13"/>
                <a:gd name="T5" fmla="*/ 3 h 30"/>
                <a:gd name="T6" fmla="*/ 4 w 13"/>
                <a:gd name="T7" fmla="*/ 7 h 30"/>
                <a:gd name="T8" fmla="*/ 5 w 13"/>
                <a:gd name="T9" fmla="*/ 11 h 30"/>
                <a:gd name="T10" fmla="*/ 7 w 13"/>
                <a:gd name="T11" fmla="*/ 15 h 30"/>
                <a:gd name="T12" fmla="*/ 8 w 13"/>
                <a:gd name="T13" fmla="*/ 19 h 30"/>
                <a:gd name="T14" fmla="*/ 10 w 13"/>
                <a:gd name="T15" fmla="*/ 23 h 30"/>
                <a:gd name="T16" fmla="*/ 12 w 13"/>
                <a:gd name="T17" fmla="*/ 26 h 30"/>
                <a:gd name="T18" fmla="*/ 13 w 13"/>
                <a:gd name="T19" fmla="*/ 29 h 30"/>
                <a:gd name="T20" fmla="*/ 12 w 13"/>
                <a:gd name="T21" fmla="*/ 30 h 30"/>
                <a:gd name="T22" fmla="*/ 11 w 13"/>
                <a:gd name="T23" fmla="*/ 27 h 30"/>
                <a:gd name="T24" fmla="*/ 9 w 13"/>
                <a:gd name="T25" fmla="*/ 23 h 30"/>
                <a:gd name="T26" fmla="*/ 8 w 13"/>
                <a:gd name="T27" fmla="*/ 19 h 30"/>
                <a:gd name="T28" fmla="*/ 6 w 13"/>
                <a:gd name="T29" fmla="*/ 15 h 30"/>
                <a:gd name="T30" fmla="*/ 5 w 13"/>
                <a:gd name="T31" fmla="*/ 11 h 30"/>
                <a:gd name="T32" fmla="*/ 3 w 13"/>
                <a:gd name="T33" fmla="*/ 7 h 30"/>
                <a:gd name="T34" fmla="*/ 1 w 13"/>
                <a:gd name="T35" fmla="*/ 4 h 30"/>
                <a:gd name="T36" fmla="*/ 0 w 13"/>
                <a:gd name="T37" fmla="*/ 0 h 30"/>
                <a:gd name="T38" fmla="*/ 0 w 13"/>
                <a:gd name="T39" fmla="*/ 0 h 30"/>
                <a:gd name="T40" fmla="*/ 1 w 13"/>
                <a:gd name="T4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" h="30">
                  <a:moveTo>
                    <a:pt x="1" y="0"/>
                  </a:moveTo>
                  <a:lnTo>
                    <a:pt x="1" y="0"/>
                  </a:lnTo>
                  <a:lnTo>
                    <a:pt x="2" y="3"/>
                  </a:lnTo>
                  <a:lnTo>
                    <a:pt x="4" y="7"/>
                  </a:lnTo>
                  <a:lnTo>
                    <a:pt x="5" y="11"/>
                  </a:lnTo>
                  <a:lnTo>
                    <a:pt x="7" y="15"/>
                  </a:lnTo>
                  <a:lnTo>
                    <a:pt x="8" y="19"/>
                  </a:lnTo>
                  <a:lnTo>
                    <a:pt x="10" y="23"/>
                  </a:lnTo>
                  <a:lnTo>
                    <a:pt x="12" y="26"/>
                  </a:lnTo>
                  <a:lnTo>
                    <a:pt x="13" y="29"/>
                  </a:lnTo>
                  <a:lnTo>
                    <a:pt x="12" y="30"/>
                  </a:lnTo>
                  <a:lnTo>
                    <a:pt x="11" y="27"/>
                  </a:lnTo>
                  <a:lnTo>
                    <a:pt x="9" y="23"/>
                  </a:lnTo>
                  <a:lnTo>
                    <a:pt x="8" y="19"/>
                  </a:lnTo>
                  <a:lnTo>
                    <a:pt x="6" y="15"/>
                  </a:lnTo>
                  <a:lnTo>
                    <a:pt x="5" y="11"/>
                  </a:lnTo>
                  <a:lnTo>
                    <a:pt x="3" y="7"/>
                  </a:lnTo>
                  <a:lnTo>
                    <a:pt x="1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3" name="Freeform 237"/>
            <p:cNvSpPr>
              <a:spLocks/>
            </p:cNvSpPr>
            <p:nvPr/>
          </p:nvSpPr>
          <p:spPr bwMode="auto">
            <a:xfrm>
              <a:off x="1836" y="2979"/>
              <a:ext cx="18" cy="30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1 w 3"/>
                <a:gd name="T5" fmla="*/ 1 h 5"/>
                <a:gd name="T6" fmla="*/ 2 w 3"/>
                <a:gd name="T7" fmla="*/ 3 h 5"/>
                <a:gd name="T8" fmla="*/ 2 w 3"/>
                <a:gd name="T9" fmla="*/ 4 h 5"/>
                <a:gd name="T10" fmla="*/ 3 w 3"/>
                <a:gd name="T11" fmla="*/ 5 h 5"/>
                <a:gd name="T12" fmla="*/ 2 w 3"/>
                <a:gd name="T13" fmla="*/ 5 h 5"/>
                <a:gd name="T14" fmla="*/ 2 w 3"/>
                <a:gd name="T15" fmla="*/ 4 h 5"/>
                <a:gd name="T16" fmla="*/ 1 w 3"/>
                <a:gd name="T17" fmla="*/ 3 h 5"/>
                <a:gd name="T18" fmla="*/ 1 w 3"/>
                <a:gd name="T19" fmla="*/ 2 h 5"/>
                <a:gd name="T20" fmla="*/ 0 w 3"/>
                <a:gd name="T21" fmla="*/ 1 h 5"/>
                <a:gd name="T22" fmla="*/ 0 w 3"/>
                <a:gd name="T23" fmla="*/ 1 h 5"/>
                <a:gd name="T24" fmla="*/ 1 w 3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4" name="Freeform 238"/>
            <p:cNvSpPr>
              <a:spLocks/>
            </p:cNvSpPr>
            <p:nvPr/>
          </p:nvSpPr>
          <p:spPr bwMode="auto">
            <a:xfrm>
              <a:off x="1836" y="2961"/>
              <a:ext cx="6" cy="24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0 h 4"/>
                <a:gd name="T4" fmla="*/ 0 w 1"/>
                <a:gd name="T5" fmla="*/ 1 h 4"/>
                <a:gd name="T6" fmla="*/ 0 w 1"/>
                <a:gd name="T7" fmla="*/ 2 h 4"/>
                <a:gd name="T8" fmla="*/ 1 w 1"/>
                <a:gd name="T9" fmla="*/ 2 h 4"/>
                <a:gd name="T10" fmla="*/ 1 w 1"/>
                <a:gd name="T11" fmla="*/ 3 h 4"/>
                <a:gd name="T12" fmla="*/ 0 w 1"/>
                <a:gd name="T13" fmla="*/ 4 h 4"/>
                <a:gd name="T14" fmla="*/ 0 w 1"/>
                <a:gd name="T15" fmla="*/ 3 h 4"/>
                <a:gd name="T16" fmla="*/ 0 w 1"/>
                <a:gd name="T17" fmla="*/ 2 h 4"/>
                <a:gd name="T18" fmla="*/ 0 w 1"/>
                <a:gd name="T19" fmla="*/ 1 h 4"/>
                <a:gd name="T20" fmla="*/ 0 w 1"/>
                <a:gd name="T21" fmla="*/ 0 h 4"/>
                <a:gd name="T22" fmla="*/ 0 w 1"/>
                <a:gd name="T23" fmla="*/ 0 h 4"/>
                <a:gd name="T24" fmla="*/ 0 w 1"/>
                <a:gd name="T2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5" name="Freeform 239"/>
            <p:cNvSpPr>
              <a:spLocks/>
            </p:cNvSpPr>
            <p:nvPr/>
          </p:nvSpPr>
          <p:spPr bwMode="auto">
            <a:xfrm>
              <a:off x="1836" y="2937"/>
              <a:ext cx="24" cy="24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4 w 4"/>
                <a:gd name="T5" fmla="*/ 1 h 4"/>
                <a:gd name="T6" fmla="*/ 3 w 4"/>
                <a:gd name="T7" fmla="*/ 1 h 4"/>
                <a:gd name="T8" fmla="*/ 3 w 4"/>
                <a:gd name="T9" fmla="*/ 1 h 4"/>
                <a:gd name="T10" fmla="*/ 2 w 4"/>
                <a:gd name="T11" fmla="*/ 1 h 4"/>
                <a:gd name="T12" fmla="*/ 2 w 4"/>
                <a:gd name="T13" fmla="*/ 2 h 4"/>
                <a:gd name="T14" fmla="*/ 2 w 4"/>
                <a:gd name="T15" fmla="*/ 2 h 4"/>
                <a:gd name="T16" fmla="*/ 2 w 4"/>
                <a:gd name="T17" fmla="*/ 2 h 4"/>
                <a:gd name="T18" fmla="*/ 1 w 4"/>
                <a:gd name="T19" fmla="*/ 2 h 4"/>
                <a:gd name="T20" fmla="*/ 1 w 4"/>
                <a:gd name="T21" fmla="*/ 2 h 4"/>
                <a:gd name="T22" fmla="*/ 1 w 4"/>
                <a:gd name="T23" fmla="*/ 3 h 4"/>
                <a:gd name="T24" fmla="*/ 1 w 4"/>
                <a:gd name="T25" fmla="*/ 3 h 4"/>
                <a:gd name="T26" fmla="*/ 1 w 4"/>
                <a:gd name="T27" fmla="*/ 3 h 4"/>
                <a:gd name="T28" fmla="*/ 1 w 4"/>
                <a:gd name="T29" fmla="*/ 4 h 4"/>
                <a:gd name="T30" fmla="*/ 0 w 4"/>
                <a:gd name="T31" fmla="*/ 4 h 4"/>
                <a:gd name="T32" fmla="*/ 0 w 4"/>
                <a:gd name="T33" fmla="*/ 4 h 4"/>
                <a:gd name="T34" fmla="*/ 0 w 4"/>
                <a:gd name="T35" fmla="*/ 4 h 4"/>
                <a:gd name="T36" fmla="*/ 0 w 4"/>
                <a:gd name="T37" fmla="*/ 4 h 4"/>
                <a:gd name="T38" fmla="*/ 0 w 4"/>
                <a:gd name="T39" fmla="*/ 4 h 4"/>
                <a:gd name="T40" fmla="*/ 0 w 4"/>
                <a:gd name="T41" fmla="*/ 4 h 4"/>
                <a:gd name="T42" fmla="*/ 0 w 4"/>
                <a:gd name="T43" fmla="*/ 3 h 4"/>
                <a:gd name="T44" fmla="*/ 0 w 4"/>
                <a:gd name="T45" fmla="*/ 3 h 4"/>
                <a:gd name="T46" fmla="*/ 0 w 4"/>
                <a:gd name="T47" fmla="*/ 3 h 4"/>
                <a:gd name="T48" fmla="*/ 0 w 4"/>
                <a:gd name="T49" fmla="*/ 2 h 4"/>
                <a:gd name="T50" fmla="*/ 1 w 4"/>
                <a:gd name="T51" fmla="*/ 2 h 4"/>
                <a:gd name="T52" fmla="*/ 1 w 4"/>
                <a:gd name="T53" fmla="*/ 2 h 4"/>
                <a:gd name="T54" fmla="*/ 1 w 4"/>
                <a:gd name="T55" fmla="*/ 1 h 4"/>
                <a:gd name="T56" fmla="*/ 1 w 4"/>
                <a:gd name="T57" fmla="*/ 1 h 4"/>
                <a:gd name="T58" fmla="*/ 2 w 4"/>
                <a:gd name="T59" fmla="*/ 1 h 4"/>
                <a:gd name="T60" fmla="*/ 2 w 4"/>
                <a:gd name="T61" fmla="*/ 1 h 4"/>
                <a:gd name="T62" fmla="*/ 2 w 4"/>
                <a:gd name="T63" fmla="*/ 0 h 4"/>
                <a:gd name="T64" fmla="*/ 3 w 4"/>
                <a:gd name="T65" fmla="*/ 0 h 4"/>
                <a:gd name="T66" fmla="*/ 3 w 4"/>
                <a:gd name="T67" fmla="*/ 0 h 4"/>
                <a:gd name="T68" fmla="*/ 4 w 4"/>
                <a:gd name="T69" fmla="*/ 0 h 4"/>
                <a:gd name="T70" fmla="*/ 4 w 4"/>
                <a:gd name="T71" fmla="*/ 0 h 4"/>
                <a:gd name="T72" fmla="*/ 4 w 4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6" name="Freeform 240"/>
            <p:cNvSpPr>
              <a:spLocks/>
            </p:cNvSpPr>
            <p:nvPr/>
          </p:nvSpPr>
          <p:spPr bwMode="auto">
            <a:xfrm>
              <a:off x="1860" y="2931"/>
              <a:ext cx="36" cy="12"/>
            </a:xfrm>
            <a:custGeom>
              <a:avLst/>
              <a:gdLst>
                <a:gd name="T0" fmla="*/ 5 w 6"/>
                <a:gd name="T1" fmla="*/ 2 h 2"/>
                <a:gd name="T2" fmla="*/ 5 w 6"/>
                <a:gd name="T3" fmla="*/ 2 h 2"/>
                <a:gd name="T4" fmla="*/ 5 w 6"/>
                <a:gd name="T5" fmla="*/ 2 h 2"/>
                <a:gd name="T6" fmla="*/ 5 w 6"/>
                <a:gd name="T7" fmla="*/ 2 h 2"/>
                <a:gd name="T8" fmla="*/ 4 w 6"/>
                <a:gd name="T9" fmla="*/ 2 h 2"/>
                <a:gd name="T10" fmla="*/ 4 w 6"/>
                <a:gd name="T11" fmla="*/ 2 h 2"/>
                <a:gd name="T12" fmla="*/ 4 w 6"/>
                <a:gd name="T13" fmla="*/ 1 h 2"/>
                <a:gd name="T14" fmla="*/ 3 w 6"/>
                <a:gd name="T15" fmla="*/ 1 h 2"/>
                <a:gd name="T16" fmla="*/ 3 w 6"/>
                <a:gd name="T17" fmla="*/ 1 h 2"/>
                <a:gd name="T18" fmla="*/ 3 w 6"/>
                <a:gd name="T19" fmla="*/ 1 h 2"/>
                <a:gd name="T20" fmla="*/ 2 w 6"/>
                <a:gd name="T21" fmla="*/ 1 h 2"/>
                <a:gd name="T22" fmla="*/ 2 w 6"/>
                <a:gd name="T23" fmla="*/ 1 h 2"/>
                <a:gd name="T24" fmla="*/ 2 w 6"/>
                <a:gd name="T25" fmla="*/ 1 h 2"/>
                <a:gd name="T26" fmla="*/ 1 w 6"/>
                <a:gd name="T27" fmla="*/ 1 h 2"/>
                <a:gd name="T28" fmla="*/ 1 w 6"/>
                <a:gd name="T29" fmla="*/ 1 h 2"/>
                <a:gd name="T30" fmla="*/ 1 w 6"/>
                <a:gd name="T31" fmla="*/ 1 h 2"/>
                <a:gd name="T32" fmla="*/ 0 w 6"/>
                <a:gd name="T33" fmla="*/ 1 h 2"/>
                <a:gd name="T34" fmla="*/ 0 w 6"/>
                <a:gd name="T35" fmla="*/ 1 h 2"/>
                <a:gd name="T36" fmla="*/ 0 w 6"/>
                <a:gd name="T37" fmla="*/ 1 h 2"/>
                <a:gd name="T38" fmla="*/ 0 w 6"/>
                <a:gd name="T39" fmla="*/ 1 h 2"/>
                <a:gd name="T40" fmla="*/ 1 w 6"/>
                <a:gd name="T41" fmla="*/ 0 h 2"/>
                <a:gd name="T42" fmla="*/ 1 w 6"/>
                <a:gd name="T43" fmla="*/ 0 h 2"/>
                <a:gd name="T44" fmla="*/ 1 w 6"/>
                <a:gd name="T45" fmla="*/ 0 h 2"/>
                <a:gd name="T46" fmla="*/ 2 w 6"/>
                <a:gd name="T47" fmla="*/ 0 h 2"/>
                <a:gd name="T48" fmla="*/ 2 w 6"/>
                <a:gd name="T49" fmla="*/ 0 h 2"/>
                <a:gd name="T50" fmla="*/ 3 w 6"/>
                <a:gd name="T51" fmla="*/ 0 h 2"/>
                <a:gd name="T52" fmla="*/ 3 w 6"/>
                <a:gd name="T53" fmla="*/ 0 h 2"/>
                <a:gd name="T54" fmla="*/ 3 w 6"/>
                <a:gd name="T55" fmla="*/ 0 h 2"/>
                <a:gd name="T56" fmla="*/ 4 w 6"/>
                <a:gd name="T57" fmla="*/ 0 h 2"/>
                <a:gd name="T58" fmla="*/ 4 w 6"/>
                <a:gd name="T59" fmla="*/ 1 h 2"/>
                <a:gd name="T60" fmla="*/ 4 w 6"/>
                <a:gd name="T61" fmla="*/ 1 h 2"/>
                <a:gd name="T62" fmla="*/ 5 w 6"/>
                <a:gd name="T63" fmla="*/ 1 h 2"/>
                <a:gd name="T64" fmla="*/ 5 w 6"/>
                <a:gd name="T65" fmla="*/ 1 h 2"/>
                <a:gd name="T66" fmla="*/ 5 w 6"/>
                <a:gd name="T67" fmla="*/ 1 h 2"/>
                <a:gd name="T68" fmla="*/ 6 w 6"/>
                <a:gd name="T69" fmla="*/ 2 h 2"/>
                <a:gd name="T70" fmla="*/ 6 w 6"/>
                <a:gd name="T71" fmla="*/ 2 h 2"/>
                <a:gd name="T72" fmla="*/ 5 w 6"/>
                <a:gd name="T7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7" name="Freeform 241"/>
            <p:cNvSpPr>
              <a:spLocks/>
            </p:cNvSpPr>
            <p:nvPr/>
          </p:nvSpPr>
          <p:spPr bwMode="auto">
            <a:xfrm>
              <a:off x="1890" y="2943"/>
              <a:ext cx="18" cy="18"/>
            </a:xfrm>
            <a:custGeom>
              <a:avLst/>
              <a:gdLst>
                <a:gd name="T0" fmla="*/ 2 w 3"/>
                <a:gd name="T1" fmla="*/ 3 h 3"/>
                <a:gd name="T2" fmla="*/ 2 w 3"/>
                <a:gd name="T3" fmla="*/ 3 h 3"/>
                <a:gd name="T4" fmla="*/ 2 w 3"/>
                <a:gd name="T5" fmla="*/ 3 h 3"/>
                <a:gd name="T6" fmla="*/ 1 w 3"/>
                <a:gd name="T7" fmla="*/ 2 h 3"/>
                <a:gd name="T8" fmla="*/ 1 w 3"/>
                <a:gd name="T9" fmla="*/ 2 h 3"/>
                <a:gd name="T10" fmla="*/ 1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0 w 3"/>
                <a:gd name="T17" fmla="*/ 0 h 3"/>
                <a:gd name="T18" fmla="*/ 0 w 3"/>
                <a:gd name="T19" fmla="*/ 0 h 3"/>
                <a:gd name="T20" fmla="*/ 1 w 3"/>
                <a:gd name="T21" fmla="*/ 0 h 3"/>
                <a:gd name="T22" fmla="*/ 1 w 3"/>
                <a:gd name="T23" fmla="*/ 0 h 3"/>
                <a:gd name="T24" fmla="*/ 1 w 3"/>
                <a:gd name="T25" fmla="*/ 0 h 3"/>
                <a:gd name="T26" fmla="*/ 1 w 3"/>
                <a:gd name="T27" fmla="*/ 0 h 3"/>
                <a:gd name="T28" fmla="*/ 2 w 3"/>
                <a:gd name="T29" fmla="*/ 1 h 3"/>
                <a:gd name="T30" fmla="*/ 2 w 3"/>
                <a:gd name="T31" fmla="*/ 1 h 3"/>
                <a:gd name="T32" fmla="*/ 2 w 3"/>
                <a:gd name="T33" fmla="*/ 2 h 3"/>
                <a:gd name="T34" fmla="*/ 3 w 3"/>
                <a:gd name="T35" fmla="*/ 2 h 3"/>
                <a:gd name="T36" fmla="*/ 3 w 3"/>
                <a:gd name="T37" fmla="*/ 3 h 3"/>
                <a:gd name="T38" fmla="*/ 3 w 3"/>
                <a:gd name="T39" fmla="*/ 3 h 3"/>
                <a:gd name="T40" fmla="*/ 2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8" name="Freeform 242"/>
            <p:cNvSpPr>
              <a:spLocks/>
            </p:cNvSpPr>
            <p:nvPr/>
          </p:nvSpPr>
          <p:spPr bwMode="auto">
            <a:xfrm>
              <a:off x="1902" y="2961"/>
              <a:ext cx="24" cy="48"/>
            </a:xfrm>
            <a:custGeom>
              <a:avLst/>
              <a:gdLst>
                <a:gd name="T0" fmla="*/ 3 w 4"/>
                <a:gd name="T1" fmla="*/ 8 h 8"/>
                <a:gd name="T2" fmla="*/ 3 w 4"/>
                <a:gd name="T3" fmla="*/ 8 h 8"/>
                <a:gd name="T4" fmla="*/ 2 w 4"/>
                <a:gd name="T5" fmla="*/ 6 h 8"/>
                <a:gd name="T6" fmla="*/ 1 w 4"/>
                <a:gd name="T7" fmla="*/ 4 h 8"/>
                <a:gd name="T8" fmla="*/ 1 w 4"/>
                <a:gd name="T9" fmla="*/ 2 h 8"/>
                <a:gd name="T10" fmla="*/ 0 w 4"/>
                <a:gd name="T11" fmla="*/ 0 h 8"/>
                <a:gd name="T12" fmla="*/ 1 w 4"/>
                <a:gd name="T13" fmla="*/ 0 h 8"/>
                <a:gd name="T14" fmla="*/ 1 w 4"/>
                <a:gd name="T15" fmla="*/ 2 h 8"/>
                <a:gd name="T16" fmla="*/ 2 w 4"/>
                <a:gd name="T17" fmla="*/ 4 h 8"/>
                <a:gd name="T18" fmla="*/ 3 w 4"/>
                <a:gd name="T19" fmla="*/ 6 h 8"/>
                <a:gd name="T20" fmla="*/ 4 w 4"/>
                <a:gd name="T21" fmla="*/ 8 h 8"/>
                <a:gd name="T22" fmla="*/ 4 w 4"/>
                <a:gd name="T23" fmla="*/ 8 h 8"/>
                <a:gd name="T24" fmla="*/ 3 w 4"/>
                <a:gd name="T2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8">
                  <a:moveTo>
                    <a:pt x="3" y="8"/>
                  </a:moveTo>
                  <a:lnTo>
                    <a:pt x="3" y="8"/>
                  </a:lnTo>
                  <a:lnTo>
                    <a:pt x="2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4"/>
                  </a:lnTo>
                  <a:lnTo>
                    <a:pt x="3" y="6"/>
                  </a:lnTo>
                  <a:lnTo>
                    <a:pt x="4" y="8"/>
                  </a:lnTo>
                  <a:lnTo>
                    <a:pt x="4" y="8"/>
                  </a:lnTo>
                  <a:lnTo>
                    <a:pt x="3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299" name="Freeform 243"/>
            <p:cNvSpPr>
              <a:spLocks/>
            </p:cNvSpPr>
            <p:nvPr/>
          </p:nvSpPr>
          <p:spPr bwMode="auto">
            <a:xfrm>
              <a:off x="1920" y="3009"/>
              <a:ext cx="66" cy="156"/>
            </a:xfrm>
            <a:custGeom>
              <a:avLst/>
              <a:gdLst>
                <a:gd name="T0" fmla="*/ 10 w 11"/>
                <a:gd name="T1" fmla="*/ 26 h 26"/>
                <a:gd name="T2" fmla="*/ 10 w 11"/>
                <a:gd name="T3" fmla="*/ 26 h 26"/>
                <a:gd name="T4" fmla="*/ 9 w 11"/>
                <a:gd name="T5" fmla="*/ 24 h 26"/>
                <a:gd name="T6" fmla="*/ 8 w 11"/>
                <a:gd name="T7" fmla="*/ 21 h 26"/>
                <a:gd name="T8" fmla="*/ 7 w 11"/>
                <a:gd name="T9" fmla="*/ 18 h 26"/>
                <a:gd name="T10" fmla="*/ 6 w 11"/>
                <a:gd name="T11" fmla="*/ 15 h 26"/>
                <a:gd name="T12" fmla="*/ 5 w 11"/>
                <a:gd name="T13" fmla="*/ 12 h 26"/>
                <a:gd name="T14" fmla="*/ 3 w 11"/>
                <a:gd name="T15" fmla="*/ 8 h 26"/>
                <a:gd name="T16" fmla="*/ 2 w 11"/>
                <a:gd name="T17" fmla="*/ 4 h 26"/>
                <a:gd name="T18" fmla="*/ 0 w 11"/>
                <a:gd name="T19" fmla="*/ 0 h 26"/>
                <a:gd name="T20" fmla="*/ 1 w 11"/>
                <a:gd name="T21" fmla="*/ 0 h 26"/>
                <a:gd name="T22" fmla="*/ 2 w 11"/>
                <a:gd name="T23" fmla="*/ 4 h 26"/>
                <a:gd name="T24" fmla="*/ 4 w 11"/>
                <a:gd name="T25" fmla="*/ 8 h 26"/>
                <a:gd name="T26" fmla="*/ 5 w 11"/>
                <a:gd name="T27" fmla="*/ 11 h 26"/>
                <a:gd name="T28" fmla="*/ 7 w 11"/>
                <a:gd name="T29" fmla="*/ 15 h 26"/>
                <a:gd name="T30" fmla="*/ 8 w 11"/>
                <a:gd name="T31" fmla="*/ 18 h 26"/>
                <a:gd name="T32" fmla="*/ 9 w 11"/>
                <a:gd name="T33" fmla="*/ 21 h 26"/>
                <a:gd name="T34" fmla="*/ 10 w 11"/>
                <a:gd name="T35" fmla="*/ 24 h 26"/>
                <a:gd name="T36" fmla="*/ 10 w 11"/>
                <a:gd name="T37" fmla="*/ 26 h 26"/>
                <a:gd name="T38" fmla="*/ 11 w 11"/>
                <a:gd name="T39" fmla="*/ 26 h 26"/>
                <a:gd name="T40" fmla="*/ 10 w 11"/>
                <a:gd name="T4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" h="26">
                  <a:moveTo>
                    <a:pt x="10" y="26"/>
                  </a:moveTo>
                  <a:lnTo>
                    <a:pt x="10" y="26"/>
                  </a:lnTo>
                  <a:lnTo>
                    <a:pt x="9" y="24"/>
                  </a:lnTo>
                  <a:lnTo>
                    <a:pt x="8" y="21"/>
                  </a:lnTo>
                  <a:lnTo>
                    <a:pt x="7" y="18"/>
                  </a:lnTo>
                  <a:lnTo>
                    <a:pt x="6" y="15"/>
                  </a:lnTo>
                  <a:lnTo>
                    <a:pt x="5" y="12"/>
                  </a:lnTo>
                  <a:lnTo>
                    <a:pt x="3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4"/>
                  </a:lnTo>
                  <a:lnTo>
                    <a:pt x="4" y="8"/>
                  </a:lnTo>
                  <a:lnTo>
                    <a:pt x="5" y="11"/>
                  </a:lnTo>
                  <a:lnTo>
                    <a:pt x="7" y="15"/>
                  </a:lnTo>
                  <a:lnTo>
                    <a:pt x="8" y="18"/>
                  </a:lnTo>
                  <a:lnTo>
                    <a:pt x="9" y="21"/>
                  </a:lnTo>
                  <a:lnTo>
                    <a:pt x="10" y="24"/>
                  </a:lnTo>
                  <a:lnTo>
                    <a:pt x="10" y="26"/>
                  </a:lnTo>
                  <a:lnTo>
                    <a:pt x="11" y="26"/>
                  </a:lnTo>
                  <a:lnTo>
                    <a:pt x="10" y="2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0" name="Freeform 244"/>
            <p:cNvSpPr>
              <a:spLocks/>
            </p:cNvSpPr>
            <p:nvPr/>
          </p:nvSpPr>
          <p:spPr bwMode="auto">
            <a:xfrm>
              <a:off x="1836" y="2937"/>
              <a:ext cx="66" cy="48"/>
            </a:xfrm>
            <a:custGeom>
              <a:avLst/>
              <a:gdLst>
                <a:gd name="T0" fmla="*/ 0 w 11"/>
                <a:gd name="T1" fmla="*/ 6 h 8"/>
                <a:gd name="T2" fmla="*/ 0 w 11"/>
                <a:gd name="T3" fmla="*/ 5 h 8"/>
                <a:gd name="T4" fmla="*/ 0 w 11"/>
                <a:gd name="T5" fmla="*/ 4 h 8"/>
                <a:gd name="T6" fmla="*/ 0 w 11"/>
                <a:gd name="T7" fmla="*/ 3 h 8"/>
                <a:gd name="T8" fmla="*/ 0 w 11"/>
                <a:gd name="T9" fmla="*/ 3 h 8"/>
                <a:gd name="T10" fmla="*/ 1 w 11"/>
                <a:gd name="T11" fmla="*/ 2 h 8"/>
                <a:gd name="T12" fmla="*/ 1 w 11"/>
                <a:gd name="T13" fmla="*/ 2 h 8"/>
                <a:gd name="T14" fmla="*/ 2 w 11"/>
                <a:gd name="T15" fmla="*/ 1 h 8"/>
                <a:gd name="T16" fmla="*/ 3 w 11"/>
                <a:gd name="T17" fmla="*/ 1 h 8"/>
                <a:gd name="T18" fmla="*/ 3 w 11"/>
                <a:gd name="T19" fmla="*/ 0 h 8"/>
                <a:gd name="T20" fmla="*/ 4 w 11"/>
                <a:gd name="T21" fmla="*/ 0 h 8"/>
                <a:gd name="T22" fmla="*/ 5 w 11"/>
                <a:gd name="T23" fmla="*/ 0 h 8"/>
                <a:gd name="T24" fmla="*/ 6 w 11"/>
                <a:gd name="T25" fmla="*/ 0 h 8"/>
                <a:gd name="T26" fmla="*/ 6 w 11"/>
                <a:gd name="T27" fmla="*/ 0 h 8"/>
                <a:gd name="T28" fmla="*/ 7 w 11"/>
                <a:gd name="T29" fmla="*/ 0 h 8"/>
                <a:gd name="T30" fmla="*/ 8 w 11"/>
                <a:gd name="T31" fmla="*/ 0 h 8"/>
                <a:gd name="T32" fmla="*/ 8 w 11"/>
                <a:gd name="T33" fmla="*/ 0 h 8"/>
                <a:gd name="T34" fmla="*/ 9 w 11"/>
                <a:gd name="T35" fmla="*/ 1 h 8"/>
                <a:gd name="T36" fmla="*/ 10 w 11"/>
                <a:gd name="T37" fmla="*/ 1 h 8"/>
                <a:gd name="T38" fmla="*/ 10 w 11"/>
                <a:gd name="T39" fmla="*/ 2 h 8"/>
                <a:gd name="T40" fmla="*/ 11 w 11"/>
                <a:gd name="T41" fmla="*/ 2 h 8"/>
                <a:gd name="T42" fmla="*/ 11 w 11"/>
                <a:gd name="T43" fmla="*/ 3 h 8"/>
                <a:gd name="T44" fmla="*/ 11 w 11"/>
                <a:gd name="T45" fmla="*/ 4 h 8"/>
                <a:gd name="T46" fmla="*/ 10 w 11"/>
                <a:gd name="T47" fmla="*/ 3 h 8"/>
                <a:gd name="T48" fmla="*/ 9 w 11"/>
                <a:gd name="T49" fmla="*/ 4 h 8"/>
                <a:gd name="T50" fmla="*/ 8 w 11"/>
                <a:gd name="T51" fmla="*/ 5 h 8"/>
                <a:gd name="T52" fmla="*/ 8 w 11"/>
                <a:gd name="T53" fmla="*/ 5 h 8"/>
                <a:gd name="T54" fmla="*/ 7 w 11"/>
                <a:gd name="T55" fmla="*/ 5 h 8"/>
                <a:gd name="T56" fmla="*/ 7 w 11"/>
                <a:gd name="T57" fmla="*/ 5 h 8"/>
                <a:gd name="T58" fmla="*/ 6 w 11"/>
                <a:gd name="T59" fmla="*/ 5 h 8"/>
                <a:gd name="T60" fmla="*/ 5 w 11"/>
                <a:gd name="T61" fmla="*/ 5 h 8"/>
                <a:gd name="T62" fmla="*/ 5 w 11"/>
                <a:gd name="T63" fmla="*/ 5 h 8"/>
                <a:gd name="T64" fmla="*/ 4 w 11"/>
                <a:gd name="T65" fmla="*/ 5 h 8"/>
                <a:gd name="T66" fmla="*/ 4 w 11"/>
                <a:gd name="T67" fmla="*/ 6 h 8"/>
                <a:gd name="T68" fmla="*/ 3 w 11"/>
                <a:gd name="T69" fmla="*/ 6 h 8"/>
                <a:gd name="T70" fmla="*/ 2 w 11"/>
                <a:gd name="T71" fmla="*/ 6 h 8"/>
                <a:gd name="T72" fmla="*/ 1 w 11"/>
                <a:gd name="T73" fmla="*/ 6 h 8"/>
                <a:gd name="T74" fmla="*/ 1 w 11"/>
                <a:gd name="T7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" h="8">
                  <a:moveTo>
                    <a:pt x="1" y="8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4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1" name="Freeform 245"/>
            <p:cNvSpPr>
              <a:spLocks/>
            </p:cNvSpPr>
            <p:nvPr/>
          </p:nvSpPr>
          <p:spPr bwMode="auto">
            <a:xfrm>
              <a:off x="1836" y="2961"/>
              <a:ext cx="6" cy="24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0 h 4"/>
                <a:gd name="T4" fmla="*/ 0 w 1"/>
                <a:gd name="T5" fmla="*/ 1 h 4"/>
                <a:gd name="T6" fmla="*/ 0 w 1"/>
                <a:gd name="T7" fmla="*/ 1 h 4"/>
                <a:gd name="T8" fmla="*/ 1 w 1"/>
                <a:gd name="T9" fmla="*/ 2 h 4"/>
                <a:gd name="T10" fmla="*/ 1 w 1"/>
                <a:gd name="T11" fmla="*/ 3 h 4"/>
                <a:gd name="T12" fmla="*/ 0 w 1"/>
                <a:gd name="T13" fmla="*/ 4 h 4"/>
                <a:gd name="T14" fmla="*/ 0 w 1"/>
                <a:gd name="T15" fmla="*/ 3 h 4"/>
                <a:gd name="T16" fmla="*/ 0 w 1"/>
                <a:gd name="T17" fmla="*/ 2 h 4"/>
                <a:gd name="T18" fmla="*/ 0 w 1"/>
                <a:gd name="T19" fmla="*/ 1 h 4"/>
                <a:gd name="T20" fmla="*/ 0 w 1"/>
                <a:gd name="T21" fmla="*/ 0 h 4"/>
                <a:gd name="T22" fmla="*/ 0 w 1"/>
                <a:gd name="T23" fmla="*/ 0 h 4"/>
                <a:gd name="T24" fmla="*/ 0 w 1"/>
                <a:gd name="T2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2" name="Freeform 246"/>
            <p:cNvSpPr>
              <a:spLocks/>
            </p:cNvSpPr>
            <p:nvPr/>
          </p:nvSpPr>
          <p:spPr bwMode="auto">
            <a:xfrm>
              <a:off x="1836" y="2937"/>
              <a:ext cx="24" cy="24"/>
            </a:xfrm>
            <a:custGeom>
              <a:avLst/>
              <a:gdLst>
                <a:gd name="T0" fmla="*/ 4 w 4"/>
                <a:gd name="T1" fmla="*/ 0 h 4"/>
                <a:gd name="T2" fmla="*/ 4 w 4"/>
                <a:gd name="T3" fmla="*/ 0 h 4"/>
                <a:gd name="T4" fmla="*/ 4 w 4"/>
                <a:gd name="T5" fmla="*/ 1 h 4"/>
                <a:gd name="T6" fmla="*/ 3 w 4"/>
                <a:gd name="T7" fmla="*/ 1 h 4"/>
                <a:gd name="T8" fmla="*/ 3 w 4"/>
                <a:gd name="T9" fmla="*/ 1 h 4"/>
                <a:gd name="T10" fmla="*/ 2 w 4"/>
                <a:gd name="T11" fmla="*/ 1 h 4"/>
                <a:gd name="T12" fmla="*/ 2 w 4"/>
                <a:gd name="T13" fmla="*/ 2 h 4"/>
                <a:gd name="T14" fmla="*/ 2 w 4"/>
                <a:gd name="T15" fmla="*/ 2 h 4"/>
                <a:gd name="T16" fmla="*/ 2 w 4"/>
                <a:gd name="T17" fmla="*/ 2 h 4"/>
                <a:gd name="T18" fmla="*/ 1 w 4"/>
                <a:gd name="T19" fmla="*/ 2 h 4"/>
                <a:gd name="T20" fmla="*/ 1 w 4"/>
                <a:gd name="T21" fmla="*/ 2 h 4"/>
                <a:gd name="T22" fmla="*/ 1 w 4"/>
                <a:gd name="T23" fmla="*/ 3 h 4"/>
                <a:gd name="T24" fmla="*/ 1 w 4"/>
                <a:gd name="T25" fmla="*/ 3 h 4"/>
                <a:gd name="T26" fmla="*/ 1 w 4"/>
                <a:gd name="T27" fmla="*/ 3 h 4"/>
                <a:gd name="T28" fmla="*/ 1 w 4"/>
                <a:gd name="T29" fmla="*/ 4 h 4"/>
                <a:gd name="T30" fmla="*/ 0 w 4"/>
                <a:gd name="T31" fmla="*/ 4 h 4"/>
                <a:gd name="T32" fmla="*/ 0 w 4"/>
                <a:gd name="T33" fmla="*/ 4 h 4"/>
                <a:gd name="T34" fmla="*/ 0 w 4"/>
                <a:gd name="T35" fmla="*/ 4 h 4"/>
                <a:gd name="T36" fmla="*/ 0 w 4"/>
                <a:gd name="T37" fmla="*/ 4 h 4"/>
                <a:gd name="T38" fmla="*/ 0 w 4"/>
                <a:gd name="T39" fmla="*/ 4 h 4"/>
                <a:gd name="T40" fmla="*/ 0 w 4"/>
                <a:gd name="T41" fmla="*/ 4 h 4"/>
                <a:gd name="T42" fmla="*/ 0 w 4"/>
                <a:gd name="T43" fmla="*/ 3 h 4"/>
                <a:gd name="T44" fmla="*/ 0 w 4"/>
                <a:gd name="T45" fmla="*/ 3 h 4"/>
                <a:gd name="T46" fmla="*/ 0 w 4"/>
                <a:gd name="T47" fmla="*/ 3 h 4"/>
                <a:gd name="T48" fmla="*/ 0 w 4"/>
                <a:gd name="T49" fmla="*/ 2 h 4"/>
                <a:gd name="T50" fmla="*/ 1 w 4"/>
                <a:gd name="T51" fmla="*/ 2 h 4"/>
                <a:gd name="T52" fmla="*/ 1 w 4"/>
                <a:gd name="T53" fmla="*/ 2 h 4"/>
                <a:gd name="T54" fmla="*/ 1 w 4"/>
                <a:gd name="T55" fmla="*/ 1 h 4"/>
                <a:gd name="T56" fmla="*/ 1 w 4"/>
                <a:gd name="T57" fmla="*/ 1 h 4"/>
                <a:gd name="T58" fmla="*/ 2 w 4"/>
                <a:gd name="T59" fmla="*/ 1 h 4"/>
                <a:gd name="T60" fmla="*/ 2 w 4"/>
                <a:gd name="T61" fmla="*/ 1 h 4"/>
                <a:gd name="T62" fmla="*/ 2 w 4"/>
                <a:gd name="T63" fmla="*/ 0 h 4"/>
                <a:gd name="T64" fmla="*/ 3 w 4"/>
                <a:gd name="T65" fmla="*/ 0 h 4"/>
                <a:gd name="T66" fmla="*/ 3 w 4"/>
                <a:gd name="T67" fmla="*/ 0 h 4"/>
                <a:gd name="T68" fmla="*/ 4 w 4"/>
                <a:gd name="T69" fmla="*/ 0 h 4"/>
                <a:gd name="T70" fmla="*/ 4 w 4"/>
                <a:gd name="T71" fmla="*/ 0 h 4"/>
                <a:gd name="T72" fmla="*/ 4 w 4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3" name="Freeform 247"/>
            <p:cNvSpPr>
              <a:spLocks/>
            </p:cNvSpPr>
            <p:nvPr/>
          </p:nvSpPr>
          <p:spPr bwMode="auto">
            <a:xfrm>
              <a:off x="1860" y="2931"/>
              <a:ext cx="36" cy="12"/>
            </a:xfrm>
            <a:custGeom>
              <a:avLst/>
              <a:gdLst>
                <a:gd name="T0" fmla="*/ 5 w 6"/>
                <a:gd name="T1" fmla="*/ 2 h 2"/>
                <a:gd name="T2" fmla="*/ 5 w 6"/>
                <a:gd name="T3" fmla="*/ 2 h 2"/>
                <a:gd name="T4" fmla="*/ 5 w 6"/>
                <a:gd name="T5" fmla="*/ 2 h 2"/>
                <a:gd name="T6" fmla="*/ 5 w 6"/>
                <a:gd name="T7" fmla="*/ 2 h 2"/>
                <a:gd name="T8" fmla="*/ 4 w 6"/>
                <a:gd name="T9" fmla="*/ 2 h 2"/>
                <a:gd name="T10" fmla="*/ 4 w 6"/>
                <a:gd name="T11" fmla="*/ 2 h 2"/>
                <a:gd name="T12" fmla="*/ 4 w 6"/>
                <a:gd name="T13" fmla="*/ 1 h 2"/>
                <a:gd name="T14" fmla="*/ 3 w 6"/>
                <a:gd name="T15" fmla="*/ 1 h 2"/>
                <a:gd name="T16" fmla="*/ 3 w 6"/>
                <a:gd name="T17" fmla="*/ 1 h 2"/>
                <a:gd name="T18" fmla="*/ 3 w 6"/>
                <a:gd name="T19" fmla="*/ 1 h 2"/>
                <a:gd name="T20" fmla="*/ 2 w 6"/>
                <a:gd name="T21" fmla="*/ 1 h 2"/>
                <a:gd name="T22" fmla="*/ 2 w 6"/>
                <a:gd name="T23" fmla="*/ 1 h 2"/>
                <a:gd name="T24" fmla="*/ 2 w 6"/>
                <a:gd name="T25" fmla="*/ 1 h 2"/>
                <a:gd name="T26" fmla="*/ 1 w 6"/>
                <a:gd name="T27" fmla="*/ 1 h 2"/>
                <a:gd name="T28" fmla="*/ 1 w 6"/>
                <a:gd name="T29" fmla="*/ 1 h 2"/>
                <a:gd name="T30" fmla="*/ 1 w 6"/>
                <a:gd name="T31" fmla="*/ 1 h 2"/>
                <a:gd name="T32" fmla="*/ 0 w 6"/>
                <a:gd name="T33" fmla="*/ 1 h 2"/>
                <a:gd name="T34" fmla="*/ 0 w 6"/>
                <a:gd name="T35" fmla="*/ 1 h 2"/>
                <a:gd name="T36" fmla="*/ 0 w 6"/>
                <a:gd name="T37" fmla="*/ 1 h 2"/>
                <a:gd name="T38" fmla="*/ 0 w 6"/>
                <a:gd name="T39" fmla="*/ 1 h 2"/>
                <a:gd name="T40" fmla="*/ 1 w 6"/>
                <a:gd name="T41" fmla="*/ 0 h 2"/>
                <a:gd name="T42" fmla="*/ 1 w 6"/>
                <a:gd name="T43" fmla="*/ 0 h 2"/>
                <a:gd name="T44" fmla="*/ 1 w 6"/>
                <a:gd name="T45" fmla="*/ 0 h 2"/>
                <a:gd name="T46" fmla="*/ 2 w 6"/>
                <a:gd name="T47" fmla="*/ 0 h 2"/>
                <a:gd name="T48" fmla="*/ 2 w 6"/>
                <a:gd name="T49" fmla="*/ 0 h 2"/>
                <a:gd name="T50" fmla="*/ 3 w 6"/>
                <a:gd name="T51" fmla="*/ 0 h 2"/>
                <a:gd name="T52" fmla="*/ 3 w 6"/>
                <a:gd name="T53" fmla="*/ 0 h 2"/>
                <a:gd name="T54" fmla="*/ 3 w 6"/>
                <a:gd name="T55" fmla="*/ 0 h 2"/>
                <a:gd name="T56" fmla="*/ 4 w 6"/>
                <a:gd name="T57" fmla="*/ 0 h 2"/>
                <a:gd name="T58" fmla="*/ 4 w 6"/>
                <a:gd name="T59" fmla="*/ 1 h 2"/>
                <a:gd name="T60" fmla="*/ 4 w 6"/>
                <a:gd name="T61" fmla="*/ 1 h 2"/>
                <a:gd name="T62" fmla="*/ 5 w 6"/>
                <a:gd name="T63" fmla="*/ 1 h 2"/>
                <a:gd name="T64" fmla="*/ 5 w 6"/>
                <a:gd name="T65" fmla="*/ 1 h 2"/>
                <a:gd name="T66" fmla="*/ 5 w 6"/>
                <a:gd name="T67" fmla="*/ 1 h 2"/>
                <a:gd name="T68" fmla="*/ 6 w 6"/>
                <a:gd name="T69" fmla="*/ 2 h 2"/>
                <a:gd name="T70" fmla="*/ 6 w 6"/>
                <a:gd name="T71" fmla="*/ 2 h 2"/>
                <a:gd name="T72" fmla="*/ 5 w 6"/>
                <a:gd name="T7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2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4" name="Freeform 248"/>
            <p:cNvSpPr>
              <a:spLocks/>
            </p:cNvSpPr>
            <p:nvPr/>
          </p:nvSpPr>
          <p:spPr bwMode="auto">
            <a:xfrm>
              <a:off x="1890" y="2943"/>
              <a:ext cx="18" cy="18"/>
            </a:xfrm>
            <a:custGeom>
              <a:avLst/>
              <a:gdLst>
                <a:gd name="T0" fmla="*/ 3 w 3"/>
                <a:gd name="T1" fmla="*/ 3 h 3"/>
                <a:gd name="T2" fmla="*/ 2 w 3"/>
                <a:gd name="T3" fmla="*/ 3 h 3"/>
                <a:gd name="T4" fmla="*/ 2 w 3"/>
                <a:gd name="T5" fmla="*/ 3 h 3"/>
                <a:gd name="T6" fmla="*/ 1 w 3"/>
                <a:gd name="T7" fmla="*/ 2 h 3"/>
                <a:gd name="T8" fmla="*/ 1 w 3"/>
                <a:gd name="T9" fmla="*/ 2 h 3"/>
                <a:gd name="T10" fmla="*/ 1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0 w 3"/>
                <a:gd name="T17" fmla="*/ 0 h 3"/>
                <a:gd name="T18" fmla="*/ 0 w 3"/>
                <a:gd name="T19" fmla="*/ 0 h 3"/>
                <a:gd name="T20" fmla="*/ 1 w 3"/>
                <a:gd name="T21" fmla="*/ 0 h 3"/>
                <a:gd name="T22" fmla="*/ 1 w 3"/>
                <a:gd name="T23" fmla="*/ 0 h 3"/>
                <a:gd name="T24" fmla="*/ 1 w 3"/>
                <a:gd name="T25" fmla="*/ 0 h 3"/>
                <a:gd name="T26" fmla="*/ 1 w 3"/>
                <a:gd name="T27" fmla="*/ 0 h 3"/>
                <a:gd name="T28" fmla="*/ 2 w 3"/>
                <a:gd name="T29" fmla="*/ 1 h 3"/>
                <a:gd name="T30" fmla="*/ 2 w 3"/>
                <a:gd name="T31" fmla="*/ 1 h 3"/>
                <a:gd name="T32" fmla="*/ 2 w 3"/>
                <a:gd name="T33" fmla="*/ 2 h 3"/>
                <a:gd name="T34" fmla="*/ 3 w 3"/>
                <a:gd name="T35" fmla="*/ 2 h 3"/>
                <a:gd name="T36" fmla="*/ 3 w 3"/>
                <a:gd name="T37" fmla="*/ 3 h 3"/>
                <a:gd name="T38" fmla="*/ 2 w 3"/>
                <a:gd name="T39" fmla="*/ 3 h 3"/>
                <a:gd name="T40" fmla="*/ 3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3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5" name="Freeform 249"/>
            <p:cNvSpPr>
              <a:spLocks/>
            </p:cNvSpPr>
            <p:nvPr/>
          </p:nvSpPr>
          <p:spPr bwMode="auto">
            <a:xfrm>
              <a:off x="1884" y="2955"/>
              <a:ext cx="24" cy="12"/>
            </a:xfrm>
            <a:custGeom>
              <a:avLst/>
              <a:gdLst>
                <a:gd name="T0" fmla="*/ 0 w 4"/>
                <a:gd name="T1" fmla="*/ 2 h 2"/>
                <a:gd name="T2" fmla="*/ 0 w 4"/>
                <a:gd name="T3" fmla="*/ 2 h 2"/>
                <a:gd name="T4" fmla="*/ 0 w 4"/>
                <a:gd name="T5" fmla="*/ 1 h 2"/>
                <a:gd name="T6" fmla="*/ 0 w 4"/>
                <a:gd name="T7" fmla="*/ 1 h 2"/>
                <a:gd name="T8" fmla="*/ 1 w 4"/>
                <a:gd name="T9" fmla="*/ 0 h 2"/>
                <a:gd name="T10" fmla="*/ 1 w 4"/>
                <a:gd name="T11" fmla="*/ 0 h 2"/>
                <a:gd name="T12" fmla="*/ 2 w 4"/>
                <a:gd name="T13" fmla="*/ 0 h 2"/>
                <a:gd name="T14" fmla="*/ 2 w 4"/>
                <a:gd name="T15" fmla="*/ 0 h 2"/>
                <a:gd name="T16" fmla="*/ 3 w 4"/>
                <a:gd name="T17" fmla="*/ 0 h 2"/>
                <a:gd name="T18" fmla="*/ 4 w 4"/>
                <a:gd name="T19" fmla="*/ 1 h 2"/>
                <a:gd name="T20" fmla="*/ 3 w 4"/>
                <a:gd name="T21" fmla="*/ 1 h 2"/>
                <a:gd name="T22" fmla="*/ 3 w 4"/>
                <a:gd name="T23" fmla="*/ 1 h 2"/>
                <a:gd name="T24" fmla="*/ 2 w 4"/>
                <a:gd name="T25" fmla="*/ 1 h 2"/>
                <a:gd name="T26" fmla="*/ 2 w 4"/>
                <a:gd name="T27" fmla="*/ 1 h 2"/>
                <a:gd name="T28" fmla="*/ 2 w 4"/>
                <a:gd name="T29" fmla="*/ 1 h 2"/>
                <a:gd name="T30" fmla="*/ 1 w 4"/>
                <a:gd name="T31" fmla="*/ 1 h 2"/>
                <a:gd name="T32" fmla="*/ 1 w 4"/>
                <a:gd name="T33" fmla="*/ 1 h 2"/>
                <a:gd name="T34" fmla="*/ 1 w 4"/>
                <a:gd name="T35" fmla="*/ 2 h 2"/>
                <a:gd name="T36" fmla="*/ 1 w 4"/>
                <a:gd name="T37" fmla="*/ 2 h 2"/>
                <a:gd name="T38" fmla="*/ 0 w 4"/>
                <a:gd name="T39" fmla="*/ 2 h 2"/>
                <a:gd name="T40" fmla="*/ 0 w 4"/>
                <a:gd name="T4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6" name="Freeform 250"/>
            <p:cNvSpPr>
              <a:spLocks/>
            </p:cNvSpPr>
            <p:nvPr/>
          </p:nvSpPr>
          <p:spPr bwMode="auto">
            <a:xfrm>
              <a:off x="1854" y="2961"/>
              <a:ext cx="30" cy="18"/>
            </a:xfrm>
            <a:custGeom>
              <a:avLst/>
              <a:gdLst>
                <a:gd name="T0" fmla="*/ 1 w 5"/>
                <a:gd name="T1" fmla="*/ 2 h 3"/>
                <a:gd name="T2" fmla="*/ 0 w 5"/>
                <a:gd name="T3" fmla="*/ 2 h 3"/>
                <a:gd name="T4" fmla="*/ 1 w 5"/>
                <a:gd name="T5" fmla="*/ 2 h 3"/>
                <a:gd name="T6" fmla="*/ 1 w 5"/>
                <a:gd name="T7" fmla="*/ 2 h 3"/>
                <a:gd name="T8" fmla="*/ 1 w 5"/>
                <a:gd name="T9" fmla="*/ 1 h 3"/>
                <a:gd name="T10" fmla="*/ 1 w 5"/>
                <a:gd name="T11" fmla="*/ 1 h 3"/>
                <a:gd name="T12" fmla="*/ 2 w 5"/>
                <a:gd name="T13" fmla="*/ 1 h 3"/>
                <a:gd name="T14" fmla="*/ 2 w 5"/>
                <a:gd name="T15" fmla="*/ 0 h 3"/>
                <a:gd name="T16" fmla="*/ 2 w 5"/>
                <a:gd name="T17" fmla="*/ 0 h 3"/>
                <a:gd name="T18" fmla="*/ 3 w 5"/>
                <a:gd name="T19" fmla="*/ 0 h 3"/>
                <a:gd name="T20" fmla="*/ 3 w 5"/>
                <a:gd name="T21" fmla="*/ 0 h 3"/>
                <a:gd name="T22" fmla="*/ 3 w 5"/>
                <a:gd name="T23" fmla="*/ 0 h 3"/>
                <a:gd name="T24" fmla="*/ 4 w 5"/>
                <a:gd name="T25" fmla="*/ 0 h 3"/>
                <a:gd name="T26" fmla="*/ 4 w 5"/>
                <a:gd name="T27" fmla="*/ 0 h 3"/>
                <a:gd name="T28" fmla="*/ 4 w 5"/>
                <a:gd name="T29" fmla="*/ 0 h 3"/>
                <a:gd name="T30" fmla="*/ 5 w 5"/>
                <a:gd name="T31" fmla="*/ 0 h 3"/>
                <a:gd name="T32" fmla="*/ 5 w 5"/>
                <a:gd name="T33" fmla="*/ 1 h 3"/>
                <a:gd name="T34" fmla="*/ 5 w 5"/>
                <a:gd name="T35" fmla="*/ 1 h 3"/>
                <a:gd name="T36" fmla="*/ 5 w 5"/>
                <a:gd name="T37" fmla="*/ 1 h 3"/>
                <a:gd name="T38" fmla="*/ 5 w 5"/>
                <a:gd name="T39" fmla="*/ 1 h 3"/>
                <a:gd name="T40" fmla="*/ 4 w 5"/>
                <a:gd name="T41" fmla="*/ 1 h 3"/>
                <a:gd name="T42" fmla="*/ 4 w 5"/>
                <a:gd name="T43" fmla="*/ 1 h 3"/>
                <a:gd name="T44" fmla="*/ 4 w 5"/>
                <a:gd name="T45" fmla="*/ 1 h 3"/>
                <a:gd name="T46" fmla="*/ 4 w 5"/>
                <a:gd name="T47" fmla="*/ 1 h 3"/>
                <a:gd name="T48" fmla="*/ 3 w 5"/>
                <a:gd name="T49" fmla="*/ 1 h 3"/>
                <a:gd name="T50" fmla="*/ 3 w 5"/>
                <a:gd name="T51" fmla="*/ 1 h 3"/>
                <a:gd name="T52" fmla="*/ 3 w 5"/>
                <a:gd name="T53" fmla="*/ 1 h 3"/>
                <a:gd name="T54" fmla="*/ 2 w 5"/>
                <a:gd name="T55" fmla="*/ 1 h 3"/>
                <a:gd name="T56" fmla="*/ 2 w 5"/>
                <a:gd name="T57" fmla="*/ 1 h 3"/>
                <a:gd name="T58" fmla="*/ 2 w 5"/>
                <a:gd name="T59" fmla="*/ 1 h 3"/>
                <a:gd name="T60" fmla="*/ 2 w 5"/>
                <a:gd name="T61" fmla="*/ 1 h 3"/>
                <a:gd name="T62" fmla="*/ 2 w 5"/>
                <a:gd name="T63" fmla="*/ 2 h 3"/>
                <a:gd name="T64" fmla="*/ 1 w 5"/>
                <a:gd name="T65" fmla="*/ 2 h 3"/>
                <a:gd name="T66" fmla="*/ 1 w 5"/>
                <a:gd name="T67" fmla="*/ 2 h 3"/>
                <a:gd name="T68" fmla="*/ 1 w 5"/>
                <a:gd name="T69" fmla="*/ 3 h 3"/>
                <a:gd name="T70" fmla="*/ 1 w 5"/>
                <a:gd name="T71" fmla="*/ 3 h 3"/>
                <a:gd name="T72" fmla="*/ 1 w 5"/>
                <a:gd name="T7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" h="3">
                  <a:moveTo>
                    <a:pt x="1" y="2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7" name="Freeform 251"/>
            <p:cNvSpPr>
              <a:spLocks/>
            </p:cNvSpPr>
            <p:nvPr/>
          </p:nvSpPr>
          <p:spPr bwMode="auto">
            <a:xfrm>
              <a:off x="1836" y="2967"/>
              <a:ext cx="24" cy="18"/>
            </a:xfrm>
            <a:custGeom>
              <a:avLst/>
              <a:gdLst>
                <a:gd name="T0" fmla="*/ 1 w 4"/>
                <a:gd name="T1" fmla="*/ 2 h 3"/>
                <a:gd name="T2" fmla="*/ 0 w 4"/>
                <a:gd name="T3" fmla="*/ 2 h 3"/>
                <a:gd name="T4" fmla="*/ 0 w 4"/>
                <a:gd name="T5" fmla="*/ 2 h 3"/>
                <a:gd name="T6" fmla="*/ 1 w 4"/>
                <a:gd name="T7" fmla="*/ 1 h 3"/>
                <a:gd name="T8" fmla="*/ 1 w 4"/>
                <a:gd name="T9" fmla="*/ 1 h 3"/>
                <a:gd name="T10" fmla="*/ 2 w 4"/>
                <a:gd name="T11" fmla="*/ 0 h 3"/>
                <a:gd name="T12" fmla="*/ 2 w 4"/>
                <a:gd name="T13" fmla="*/ 0 h 3"/>
                <a:gd name="T14" fmla="*/ 3 w 4"/>
                <a:gd name="T15" fmla="*/ 0 h 3"/>
                <a:gd name="T16" fmla="*/ 3 w 4"/>
                <a:gd name="T17" fmla="*/ 1 h 3"/>
                <a:gd name="T18" fmla="*/ 4 w 4"/>
                <a:gd name="T19" fmla="*/ 1 h 3"/>
                <a:gd name="T20" fmla="*/ 4 w 4"/>
                <a:gd name="T21" fmla="*/ 2 h 3"/>
                <a:gd name="T22" fmla="*/ 3 w 4"/>
                <a:gd name="T23" fmla="*/ 1 h 3"/>
                <a:gd name="T24" fmla="*/ 3 w 4"/>
                <a:gd name="T25" fmla="*/ 1 h 3"/>
                <a:gd name="T26" fmla="*/ 2 w 4"/>
                <a:gd name="T27" fmla="*/ 1 h 3"/>
                <a:gd name="T28" fmla="*/ 2 w 4"/>
                <a:gd name="T29" fmla="*/ 1 h 3"/>
                <a:gd name="T30" fmla="*/ 2 w 4"/>
                <a:gd name="T31" fmla="*/ 1 h 3"/>
                <a:gd name="T32" fmla="*/ 1 w 4"/>
                <a:gd name="T33" fmla="*/ 2 h 3"/>
                <a:gd name="T34" fmla="*/ 1 w 4"/>
                <a:gd name="T35" fmla="*/ 2 h 3"/>
                <a:gd name="T36" fmla="*/ 1 w 4"/>
                <a:gd name="T37" fmla="*/ 3 h 3"/>
                <a:gd name="T38" fmla="*/ 0 w 4"/>
                <a:gd name="T39" fmla="*/ 3 h 3"/>
                <a:gd name="T40" fmla="*/ 1 w 4"/>
                <a:gd name="T4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3">
                  <a:moveTo>
                    <a:pt x="1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8" name="Freeform 252"/>
            <p:cNvSpPr>
              <a:spLocks/>
            </p:cNvSpPr>
            <p:nvPr/>
          </p:nvSpPr>
          <p:spPr bwMode="auto">
            <a:xfrm>
              <a:off x="1842" y="2943"/>
              <a:ext cx="48" cy="18"/>
            </a:xfrm>
            <a:custGeom>
              <a:avLst/>
              <a:gdLst>
                <a:gd name="T0" fmla="*/ 0 w 8"/>
                <a:gd name="T1" fmla="*/ 3 h 3"/>
                <a:gd name="T2" fmla="*/ 0 w 8"/>
                <a:gd name="T3" fmla="*/ 3 h 3"/>
                <a:gd name="T4" fmla="*/ 1 w 8"/>
                <a:gd name="T5" fmla="*/ 3 h 3"/>
                <a:gd name="T6" fmla="*/ 1 w 8"/>
                <a:gd name="T7" fmla="*/ 3 h 3"/>
                <a:gd name="T8" fmla="*/ 1 w 8"/>
                <a:gd name="T9" fmla="*/ 3 h 3"/>
                <a:gd name="T10" fmla="*/ 2 w 8"/>
                <a:gd name="T11" fmla="*/ 2 h 3"/>
                <a:gd name="T12" fmla="*/ 3 w 8"/>
                <a:gd name="T13" fmla="*/ 2 h 3"/>
                <a:gd name="T14" fmla="*/ 3 w 8"/>
                <a:gd name="T15" fmla="*/ 2 h 3"/>
                <a:gd name="T16" fmla="*/ 4 w 8"/>
                <a:gd name="T17" fmla="*/ 2 h 3"/>
                <a:gd name="T18" fmla="*/ 4 w 8"/>
                <a:gd name="T19" fmla="*/ 2 h 3"/>
                <a:gd name="T20" fmla="*/ 5 w 8"/>
                <a:gd name="T21" fmla="*/ 1 h 3"/>
                <a:gd name="T22" fmla="*/ 5 w 8"/>
                <a:gd name="T23" fmla="*/ 1 h 3"/>
                <a:gd name="T24" fmla="*/ 6 w 8"/>
                <a:gd name="T25" fmla="*/ 1 h 3"/>
                <a:gd name="T26" fmla="*/ 6 w 8"/>
                <a:gd name="T27" fmla="*/ 1 h 3"/>
                <a:gd name="T28" fmla="*/ 7 w 8"/>
                <a:gd name="T29" fmla="*/ 0 h 3"/>
                <a:gd name="T30" fmla="*/ 7 w 8"/>
                <a:gd name="T31" fmla="*/ 0 h 3"/>
                <a:gd name="T32" fmla="*/ 7 w 8"/>
                <a:gd name="T33" fmla="*/ 0 h 3"/>
                <a:gd name="T34" fmla="*/ 8 w 8"/>
                <a:gd name="T35" fmla="*/ 0 h 3"/>
                <a:gd name="T36" fmla="*/ 8 w 8"/>
                <a:gd name="T37" fmla="*/ 1 h 3"/>
                <a:gd name="T38" fmla="*/ 7 w 8"/>
                <a:gd name="T39" fmla="*/ 1 h 3"/>
                <a:gd name="T40" fmla="*/ 7 w 8"/>
                <a:gd name="T41" fmla="*/ 1 h 3"/>
                <a:gd name="T42" fmla="*/ 6 w 8"/>
                <a:gd name="T43" fmla="*/ 2 h 3"/>
                <a:gd name="T44" fmla="*/ 6 w 8"/>
                <a:gd name="T45" fmla="*/ 2 h 3"/>
                <a:gd name="T46" fmla="*/ 5 w 8"/>
                <a:gd name="T47" fmla="*/ 2 h 3"/>
                <a:gd name="T48" fmla="*/ 5 w 8"/>
                <a:gd name="T49" fmla="*/ 2 h 3"/>
                <a:gd name="T50" fmla="*/ 4 w 8"/>
                <a:gd name="T51" fmla="*/ 3 h 3"/>
                <a:gd name="T52" fmla="*/ 3 w 8"/>
                <a:gd name="T53" fmla="*/ 3 h 3"/>
                <a:gd name="T54" fmla="*/ 3 w 8"/>
                <a:gd name="T55" fmla="*/ 3 h 3"/>
                <a:gd name="T56" fmla="*/ 2 w 8"/>
                <a:gd name="T57" fmla="*/ 3 h 3"/>
                <a:gd name="T58" fmla="*/ 2 w 8"/>
                <a:gd name="T59" fmla="*/ 3 h 3"/>
                <a:gd name="T60" fmla="*/ 1 w 8"/>
                <a:gd name="T61" fmla="*/ 3 h 3"/>
                <a:gd name="T62" fmla="*/ 1 w 8"/>
                <a:gd name="T63" fmla="*/ 3 h 3"/>
                <a:gd name="T64" fmla="*/ 0 w 8"/>
                <a:gd name="T65" fmla="*/ 3 h 3"/>
                <a:gd name="T66" fmla="*/ 0 w 8"/>
                <a:gd name="T67" fmla="*/ 3 h 3"/>
                <a:gd name="T68" fmla="*/ 0 w 8"/>
                <a:gd name="T6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" h="3">
                  <a:moveTo>
                    <a:pt x="0" y="3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09" name="Freeform 253"/>
            <p:cNvSpPr>
              <a:spLocks/>
            </p:cNvSpPr>
            <p:nvPr/>
          </p:nvSpPr>
          <p:spPr bwMode="auto">
            <a:xfrm>
              <a:off x="1884" y="2967"/>
              <a:ext cx="84" cy="204"/>
            </a:xfrm>
            <a:custGeom>
              <a:avLst/>
              <a:gdLst>
                <a:gd name="T0" fmla="*/ 14 w 14"/>
                <a:gd name="T1" fmla="*/ 34 h 34"/>
                <a:gd name="T2" fmla="*/ 13 w 14"/>
                <a:gd name="T3" fmla="*/ 34 h 34"/>
                <a:gd name="T4" fmla="*/ 0 w 14"/>
                <a:gd name="T5" fmla="*/ 0 h 34"/>
                <a:gd name="T6" fmla="*/ 1 w 14"/>
                <a:gd name="T7" fmla="*/ 0 h 34"/>
                <a:gd name="T8" fmla="*/ 14 w 14"/>
                <a:gd name="T9" fmla="*/ 34 h 34"/>
                <a:gd name="T10" fmla="*/ 14 w 14"/>
                <a:gd name="T11" fmla="*/ 34 h 34"/>
                <a:gd name="T12" fmla="*/ 14 w 14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34">
                  <a:moveTo>
                    <a:pt x="14" y="34"/>
                  </a:moveTo>
                  <a:lnTo>
                    <a:pt x="13" y="3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4" y="34"/>
                  </a:lnTo>
                  <a:lnTo>
                    <a:pt x="14" y="34"/>
                  </a:lnTo>
                  <a:lnTo>
                    <a:pt x="14" y="3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0" name="Freeform 254"/>
            <p:cNvSpPr>
              <a:spLocks/>
            </p:cNvSpPr>
            <p:nvPr/>
          </p:nvSpPr>
          <p:spPr bwMode="auto">
            <a:xfrm>
              <a:off x="1962" y="3171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0 w 1"/>
                <a:gd name="T15" fmla="*/ 1 h 1"/>
                <a:gd name="T16" fmla="*/ 0 w 1"/>
                <a:gd name="T17" fmla="*/ 0 h 1"/>
                <a:gd name="T18" fmla="*/ 1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1" name="Freeform 255"/>
            <p:cNvSpPr>
              <a:spLocks/>
            </p:cNvSpPr>
            <p:nvPr/>
          </p:nvSpPr>
          <p:spPr bwMode="auto">
            <a:xfrm>
              <a:off x="1854" y="2973"/>
              <a:ext cx="6" cy="6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2" name="Freeform 256"/>
            <p:cNvSpPr>
              <a:spLocks/>
            </p:cNvSpPr>
            <p:nvPr/>
          </p:nvSpPr>
          <p:spPr bwMode="auto">
            <a:xfrm>
              <a:off x="1854" y="2973"/>
              <a:ext cx="84" cy="210"/>
            </a:xfrm>
            <a:custGeom>
              <a:avLst/>
              <a:gdLst>
                <a:gd name="T0" fmla="*/ 14 w 14"/>
                <a:gd name="T1" fmla="*/ 34 h 35"/>
                <a:gd name="T2" fmla="*/ 14 w 14"/>
                <a:gd name="T3" fmla="*/ 35 h 35"/>
                <a:gd name="T4" fmla="*/ 0 w 14"/>
                <a:gd name="T5" fmla="*/ 1 h 35"/>
                <a:gd name="T6" fmla="*/ 1 w 14"/>
                <a:gd name="T7" fmla="*/ 0 h 35"/>
                <a:gd name="T8" fmla="*/ 14 w 14"/>
                <a:gd name="T9" fmla="*/ 34 h 35"/>
                <a:gd name="T10" fmla="*/ 14 w 14"/>
                <a:gd name="T11" fmla="*/ 34 h 35"/>
                <a:gd name="T12" fmla="*/ 14 w 14"/>
                <a:gd name="T13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35">
                  <a:moveTo>
                    <a:pt x="14" y="34"/>
                  </a:moveTo>
                  <a:lnTo>
                    <a:pt x="14" y="35"/>
                  </a:lnTo>
                  <a:lnTo>
                    <a:pt x="0" y="1"/>
                  </a:lnTo>
                  <a:lnTo>
                    <a:pt x="1" y="0"/>
                  </a:lnTo>
                  <a:lnTo>
                    <a:pt x="14" y="34"/>
                  </a:lnTo>
                  <a:lnTo>
                    <a:pt x="14" y="34"/>
                  </a:lnTo>
                  <a:lnTo>
                    <a:pt x="14" y="3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3" name="Freeform 257"/>
            <p:cNvSpPr>
              <a:spLocks/>
            </p:cNvSpPr>
            <p:nvPr/>
          </p:nvSpPr>
          <p:spPr bwMode="auto">
            <a:xfrm>
              <a:off x="1926" y="3159"/>
              <a:ext cx="54" cy="72"/>
            </a:xfrm>
            <a:custGeom>
              <a:avLst/>
              <a:gdLst>
                <a:gd name="T0" fmla="*/ 9 w 9"/>
                <a:gd name="T1" fmla="*/ 2 h 12"/>
                <a:gd name="T2" fmla="*/ 9 w 9"/>
                <a:gd name="T3" fmla="*/ 3 h 12"/>
                <a:gd name="T4" fmla="*/ 8 w 9"/>
                <a:gd name="T5" fmla="*/ 5 h 12"/>
                <a:gd name="T6" fmla="*/ 8 w 9"/>
                <a:gd name="T7" fmla="*/ 7 h 12"/>
                <a:gd name="T8" fmla="*/ 8 w 9"/>
                <a:gd name="T9" fmla="*/ 8 h 12"/>
                <a:gd name="T10" fmla="*/ 8 w 9"/>
                <a:gd name="T11" fmla="*/ 9 h 12"/>
                <a:gd name="T12" fmla="*/ 8 w 9"/>
                <a:gd name="T13" fmla="*/ 10 h 12"/>
                <a:gd name="T14" fmla="*/ 8 w 9"/>
                <a:gd name="T15" fmla="*/ 11 h 12"/>
                <a:gd name="T16" fmla="*/ 8 w 9"/>
                <a:gd name="T17" fmla="*/ 11 h 12"/>
                <a:gd name="T18" fmla="*/ 7 w 9"/>
                <a:gd name="T19" fmla="*/ 11 h 12"/>
                <a:gd name="T20" fmla="*/ 6 w 9"/>
                <a:gd name="T21" fmla="*/ 10 h 12"/>
                <a:gd name="T22" fmla="*/ 6 w 9"/>
                <a:gd name="T23" fmla="*/ 9 h 12"/>
                <a:gd name="T24" fmla="*/ 5 w 9"/>
                <a:gd name="T25" fmla="*/ 9 h 12"/>
                <a:gd name="T26" fmla="*/ 4 w 9"/>
                <a:gd name="T27" fmla="*/ 8 h 12"/>
                <a:gd name="T28" fmla="*/ 4 w 9"/>
                <a:gd name="T29" fmla="*/ 7 h 12"/>
                <a:gd name="T30" fmla="*/ 3 w 9"/>
                <a:gd name="T31" fmla="*/ 7 h 12"/>
                <a:gd name="T32" fmla="*/ 2 w 9"/>
                <a:gd name="T33" fmla="*/ 6 h 12"/>
                <a:gd name="T34" fmla="*/ 2 w 9"/>
                <a:gd name="T35" fmla="*/ 5 h 12"/>
                <a:gd name="T36" fmla="*/ 1 w 9"/>
                <a:gd name="T37" fmla="*/ 5 h 12"/>
                <a:gd name="T38" fmla="*/ 0 w 9"/>
                <a:gd name="T39" fmla="*/ 5 h 12"/>
                <a:gd name="T40" fmla="*/ 0 w 9"/>
                <a:gd name="T41" fmla="*/ 4 h 12"/>
                <a:gd name="T42" fmla="*/ 0 w 9"/>
                <a:gd name="T43" fmla="*/ 4 h 12"/>
                <a:gd name="T44" fmla="*/ 1 w 9"/>
                <a:gd name="T45" fmla="*/ 3 h 12"/>
                <a:gd name="T46" fmla="*/ 1 w 9"/>
                <a:gd name="T47" fmla="*/ 3 h 12"/>
                <a:gd name="T48" fmla="*/ 2 w 9"/>
                <a:gd name="T49" fmla="*/ 3 h 12"/>
                <a:gd name="T50" fmla="*/ 2 w 9"/>
                <a:gd name="T51" fmla="*/ 2 h 12"/>
                <a:gd name="T52" fmla="*/ 2 w 9"/>
                <a:gd name="T53" fmla="*/ 2 h 12"/>
                <a:gd name="T54" fmla="*/ 3 w 9"/>
                <a:gd name="T55" fmla="*/ 1 h 12"/>
                <a:gd name="T56" fmla="*/ 3 w 9"/>
                <a:gd name="T57" fmla="*/ 1 h 12"/>
                <a:gd name="T58" fmla="*/ 4 w 9"/>
                <a:gd name="T59" fmla="*/ 1 h 12"/>
                <a:gd name="T60" fmla="*/ 5 w 9"/>
                <a:gd name="T61" fmla="*/ 1 h 12"/>
                <a:gd name="T62" fmla="*/ 6 w 9"/>
                <a:gd name="T63" fmla="*/ 2 h 12"/>
                <a:gd name="T64" fmla="*/ 7 w 9"/>
                <a:gd name="T65" fmla="*/ 1 h 12"/>
                <a:gd name="T66" fmla="*/ 7 w 9"/>
                <a:gd name="T67" fmla="*/ 1 h 12"/>
                <a:gd name="T68" fmla="*/ 8 w 9"/>
                <a:gd name="T69" fmla="*/ 0 h 12"/>
                <a:gd name="T70" fmla="*/ 9 w 9"/>
                <a:gd name="T71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" h="12">
                  <a:moveTo>
                    <a:pt x="9" y="1"/>
                  </a:move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9" y="1"/>
                  </a:lnTo>
                </a:path>
              </a:pathLst>
            </a:custGeom>
            <a:solidFill>
              <a:srgbClr val="EBC1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4" name="Freeform 258"/>
            <p:cNvSpPr>
              <a:spLocks/>
            </p:cNvSpPr>
            <p:nvPr/>
          </p:nvSpPr>
          <p:spPr bwMode="auto">
            <a:xfrm>
              <a:off x="1974" y="3165"/>
              <a:ext cx="6" cy="42"/>
            </a:xfrm>
            <a:custGeom>
              <a:avLst/>
              <a:gdLst>
                <a:gd name="T0" fmla="*/ 0 w 1"/>
                <a:gd name="T1" fmla="*/ 7 h 7"/>
                <a:gd name="T2" fmla="*/ 0 w 1"/>
                <a:gd name="T3" fmla="*/ 7 h 7"/>
                <a:gd name="T4" fmla="*/ 0 w 1"/>
                <a:gd name="T5" fmla="*/ 6 h 7"/>
                <a:gd name="T6" fmla="*/ 0 w 1"/>
                <a:gd name="T7" fmla="*/ 5 h 7"/>
                <a:gd name="T8" fmla="*/ 0 w 1"/>
                <a:gd name="T9" fmla="*/ 4 h 7"/>
                <a:gd name="T10" fmla="*/ 0 w 1"/>
                <a:gd name="T11" fmla="*/ 3 h 7"/>
                <a:gd name="T12" fmla="*/ 0 w 1"/>
                <a:gd name="T13" fmla="*/ 2 h 7"/>
                <a:gd name="T14" fmla="*/ 0 w 1"/>
                <a:gd name="T15" fmla="*/ 2 h 7"/>
                <a:gd name="T16" fmla="*/ 1 w 1"/>
                <a:gd name="T17" fmla="*/ 1 h 7"/>
                <a:gd name="T18" fmla="*/ 1 w 1"/>
                <a:gd name="T19" fmla="*/ 0 h 7"/>
                <a:gd name="T20" fmla="*/ 1 w 1"/>
                <a:gd name="T21" fmla="*/ 0 h 7"/>
                <a:gd name="T22" fmla="*/ 1 w 1"/>
                <a:gd name="T23" fmla="*/ 1 h 7"/>
                <a:gd name="T24" fmla="*/ 1 w 1"/>
                <a:gd name="T25" fmla="*/ 2 h 7"/>
                <a:gd name="T26" fmla="*/ 1 w 1"/>
                <a:gd name="T27" fmla="*/ 3 h 7"/>
                <a:gd name="T28" fmla="*/ 1 w 1"/>
                <a:gd name="T29" fmla="*/ 3 h 7"/>
                <a:gd name="T30" fmla="*/ 1 w 1"/>
                <a:gd name="T31" fmla="*/ 4 h 7"/>
                <a:gd name="T32" fmla="*/ 1 w 1"/>
                <a:gd name="T33" fmla="*/ 5 h 7"/>
                <a:gd name="T34" fmla="*/ 1 w 1"/>
                <a:gd name="T35" fmla="*/ 6 h 7"/>
                <a:gd name="T36" fmla="*/ 0 w 1"/>
                <a:gd name="T37" fmla="*/ 7 h 7"/>
                <a:gd name="T38" fmla="*/ 0 w 1"/>
                <a:gd name="T39" fmla="*/ 7 h 7"/>
                <a:gd name="T40" fmla="*/ 0 w 1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7">
                  <a:moveTo>
                    <a:pt x="0" y="7"/>
                  </a:move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5" name="Freeform 259"/>
            <p:cNvSpPr>
              <a:spLocks/>
            </p:cNvSpPr>
            <p:nvPr/>
          </p:nvSpPr>
          <p:spPr bwMode="auto">
            <a:xfrm>
              <a:off x="1968" y="3207"/>
              <a:ext cx="6" cy="24"/>
            </a:xfrm>
            <a:custGeom>
              <a:avLst/>
              <a:gdLst>
                <a:gd name="T0" fmla="*/ 1 w 1"/>
                <a:gd name="T1" fmla="*/ 3 h 4"/>
                <a:gd name="T2" fmla="*/ 0 w 1"/>
                <a:gd name="T3" fmla="*/ 4 h 4"/>
                <a:gd name="T4" fmla="*/ 0 w 1"/>
                <a:gd name="T5" fmla="*/ 3 h 4"/>
                <a:gd name="T6" fmla="*/ 0 w 1"/>
                <a:gd name="T7" fmla="*/ 3 h 4"/>
                <a:gd name="T8" fmla="*/ 1 w 1"/>
                <a:gd name="T9" fmla="*/ 2 h 4"/>
                <a:gd name="T10" fmla="*/ 1 w 1"/>
                <a:gd name="T11" fmla="*/ 2 h 4"/>
                <a:gd name="T12" fmla="*/ 1 w 1"/>
                <a:gd name="T13" fmla="*/ 1 h 4"/>
                <a:gd name="T14" fmla="*/ 1 w 1"/>
                <a:gd name="T15" fmla="*/ 1 h 4"/>
                <a:gd name="T16" fmla="*/ 1 w 1"/>
                <a:gd name="T17" fmla="*/ 0 h 4"/>
                <a:gd name="T18" fmla="*/ 1 w 1"/>
                <a:gd name="T19" fmla="*/ 0 h 4"/>
                <a:gd name="T20" fmla="*/ 1 w 1"/>
                <a:gd name="T21" fmla="*/ 0 h 4"/>
                <a:gd name="T22" fmla="*/ 1 w 1"/>
                <a:gd name="T23" fmla="*/ 0 h 4"/>
                <a:gd name="T24" fmla="*/ 1 w 1"/>
                <a:gd name="T25" fmla="*/ 1 h 4"/>
                <a:gd name="T26" fmla="*/ 1 w 1"/>
                <a:gd name="T27" fmla="*/ 1 h 4"/>
                <a:gd name="T28" fmla="*/ 1 w 1"/>
                <a:gd name="T29" fmla="*/ 2 h 4"/>
                <a:gd name="T30" fmla="*/ 1 w 1"/>
                <a:gd name="T31" fmla="*/ 2 h 4"/>
                <a:gd name="T32" fmla="*/ 1 w 1"/>
                <a:gd name="T33" fmla="*/ 3 h 4"/>
                <a:gd name="T34" fmla="*/ 1 w 1"/>
                <a:gd name="T35" fmla="*/ 3 h 4"/>
                <a:gd name="T36" fmla="*/ 1 w 1"/>
                <a:gd name="T37" fmla="*/ 4 h 4"/>
                <a:gd name="T38" fmla="*/ 1 w 1"/>
                <a:gd name="T39" fmla="*/ 4 h 4"/>
                <a:gd name="T40" fmla="*/ 1 w 1"/>
                <a:gd name="T4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4">
                  <a:moveTo>
                    <a:pt x="1" y="3"/>
                  </a:move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6" name="Freeform 260"/>
            <p:cNvSpPr>
              <a:spLocks/>
            </p:cNvSpPr>
            <p:nvPr/>
          </p:nvSpPr>
          <p:spPr bwMode="auto">
            <a:xfrm>
              <a:off x="1956" y="3213"/>
              <a:ext cx="18" cy="1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1 w 3"/>
                <a:gd name="T5" fmla="*/ 0 h 3"/>
                <a:gd name="T6" fmla="*/ 1 w 3"/>
                <a:gd name="T7" fmla="*/ 0 h 3"/>
                <a:gd name="T8" fmla="*/ 1 w 3"/>
                <a:gd name="T9" fmla="*/ 1 h 3"/>
                <a:gd name="T10" fmla="*/ 2 w 3"/>
                <a:gd name="T11" fmla="*/ 1 h 3"/>
                <a:gd name="T12" fmla="*/ 2 w 3"/>
                <a:gd name="T13" fmla="*/ 2 h 3"/>
                <a:gd name="T14" fmla="*/ 2 w 3"/>
                <a:gd name="T15" fmla="*/ 2 h 3"/>
                <a:gd name="T16" fmla="*/ 3 w 3"/>
                <a:gd name="T17" fmla="*/ 2 h 3"/>
                <a:gd name="T18" fmla="*/ 3 w 3"/>
                <a:gd name="T19" fmla="*/ 2 h 3"/>
                <a:gd name="T20" fmla="*/ 3 w 3"/>
                <a:gd name="T21" fmla="*/ 3 h 3"/>
                <a:gd name="T22" fmla="*/ 2 w 3"/>
                <a:gd name="T23" fmla="*/ 3 h 3"/>
                <a:gd name="T24" fmla="*/ 2 w 3"/>
                <a:gd name="T25" fmla="*/ 2 h 3"/>
                <a:gd name="T26" fmla="*/ 2 w 3"/>
                <a:gd name="T27" fmla="*/ 2 h 3"/>
                <a:gd name="T28" fmla="*/ 1 w 3"/>
                <a:gd name="T29" fmla="*/ 2 h 3"/>
                <a:gd name="T30" fmla="*/ 1 w 3"/>
                <a:gd name="T31" fmla="*/ 1 h 3"/>
                <a:gd name="T32" fmla="*/ 1 w 3"/>
                <a:gd name="T33" fmla="*/ 1 h 3"/>
                <a:gd name="T34" fmla="*/ 0 w 3"/>
                <a:gd name="T35" fmla="*/ 0 h 3"/>
                <a:gd name="T36" fmla="*/ 0 w 3"/>
                <a:gd name="T37" fmla="*/ 0 h 3"/>
                <a:gd name="T38" fmla="*/ 0 w 3"/>
                <a:gd name="T39" fmla="*/ 0 h 3"/>
                <a:gd name="T40" fmla="*/ 0 w 3"/>
                <a:gd name="T4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7" name="Freeform 261"/>
            <p:cNvSpPr>
              <a:spLocks/>
            </p:cNvSpPr>
            <p:nvPr/>
          </p:nvSpPr>
          <p:spPr bwMode="auto">
            <a:xfrm>
              <a:off x="1920" y="3183"/>
              <a:ext cx="36" cy="30"/>
            </a:xfrm>
            <a:custGeom>
              <a:avLst/>
              <a:gdLst>
                <a:gd name="T0" fmla="*/ 1 w 6"/>
                <a:gd name="T1" fmla="*/ 1 h 5"/>
                <a:gd name="T2" fmla="*/ 1 w 6"/>
                <a:gd name="T3" fmla="*/ 0 h 5"/>
                <a:gd name="T4" fmla="*/ 1 w 6"/>
                <a:gd name="T5" fmla="*/ 0 h 5"/>
                <a:gd name="T6" fmla="*/ 2 w 6"/>
                <a:gd name="T7" fmla="*/ 0 h 5"/>
                <a:gd name="T8" fmla="*/ 2 w 6"/>
                <a:gd name="T9" fmla="*/ 1 h 5"/>
                <a:gd name="T10" fmla="*/ 2 w 6"/>
                <a:gd name="T11" fmla="*/ 1 h 5"/>
                <a:gd name="T12" fmla="*/ 3 w 6"/>
                <a:gd name="T13" fmla="*/ 1 h 5"/>
                <a:gd name="T14" fmla="*/ 3 w 6"/>
                <a:gd name="T15" fmla="*/ 1 h 5"/>
                <a:gd name="T16" fmla="*/ 4 w 6"/>
                <a:gd name="T17" fmla="*/ 2 h 5"/>
                <a:gd name="T18" fmla="*/ 4 w 6"/>
                <a:gd name="T19" fmla="*/ 2 h 5"/>
                <a:gd name="T20" fmla="*/ 4 w 6"/>
                <a:gd name="T21" fmla="*/ 2 h 5"/>
                <a:gd name="T22" fmla="*/ 5 w 6"/>
                <a:gd name="T23" fmla="*/ 3 h 5"/>
                <a:gd name="T24" fmla="*/ 5 w 6"/>
                <a:gd name="T25" fmla="*/ 3 h 5"/>
                <a:gd name="T26" fmla="*/ 5 w 6"/>
                <a:gd name="T27" fmla="*/ 3 h 5"/>
                <a:gd name="T28" fmla="*/ 6 w 6"/>
                <a:gd name="T29" fmla="*/ 4 h 5"/>
                <a:gd name="T30" fmla="*/ 6 w 6"/>
                <a:gd name="T31" fmla="*/ 4 h 5"/>
                <a:gd name="T32" fmla="*/ 6 w 6"/>
                <a:gd name="T33" fmla="*/ 4 h 5"/>
                <a:gd name="T34" fmla="*/ 6 w 6"/>
                <a:gd name="T35" fmla="*/ 5 h 5"/>
                <a:gd name="T36" fmla="*/ 6 w 6"/>
                <a:gd name="T37" fmla="*/ 5 h 5"/>
                <a:gd name="T38" fmla="*/ 6 w 6"/>
                <a:gd name="T39" fmla="*/ 5 h 5"/>
                <a:gd name="T40" fmla="*/ 5 w 6"/>
                <a:gd name="T41" fmla="*/ 5 h 5"/>
                <a:gd name="T42" fmla="*/ 5 w 6"/>
                <a:gd name="T43" fmla="*/ 4 h 5"/>
                <a:gd name="T44" fmla="*/ 5 w 6"/>
                <a:gd name="T45" fmla="*/ 4 h 5"/>
                <a:gd name="T46" fmla="*/ 4 w 6"/>
                <a:gd name="T47" fmla="*/ 4 h 5"/>
                <a:gd name="T48" fmla="*/ 4 w 6"/>
                <a:gd name="T49" fmla="*/ 3 h 5"/>
                <a:gd name="T50" fmla="*/ 4 w 6"/>
                <a:gd name="T51" fmla="*/ 3 h 5"/>
                <a:gd name="T52" fmla="*/ 4 w 6"/>
                <a:gd name="T53" fmla="*/ 3 h 5"/>
                <a:gd name="T54" fmla="*/ 3 w 6"/>
                <a:gd name="T55" fmla="*/ 3 h 5"/>
                <a:gd name="T56" fmla="*/ 3 w 6"/>
                <a:gd name="T57" fmla="*/ 2 h 5"/>
                <a:gd name="T58" fmla="*/ 2 w 6"/>
                <a:gd name="T59" fmla="*/ 2 h 5"/>
                <a:gd name="T60" fmla="*/ 2 w 6"/>
                <a:gd name="T61" fmla="*/ 2 h 5"/>
                <a:gd name="T62" fmla="*/ 2 w 6"/>
                <a:gd name="T63" fmla="*/ 1 h 5"/>
                <a:gd name="T64" fmla="*/ 1 w 6"/>
                <a:gd name="T65" fmla="*/ 1 h 5"/>
                <a:gd name="T66" fmla="*/ 1 w 6"/>
                <a:gd name="T67" fmla="*/ 1 h 5"/>
                <a:gd name="T68" fmla="*/ 1 w 6"/>
                <a:gd name="T69" fmla="*/ 1 h 5"/>
                <a:gd name="T70" fmla="*/ 0 w 6"/>
                <a:gd name="T71" fmla="*/ 0 h 5"/>
                <a:gd name="T72" fmla="*/ 1 w 6"/>
                <a:gd name="T7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5">
                  <a:moveTo>
                    <a:pt x="1" y="1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8" name="Freeform 262"/>
            <p:cNvSpPr>
              <a:spLocks/>
            </p:cNvSpPr>
            <p:nvPr/>
          </p:nvSpPr>
          <p:spPr bwMode="auto">
            <a:xfrm>
              <a:off x="1920" y="3177"/>
              <a:ext cx="18" cy="12"/>
            </a:xfrm>
            <a:custGeom>
              <a:avLst/>
              <a:gdLst>
                <a:gd name="T0" fmla="*/ 3 w 3"/>
                <a:gd name="T1" fmla="*/ 1 h 2"/>
                <a:gd name="T2" fmla="*/ 3 w 3"/>
                <a:gd name="T3" fmla="*/ 1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2 w 3"/>
                <a:gd name="T11" fmla="*/ 1 h 2"/>
                <a:gd name="T12" fmla="*/ 2 w 3"/>
                <a:gd name="T13" fmla="*/ 1 h 2"/>
                <a:gd name="T14" fmla="*/ 1 w 3"/>
                <a:gd name="T15" fmla="*/ 1 h 2"/>
                <a:gd name="T16" fmla="*/ 1 w 3"/>
                <a:gd name="T17" fmla="*/ 1 h 2"/>
                <a:gd name="T18" fmla="*/ 1 w 3"/>
                <a:gd name="T19" fmla="*/ 2 h 2"/>
                <a:gd name="T20" fmla="*/ 0 w 3"/>
                <a:gd name="T21" fmla="*/ 1 h 2"/>
                <a:gd name="T22" fmla="*/ 1 w 3"/>
                <a:gd name="T23" fmla="*/ 1 h 2"/>
                <a:gd name="T24" fmla="*/ 1 w 3"/>
                <a:gd name="T25" fmla="*/ 0 h 2"/>
                <a:gd name="T26" fmla="*/ 1 w 3"/>
                <a:gd name="T27" fmla="*/ 0 h 2"/>
                <a:gd name="T28" fmla="*/ 1 w 3"/>
                <a:gd name="T29" fmla="*/ 0 h 2"/>
                <a:gd name="T30" fmla="*/ 2 w 3"/>
                <a:gd name="T31" fmla="*/ 0 h 2"/>
                <a:gd name="T32" fmla="*/ 2 w 3"/>
                <a:gd name="T33" fmla="*/ 0 h 2"/>
                <a:gd name="T34" fmla="*/ 3 w 3"/>
                <a:gd name="T35" fmla="*/ 0 h 2"/>
                <a:gd name="T36" fmla="*/ 3 w 3"/>
                <a:gd name="T37" fmla="*/ 0 h 2"/>
                <a:gd name="T38" fmla="*/ 2 w 3"/>
                <a:gd name="T39" fmla="*/ 1 h 2"/>
                <a:gd name="T40" fmla="*/ 3 w 3"/>
                <a:gd name="T4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3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19" name="Freeform 263"/>
            <p:cNvSpPr>
              <a:spLocks/>
            </p:cNvSpPr>
            <p:nvPr/>
          </p:nvSpPr>
          <p:spPr bwMode="auto">
            <a:xfrm>
              <a:off x="1932" y="3165"/>
              <a:ext cx="36" cy="18"/>
            </a:xfrm>
            <a:custGeom>
              <a:avLst/>
              <a:gdLst>
                <a:gd name="T0" fmla="*/ 6 w 6"/>
                <a:gd name="T1" fmla="*/ 1 h 3"/>
                <a:gd name="T2" fmla="*/ 5 w 6"/>
                <a:gd name="T3" fmla="*/ 1 h 3"/>
                <a:gd name="T4" fmla="*/ 5 w 6"/>
                <a:gd name="T5" fmla="*/ 1 h 3"/>
                <a:gd name="T6" fmla="*/ 4 w 6"/>
                <a:gd name="T7" fmla="*/ 1 h 3"/>
                <a:gd name="T8" fmla="*/ 4 w 6"/>
                <a:gd name="T9" fmla="*/ 1 h 3"/>
                <a:gd name="T10" fmla="*/ 4 w 6"/>
                <a:gd name="T11" fmla="*/ 1 h 3"/>
                <a:gd name="T12" fmla="*/ 3 w 6"/>
                <a:gd name="T13" fmla="*/ 1 h 3"/>
                <a:gd name="T14" fmla="*/ 3 w 6"/>
                <a:gd name="T15" fmla="*/ 1 h 3"/>
                <a:gd name="T16" fmla="*/ 3 w 6"/>
                <a:gd name="T17" fmla="*/ 0 h 3"/>
                <a:gd name="T18" fmla="*/ 2 w 6"/>
                <a:gd name="T19" fmla="*/ 1 h 3"/>
                <a:gd name="T20" fmla="*/ 2 w 6"/>
                <a:gd name="T21" fmla="*/ 1 h 3"/>
                <a:gd name="T22" fmla="*/ 2 w 6"/>
                <a:gd name="T23" fmla="*/ 1 h 3"/>
                <a:gd name="T24" fmla="*/ 1 w 6"/>
                <a:gd name="T25" fmla="*/ 1 h 3"/>
                <a:gd name="T26" fmla="*/ 1 w 6"/>
                <a:gd name="T27" fmla="*/ 1 h 3"/>
                <a:gd name="T28" fmla="*/ 1 w 6"/>
                <a:gd name="T29" fmla="*/ 1 h 3"/>
                <a:gd name="T30" fmla="*/ 1 w 6"/>
                <a:gd name="T31" fmla="*/ 2 h 3"/>
                <a:gd name="T32" fmla="*/ 1 w 6"/>
                <a:gd name="T33" fmla="*/ 2 h 3"/>
                <a:gd name="T34" fmla="*/ 1 w 6"/>
                <a:gd name="T35" fmla="*/ 3 h 3"/>
                <a:gd name="T36" fmla="*/ 0 w 6"/>
                <a:gd name="T37" fmla="*/ 3 h 3"/>
                <a:gd name="T38" fmla="*/ 0 w 6"/>
                <a:gd name="T39" fmla="*/ 2 h 3"/>
                <a:gd name="T40" fmla="*/ 0 w 6"/>
                <a:gd name="T41" fmla="*/ 2 h 3"/>
                <a:gd name="T42" fmla="*/ 0 w 6"/>
                <a:gd name="T43" fmla="*/ 1 h 3"/>
                <a:gd name="T44" fmla="*/ 1 w 6"/>
                <a:gd name="T45" fmla="*/ 1 h 3"/>
                <a:gd name="T46" fmla="*/ 1 w 6"/>
                <a:gd name="T47" fmla="*/ 0 h 3"/>
                <a:gd name="T48" fmla="*/ 1 w 6"/>
                <a:gd name="T49" fmla="*/ 0 h 3"/>
                <a:gd name="T50" fmla="*/ 2 w 6"/>
                <a:gd name="T51" fmla="*/ 0 h 3"/>
                <a:gd name="T52" fmla="*/ 2 w 6"/>
                <a:gd name="T53" fmla="*/ 0 h 3"/>
                <a:gd name="T54" fmla="*/ 2 w 6"/>
                <a:gd name="T55" fmla="*/ 0 h 3"/>
                <a:gd name="T56" fmla="*/ 3 w 6"/>
                <a:gd name="T57" fmla="*/ 0 h 3"/>
                <a:gd name="T58" fmla="*/ 3 w 6"/>
                <a:gd name="T59" fmla="*/ 0 h 3"/>
                <a:gd name="T60" fmla="*/ 4 w 6"/>
                <a:gd name="T61" fmla="*/ 0 h 3"/>
                <a:gd name="T62" fmla="*/ 4 w 6"/>
                <a:gd name="T63" fmla="*/ 0 h 3"/>
                <a:gd name="T64" fmla="*/ 5 w 6"/>
                <a:gd name="T65" fmla="*/ 0 h 3"/>
                <a:gd name="T66" fmla="*/ 5 w 6"/>
                <a:gd name="T67" fmla="*/ 1 h 3"/>
                <a:gd name="T68" fmla="*/ 6 w 6"/>
                <a:gd name="T69" fmla="*/ 1 h 3"/>
                <a:gd name="T70" fmla="*/ 5 w 6"/>
                <a:gd name="T71" fmla="*/ 1 h 3"/>
                <a:gd name="T72" fmla="*/ 6 w 6"/>
                <a:gd name="T7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3">
                  <a:moveTo>
                    <a:pt x="6" y="1"/>
                  </a:move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6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0" name="Freeform 264"/>
            <p:cNvSpPr>
              <a:spLocks/>
            </p:cNvSpPr>
            <p:nvPr/>
          </p:nvSpPr>
          <p:spPr bwMode="auto">
            <a:xfrm>
              <a:off x="1962" y="3159"/>
              <a:ext cx="18" cy="12"/>
            </a:xfrm>
            <a:custGeom>
              <a:avLst/>
              <a:gdLst>
                <a:gd name="T0" fmla="*/ 3 w 3"/>
                <a:gd name="T1" fmla="*/ 1 h 2"/>
                <a:gd name="T2" fmla="*/ 3 w 3"/>
                <a:gd name="T3" fmla="*/ 1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2 w 3"/>
                <a:gd name="T11" fmla="*/ 1 h 2"/>
                <a:gd name="T12" fmla="*/ 1 w 3"/>
                <a:gd name="T13" fmla="*/ 1 h 2"/>
                <a:gd name="T14" fmla="*/ 1 w 3"/>
                <a:gd name="T15" fmla="*/ 1 h 2"/>
                <a:gd name="T16" fmla="*/ 1 w 3"/>
                <a:gd name="T17" fmla="*/ 2 h 2"/>
                <a:gd name="T18" fmla="*/ 1 w 3"/>
                <a:gd name="T19" fmla="*/ 2 h 2"/>
                <a:gd name="T20" fmla="*/ 0 w 3"/>
                <a:gd name="T21" fmla="*/ 2 h 2"/>
                <a:gd name="T22" fmla="*/ 0 w 3"/>
                <a:gd name="T23" fmla="*/ 1 h 2"/>
                <a:gd name="T24" fmla="*/ 1 w 3"/>
                <a:gd name="T25" fmla="*/ 1 h 2"/>
                <a:gd name="T26" fmla="*/ 1 w 3"/>
                <a:gd name="T27" fmla="*/ 0 h 2"/>
                <a:gd name="T28" fmla="*/ 1 w 3"/>
                <a:gd name="T29" fmla="*/ 0 h 2"/>
                <a:gd name="T30" fmla="*/ 2 w 3"/>
                <a:gd name="T31" fmla="*/ 0 h 2"/>
                <a:gd name="T32" fmla="*/ 2 w 3"/>
                <a:gd name="T33" fmla="*/ 0 h 2"/>
                <a:gd name="T34" fmla="*/ 3 w 3"/>
                <a:gd name="T35" fmla="*/ 0 h 2"/>
                <a:gd name="T36" fmla="*/ 3 w 3"/>
                <a:gd name="T37" fmla="*/ 1 h 2"/>
                <a:gd name="T38" fmla="*/ 3 w 3"/>
                <a:gd name="T39" fmla="*/ 1 h 2"/>
                <a:gd name="T40" fmla="*/ 3 w 3"/>
                <a:gd name="T4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1" name="Freeform 265"/>
            <p:cNvSpPr>
              <a:spLocks/>
            </p:cNvSpPr>
            <p:nvPr/>
          </p:nvSpPr>
          <p:spPr bwMode="auto">
            <a:xfrm>
              <a:off x="1956" y="3207"/>
              <a:ext cx="18" cy="24"/>
            </a:xfrm>
            <a:custGeom>
              <a:avLst/>
              <a:gdLst>
                <a:gd name="T0" fmla="*/ 3 w 3"/>
                <a:gd name="T1" fmla="*/ 0 h 4"/>
                <a:gd name="T2" fmla="*/ 3 w 3"/>
                <a:gd name="T3" fmla="*/ 0 h 4"/>
                <a:gd name="T4" fmla="*/ 3 w 3"/>
                <a:gd name="T5" fmla="*/ 1 h 4"/>
                <a:gd name="T6" fmla="*/ 3 w 3"/>
                <a:gd name="T7" fmla="*/ 1 h 4"/>
                <a:gd name="T8" fmla="*/ 3 w 3"/>
                <a:gd name="T9" fmla="*/ 2 h 4"/>
                <a:gd name="T10" fmla="*/ 3 w 3"/>
                <a:gd name="T11" fmla="*/ 2 h 4"/>
                <a:gd name="T12" fmla="*/ 3 w 3"/>
                <a:gd name="T13" fmla="*/ 3 h 4"/>
                <a:gd name="T14" fmla="*/ 3 w 3"/>
                <a:gd name="T15" fmla="*/ 3 h 4"/>
                <a:gd name="T16" fmla="*/ 3 w 3"/>
                <a:gd name="T17" fmla="*/ 4 h 4"/>
                <a:gd name="T18" fmla="*/ 3 w 3"/>
                <a:gd name="T19" fmla="*/ 3 h 4"/>
                <a:gd name="T20" fmla="*/ 2 w 3"/>
                <a:gd name="T21" fmla="*/ 3 h 4"/>
                <a:gd name="T22" fmla="*/ 2 w 3"/>
                <a:gd name="T23" fmla="*/ 3 h 4"/>
                <a:gd name="T24" fmla="*/ 2 w 3"/>
                <a:gd name="T25" fmla="*/ 2 h 4"/>
                <a:gd name="T26" fmla="*/ 1 w 3"/>
                <a:gd name="T27" fmla="*/ 2 h 4"/>
                <a:gd name="T28" fmla="*/ 1 w 3"/>
                <a:gd name="T29" fmla="*/ 2 h 4"/>
                <a:gd name="T30" fmla="*/ 1 w 3"/>
                <a:gd name="T31" fmla="*/ 1 h 4"/>
                <a:gd name="T32" fmla="*/ 0 w 3"/>
                <a:gd name="T33" fmla="*/ 1 h 4"/>
                <a:gd name="T34" fmla="*/ 1 w 3"/>
                <a:gd name="T35" fmla="*/ 1 h 4"/>
                <a:gd name="T36" fmla="*/ 1 w 3"/>
                <a:gd name="T37" fmla="*/ 1 h 4"/>
                <a:gd name="T38" fmla="*/ 1 w 3"/>
                <a:gd name="T39" fmla="*/ 1 h 4"/>
                <a:gd name="T40" fmla="*/ 2 w 3"/>
                <a:gd name="T41" fmla="*/ 1 h 4"/>
                <a:gd name="T42" fmla="*/ 2 w 3"/>
                <a:gd name="T43" fmla="*/ 1 h 4"/>
                <a:gd name="T44" fmla="*/ 2 w 3"/>
                <a:gd name="T45" fmla="*/ 0 h 4"/>
                <a:gd name="T46" fmla="*/ 3 w 3"/>
                <a:gd name="T47" fmla="*/ 0 h 4"/>
                <a:gd name="T48" fmla="*/ 3 w 3"/>
                <a:gd name="T4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2" name="Freeform 266"/>
            <p:cNvSpPr>
              <a:spLocks/>
            </p:cNvSpPr>
            <p:nvPr/>
          </p:nvSpPr>
          <p:spPr bwMode="auto">
            <a:xfrm>
              <a:off x="1968" y="3207"/>
              <a:ext cx="6" cy="24"/>
            </a:xfrm>
            <a:custGeom>
              <a:avLst/>
              <a:gdLst>
                <a:gd name="T0" fmla="*/ 1 w 1"/>
                <a:gd name="T1" fmla="*/ 3 h 4"/>
                <a:gd name="T2" fmla="*/ 0 w 1"/>
                <a:gd name="T3" fmla="*/ 4 h 4"/>
                <a:gd name="T4" fmla="*/ 0 w 1"/>
                <a:gd name="T5" fmla="*/ 3 h 4"/>
                <a:gd name="T6" fmla="*/ 0 w 1"/>
                <a:gd name="T7" fmla="*/ 3 h 4"/>
                <a:gd name="T8" fmla="*/ 1 w 1"/>
                <a:gd name="T9" fmla="*/ 2 h 4"/>
                <a:gd name="T10" fmla="*/ 1 w 1"/>
                <a:gd name="T11" fmla="*/ 2 h 4"/>
                <a:gd name="T12" fmla="*/ 1 w 1"/>
                <a:gd name="T13" fmla="*/ 1 h 4"/>
                <a:gd name="T14" fmla="*/ 1 w 1"/>
                <a:gd name="T15" fmla="*/ 1 h 4"/>
                <a:gd name="T16" fmla="*/ 1 w 1"/>
                <a:gd name="T17" fmla="*/ 0 h 4"/>
                <a:gd name="T18" fmla="*/ 1 w 1"/>
                <a:gd name="T19" fmla="*/ 0 h 4"/>
                <a:gd name="T20" fmla="*/ 1 w 1"/>
                <a:gd name="T21" fmla="*/ 0 h 4"/>
                <a:gd name="T22" fmla="*/ 1 w 1"/>
                <a:gd name="T23" fmla="*/ 0 h 4"/>
                <a:gd name="T24" fmla="*/ 1 w 1"/>
                <a:gd name="T25" fmla="*/ 1 h 4"/>
                <a:gd name="T26" fmla="*/ 1 w 1"/>
                <a:gd name="T27" fmla="*/ 1 h 4"/>
                <a:gd name="T28" fmla="*/ 1 w 1"/>
                <a:gd name="T29" fmla="*/ 2 h 4"/>
                <a:gd name="T30" fmla="*/ 1 w 1"/>
                <a:gd name="T31" fmla="*/ 2 h 4"/>
                <a:gd name="T32" fmla="*/ 1 w 1"/>
                <a:gd name="T33" fmla="*/ 3 h 4"/>
                <a:gd name="T34" fmla="*/ 1 w 1"/>
                <a:gd name="T35" fmla="*/ 3 h 4"/>
                <a:gd name="T36" fmla="*/ 1 w 1"/>
                <a:gd name="T37" fmla="*/ 4 h 4"/>
                <a:gd name="T38" fmla="*/ 1 w 1"/>
                <a:gd name="T39" fmla="*/ 4 h 4"/>
                <a:gd name="T40" fmla="*/ 1 w 1"/>
                <a:gd name="T4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4">
                  <a:moveTo>
                    <a:pt x="1" y="3"/>
                  </a:move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3" name="Freeform 267"/>
            <p:cNvSpPr>
              <a:spLocks/>
            </p:cNvSpPr>
            <p:nvPr/>
          </p:nvSpPr>
          <p:spPr bwMode="auto">
            <a:xfrm>
              <a:off x="1956" y="3207"/>
              <a:ext cx="18" cy="24"/>
            </a:xfrm>
            <a:custGeom>
              <a:avLst/>
              <a:gdLst>
                <a:gd name="T0" fmla="*/ 0 w 3"/>
                <a:gd name="T1" fmla="*/ 1 h 4"/>
                <a:gd name="T2" fmla="*/ 0 w 3"/>
                <a:gd name="T3" fmla="*/ 1 h 4"/>
                <a:gd name="T4" fmla="*/ 1 w 3"/>
                <a:gd name="T5" fmla="*/ 1 h 4"/>
                <a:gd name="T6" fmla="*/ 1 w 3"/>
                <a:gd name="T7" fmla="*/ 1 h 4"/>
                <a:gd name="T8" fmla="*/ 1 w 3"/>
                <a:gd name="T9" fmla="*/ 2 h 4"/>
                <a:gd name="T10" fmla="*/ 2 w 3"/>
                <a:gd name="T11" fmla="*/ 2 h 4"/>
                <a:gd name="T12" fmla="*/ 2 w 3"/>
                <a:gd name="T13" fmla="*/ 3 h 4"/>
                <a:gd name="T14" fmla="*/ 2 w 3"/>
                <a:gd name="T15" fmla="*/ 3 h 4"/>
                <a:gd name="T16" fmla="*/ 3 w 3"/>
                <a:gd name="T17" fmla="*/ 3 h 4"/>
                <a:gd name="T18" fmla="*/ 3 w 3"/>
                <a:gd name="T19" fmla="*/ 3 h 4"/>
                <a:gd name="T20" fmla="*/ 3 w 3"/>
                <a:gd name="T21" fmla="*/ 4 h 4"/>
                <a:gd name="T22" fmla="*/ 2 w 3"/>
                <a:gd name="T23" fmla="*/ 4 h 4"/>
                <a:gd name="T24" fmla="*/ 2 w 3"/>
                <a:gd name="T25" fmla="*/ 3 h 4"/>
                <a:gd name="T26" fmla="*/ 2 w 3"/>
                <a:gd name="T27" fmla="*/ 3 h 4"/>
                <a:gd name="T28" fmla="*/ 1 w 3"/>
                <a:gd name="T29" fmla="*/ 3 h 4"/>
                <a:gd name="T30" fmla="*/ 1 w 3"/>
                <a:gd name="T31" fmla="*/ 2 h 4"/>
                <a:gd name="T32" fmla="*/ 1 w 3"/>
                <a:gd name="T33" fmla="*/ 2 h 4"/>
                <a:gd name="T34" fmla="*/ 0 w 3"/>
                <a:gd name="T35" fmla="*/ 1 h 4"/>
                <a:gd name="T36" fmla="*/ 0 w 3"/>
                <a:gd name="T37" fmla="*/ 1 h 4"/>
                <a:gd name="T38" fmla="*/ 0 w 3"/>
                <a:gd name="T39" fmla="*/ 0 h 4"/>
                <a:gd name="T40" fmla="*/ 0 w 3"/>
                <a:gd name="T41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4" name="Freeform 268"/>
            <p:cNvSpPr>
              <a:spLocks/>
            </p:cNvSpPr>
            <p:nvPr/>
          </p:nvSpPr>
          <p:spPr bwMode="auto">
            <a:xfrm>
              <a:off x="1956" y="3207"/>
              <a:ext cx="18" cy="6"/>
            </a:xfrm>
            <a:custGeom>
              <a:avLst/>
              <a:gdLst>
                <a:gd name="T0" fmla="*/ 3 w 3"/>
                <a:gd name="T1" fmla="*/ 0 h 1"/>
                <a:gd name="T2" fmla="*/ 3 w 3"/>
                <a:gd name="T3" fmla="*/ 0 h 1"/>
                <a:gd name="T4" fmla="*/ 3 w 3"/>
                <a:gd name="T5" fmla="*/ 1 h 1"/>
                <a:gd name="T6" fmla="*/ 3 w 3"/>
                <a:gd name="T7" fmla="*/ 1 h 1"/>
                <a:gd name="T8" fmla="*/ 2 w 3"/>
                <a:gd name="T9" fmla="*/ 1 h 1"/>
                <a:gd name="T10" fmla="*/ 2 w 3"/>
                <a:gd name="T11" fmla="*/ 1 h 1"/>
                <a:gd name="T12" fmla="*/ 1 w 3"/>
                <a:gd name="T13" fmla="*/ 1 h 1"/>
                <a:gd name="T14" fmla="*/ 1 w 3"/>
                <a:gd name="T15" fmla="*/ 1 h 1"/>
                <a:gd name="T16" fmla="*/ 1 w 3"/>
                <a:gd name="T17" fmla="*/ 1 h 1"/>
                <a:gd name="T18" fmla="*/ 0 w 3"/>
                <a:gd name="T19" fmla="*/ 1 h 1"/>
                <a:gd name="T20" fmla="*/ 0 w 3"/>
                <a:gd name="T21" fmla="*/ 0 h 1"/>
                <a:gd name="T22" fmla="*/ 1 w 3"/>
                <a:gd name="T23" fmla="*/ 1 h 1"/>
                <a:gd name="T24" fmla="*/ 1 w 3"/>
                <a:gd name="T25" fmla="*/ 0 h 1"/>
                <a:gd name="T26" fmla="*/ 1 w 3"/>
                <a:gd name="T27" fmla="*/ 0 h 1"/>
                <a:gd name="T28" fmla="*/ 2 w 3"/>
                <a:gd name="T29" fmla="*/ 0 h 1"/>
                <a:gd name="T30" fmla="*/ 2 w 3"/>
                <a:gd name="T31" fmla="*/ 0 h 1"/>
                <a:gd name="T32" fmla="*/ 2 w 3"/>
                <a:gd name="T33" fmla="*/ 0 h 1"/>
                <a:gd name="T34" fmla="*/ 3 w 3"/>
                <a:gd name="T35" fmla="*/ 0 h 1"/>
                <a:gd name="T36" fmla="*/ 3 w 3"/>
                <a:gd name="T37" fmla="*/ 0 h 1"/>
                <a:gd name="T38" fmla="*/ 3 w 3"/>
                <a:gd name="T39" fmla="*/ 0 h 1"/>
                <a:gd name="T40" fmla="*/ 3 w 3"/>
                <a:gd name="T4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5" name="Freeform 269"/>
            <p:cNvSpPr>
              <a:spLocks/>
            </p:cNvSpPr>
            <p:nvPr/>
          </p:nvSpPr>
          <p:spPr bwMode="auto">
            <a:xfrm>
              <a:off x="1950" y="3225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0 h 1"/>
                <a:gd name="T18" fmla="*/ 1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6" name="Freeform 270"/>
            <p:cNvSpPr>
              <a:spLocks/>
            </p:cNvSpPr>
            <p:nvPr/>
          </p:nvSpPr>
          <p:spPr bwMode="auto">
            <a:xfrm>
              <a:off x="1794" y="3207"/>
              <a:ext cx="162" cy="18"/>
            </a:xfrm>
            <a:custGeom>
              <a:avLst/>
              <a:gdLst>
                <a:gd name="T0" fmla="*/ 1 w 27"/>
                <a:gd name="T1" fmla="*/ 0 h 3"/>
                <a:gd name="T2" fmla="*/ 3 w 27"/>
                <a:gd name="T3" fmla="*/ 0 h 3"/>
                <a:gd name="T4" fmla="*/ 4 w 27"/>
                <a:gd name="T5" fmla="*/ 0 h 3"/>
                <a:gd name="T6" fmla="*/ 6 w 27"/>
                <a:gd name="T7" fmla="*/ 0 h 3"/>
                <a:gd name="T8" fmla="*/ 8 w 27"/>
                <a:gd name="T9" fmla="*/ 0 h 3"/>
                <a:gd name="T10" fmla="*/ 10 w 27"/>
                <a:gd name="T11" fmla="*/ 0 h 3"/>
                <a:gd name="T12" fmla="*/ 11 w 27"/>
                <a:gd name="T13" fmla="*/ 0 h 3"/>
                <a:gd name="T14" fmla="*/ 13 w 27"/>
                <a:gd name="T15" fmla="*/ 0 h 3"/>
                <a:gd name="T16" fmla="*/ 15 w 27"/>
                <a:gd name="T17" fmla="*/ 0 h 3"/>
                <a:gd name="T18" fmla="*/ 16 w 27"/>
                <a:gd name="T19" fmla="*/ 0 h 3"/>
                <a:gd name="T20" fmla="*/ 18 w 27"/>
                <a:gd name="T21" fmla="*/ 1 h 3"/>
                <a:gd name="T22" fmla="*/ 20 w 27"/>
                <a:gd name="T23" fmla="*/ 1 h 3"/>
                <a:gd name="T24" fmla="*/ 21 w 27"/>
                <a:gd name="T25" fmla="*/ 1 h 3"/>
                <a:gd name="T26" fmla="*/ 23 w 27"/>
                <a:gd name="T27" fmla="*/ 2 h 3"/>
                <a:gd name="T28" fmla="*/ 24 w 27"/>
                <a:gd name="T29" fmla="*/ 2 h 3"/>
                <a:gd name="T30" fmla="*/ 26 w 27"/>
                <a:gd name="T31" fmla="*/ 2 h 3"/>
                <a:gd name="T32" fmla="*/ 26 w 27"/>
                <a:gd name="T33" fmla="*/ 3 h 3"/>
                <a:gd name="T34" fmla="*/ 25 w 27"/>
                <a:gd name="T35" fmla="*/ 3 h 3"/>
                <a:gd name="T36" fmla="*/ 23 w 27"/>
                <a:gd name="T37" fmla="*/ 2 h 3"/>
                <a:gd name="T38" fmla="*/ 22 w 27"/>
                <a:gd name="T39" fmla="*/ 2 h 3"/>
                <a:gd name="T40" fmla="*/ 20 w 27"/>
                <a:gd name="T41" fmla="*/ 2 h 3"/>
                <a:gd name="T42" fmla="*/ 19 w 27"/>
                <a:gd name="T43" fmla="*/ 1 h 3"/>
                <a:gd name="T44" fmla="*/ 17 w 27"/>
                <a:gd name="T45" fmla="*/ 1 h 3"/>
                <a:gd name="T46" fmla="*/ 15 w 27"/>
                <a:gd name="T47" fmla="*/ 1 h 3"/>
                <a:gd name="T48" fmla="*/ 14 w 27"/>
                <a:gd name="T49" fmla="*/ 1 h 3"/>
                <a:gd name="T50" fmla="*/ 12 w 27"/>
                <a:gd name="T51" fmla="*/ 1 h 3"/>
                <a:gd name="T52" fmla="*/ 10 w 27"/>
                <a:gd name="T53" fmla="*/ 1 h 3"/>
                <a:gd name="T54" fmla="*/ 9 w 27"/>
                <a:gd name="T55" fmla="*/ 1 h 3"/>
                <a:gd name="T56" fmla="*/ 7 w 27"/>
                <a:gd name="T57" fmla="*/ 1 h 3"/>
                <a:gd name="T58" fmla="*/ 5 w 27"/>
                <a:gd name="T59" fmla="*/ 1 h 3"/>
                <a:gd name="T60" fmla="*/ 4 w 27"/>
                <a:gd name="T61" fmla="*/ 1 h 3"/>
                <a:gd name="T62" fmla="*/ 2 w 27"/>
                <a:gd name="T63" fmla="*/ 1 h 3"/>
                <a:gd name="T64" fmla="*/ 0 w 27"/>
                <a:gd name="T6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3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1"/>
                  </a:lnTo>
                  <a:lnTo>
                    <a:pt x="19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5" y="3"/>
                  </a:lnTo>
                  <a:lnTo>
                    <a:pt x="24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7" name="Freeform 271"/>
            <p:cNvSpPr>
              <a:spLocks/>
            </p:cNvSpPr>
            <p:nvPr/>
          </p:nvSpPr>
          <p:spPr bwMode="auto">
            <a:xfrm>
              <a:off x="1950" y="3225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8" name="Freeform 272"/>
            <p:cNvSpPr>
              <a:spLocks/>
            </p:cNvSpPr>
            <p:nvPr/>
          </p:nvSpPr>
          <p:spPr bwMode="auto">
            <a:xfrm>
              <a:off x="1884" y="3087"/>
              <a:ext cx="90" cy="60"/>
            </a:xfrm>
            <a:custGeom>
              <a:avLst/>
              <a:gdLst>
                <a:gd name="T0" fmla="*/ 13 w 15"/>
                <a:gd name="T1" fmla="*/ 0 h 10"/>
                <a:gd name="T2" fmla="*/ 12 w 15"/>
                <a:gd name="T3" fmla="*/ 0 h 10"/>
                <a:gd name="T4" fmla="*/ 11 w 15"/>
                <a:gd name="T5" fmla="*/ 1 h 10"/>
                <a:gd name="T6" fmla="*/ 11 w 15"/>
                <a:gd name="T7" fmla="*/ 1 h 10"/>
                <a:gd name="T8" fmla="*/ 10 w 15"/>
                <a:gd name="T9" fmla="*/ 1 h 10"/>
                <a:gd name="T10" fmla="*/ 9 w 15"/>
                <a:gd name="T11" fmla="*/ 2 h 10"/>
                <a:gd name="T12" fmla="*/ 8 w 15"/>
                <a:gd name="T13" fmla="*/ 2 h 10"/>
                <a:gd name="T14" fmla="*/ 7 w 15"/>
                <a:gd name="T15" fmla="*/ 2 h 10"/>
                <a:gd name="T16" fmla="*/ 6 w 15"/>
                <a:gd name="T17" fmla="*/ 3 h 10"/>
                <a:gd name="T18" fmla="*/ 6 w 15"/>
                <a:gd name="T19" fmla="*/ 3 h 10"/>
                <a:gd name="T20" fmla="*/ 5 w 15"/>
                <a:gd name="T21" fmla="*/ 3 h 10"/>
                <a:gd name="T22" fmla="*/ 4 w 15"/>
                <a:gd name="T23" fmla="*/ 4 h 10"/>
                <a:gd name="T24" fmla="*/ 3 w 15"/>
                <a:gd name="T25" fmla="*/ 4 h 10"/>
                <a:gd name="T26" fmla="*/ 2 w 15"/>
                <a:gd name="T27" fmla="*/ 4 h 10"/>
                <a:gd name="T28" fmla="*/ 2 w 15"/>
                <a:gd name="T29" fmla="*/ 4 h 10"/>
                <a:gd name="T30" fmla="*/ 1 w 15"/>
                <a:gd name="T31" fmla="*/ 5 h 10"/>
                <a:gd name="T32" fmla="*/ 0 w 15"/>
                <a:gd name="T33" fmla="*/ 5 h 10"/>
                <a:gd name="T34" fmla="*/ 0 w 15"/>
                <a:gd name="T35" fmla="*/ 6 h 10"/>
                <a:gd name="T36" fmla="*/ 1 w 15"/>
                <a:gd name="T37" fmla="*/ 7 h 10"/>
                <a:gd name="T38" fmla="*/ 1 w 15"/>
                <a:gd name="T39" fmla="*/ 8 h 10"/>
                <a:gd name="T40" fmla="*/ 2 w 15"/>
                <a:gd name="T41" fmla="*/ 10 h 10"/>
                <a:gd name="T42" fmla="*/ 2 w 15"/>
                <a:gd name="T43" fmla="*/ 10 h 10"/>
                <a:gd name="T44" fmla="*/ 3 w 15"/>
                <a:gd name="T45" fmla="*/ 10 h 10"/>
                <a:gd name="T46" fmla="*/ 4 w 15"/>
                <a:gd name="T47" fmla="*/ 10 h 10"/>
                <a:gd name="T48" fmla="*/ 5 w 15"/>
                <a:gd name="T49" fmla="*/ 9 h 10"/>
                <a:gd name="T50" fmla="*/ 6 w 15"/>
                <a:gd name="T51" fmla="*/ 9 h 10"/>
                <a:gd name="T52" fmla="*/ 7 w 15"/>
                <a:gd name="T53" fmla="*/ 9 h 10"/>
                <a:gd name="T54" fmla="*/ 8 w 15"/>
                <a:gd name="T55" fmla="*/ 9 h 10"/>
                <a:gd name="T56" fmla="*/ 9 w 15"/>
                <a:gd name="T57" fmla="*/ 8 h 10"/>
                <a:gd name="T58" fmla="*/ 10 w 15"/>
                <a:gd name="T59" fmla="*/ 8 h 10"/>
                <a:gd name="T60" fmla="*/ 11 w 15"/>
                <a:gd name="T61" fmla="*/ 8 h 10"/>
                <a:gd name="T62" fmla="*/ 12 w 15"/>
                <a:gd name="T63" fmla="*/ 7 h 10"/>
                <a:gd name="T64" fmla="*/ 13 w 15"/>
                <a:gd name="T65" fmla="*/ 7 h 10"/>
                <a:gd name="T66" fmla="*/ 13 w 15"/>
                <a:gd name="T67" fmla="*/ 6 h 10"/>
                <a:gd name="T68" fmla="*/ 14 w 15"/>
                <a:gd name="T69" fmla="*/ 6 h 10"/>
                <a:gd name="T70" fmla="*/ 14 w 15"/>
                <a:gd name="T71" fmla="*/ 5 h 10"/>
                <a:gd name="T72" fmla="*/ 15 w 15"/>
                <a:gd name="T73" fmla="*/ 5 h 10"/>
                <a:gd name="T74" fmla="*/ 14 w 15"/>
                <a:gd name="T75" fmla="*/ 3 h 10"/>
                <a:gd name="T76" fmla="*/ 14 w 15"/>
                <a:gd name="T77" fmla="*/ 2 h 10"/>
                <a:gd name="T78" fmla="*/ 13 w 15"/>
                <a:gd name="T79" fmla="*/ 1 h 10"/>
                <a:gd name="T80" fmla="*/ 13 w 15"/>
                <a:gd name="T8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" h="10">
                  <a:moveTo>
                    <a:pt x="13" y="0"/>
                  </a:moveTo>
                  <a:lnTo>
                    <a:pt x="12" y="0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3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29" name="Freeform 273"/>
            <p:cNvSpPr>
              <a:spLocks/>
            </p:cNvSpPr>
            <p:nvPr/>
          </p:nvSpPr>
          <p:spPr bwMode="auto">
            <a:xfrm>
              <a:off x="1878" y="3087"/>
              <a:ext cx="84" cy="30"/>
            </a:xfrm>
            <a:custGeom>
              <a:avLst/>
              <a:gdLst>
                <a:gd name="T0" fmla="*/ 0 w 14"/>
                <a:gd name="T1" fmla="*/ 5 h 5"/>
                <a:gd name="T2" fmla="*/ 1 w 14"/>
                <a:gd name="T3" fmla="*/ 5 h 5"/>
                <a:gd name="T4" fmla="*/ 2 w 14"/>
                <a:gd name="T5" fmla="*/ 4 h 5"/>
                <a:gd name="T6" fmla="*/ 2 w 14"/>
                <a:gd name="T7" fmla="*/ 4 h 5"/>
                <a:gd name="T8" fmla="*/ 3 w 14"/>
                <a:gd name="T9" fmla="*/ 4 h 5"/>
                <a:gd name="T10" fmla="*/ 4 w 14"/>
                <a:gd name="T11" fmla="*/ 4 h 5"/>
                <a:gd name="T12" fmla="*/ 5 w 14"/>
                <a:gd name="T13" fmla="*/ 3 h 5"/>
                <a:gd name="T14" fmla="*/ 6 w 14"/>
                <a:gd name="T15" fmla="*/ 3 h 5"/>
                <a:gd name="T16" fmla="*/ 7 w 14"/>
                <a:gd name="T17" fmla="*/ 3 h 5"/>
                <a:gd name="T18" fmla="*/ 7 w 14"/>
                <a:gd name="T19" fmla="*/ 2 h 5"/>
                <a:gd name="T20" fmla="*/ 8 w 14"/>
                <a:gd name="T21" fmla="*/ 2 h 5"/>
                <a:gd name="T22" fmla="*/ 9 w 14"/>
                <a:gd name="T23" fmla="*/ 2 h 5"/>
                <a:gd name="T24" fmla="*/ 10 w 14"/>
                <a:gd name="T25" fmla="*/ 1 h 5"/>
                <a:gd name="T26" fmla="*/ 11 w 14"/>
                <a:gd name="T27" fmla="*/ 1 h 5"/>
                <a:gd name="T28" fmla="*/ 12 w 14"/>
                <a:gd name="T29" fmla="*/ 1 h 5"/>
                <a:gd name="T30" fmla="*/ 12 w 14"/>
                <a:gd name="T31" fmla="*/ 0 h 5"/>
                <a:gd name="T32" fmla="*/ 13 w 14"/>
                <a:gd name="T33" fmla="*/ 0 h 5"/>
                <a:gd name="T34" fmla="*/ 14 w 14"/>
                <a:gd name="T35" fmla="*/ 0 h 5"/>
                <a:gd name="T36" fmla="*/ 14 w 14"/>
                <a:gd name="T37" fmla="*/ 1 h 5"/>
                <a:gd name="T38" fmla="*/ 13 w 14"/>
                <a:gd name="T39" fmla="*/ 1 h 5"/>
                <a:gd name="T40" fmla="*/ 13 w 14"/>
                <a:gd name="T41" fmla="*/ 1 h 5"/>
                <a:gd name="T42" fmla="*/ 12 w 14"/>
                <a:gd name="T43" fmla="*/ 1 h 5"/>
                <a:gd name="T44" fmla="*/ 11 w 14"/>
                <a:gd name="T45" fmla="*/ 2 h 5"/>
                <a:gd name="T46" fmla="*/ 10 w 14"/>
                <a:gd name="T47" fmla="*/ 2 h 5"/>
                <a:gd name="T48" fmla="*/ 9 w 14"/>
                <a:gd name="T49" fmla="*/ 2 h 5"/>
                <a:gd name="T50" fmla="*/ 8 w 14"/>
                <a:gd name="T51" fmla="*/ 3 h 5"/>
                <a:gd name="T52" fmla="*/ 8 w 14"/>
                <a:gd name="T53" fmla="*/ 3 h 5"/>
                <a:gd name="T54" fmla="*/ 7 w 14"/>
                <a:gd name="T55" fmla="*/ 3 h 5"/>
                <a:gd name="T56" fmla="*/ 6 w 14"/>
                <a:gd name="T57" fmla="*/ 4 h 5"/>
                <a:gd name="T58" fmla="*/ 5 w 14"/>
                <a:gd name="T59" fmla="*/ 4 h 5"/>
                <a:gd name="T60" fmla="*/ 4 w 14"/>
                <a:gd name="T61" fmla="*/ 4 h 5"/>
                <a:gd name="T62" fmla="*/ 3 w 14"/>
                <a:gd name="T63" fmla="*/ 5 h 5"/>
                <a:gd name="T64" fmla="*/ 3 w 14"/>
                <a:gd name="T65" fmla="*/ 5 h 5"/>
                <a:gd name="T66" fmla="*/ 2 w 14"/>
                <a:gd name="T67" fmla="*/ 5 h 5"/>
                <a:gd name="T68" fmla="*/ 1 w 14"/>
                <a:gd name="T69" fmla="*/ 5 h 5"/>
                <a:gd name="T70" fmla="*/ 1 w 14"/>
                <a:gd name="T71" fmla="*/ 5 h 5"/>
                <a:gd name="T72" fmla="*/ 0 w 14"/>
                <a:gd name="T7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0" name="Freeform 274"/>
            <p:cNvSpPr>
              <a:spLocks/>
            </p:cNvSpPr>
            <p:nvPr/>
          </p:nvSpPr>
          <p:spPr bwMode="auto">
            <a:xfrm>
              <a:off x="1878" y="3117"/>
              <a:ext cx="18" cy="30"/>
            </a:xfrm>
            <a:custGeom>
              <a:avLst/>
              <a:gdLst>
                <a:gd name="T0" fmla="*/ 2 w 3"/>
                <a:gd name="T1" fmla="*/ 5 h 5"/>
                <a:gd name="T2" fmla="*/ 2 w 3"/>
                <a:gd name="T3" fmla="*/ 5 h 5"/>
                <a:gd name="T4" fmla="*/ 2 w 3"/>
                <a:gd name="T5" fmla="*/ 4 h 5"/>
                <a:gd name="T6" fmla="*/ 1 w 3"/>
                <a:gd name="T7" fmla="*/ 2 h 5"/>
                <a:gd name="T8" fmla="*/ 1 w 3"/>
                <a:gd name="T9" fmla="*/ 1 h 5"/>
                <a:gd name="T10" fmla="*/ 0 w 3"/>
                <a:gd name="T11" fmla="*/ 0 h 5"/>
                <a:gd name="T12" fmla="*/ 1 w 3"/>
                <a:gd name="T13" fmla="*/ 0 h 5"/>
                <a:gd name="T14" fmla="*/ 2 w 3"/>
                <a:gd name="T15" fmla="*/ 1 h 5"/>
                <a:gd name="T16" fmla="*/ 2 w 3"/>
                <a:gd name="T17" fmla="*/ 2 h 5"/>
                <a:gd name="T18" fmla="*/ 3 w 3"/>
                <a:gd name="T19" fmla="*/ 3 h 5"/>
                <a:gd name="T20" fmla="*/ 3 w 3"/>
                <a:gd name="T21" fmla="*/ 4 h 5"/>
                <a:gd name="T22" fmla="*/ 3 w 3"/>
                <a:gd name="T23" fmla="*/ 4 h 5"/>
                <a:gd name="T24" fmla="*/ 2 w 3"/>
                <a:gd name="T2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1" name="Freeform 275"/>
            <p:cNvSpPr>
              <a:spLocks/>
            </p:cNvSpPr>
            <p:nvPr/>
          </p:nvSpPr>
          <p:spPr bwMode="auto">
            <a:xfrm>
              <a:off x="1890" y="3111"/>
              <a:ext cx="84" cy="36"/>
            </a:xfrm>
            <a:custGeom>
              <a:avLst/>
              <a:gdLst>
                <a:gd name="T0" fmla="*/ 14 w 14"/>
                <a:gd name="T1" fmla="*/ 1 h 6"/>
                <a:gd name="T2" fmla="*/ 14 w 14"/>
                <a:gd name="T3" fmla="*/ 1 h 6"/>
                <a:gd name="T4" fmla="*/ 14 w 14"/>
                <a:gd name="T5" fmla="*/ 1 h 6"/>
                <a:gd name="T6" fmla="*/ 13 w 14"/>
                <a:gd name="T7" fmla="*/ 2 h 6"/>
                <a:gd name="T8" fmla="*/ 13 w 14"/>
                <a:gd name="T9" fmla="*/ 2 h 6"/>
                <a:gd name="T10" fmla="*/ 12 w 14"/>
                <a:gd name="T11" fmla="*/ 3 h 6"/>
                <a:gd name="T12" fmla="*/ 11 w 14"/>
                <a:gd name="T13" fmla="*/ 4 h 6"/>
                <a:gd name="T14" fmla="*/ 10 w 14"/>
                <a:gd name="T15" fmla="*/ 4 h 6"/>
                <a:gd name="T16" fmla="*/ 9 w 14"/>
                <a:gd name="T17" fmla="*/ 4 h 6"/>
                <a:gd name="T18" fmla="*/ 8 w 14"/>
                <a:gd name="T19" fmla="*/ 5 h 6"/>
                <a:gd name="T20" fmla="*/ 7 w 14"/>
                <a:gd name="T21" fmla="*/ 5 h 6"/>
                <a:gd name="T22" fmla="*/ 6 w 14"/>
                <a:gd name="T23" fmla="*/ 5 h 6"/>
                <a:gd name="T24" fmla="*/ 5 w 14"/>
                <a:gd name="T25" fmla="*/ 6 h 6"/>
                <a:gd name="T26" fmla="*/ 4 w 14"/>
                <a:gd name="T27" fmla="*/ 6 h 6"/>
                <a:gd name="T28" fmla="*/ 3 w 14"/>
                <a:gd name="T29" fmla="*/ 6 h 6"/>
                <a:gd name="T30" fmla="*/ 2 w 14"/>
                <a:gd name="T31" fmla="*/ 6 h 6"/>
                <a:gd name="T32" fmla="*/ 1 w 14"/>
                <a:gd name="T33" fmla="*/ 6 h 6"/>
                <a:gd name="T34" fmla="*/ 0 w 14"/>
                <a:gd name="T35" fmla="*/ 6 h 6"/>
                <a:gd name="T36" fmla="*/ 1 w 14"/>
                <a:gd name="T37" fmla="*/ 5 h 6"/>
                <a:gd name="T38" fmla="*/ 1 w 14"/>
                <a:gd name="T39" fmla="*/ 5 h 6"/>
                <a:gd name="T40" fmla="*/ 2 w 14"/>
                <a:gd name="T41" fmla="*/ 5 h 6"/>
                <a:gd name="T42" fmla="*/ 3 w 14"/>
                <a:gd name="T43" fmla="*/ 5 h 6"/>
                <a:gd name="T44" fmla="*/ 4 w 14"/>
                <a:gd name="T45" fmla="*/ 5 h 6"/>
                <a:gd name="T46" fmla="*/ 5 w 14"/>
                <a:gd name="T47" fmla="*/ 5 h 6"/>
                <a:gd name="T48" fmla="*/ 6 w 14"/>
                <a:gd name="T49" fmla="*/ 5 h 6"/>
                <a:gd name="T50" fmla="*/ 7 w 14"/>
                <a:gd name="T51" fmla="*/ 4 h 6"/>
                <a:gd name="T52" fmla="*/ 8 w 14"/>
                <a:gd name="T53" fmla="*/ 4 h 6"/>
                <a:gd name="T54" fmla="*/ 9 w 14"/>
                <a:gd name="T55" fmla="*/ 4 h 6"/>
                <a:gd name="T56" fmla="*/ 10 w 14"/>
                <a:gd name="T57" fmla="*/ 3 h 6"/>
                <a:gd name="T58" fmla="*/ 11 w 14"/>
                <a:gd name="T59" fmla="*/ 3 h 6"/>
                <a:gd name="T60" fmla="*/ 12 w 14"/>
                <a:gd name="T61" fmla="*/ 2 h 6"/>
                <a:gd name="T62" fmla="*/ 12 w 14"/>
                <a:gd name="T63" fmla="*/ 2 h 6"/>
                <a:gd name="T64" fmla="*/ 13 w 14"/>
                <a:gd name="T65" fmla="*/ 1 h 6"/>
                <a:gd name="T66" fmla="*/ 13 w 14"/>
                <a:gd name="T67" fmla="*/ 1 h 6"/>
                <a:gd name="T68" fmla="*/ 13 w 14"/>
                <a:gd name="T69" fmla="*/ 0 h 6"/>
                <a:gd name="T70" fmla="*/ 13 w 14"/>
                <a:gd name="T71" fmla="*/ 1 h 6"/>
                <a:gd name="T72" fmla="*/ 14 w 14"/>
                <a:gd name="T7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" h="6">
                  <a:moveTo>
                    <a:pt x="14" y="1"/>
                  </a:moveTo>
                  <a:lnTo>
                    <a:pt x="14" y="1"/>
                  </a:lnTo>
                  <a:lnTo>
                    <a:pt x="14" y="1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7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2" name="Freeform 276"/>
            <p:cNvSpPr>
              <a:spLocks/>
            </p:cNvSpPr>
            <p:nvPr/>
          </p:nvSpPr>
          <p:spPr bwMode="auto">
            <a:xfrm>
              <a:off x="1962" y="3087"/>
              <a:ext cx="12" cy="30"/>
            </a:xfrm>
            <a:custGeom>
              <a:avLst/>
              <a:gdLst>
                <a:gd name="T0" fmla="*/ 0 w 2"/>
                <a:gd name="T1" fmla="*/ 0 h 5"/>
                <a:gd name="T2" fmla="*/ 1 w 2"/>
                <a:gd name="T3" fmla="*/ 0 h 5"/>
                <a:gd name="T4" fmla="*/ 1 w 2"/>
                <a:gd name="T5" fmla="*/ 1 h 5"/>
                <a:gd name="T6" fmla="*/ 1 w 2"/>
                <a:gd name="T7" fmla="*/ 2 h 5"/>
                <a:gd name="T8" fmla="*/ 2 w 2"/>
                <a:gd name="T9" fmla="*/ 3 h 5"/>
                <a:gd name="T10" fmla="*/ 2 w 2"/>
                <a:gd name="T11" fmla="*/ 5 h 5"/>
                <a:gd name="T12" fmla="*/ 1 w 2"/>
                <a:gd name="T13" fmla="*/ 5 h 5"/>
                <a:gd name="T14" fmla="*/ 1 w 2"/>
                <a:gd name="T15" fmla="*/ 4 h 5"/>
                <a:gd name="T16" fmla="*/ 1 w 2"/>
                <a:gd name="T17" fmla="*/ 3 h 5"/>
                <a:gd name="T18" fmla="*/ 0 w 2"/>
                <a:gd name="T19" fmla="*/ 2 h 5"/>
                <a:gd name="T20" fmla="*/ 0 w 2"/>
                <a:gd name="T21" fmla="*/ 0 h 5"/>
                <a:gd name="T22" fmla="*/ 0 w 2"/>
                <a:gd name="T23" fmla="*/ 1 h 5"/>
                <a:gd name="T24" fmla="*/ 0 w 2"/>
                <a:gd name="T2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3" name="Freeform 277"/>
            <p:cNvSpPr>
              <a:spLocks/>
            </p:cNvSpPr>
            <p:nvPr/>
          </p:nvSpPr>
          <p:spPr bwMode="auto">
            <a:xfrm>
              <a:off x="1872" y="3075"/>
              <a:ext cx="102" cy="48"/>
            </a:xfrm>
            <a:custGeom>
              <a:avLst/>
              <a:gdLst>
                <a:gd name="T0" fmla="*/ 8 w 17"/>
                <a:gd name="T1" fmla="*/ 4 h 8"/>
                <a:gd name="T2" fmla="*/ 7 w 17"/>
                <a:gd name="T3" fmla="*/ 4 h 8"/>
                <a:gd name="T4" fmla="*/ 6 w 17"/>
                <a:gd name="T5" fmla="*/ 5 h 8"/>
                <a:gd name="T6" fmla="*/ 5 w 17"/>
                <a:gd name="T7" fmla="*/ 5 h 8"/>
                <a:gd name="T8" fmla="*/ 4 w 17"/>
                <a:gd name="T9" fmla="*/ 5 h 8"/>
                <a:gd name="T10" fmla="*/ 3 w 17"/>
                <a:gd name="T11" fmla="*/ 5 h 8"/>
                <a:gd name="T12" fmla="*/ 3 w 17"/>
                <a:gd name="T13" fmla="*/ 5 h 8"/>
                <a:gd name="T14" fmla="*/ 3 w 17"/>
                <a:gd name="T15" fmla="*/ 4 h 8"/>
                <a:gd name="T16" fmla="*/ 2 w 17"/>
                <a:gd name="T17" fmla="*/ 5 h 8"/>
                <a:gd name="T18" fmla="*/ 1 w 17"/>
                <a:gd name="T19" fmla="*/ 5 h 8"/>
                <a:gd name="T20" fmla="*/ 0 w 17"/>
                <a:gd name="T21" fmla="*/ 6 h 8"/>
                <a:gd name="T22" fmla="*/ 0 w 17"/>
                <a:gd name="T23" fmla="*/ 7 h 8"/>
                <a:gd name="T24" fmla="*/ 0 w 17"/>
                <a:gd name="T25" fmla="*/ 7 h 8"/>
                <a:gd name="T26" fmla="*/ 1 w 17"/>
                <a:gd name="T27" fmla="*/ 8 h 8"/>
                <a:gd name="T28" fmla="*/ 1 w 17"/>
                <a:gd name="T29" fmla="*/ 8 h 8"/>
                <a:gd name="T30" fmla="*/ 3 w 17"/>
                <a:gd name="T31" fmla="*/ 8 h 8"/>
                <a:gd name="T32" fmla="*/ 4 w 17"/>
                <a:gd name="T33" fmla="*/ 8 h 8"/>
                <a:gd name="T34" fmla="*/ 5 w 17"/>
                <a:gd name="T35" fmla="*/ 7 h 8"/>
                <a:gd name="T36" fmla="*/ 7 w 17"/>
                <a:gd name="T37" fmla="*/ 7 h 8"/>
                <a:gd name="T38" fmla="*/ 8 w 17"/>
                <a:gd name="T39" fmla="*/ 6 h 8"/>
                <a:gd name="T40" fmla="*/ 10 w 17"/>
                <a:gd name="T41" fmla="*/ 6 h 8"/>
                <a:gd name="T42" fmla="*/ 11 w 17"/>
                <a:gd name="T43" fmla="*/ 5 h 8"/>
                <a:gd name="T44" fmla="*/ 13 w 17"/>
                <a:gd name="T45" fmla="*/ 5 h 8"/>
                <a:gd name="T46" fmla="*/ 14 w 17"/>
                <a:gd name="T47" fmla="*/ 4 h 8"/>
                <a:gd name="T48" fmla="*/ 15 w 17"/>
                <a:gd name="T49" fmla="*/ 3 h 8"/>
                <a:gd name="T50" fmla="*/ 16 w 17"/>
                <a:gd name="T51" fmla="*/ 3 h 8"/>
                <a:gd name="T52" fmla="*/ 16 w 17"/>
                <a:gd name="T53" fmla="*/ 2 h 8"/>
                <a:gd name="T54" fmla="*/ 16 w 17"/>
                <a:gd name="T55" fmla="*/ 1 h 8"/>
                <a:gd name="T56" fmla="*/ 16 w 17"/>
                <a:gd name="T57" fmla="*/ 1 h 8"/>
                <a:gd name="T58" fmla="*/ 16 w 17"/>
                <a:gd name="T59" fmla="*/ 0 h 8"/>
                <a:gd name="T60" fmla="*/ 15 w 17"/>
                <a:gd name="T61" fmla="*/ 0 h 8"/>
                <a:gd name="T62" fmla="*/ 14 w 17"/>
                <a:gd name="T63" fmla="*/ 0 h 8"/>
                <a:gd name="T64" fmla="*/ 13 w 17"/>
                <a:gd name="T65" fmla="*/ 1 h 8"/>
                <a:gd name="T66" fmla="*/ 13 w 17"/>
                <a:gd name="T67" fmla="*/ 1 h 8"/>
                <a:gd name="T68" fmla="*/ 13 w 17"/>
                <a:gd name="T69" fmla="*/ 2 h 8"/>
                <a:gd name="T70" fmla="*/ 12 w 17"/>
                <a:gd name="T71" fmla="*/ 2 h 8"/>
                <a:gd name="T72" fmla="*/ 12 w 17"/>
                <a:gd name="T73" fmla="*/ 3 h 8"/>
                <a:gd name="T74" fmla="*/ 11 w 17"/>
                <a:gd name="T75" fmla="*/ 3 h 8"/>
                <a:gd name="T76" fmla="*/ 10 w 17"/>
                <a:gd name="T77" fmla="*/ 3 h 8"/>
                <a:gd name="T78" fmla="*/ 9 w 17"/>
                <a:gd name="T7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" h="8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5" y="7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4" name="Freeform 278"/>
            <p:cNvSpPr>
              <a:spLocks/>
            </p:cNvSpPr>
            <p:nvPr/>
          </p:nvSpPr>
          <p:spPr bwMode="auto">
            <a:xfrm>
              <a:off x="1884" y="3099"/>
              <a:ext cx="42" cy="12"/>
            </a:xfrm>
            <a:custGeom>
              <a:avLst/>
              <a:gdLst>
                <a:gd name="T0" fmla="*/ 0 w 7"/>
                <a:gd name="T1" fmla="*/ 0 h 2"/>
                <a:gd name="T2" fmla="*/ 1 w 7"/>
                <a:gd name="T3" fmla="*/ 0 h 2"/>
                <a:gd name="T4" fmla="*/ 1 w 7"/>
                <a:gd name="T5" fmla="*/ 0 h 2"/>
                <a:gd name="T6" fmla="*/ 1 w 7"/>
                <a:gd name="T7" fmla="*/ 1 h 2"/>
                <a:gd name="T8" fmla="*/ 1 w 7"/>
                <a:gd name="T9" fmla="*/ 1 h 2"/>
                <a:gd name="T10" fmla="*/ 1 w 7"/>
                <a:gd name="T11" fmla="*/ 1 h 2"/>
                <a:gd name="T12" fmla="*/ 1 w 7"/>
                <a:gd name="T13" fmla="*/ 1 h 2"/>
                <a:gd name="T14" fmla="*/ 2 w 7"/>
                <a:gd name="T15" fmla="*/ 1 h 2"/>
                <a:gd name="T16" fmla="*/ 2 w 7"/>
                <a:gd name="T17" fmla="*/ 1 h 2"/>
                <a:gd name="T18" fmla="*/ 2 w 7"/>
                <a:gd name="T19" fmla="*/ 1 h 2"/>
                <a:gd name="T20" fmla="*/ 3 w 7"/>
                <a:gd name="T21" fmla="*/ 1 h 2"/>
                <a:gd name="T22" fmla="*/ 3 w 7"/>
                <a:gd name="T23" fmla="*/ 0 h 2"/>
                <a:gd name="T24" fmla="*/ 4 w 7"/>
                <a:gd name="T25" fmla="*/ 0 h 2"/>
                <a:gd name="T26" fmla="*/ 4 w 7"/>
                <a:gd name="T27" fmla="*/ 0 h 2"/>
                <a:gd name="T28" fmla="*/ 5 w 7"/>
                <a:gd name="T29" fmla="*/ 0 h 2"/>
                <a:gd name="T30" fmla="*/ 5 w 7"/>
                <a:gd name="T31" fmla="*/ 0 h 2"/>
                <a:gd name="T32" fmla="*/ 6 w 7"/>
                <a:gd name="T33" fmla="*/ 0 h 2"/>
                <a:gd name="T34" fmla="*/ 6 w 7"/>
                <a:gd name="T35" fmla="*/ 0 h 2"/>
                <a:gd name="T36" fmla="*/ 7 w 7"/>
                <a:gd name="T37" fmla="*/ 0 h 2"/>
                <a:gd name="T38" fmla="*/ 6 w 7"/>
                <a:gd name="T39" fmla="*/ 1 h 2"/>
                <a:gd name="T40" fmla="*/ 6 w 7"/>
                <a:gd name="T41" fmla="*/ 1 h 2"/>
                <a:gd name="T42" fmla="*/ 5 w 7"/>
                <a:gd name="T43" fmla="*/ 1 h 2"/>
                <a:gd name="T44" fmla="*/ 5 w 7"/>
                <a:gd name="T45" fmla="*/ 1 h 2"/>
                <a:gd name="T46" fmla="*/ 4 w 7"/>
                <a:gd name="T47" fmla="*/ 1 h 2"/>
                <a:gd name="T48" fmla="*/ 4 w 7"/>
                <a:gd name="T49" fmla="*/ 1 h 2"/>
                <a:gd name="T50" fmla="*/ 3 w 7"/>
                <a:gd name="T51" fmla="*/ 1 h 2"/>
                <a:gd name="T52" fmla="*/ 3 w 7"/>
                <a:gd name="T53" fmla="*/ 2 h 2"/>
                <a:gd name="T54" fmla="*/ 2 w 7"/>
                <a:gd name="T55" fmla="*/ 1 h 2"/>
                <a:gd name="T56" fmla="*/ 2 w 7"/>
                <a:gd name="T57" fmla="*/ 2 h 2"/>
                <a:gd name="T58" fmla="*/ 1 w 7"/>
                <a:gd name="T59" fmla="*/ 1 h 2"/>
                <a:gd name="T60" fmla="*/ 1 w 7"/>
                <a:gd name="T61" fmla="*/ 1 h 2"/>
                <a:gd name="T62" fmla="*/ 0 w 7"/>
                <a:gd name="T63" fmla="*/ 1 h 2"/>
                <a:gd name="T64" fmla="*/ 0 w 7"/>
                <a:gd name="T65" fmla="*/ 1 h 2"/>
                <a:gd name="T66" fmla="*/ 0 w 7"/>
                <a:gd name="T67" fmla="*/ 1 h 2"/>
                <a:gd name="T68" fmla="*/ 0 w 7"/>
                <a:gd name="T69" fmla="*/ 0 h 2"/>
                <a:gd name="T70" fmla="*/ 1 w 7"/>
                <a:gd name="T71" fmla="*/ 0 h 2"/>
                <a:gd name="T72" fmla="*/ 0 w 7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2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5" name="Freeform 279"/>
            <p:cNvSpPr>
              <a:spLocks/>
            </p:cNvSpPr>
            <p:nvPr/>
          </p:nvSpPr>
          <p:spPr bwMode="auto">
            <a:xfrm>
              <a:off x="1872" y="3099"/>
              <a:ext cx="18" cy="18"/>
            </a:xfrm>
            <a:custGeom>
              <a:avLst/>
              <a:gdLst>
                <a:gd name="T0" fmla="*/ 0 w 3"/>
                <a:gd name="T1" fmla="*/ 3 h 3"/>
                <a:gd name="T2" fmla="*/ 0 w 3"/>
                <a:gd name="T3" fmla="*/ 3 h 3"/>
                <a:gd name="T4" fmla="*/ 0 w 3"/>
                <a:gd name="T5" fmla="*/ 2 h 3"/>
                <a:gd name="T6" fmla="*/ 0 w 3"/>
                <a:gd name="T7" fmla="*/ 2 h 3"/>
                <a:gd name="T8" fmla="*/ 0 w 3"/>
                <a:gd name="T9" fmla="*/ 2 h 3"/>
                <a:gd name="T10" fmla="*/ 0 w 3"/>
                <a:gd name="T11" fmla="*/ 1 h 3"/>
                <a:gd name="T12" fmla="*/ 1 w 3"/>
                <a:gd name="T13" fmla="*/ 1 h 3"/>
                <a:gd name="T14" fmla="*/ 1 w 3"/>
                <a:gd name="T15" fmla="*/ 1 h 3"/>
                <a:gd name="T16" fmla="*/ 2 w 3"/>
                <a:gd name="T17" fmla="*/ 0 h 3"/>
                <a:gd name="T18" fmla="*/ 2 w 3"/>
                <a:gd name="T19" fmla="*/ 0 h 3"/>
                <a:gd name="T20" fmla="*/ 3 w 3"/>
                <a:gd name="T21" fmla="*/ 0 h 3"/>
                <a:gd name="T22" fmla="*/ 2 w 3"/>
                <a:gd name="T23" fmla="*/ 1 h 3"/>
                <a:gd name="T24" fmla="*/ 2 w 3"/>
                <a:gd name="T25" fmla="*/ 1 h 3"/>
                <a:gd name="T26" fmla="*/ 1 w 3"/>
                <a:gd name="T27" fmla="*/ 2 h 3"/>
                <a:gd name="T28" fmla="*/ 1 w 3"/>
                <a:gd name="T29" fmla="*/ 2 h 3"/>
                <a:gd name="T30" fmla="*/ 1 w 3"/>
                <a:gd name="T31" fmla="*/ 2 h 3"/>
                <a:gd name="T32" fmla="*/ 1 w 3"/>
                <a:gd name="T33" fmla="*/ 3 h 3"/>
                <a:gd name="T34" fmla="*/ 1 w 3"/>
                <a:gd name="T35" fmla="*/ 3 h 3"/>
                <a:gd name="T36" fmla="*/ 1 w 3"/>
                <a:gd name="T37" fmla="*/ 3 h 3"/>
                <a:gd name="T38" fmla="*/ 1 w 3"/>
                <a:gd name="T39" fmla="*/ 3 h 3"/>
                <a:gd name="T40" fmla="*/ 0 w 3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6" name="Freeform 280"/>
            <p:cNvSpPr>
              <a:spLocks/>
            </p:cNvSpPr>
            <p:nvPr/>
          </p:nvSpPr>
          <p:spPr bwMode="auto">
            <a:xfrm flipH="1" flipV="1">
              <a:off x="1872" y="3111"/>
              <a:ext cx="54" cy="12"/>
            </a:xfrm>
            <a:custGeom>
              <a:avLst/>
              <a:gdLst>
                <a:gd name="T0" fmla="*/ 9 w 9"/>
                <a:gd name="T1" fmla="*/ 0 h 2"/>
                <a:gd name="T2" fmla="*/ 9 w 9"/>
                <a:gd name="T3" fmla="*/ 0 h 2"/>
                <a:gd name="T4" fmla="*/ 9 w 9"/>
                <a:gd name="T5" fmla="*/ 1 h 2"/>
                <a:gd name="T6" fmla="*/ 8 w 9"/>
                <a:gd name="T7" fmla="*/ 1 h 2"/>
                <a:gd name="T8" fmla="*/ 7 w 9"/>
                <a:gd name="T9" fmla="*/ 1 h 2"/>
                <a:gd name="T10" fmla="*/ 6 w 9"/>
                <a:gd name="T11" fmla="*/ 2 h 2"/>
                <a:gd name="T12" fmla="*/ 5 w 9"/>
                <a:gd name="T13" fmla="*/ 2 h 2"/>
                <a:gd name="T14" fmla="*/ 5 w 9"/>
                <a:gd name="T15" fmla="*/ 2 h 2"/>
                <a:gd name="T16" fmla="*/ 4 w 9"/>
                <a:gd name="T17" fmla="*/ 2 h 2"/>
                <a:gd name="T18" fmla="*/ 3 w 9"/>
                <a:gd name="T19" fmla="*/ 2 h 2"/>
                <a:gd name="T20" fmla="*/ 3 w 9"/>
                <a:gd name="T21" fmla="*/ 2 h 2"/>
                <a:gd name="T22" fmla="*/ 2 w 9"/>
                <a:gd name="T23" fmla="*/ 2 h 2"/>
                <a:gd name="T24" fmla="*/ 1 w 9"/>
                <a:gd name="T25" fmla="*/ 2 h 2"/>
                <a:gd name="T26" fmla="*/ 1 w 9"/>
                <a:gd name="T27" fmla="*/ 2 h 2"/>
                <a:gd name="T28" fmla="*/ 1 w 9"/>
                <a:gd name="T29" fmla="*/ 2 h 2"/>
                <a:gd name="T30" fmla="*/ 0 w 9"/>
                <a:gd name="T31" fmla="*/ 2 h 2"/>
                <a:gd name="T32" fmla="*/ 0 w 9"/>
                <a:gd name="T33" fmla="*/ 1 h 2"/>
                <a:gd name="T34" fmla="*/ 0 w 9"/>
                <a:gd name="T35" fmla="*/ 1 h 2"/>
                <a:gd name="T36" fmla="*/ 1 w 9"/>
                <a:gd name="T37" fmla="*/ 1 h 2"/>
                <a:gd name="T38" fmla="*/ 1 w 9"/>
                <a:gd name="T39" fmla="*/ 1 h 2"/>
                <a:gd name="T40" fmla="*/ 1 w 9"/>
                <a:gd name="T41" fmla="*/ 1 h 2"/>
                <a:gd name="T42" fmla="*/ 1 w 9"/>
                <a:gd name="T43" fmla="*/ 1 h 2"/>
                <a:gd name="T44" fmla="*/ 1 w 9"/>
                <a:gd name="T45" fmla="*/ 1 h 2"/>
                <a:gd name="T46" fmla="*/ 2 w 9"/>
                <a:gd name="T47" fmla="*/ 1 h 2"/>
                <a:gd name="T48" fmla="*/ 2 w 9"/>
                <a:gd name="T49" fmla="*/ 1 h 2"/>
                <a:gd name="T50" fmla="*/ 2 w 9"/>
                <a:gd name="T51" fmla="*/ 1 h 2"/>
                <a:gd name="T52" fmla="*/ 3 w 9"/>
                <a:gd name="T53" fmla="*/ 1 h 2"/>
                <a:gd name="T54" fmla="*/ 4 w 9"/>
                <a:gd name="T55" fmla="*/ 1 h 2"/>
                <a:gd name="T56" fmla="*/ 4 w 9"/>
                <a:gd name="T57" fmla="*/ 1 h 2"/>
                <a:gd name="T58" fmla="*/ 5 w 9"/>
                <a:gd name="T59" fmla="*/ 1 h 2"/>
                <a:gd name="T60" fmla="*/ 6 w 9"/>
                <a:gd name="T61" fmla="*/ 1 h 2"/>
                <a:gd name="T62" fmla="*/ 6 w 9"/>
                <a:gd name="T63" fmla="*/ 0 h 2"/>
                <a:gd name="T64" fmla="*/ 7 w 9"/>
                <a:gd name="T65" fmla="*/ 0 h 2"/>
                <a:gd name="T66" fmla="*/ 8 w 9"/>
                <a:gd name="T67" fmla="*/ 0 h 2"/>
                <a:gd name="T68" fmla="*/ 9 w 9"/>
                <a:gd name="T69" fmla="*/ 0 h 2"/>
                <a:gd name="T70" fmla="*/ 9 w 9"/>
                <a:gd name="T71" fmla="*/ 0 h 2"/>
                <a:gd name="T72" fmla="*/ 9 w 9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2">
                  <a:moveTo>
                    <a:pt x="9" y="0"/>
                  </a:moveTo>
                  <a:lnTo>
                    <a:pt x="9" y="0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7" name="Freeform 281"/>
            <p:cNvSpPr>
              <a:spLocks/>
            </p:cNvSpPr>
            <p:nvPr/>
          </p:nvSpPr>
          <p:spPr bwMode="auto">
            <a:xfrm>
              <a:off x="1926" y="3081"/>
              <a:ext cx="48" cy="30"/>
            </a:xfrm>
            <a:custGeom>
              <a:avLst/>
              <a:gdLst>
                <a:gd name="T0" fmla="*/ 8 w 8"/>
                <a:gd name="T1" fmla="*/ 0 h 5"/>
                <a:gd name="T2" fmla="*/ 8 w 8"/>
                <a:gd name="T3" fmla="*/ 0 h 5"/>
                <a:gd name="T4" fmla="*/ 8 w 8"/>
                <a:gd name="T5" fmla="*/ 0 h 5"/>
                <a:gd name="T6" fmla="*/ 8 w 8"/>
                <a:gd name="T7" fmla="*/ 1 h 5"/>
                <a:gd name="T8" fmla="*/ 8 w 8"/>
                <a:gd name="T9" fmla="*/ 1 h 5"/>
                <a:gd name="T10" fmla="*/ 8 w 8"/>
                <a:gd name="T11" fmla="*/ 2 h 5"/>
                <a:gd name="T12" fmla="*/ 7 w 8"/>
                <a:gd name="T13" fmla="*/ 2 h 5"/>
                <a:gd name="T14" fmla="*/ 7 w 8"/>
                <a:gd name="T15" fmla="*/ 2 h 5"/>
                <a:gd name="T16" fmla="*/ 6 w 8"/>
                <a:gd name="T17" fmla="*/ 3 h 5"/>
                <a:gd name="T18" fmla="*/ 6 w 8"/>
                <a:gd name="T19" fmla="*/ 3 h 5"/>
                <a:gd name="T20" fmla="*/ 5 w 8"/>
                <a:gd name="T21" fmla="*/ 3 h 5"/>
                <a:gd name="T22" fmla="*/ 5 w 8"/>
                <a:gd name="T23" fmla="*/ 4 h 5"/>
                <a:gd name="T24" fmla="*/ 4 w 8"/>
                <a:gd name="T25" fmla="*/ 4 h 5"/>
                <a:gd name="T26" fmla="*/ 3 w 8"/>
                <a:gd name="T27" fmla="*/ 4 h 5"/>
                <a:gd name="T28" fmla="*/ 3 w 8"/>
                <a:gd name="T29" fmla="*/ 4 h 5"/>
                <a:gd name="T30" fmla="*/ 2 w 8"/>
                <a:gd name="T31" fmla="*/ 5 h 5"/>
                <a:gd name="T32" fmla="*/ 1 w 8"/>
                <a:gd name="T33" fmla="*/ 5 h 5"/>
                <a:gd name="T34" fmla="*/ 0 w 8"/>
                <a:gd name="T35" fmla="*/ 5 h 5"/>
                <a:gd name="T36" fmla="*/ 0 w 8"/>
                <a:gd name="T37" fmla="*/ 5 h 5"/>
                <a:gd name="T38" fmla="*/ 1 w 8"/>
                <a:gd name="T39" fmla="*/ 4 h 5"/>
                <a:gd name="T40" fmla="*/ 2 w 8"/>
                <a:gd name="T41" fmla="*/ 4 h 5"/>
                <a:gd name="T42" fmla="*/ 2 w 8"/>
                <a:gd name="T43" fmla="*/ 4 h 5"/>
                <a:gd name="T44" fmla="*/ 3 w 8"/>
                <a:gd name="T45" fmla="*/ 3 h 5"/>
                <a:gd name="T46" fmla="*/ 4 w 8"/>
                <a:gd name="T47" fmla="*/ 3 h 5"/>
                <a:gd name="T48" fmla="*/ 4 w 8"/>
                <a:gd name="T49" fmla="*/ 3 h 5"/>
                <a:gd name="T50" fmla="*/ 5 w 8"/>
                <a:gd name="T51" fmla="*/ 3 h 5"/>
                <a:gd name="T52" fmla="*/ 5 w 8"/>
                <a:gd name="T53" fmla="*/ 2 h 5"/>
                <a:gd name="T54" fmla="*/ 6 w 8"/>
                <a:gd name="T55" fmla="*/ 2 h 5"/>
                <a:gd name="T56" fmla="*/ 6 w 8"/>
                <a:gd name="T57" fmla="*/ 2 h 5"/>
                <a:gd name="T58" fmla="*/ 7 w 8"/>
                <a:gd name="T59" fmla="*/ 1 h 5"/>
                <a:gd name="T60" fmla="*/ 7 w 8"/>
                <a:gd name="T61" fmla="*/ 1 h 5"/>
                <a:gd name="T62" fmla="*/ 7 w 8"/>
                <a:gd name="T63" fmla="*/ 1 h 5"/>
                <a:gd name="T64" fmla="*/ 7 w 8"/>
                <a:gd name="T65" fmla="*/ 0 h 5"/>
                <a:gd name="T66" fmla="*/ 7 w 8"/>
                <a:gd name="T67" fmla="*/ 0 h 5"/>
                <a:gd name="T68" fmla="*/ 7 w 8"/>
                <a:gd name="T69" fmla="*/ 0 h 5"/>
                <a:gd name="T70" fmla="*/ 7 w 8"/>
                <a:gd name="T71" fmla="*/ 0 h 5"/>
                <a:gd name="T72" fmla="*/ 8 w 8"/>
                <a:gd name="T7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8" name="Freeform 282"/>
            <p:cNvSpPr>
              <a:spLocks/>
            </p:cNvSpPr>
            <p:nvPr/>
          </p:nvSpPr>
          <p:spPr bwMode="auto">
            <a:xfrm>
              <a:off x="1944" y="3075"/>
              <a:ext cx="30" cy="6"/>
            </a:xfrm>
            <a:custGeom>
              <a:avLst/>
              <a:gdLst>
                <a:gd name="T0" fmla="*/ 0 w 5"/>
                <a:gd name="T1" fmla="*/ 1 h 1"/>
                <a:gd name="T2" fmla="*/ 1 w 5"/>
                <a:gd name="T3" fmla="*/ 0 h 1"/>
                <a:gd name="T4" fmla="*/ 2 w 5"/>
                <a:gd name="T5" fmla="*/ 0 h 1"/>
                <a:gd name="T6" fmla="*/ 2 w 5"/>
                <a:gd name="T7" fmla="*/ 0 h 1"/>
                <a:gd name="T8" fmla="*/ 3 w 5"/>
                <a:gd name="T9" fmla="*/ 0 h 1"/>
                <a:gd name="T10" fmla="*/ 3 w 5"/>
                <a:gd name="T11" fmla="*/ 0 h 1"/>
                <a:gd name="T12" fmla="*/ 4 w 5"/>
                <a:gd name="T13" fmla="*/ 0 h 1"/>
                <a:gd name="T14" fmla="*/ 4 w 5"/>
                <a:gd name="T15" fmla="*/ 0 h 1"/>
                <a:gd name="T16" fmla="*/ 5 w 5"/>
                <a:gd name="T17" fmla="*/ 0 h 1"/>
                <a:gd name="T18" fmla="*/ 5 w 5"/>
                <a:gd name="T19" fmla="*/ 1 h 1"/>
                <a:gd name="T20" fmla="*/ 4 w 5"/>
                <a:gd name="T21" fmla="*/ 1 h 1"/>
                <a:gd name="T22" fmla="*/ 4 w 5"/>
                <a:gd name="T23" fmla="*/ 1 h 1"/>
                <a:gd name="T24" fmla="*/ 4 w 5"/>
                <a:gd name="T25" fmla="*/ 1 h 1"/>
                <a:gd name="T26" fmla="*/ 4 w 5"/>
                <a:gd name="T27" fmla="*/ 1 h 1"/>
                <a:gd name="T28" fmla="*/ 3 w 5"/>
                <a:gd name="T29" fmla="*/ 1 h 1"/>
                <a:gd name="T30" fmla="*/ 3 w 5"/>
                <a:gd name="T31" fmla="*/ 1 h 1"/>
                <a:gd name="T32" fmla="*/ 2 w 5"/>
                <a:gd name="T33" fmla="*/ 1 h 1"/>
                <a:gd name="T34" fmla="*/ 2 w 5"/>
                <a:gd name="T35" fmla="*/ 1 h 1"/>
                <a:gd name="T36" fmla="*/ 1 w 5"/>
                <a:gd name="T37" fmla="*/ 1 h 1"/>
                <a:gd name="T38" fmla="*/ 1 w 5"/>
                <a:gd name="T39" fmla="*/ 0 h 1"/>
                <a:gd name="T40" fmla="*/ 0 w 5"/>
                <a:gd name="T4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39" name="Freeform 283"/>
            <p:cNvSpPr>
              <a:spLocks/>
            </p:cNvSpPr>
            <p:nvPr/>
          </p:nvSpPr>
          <p:spPr bwMode="auto">
            <a:xfrm>
              <a:off x="1920" y="3075"/>
              <a:ext cx="36" cy="24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1 w 6"/>
                <a:gd name="T5" fmla="*/ 3 h 4"/>
                <a:gd name="T6" fmla="*/ 1 w 6"/>
                <a:gd name="T7" fmla="*/ 3 h 4"/>
                <a:gd name="T8" fmla="*/ 1 w 6"/>
                <a:gd name="T9" fmla="*/ 3 h 4"/>
                <a:gd name="T10" fmla="*/ 2 w 6"/>
                <a:gd name="T11" fmla="*/ 3 h 4"/>
                <a:gd name="T12" fmla="*/ 3 w 6"/>
                <a:gd name="T13" fmla="*/ 3 h 4"/>
                <a:gd name="T14" fmla="*/ 3 w 6"/>
                <a:gd name="T15" fmla="*/ 3 h 4"/>
                <a:gd name="T16" fmla="*/ 3 w 6"/>
                <a:gd name="T17" fmla="*/ 2 h 4"/>
                <a:gd name="T18" fmla="*/ 4 w 6"/>
                <a:gd name="T19" fmla="*/ 2 h 4"/>
                <a:gd name="T20" fmla="*/ 4 w 6"/>
                <a:gd name="T21" fmla="*/ 2 h 4"/>
                <a:gd name="T22" fmla="*/ 4 w 6"/>
                <a:gd name="T23" fmla="*/ 2 h 4"/>
                <a:gd name="T24" fmla="*/ 5 w 6"/>
                <a:gd name="T25" fmla="*/ 1 h 4"/>
                <a:gd name="T26" fmla="*/ 5 w 6"/>
                <a:gd name="T27" fmla="*/ 1 h 4"/>
                <a:gd name="T28" fmla="*/ 5 w 6"/>
                <a:gd name="T29" fmla="*/ 1 h 4"/>
                <a:gd name="T30" fmla="*/ 5 w 6"/>
                <a:gd name="T31" fmla="*/ 1 h 4"/>
                <a:gd name="T32" fmla="*/ 5 w 6"/>
                <a:gd name="T33" fmla="*/ 1 h 4"/>
                <a:gd name="T34" fmla="*/ 4 w 6"/>
                <a:gd name="T35" fmla="*/ 1 h 4"/>
                <a:gd name="T36" fmla="*/ 5 w 6"/>
                <a:gd name="T37" fmla="*/ 0 h 4"/>
                <a:gd name="T38" fmla="*/ 5 w 6"/>
                <a:gd name="T39" fmla="*/ 0 h 4"/>
                <a:gd name="T40" fmla="*/ 6 w 6"/>
                <a:gd name="T41" fmla="*/ 1 h 4"/>
                <a:gd name="T42" fmla="*/ 6 w 6"/>
                <a:gd name="T43" fmla="*/ 1 h 4"/>
                <a:gd name="T44" fmla="*/ 6 w 6"/>
                <a:gd name="T45" fmla="*/ 2 h 4"/>
                <a:gd name="T46" fmla="*/ 5 w 6"/>
                <a:gd name="T47" fmla="*/ 2 h 4"/>
                <a:gd name="T48" fmla="*/ 5 w 6"/>
                <a:gd name="T49" fmla="*/ 2 h 4"/>
                <a:gd name="T50" fmla="*/ 5 w 6"/>
                <a:gd name="T51" fmla="*/ 3 h 4"/>
                <a:gd name="T52" fmla="*/ 4 w 6"/>
                <a:gd name="T53" fmla="*/ 3 h 4"/>
                <a:gd name="T54" fmla="*/ 4 w 6"/>
                <a:gd name="T55" fmla="*/ 3 h 4"/>
                <a:gd name="T56" fmla="*/ 3 w 6"/>
                <a:gd name="T57" fmla="*/ 3 h 4"/>
                <a:gd name="T58" fmla="*/ 3 w 6"/>
                <a:gd name="T59" fmla="*/ 3 h 4"/>
                <a:gd name="T60" fmla="*/ 2 w 6"/>
                <a:gd name="T61" fmla="*/ 4 h 4"/>
                <a:gd name="T62" fmla="*/ 2 w 6"/>
                <a:gd name="T63" fmla="*/ 4 h 4"/>
                <a:gd name="T64" fmla="*/ 1 w 6"/>
                <a:gd name="T65" fmla="*/ 4 h 4"/>
                <a:gd name="T66" fmla="*/ 1 w 6"/>
                <a:gd name="T67" fmla="*/ 4 h 4"/>
                <a:gd name="T68" fmla="*/ 1 w 6"/>
                <a:gd name="T69" fmla="*/ 4 h 4"/>
                <a:gd name="T70" fmla="*/ 1 w 6"/>
                <a:gd name="T71" fmla="*/ 4 h 4"/>
                <a:gd name="T72" fmla="*/ 0 w 6"/>
                <a:gd name="T7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0" name="Freeform 284"/>
            <p:cNvSpPr>
              <a:spLocks/>
            </p:cNvSpPr>
            <p:nvPr/>
          </p:nvSpPr>
          <p:spPr bwMode="auto">
            <a:xfrm>
              <a:off x="1746" y="2895"/>
              <a:ext cx="156" cy="234"/>
            </a:xfrm>
            <a:custGeom>
              <a:avLst/>
              <a:gdLst>
                <a:gd name="T0" fmla="*/ 0 w 26"/>
                <a:gd name="T1" fmla="*/ 2 h 39"/>
                <a:gd name="T2" fmla="*/ 2 w 26"/>
                <a:gd name="T3" fmla="*/ 0 h 39"/>
                <a:gd name="T4" fmla="*/ 26 w 26"/>
                <a:gd name="T5" fmla="*/ 37 h 39"/>
                <a:gd name="T6" fmla="*/ 24 w 26"/>
                <a:gd name="T7" fmla="*/ 39 h 39"/>
                <a:gd name="T8" fmla="*/ 0 w 26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9">
                  <a:moveTo>
                    <a:pt x="0" y="2"/>
                  </a:moveTo>
                  <a:lnTo>
                    <a:pt x="2" y="0"/>
                  </a:lnTo>
                  <a:lnTo>
                    <a:pt x="26" y="37"/>
                  </a:lnTo>
                  <a:lnTo>
                    <a:pt x="24" y="39"/>
                  </a:lnTo>
                  <a:lnTo>
                    <a:pt x="0" y="2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1" name="Freeform 285"/>
            <p:cNvSpPr>
              <a:spLocks/>
            </p:cNvSpPr>
            <p:nvPr/>
          </p:nvSpPr>
          <p:spPr bwMode="auto">
            <a:xfrm>
              <a:off x="1746" y="2895"/>
              <a:ext cx="18" cy="12"/>
            </a:xfrm>
            <a:custGeom>
              <a:avLst/>
              <a:gdLst>
                <a:gd name="T0" fmla="*/ 2 w 3"/>
                <a:gd name="T1" fmla="*/ 0 h 2"/>
                <a:gd name="T2" fmla="*/ 3 w 3"/>
                <a:gd name="T3" fmla="*/ 0 h 2"/>
                <a:gd name="T4" fmla="*/ 0 w 3"/>
                <a:gd name="T5" fmla="*/ 2 h 2"/>
                <a:gd name="T6" fmla="*/ 0 w 3"/>
                <a:gd name="T7" fmla="*/ 1 h 2"/>
                <a:gd name="T8" fmla="*/ 2 w 3"/>
                <a:gd name="T9" fmla="*/ 0 h 2"/>
                <a:gd name="T10" fmla="*/ 3 w 3"/>
                <a:gd name="T11" fmla="*/ 0 h 2"/>
                <a:gd name="T12" fmla="*/ 2 w 3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2" name="Freeform 286"/>
            <p:cNvSpPr>
              <a:spLocks/>
            </p:cNvSpPr>
            <p:nvPr/>
          </p:nvSpPr>
          <p:spPr bwMode="auto">
            <a:xfrm>
              <a:off x="1758" y="2895"/>
              <a:ext cx="144" cy="222"/>
            </a:xfrm>
            <a:custGeom>
              <a:avLst/>
              <a:gdLst>
                <a:gd name="T0" fmla="*/ 24 w 24"/>
                <a:gd name="T1" fmla="*/ 37 h 37"/>
                <a:gd name="T2" fmla="*/ 24 w 24"/>
                <a:gd name="T3" fmla="*/ 37 h 37"/>
                <a:gd name="T4" fmla="*/ 0 w 24"/>
                <a:gd name="T5" fmla="*/ 0 h 37"/>
                <a:gd name="T6" fmla="*/ 1 w 24"/>
                <a:gd name="T7" fmla="*/ 0 h 37"/>
                <a:gd name="T8" fmla="*/ 24 w 24"/>
                <a:gd name="T9" fmla="*/ 37 h 37"/>
                <a:gd name="T10" fmla="*/ 24 w 24"/>
                <a:gd name="T11" fmla="*/ 37 h 37"/>
                <a:gd name="T12" fmla="*/ 24 w 24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7">
                  <a:moveTo>
                    <a:pt x="24" y="37"/>
                  </a:moveTo>
                  <a:lnTo>
                    <a:pt x="24" y="37"/>
                  </a:lnTo>
                  <a:lnTo>
                    <a:pt x="0" y="0"/>
                  </a:lnTo>
                  <a:lnTo>
                    <a:pt x="1" y="0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3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3" name="Freeform 287"/>
            <p:cNvSpPr>
              <a:spLocks/>
            </p:cNvSpPr>
            <p:nvPr/>
          </p:nvSpPr>
          <p:spPr bwMode="auto">
            <a:xfrm>
              <a:off x="1890" y="3117"/>
              <a:ext cx="12" cy="18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2 w 2"/>
                <a:gd name="T5" fmla="*/ 0 h 3"/>
                <a:gd name="T6" fmla="*/ 2 w 2"/>
                <a:gd name="T7" fmla="*/ 0 h 3"/>
                <a:gd name="T8" fmla="*/ 0 w 2"/>
                <a:gd name="T9" fmla="*/ 3 h 3"/>
                <a:gd name="T10" fmla="*/ 0 w 2"/>
                <a:gd name="T11" fmla="*/ 2 h 3"/>
                <a:gd name="T12" fmla="*/ 0 w 2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4" name="Freeform 288"/>
            <p:cNvSpPr>
              <a:spLocks/>
            </p:cNvSpPr>
            <p:nvPr/>
          </p:nvSpPr>
          <p:spPr bwMode="auto">
            <a:xfrm>
              <a:off x="1740" y="2901"/>
              <a:ext cx="150" cy="228"/>
            </a:xfrm>
            <a:custGeom>
              <a:avLst/>
              <a:gdLst>
                <a:gd name="T0" fmla="*/ 1 w 25"/>
                <a:gd name="T1" fmla="*/ 1 h 38"/>
                <a:gd name="T2" fmla="*/ 1 w 25"/>
                <a:gd name="T3" fmla="*/ 0 h 38"/>
                <a:gd name="T4" fmla="*/ 25 w 25"/>
                <a:gd name="T5" fmla="*/ 38 h 38"/>
                <a:gd name="T6" fmla="*/ 25 w 25"/>
                <a:gd name="T7" fmla="*/ 38 h 38"/>
                <a:gd name="T8" fmla="*/ 0 w 25"/>
                <a:gd name="T9" fmla="*/ 1 h 38"/>
                <a:gd name="T10" fmla="*/ 1 w 25"/>
                <a:gd name="T11" fmla="*/ 0 h 38"/>
                <a:gd name="T12" fmla="*/ 1 w 25"/>
                <a:gd name="T13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8">
                  <a:moveTo>
                    <a:pt x="1" y="1"/>
                  </a:moveTo>
                  <a:lnTo>
                    <a:pt x="1" y="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5" name="Freeform 289"/>
            <p:cNvSpPr>
              <a:spLocks/>
            </p:cNvSpPr>
            <p:nvPr/>
          </p:nvSpPr>
          <p:spPr bwMode="auto">
            <a:xfrm>
              <a:off x="1722" y="2907"/>
              <a:ext cx="168" cy="222"/>
            </a:xfrm>
            <a:custGeom>
              <a:avLst/>
              <a:gdLst>
                <a:gd name="T0" fmla="*/ 4 w 28"/>
                <a:gd name="T1" fmla="*/ 0 h 37"/>
                <a:gd name="T2" fmla="*/ 0 w 28"/>
                <a:gd name="T3" fmla="*/ 0 h 37"/>
                <a:gd name="T4" fmla="*/ 24 w 28"/>
                <a:gd name="T5" fmla="*/ 37 h 37"/>
                <a:gd name="T6" fmla="*/ 28 w 28"/>
                <a:gd name="T7" fmla="*/ 37 h 37"/>
                <a:gd name="T8" fmla="*/ 4 w 28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7">
                  <a:moveTo>
                    <a:pt x="4" y="0"/>
                  </a:moveTo>
                  <a:lnTo>
                    <a:pt x="0" y="0"/>
                  </a:lnTo>
                  <a:lnTo>
                    <a:pt x="24" y="37"/>
                  </a:lnTo>
                  <a:lnTo>
                    <a:pt x="28" y="37"/>
                  </a:lnTo>
                  <a:lnTo>
                    <a:pt x="4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6" name="Freeform 290"/>
            <p:cNvSpPr>
              <a:spLocks/>
            </p:cNvSpPr>
            <p:nvPr/>
          </p:nvSpPr>
          <p:spPr bwMode="auto">
            <a:xfrm>
              <a:off x="1722" y="2901"/>
              <a:ext cx="24" cy="12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  <a:gd name="T4" fmla="*/ 4 w 4"/>
                <a:gd name="T5" fmla="*/ 0 h 2"/>
                <a:gd name="T6" fmla="*/ 4 w 4"/>
                <a:gd name="T7" fmla="*/ 1 h 2"/>
                <a:gd name="T8" fmla="*/ 0 w 4"/>
                <a:gd name="T9" fmla="*/ 2 h 2"/>
                <a:gd name="T10" fmla="*/ 0 w 4"/>
                <a:gd name="T11" fmla="*/ 1 h 2"/>
                <a:gd name="T12" fmla="*/ 0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lnTo>
                    <a:pt x="0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7" name="Freeform 291"/>
            <p:cNvSpPr>
              <a:spLocks/>
            </p:cNvSpPr>
            <p:nvPr/>
          </p:nvSpPr>
          <p:spPr bwMode="auto">
            <a:xfrm>
              <a:off x="1722" y="2907"/>
              <a:ext cx="144" cy="222"/>
            </a:xfrm>
            <a:custGeom>
              <a:avLst/>
              <a:gdLst>
                <a:gd name="T0" fmla="*/ 24 w 24"/>
                <a:gd name="T1" fmla="*/ 37 h 37"/>
                <a:gd name="T2" fmla="*/ 24 w 24"/>
                <a:gd name="T3" fmla="*/ 37 h 37"/>
                <a:gd name="T4" fmla="*/ 0 w 24"/>
                <a:gd name="T5" fmla="*/ 0 h 37"/>
                <a:gd name="T6" fmla="*/ 0 w 24"/>
                <a:gd name="T7" fmla="*/ 0 h 37"/>
                <a:gd name="T8" fmla="*/ 24 w 24"/>
                <a:gd name="T9" fmla="*/ 36 h 37"/>
                <a:gd name="T10" fmla="*/ 24 w 24"/>
                <a:gd name="T11" fmla="*/ 36 h 37"/>
                <a:gd name="T12" fmla="*/ 24 w 24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7">
                  <a:moveTo>
                    <a:pt x="24" y="37"/>
                  </a:moveTo>
                  <a:lnTo>
                    <a:pt x="24" y="3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8" name="Freeform 292"/>
            <p:cNvSpPr>
              <a:spLocks/>
            </p:cNvSpPr>
            <p:nvPr/>
          </p:nvSpPr>
          <p:spPr bwMode="auto">
            <a:xfrm>
              <a:off x="1866" y="3123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2 h 2"/>
                <a:gd name="T4" fmla="*/ 0 w 4"/>
                <a:gd name="T5" fmla="*/ 1 h 2"/>
                <a:gd name="T6" fmla="*/ 0 w 4"/>
                <a:gd name="T7" fmla="*/ 0 h 2"/>
                <a:gd name="T8" fmla="*/ 4 w 4"/>
                <a:gd name="T9" fmla="*/ 1 h 2"/>
                <a:gd name="T10" fmla="*/ 4 w 4"/>
                <a:gd name="T11" fmla="*/ 1 h 2"/>
                <a:gd name="T12" fmla="*/ 4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49" name="Freeform 293"/>
            <p:cNvSpPr>
              <a:spLocks/>
            </p:cNvSpPr>
            <p:nvPr/>
          </p:nvSpPr>
          <p:spPr bwMode="auto">
            <a:xfrm>
              <a:off x="1740" y="2901"/>
              <a:ext cx="150" cy="228"/>
            </a:xfrm>
            <a:custGeom>
              <a:avLst/>
              <a:gdLst>
                <a:gd name="T0" fmla="*/ 1 w 25"/>
                <a:gd name="T1" fmla="*/ 0 h 38"/>
                <a:gd name="T2" fmla="*/ 1 w 25"/>
                <a:gd name="T3" fmla="*/ 0 h 38"/>
                <a:gd name="T4" fmla="*/ 25 w 25"/>
                <a:gd name="T5" fmla="*/ 38 h 38"/>
                <a:gd name="T6" fmla="*/ 25 w 25"/>
                <a:gd name="T7" fmla="*/ 38 h 38"/>
                <a:gd name="T8" fmla="*/ 0 w 25"/>
                <a:gd name="T9" fmla="*/ 1 h 38"/>
                <a:gd name="T10" fmla="*/ 1 w 25"/>
                <a:gd name="T11" fmla="*/ 1 h 38"/>
                <a:gd name="T12" fmla="*/ 1 w 25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8">
                  <a:moveTo>
                    <a:pt x="1" y="0"/>
                  </a:moveTo>
                  <a:lnTo>
                    <a:pt x="1" y="0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0" name="Freeform 294"/>
            <p:cNvSpPr>
              <a:spLocks/>
            </p:cNvSpPr>
            <p:nvPr/>
          </p:nvSpPr>
          <p:spPr bwMode="auto">
            <a:xfrm>
              <a:off x="1752" y="3003"/>
              <a:ext cx="48" cy="30"/>
            </a:xfrm>
            <a:custGeom>
              <a:avLst/>
              <a:gdLst>
                <a:gd name="T0" fmla="*/ 6 w 8"/>
                <a:gd name="T1" fmla="*/ 0 h 5"/>
                <a:gd name="T2" fmla="*/ 6 w 8"/>
                <a:gd name="T3" fmla="*/ 0 h 5"/>
                <a:gd name="T4" fmla="*/ 5 w 8"/>
                <a:gd name="T5" fmla="*/ 0 h 5"/>
                <a:gd name="T6" fmla="*/ 5 w 8"/>
                <a:gd name="T7" fmla="*/ 0 h 5"/>
                <a:gd name="T8" fmla="*/ 5 w 8"/>
                <a:gd name="T9" fmla="*/ 1 h 5"/>
                <a:gd name="T10" fmla="*/ 4 w 8"/>
                <a:gd name="T11" fmla="*/ 1 h 5"/>
                <a:gd name="T12" fmla="*/ 4 w 8"/>
                <a:gd name="T13" fmla="*/ 1 h 5"/>
                <a:gd name="T14" fmla="*/ 3 w 8"/>
                <a:gd name="T15" fmla="*/ 1 h 5"/>
                <a:gd name="T16" fmla="*/ 3 w 8"/>
                <a:gd name="T17" fmla="*/ 1 h 5"/>
                <a:gd name="T18" fmla="*/ 3 w 8"/>
                <a:gd name="T19" fmla="*/ 2 h 5"/>
                <a:gd name="T20" fmla="*/ 2 w 8"/>
                <a:gd name="T21" fmla="*/ 2 h 5"/>
                <a:gd name="T22" fmla="*/ 2 w 8"/>
                <a:gd name="T23" fmla="*/ 2 h 5"/>
                <a:gd name="T24" fmla="*/ 2 w 8"/>
                <a:gd name="T25" fmla="*/ 2 h 5"/>
                <a:gd name="T26" fmla="*/ 1 w 8"/>
                <a:gd name="T27" fmla="*/ 2 h 5"/>
                <a:gd name="T28" fmla="*/ 1 w 8"/>
                <a:gd name="T29" fmla="*/ 2 h 5"/>
                <a:gd name="T30" fmla="*/ 0 w 8"/>
                <a:gd name="T31" fmla="*/ 2 h 5"/>
                <a:gd name="T32" fmla="*/ 0 w 8"/>
                <a:gd name="T33" fmla="*/ 3 h 5"/>
                <a:gd name="T34" fmla="*/ 0 w 8"/>
                <a:gd name="T35" fmla="*/ 3 h 5"/>
                <a:gd name="T36" fmla="*/ 0 w 8"/>
                <a:gd name="T37" fmla="*/ 4 h 5"/>
                <a:gd name="T38" fmla="*/ 0 w 8"/>
                <a:gd name="T39" fmla="*/ 4 h 5"/>
                <a:gd name="T40" fmla="*/ 1 w 8"/>
                <a:gd name="T41" fmla="*/ 5 h 5"/>
                <a:gd name="T42" fmla="*/ 1 w 8"/>
                <a:gd name="T43" fmla="*/ 4 h 5"/>
                <a:gd name="T44" fmla="*/ 2 w 8"/>
                <a:gd name="T45" fmla="*/ 4 h 5"/>
                <a:gd name="T46" fmla="*/ 2 w 8"/>
                <a:gd name="T47" fmla="*/ 4 h 5"/>
                <a:gd name="T48" fmla="*/ 2 w 8"/>
                <a:gd name="T49" fmla="*/ 4 h 5"/>
                <a:gd name="T50" fmla="*/ 3 w 8"/>
                <a:gd name="T51" fmla="*/ 4 h 5"/>
                <a:gd name="T52" fmla="*/ 3 w 8"/>
                <a:gd name="T53" fmla="*/ 3 h 5"/>
                <a:gd name="T54" fmla="*/ 4 w 8"/>
                <a:gd name="T55" fmla="*/ 3 h 5"/>
                <a:gd name="T56" fmla="*/ 4 w 8"/>
                <a:gd name="T57" fmla="*/ 3 h 5"/>
                <a:gd name="T58" fmla="*/ 5 w 8"/>
                <a:gd name="T59" fmla="*/ 3 h 5"/>
                <a:gd name="T60" fmla="*/ 5 w 8"/>
                <a:gd name="T61" fmla="*/ 3 h 5"/>
                <a:gd name="T62" fmla="*/ 5 w 8"/>
                <a:gd name="T63" fmla="*/ 2 h 5"/>
                <a:gd name="T64" fmla="*/ 6 w 8"/>
                <a:gd name="T65" fmla="*/ 2 h 5"/>
                <a:gd name="T66" fmla="*/ 6 w 8"/>
                <a:gd name="T67" fmla="*/ 2 h 5"/>
                <a:gd name="T68" fmla="*/ 7 w 8"/>
                <a:gd name="T69" fmla="*/ 2 h 5"/>
                <a:gd name="T70" fmla="*/ 7 w 8"/>
                <a:gd name="T71" fmla="*/ 2 h 5"/>
                <a:gd name="T72" fmla="*/ 8 w 8"/>
                <a:gd name="T73" fmla="*/ 2 h 5"/>
                <a:gd name="T74" fmla="*/ 8 w 8"/>
                <a:gd name="T75" fmla="*/ 1 h 5"/>
                <a:gd name="T76" fmla="*/ 8 w 8"/>
                <a:gd name="T77" fmla="*/ 1 h 5"/>
                <a:gd name="T78" fmla="*/ 8 w 8"/>
                <a:gd name="T79" fmla="*/ 1 h 5"/>
                <a:gd name="T80" fmla="*/ 7 w 8"/>
                <a:gd name="T81" fmla="*/ 1 h 5"/>
                <a:gd name="T82" fmla="*/ 7 w 8"/>
                <a:gd name="T83" fmla="*/ 0 h 5"/>
                <a:gd name="T84" fmla="*/ 7 w 8"/>
                <a:gd name="T85" fmla="*/ 0 h 5"/>
                <a:gd name="T86" fmla="*/ 7 w 8"/>
                <a:gd name="T87" fmla="*/ 0 h 5"/>
                <a:gd name="T88" fmla="*/ 6 w 8"/>
                <a:gd name="T8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1" name="Freeform 295"/>
            <p:cNvSpPr>
              <a:spLocks/>
            </p:cNvSpPr>
            <p:nvPr/>
          </p:nvSpPr>
          <p:spPr bwMode="auto">
            <a:xfrm>
              <a:off x="1746" y="3003"/>
              <a:ext cx="42" cy="18"/>
            </a:xfrm>
            <a:custGeom>
              <a:avLst/>
              <a:gdLst>
                <a:gd name="T0" fmla="*/ 0 w 7"/>
                <a:gd name="T1" fmla="*/ 3 h 3"/>
                <a:gd name="T2" fmla="*/ 1 w 7"/>
                <a:gd name="T3" fmla="*/ 2 h 3"/>
                <a:gd name="T4" fmla="*/ 1 w 7"/>
                <a:gd name="T5" fmla="*/ 2 h 3"/>
                <a:gd name="T6" fmla="*/ 2 w 7"/>
                <a:gd name="T7" fmla="*/ 2 h 3"/>
                <a:gd name="T8" fmla="*/ 2 w 7"/>
                <a:gd name="T9" fmla="*/ 2 h 3"/>
                <a:gd name="T10" fmla="*/ 2 w 7"/>
                <a:gd name="T11" fmla="*/ 2 h 3"/>
                <a:gd name="T12" fmla="*/ 3 w 7"/>
                <a:gd name="T13" fmla="*/ 2 h 3"/>
                <a:gd name="T14" fmla="*/ 3 w 7"/>
                <a:gd name="T15" fmla="*/ 1 h 3"/>
                <a:gd name="T16" fmla="*/ 4 w 7"/>
                <a:gd name="T17" fmla="*/ 1 h 3"/>
                <a:gd name="T18" fmla="*/ 4 w 7"/>
                <a:gd name="T19" fmla="*/ 1 h 3"/>
                <a:gd name="T20" fmla="*/ 4 w 7"/>
                <a:gd name="T21" fmla="*/ 1 h 3"/>
                <a:gd name="T22" fmla="*/ 5 w 7"/>
                <a:gd name="T23" fmla="*/ 1 h 3"/>
                <a:gd name="T24" fmla="*/ 5 w 7"/>
                <a:gd name="T25" fmla="*/ 0 h 3"/>
                <a:gd name="T26" fmla="*/ 6 w 7"/>
                <a:gd name="T27" fmla="*/ 0 h 3"/>
                <a:gd name="T28" fmla="*/ 6 w 7"/>
                <a:gd name="T29" fmla="*/ 0 h 3"/>
                <a:gd name="T30" fmla="*/ 6 w 7"/>
                <a:gd name="T31" fmla="*/ 0 h 3"/>
                <a:gd name="T32" fmla="*/ 7 w 7"/>
                <a:gd name="T33" fmla="*/ 0 h 3"/>
                <a:gd name="T34" fmla="*/ 7 w 7"/>
                <a:gd name="T35" fmla="*/ 0 h 3"/>
                <a:gd name="T36" fmla="*/ 7 w 7"/>
                <a:gd name="T37" fmla="*/ 0 h 3"/>
                <a:gd name="T38" fmla="*/ 7 w 7"/>
                <a:gd name="T39" fmla="*/ 1 h 3"/>
                <a:gd name="T40" fmla="*/ 7 w 7"/>
                <a:gd name="T41" fmla="*/ 1 h 3"/>
                <a:gd name="T42" fmla="*/ 6 w 7"/>
                <a:gd name="T43" fmla="*/ 1 h 3"/>
                <a:gd name="T44" fmla="*/ 6 w 7"/>
                <a:gd name="T45" fmla="*/ 1 h 3"/>
                <a:gd name="T46" fmla="*/ 5 w 7"/>
                <a:gd name="T47" fmla="*/ 1 h 3"/>
                <a:gd name="T48" fmla="*/ 5 w 7"/>
                <a:gd name="T49" fmla="*/ 1 h 3"/>
                <a:gd name="T50" fmla="*/ 5 w 7"/>
                <a:gd name="T51" fmla="*/ 2 h 3"/>
                <a:gd name="T52" fmla="*/ 4 w 7"/>
                <a:gd name="T53" fmla="*/ 2 h 3"/>
                <a:gd name="T54" fmla="*/ 4 w 7"/>
                <a:gd name="T55" fmla="*/ 2 h 3"/>
                <a:gd name="T56" fmla="*/ 4 w 7"/>
                <a:gd name="T57" fmla="*/ 2 h 3"/>
                <a:gd name="T58" fmla="*/ 3 w 7"/>
                <a:gd name="T59" fmla="*/ 2 h 3"/>
                <a:gd name="T60" fmla="*/ 3 w 7"/>
                <a:gd name="T61" fmla="*/ 2 h 3"/>
                <a:gd name="T62" fmla="*/ 2 w 7"/>
                <a:gd name="T63" fmla="*/ 3 h 3"/>
                <a:gd name="T64" fmla="*/ 2 w 7"/>
                <a:gd name="T65" fmla="*/ 3 h 3"/>
                <a:gd name="T66" fmla="*/ 1 w 7"/>
                <a:gd name="T67" fmla="*/ 3 h 3"/>
                <a:gd name="T68" fmla="*/ 1 w 7"/>
                <a:gd name="T69" fmla="*/ 3 h 3"/>
                <a:gd name="T70" fmla="*/ 1 w 7"/>
                <a:gd name="T71" fmla="*/ 2 h 3"/>
                <a:gd name="T72" fmla="*/ 0 w 7"/>
                <a:gd name="T7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2" name="Freeform 296"/>
            <p:cNvSpPr>
              <a:spLocks/>
            </p:cNvSpPr>
            <p:nvPr/>
          </p:nvSpPr>
          <p:spPr bwMode="auto">
            <a:xfrm>
              <a:off x="1746" y="3015"/>
              <a:ext cx="12" cy="18"/>
            </a:xfrm>
            <a:custGeom>
              <a:avLst/>
              <a:gdLst>
                <a:gd name="T0" fmla="*/ 2 w 2"/>
                <a:gd name="T1" fmla="*/ 3 h 3"/>
                <a:gd name="T2" fmla="*/ 1 w 2"/>
                <a:gd name="T3" fmla="*/ 3 h 3"/>
                <a:gd name="T4" fmla="*/ 1 w 2"/>
                <a:gd name="T5" fmla="*/ 2 h 3"/>
                <a:gd name="T6" fmla="*/ 1 w 2"/>
                <a:gd name="T7" fmla="*/ 2 h 3"/>
                <a:gd name="T8" fmla="*/ 1 w 2"/>
                <a:gd name="T9" fmla="*/ 1 h 3"/>
                <a:gd name="T10" fmla="*/ 0 w 2"/>
                <a:gd name="T11" fmla="*/ 1 h 3"/>
                <a:gd name="T12" fmla="*/ 1 w 2"/>
                <a:gd name="T13" fmla="*/ 0 h 3"/>
                <a:gd name="T14" fmla="*/ 1 w 2"/>
                <a:gd name="T15" fmla="*/ 1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1 w 2"/>
                <a:gd name="T23" fmla="*/ 2 h 3"/>
                <a:gd name="T24" fmla="*/ 2 w 2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2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3" name="Freeform 297"/>
            <p:cNvSpPr>
              <a:spLocks/>
            </p:cNvSpPr>
            <p:nvPr/>
          </p:nvSpPr>
          <p:spPr bwMode="auto">
            <a:xfrm>
              <a:off x="1752" y="3009"/>
              <a:ext cx="48" cy="24"/>
            </a:xfrm>
            <a:custGeom>
              <a:avLst/>
              <a:gdLst>
                <a:gd name="T0" fmla="*/ 8 w 8"/>
                <a:gd name="T1" fmla="*/ 1 h 4"/>
                <a:gd name="T2" fmla="*/ 8 w 8"/>
                <a:gd name="T3" fmla="*/ 1 h 4"/>
                <a:gd name="T4" fmla="*/ 7 w 8"/>
                <a:gd name="T5" fmla="*/ 1 h 4"/>
                <a:gd name="T6" fmla="*/ 7 w 8"/>
                <a:gd name="T7" fmla="*/ 1 h 4"/>
                <a:gd name="T8" fmla="*/ 7 w 8"/>
                <a:gd name="T9" fmla="*/ 1 h 4"/>
                <a:gd name="T10" fmla="*/ 6 w 8"/>
                <a:gd name="T11" fmla="*/ 2 h 4"/>
                <a:gd name="T12" fmla="*/ 6 w 8"/>
                <a:gd name="T13" fmla="*/ 2 h 4"/>
                <a:gd name="T14" fmla="*/ 5 w 8"/>
                <a:gd name="T15" fmla="*/ 2 h 4"/>
                <a:gd name="T16" fmla="*/ 5 w 8"/>
                <a:gd name="T17" fmla="*/ 2 h 4"/>
                <a:gd name="T18" fmla="*/ 4 w 8"/>
                <a:gd name="T19" fmla="*/ 3 h 4"/>
                <a:gd name="T20" fmla="*/ 4 w 8"/>
                <a:gd name="T21" fmla="*/ 3 h 4"/>
                <a:gd name="T22" fmla="*/ 3 w 8"/>
                <a:gd name="T23" fmla="*/ 3 h 4"/>
                <a:gd name="T24" fmla="*/ 3 w 8"/>
                <a:gd name="T25" fmla="*/ 3 h 4"/>
                <a:gd name="T26" fmla="*/ 3 w 8"/>
                <a:gd name="T27" fmla="*/ 3 h 4"/>
                <a:gd name="T28" fmla="*/ 2 w 8"/>
                <a:gd name="T29" fmla="*/ 4 h 4"/>
                <a:gd name="T30" fmla="*/ 2 w 8"/>
                <a:gd name="T31" fmla="*/ 4 h 4"/>
                <a:gd name="T32" fmla="*/ 1 w 8"/>
                <a:gd name="T33" fmla="*/ 4 h 4"/>
                <a:gd name="T34" fmla="*/ 1 w 8"/>
                <a:gd name="T35" fmla="*/ 4 h 4"/>
                <a:gd name="T36" fmla="*/ 0 w 8"/>
                <a:gd name="T37" fmla="*/ 3 h 4"/>
                <a:gd name="T38" fmla="*/ 1 w 8"/>
                <a:gd name="T39" fmla="*/ 3 h 4"/>
                <a:gd name="T40" fmla="*/ 1 w 8"/>
                <a:gd name="T41" fmla="*/ 3 h 4"/>
                <a:gd name="T42" fmla="*/ 2 w 8"/>
                <a:gd name="T43" fmla="*/ 3 h 4"/>
                <a:gd name="T44" fmla="*/ 2 w 8"/>
                <a:gd name="T45" fmla="*/ 2 h 4"/>
                <a:gd name="T46" fmla="*/ 3 w 8"/>
                <a:gd name="T47" fmla="*/ 2 h 4"/>
                <a:gd name="T48" fmla="*/ 3 w 8"/>
                <a:gd name="T49" fmla="*/ 2 h 4"/>
                <a:gd name="T50" fmla="*/ 4 w 8"/>
                <a:gd name="T51" fmla="*/ 2 h 4"/>
                <a:gd name="T52" fmla="*/ 4 w 8"/>
                <a:gd name="T53" fmla="*/ 2 h 4"/>
                <a:gd name="T54" fmla="*/ 4 w 8"/>
                <a:gd name="T55" fmla="*/ 1 h 4"/>
                <a:gd name="T56" fmla="*/ 5 w 8"/>
                <a:gd name="T57" fmla="*/ 1 h 4"/>
                <a:gd name="T58" fmla="*/ 5 w 8"/>
                <a:gd name="T59" fmla="*/ 1 h 4"/>
                <a:gd name="T60" fmla="*/ 6 w 8"/>
                <a:gd name="T61" fmla="*/ 1 h 4"/>
                <a:gd name="T62" fmla="*/ 6 w 8"/>
                <a:gd name="T63" fmla="*/ 1 h 4"/>
                <a:gd name="T64" fmla="*/ 7 w 8"/>
                <a:gd name="T65" fmla="*/ 1 h 4"/>
                <a:gd name="T66" fmla="*/ 7 w 8"/>
                <a:gd name="T67" fmla="*/ 0 h 4"/>
                <a:gd name="T68" fmla="*/ 7 w 8"/>
                <a:gd name="T69" fmla="*/ 0 h 4"/>
                <a:gd name="T70" fmla="*/ 7 w 8"/>
                <a:gd name="T71" fmla="*/ 0 h 4"/>
                <a:gd name="T72" fmla="*/ 8 w 8"/>
                <a:gd name="T7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4" name="Freeform 298"/>
            <p:cNvSpPr>
              <a:spLocks/>
            </p:cNvSpPr>
            <p:nvPr/>
          </p:nvSpPr>
          <p:spPr bwMode="auto">
            <a:xfrm>
              <a:off x="1788" y="2997"/>
              <a:ext cx="12" cy="18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0 h 3"/>
                <a:gd name="T4" fmla="*/ 1 w 2"/>
                <a:gd name="T5" fmla="*/ 0 h 3"/>
                <a:gd name="T6" fmla="*/ 1 w 2"/>
                <a:gd name="T7" fmla="*/ 1 h 3"/>
                <a:gd name="T8" fmla="*/ 1 w 2"/>
                <a:gd name="T9" fmla="*/ 1 h 3"/>
                <a:gd name="T10" fmla="*/ 2 w 2"/>
                <a:gd name="T11" fmla="*/ 1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3 h 3"/>
                <a:gd name="T20" fmla="*/ 1 w 2"/>
                <a:gd name="T21" fmla="*/ 2 h 3"/>
                <a:gd name="T22" fmla="*/ 1 w 2"/>
                <a:gd name="T23" fmla="*/ 2 h 3"/>
                <a:gd name="T24" fmla="*/ 1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1 h 3"/>
                <a:gd name="T34" fmla="*/ 1 w 2"/>
                <a:gd name="T35" fmla="*/ 1 h 3"/>
                <a:gd name="T36" fmla="*/ 0 w 2"/>
                <a:gd name="T37" fmla="*/ 1 h 3"/>
                <a:gd name="T38" fmla="*/ 0 w 2"/>
                <a:gd name="T39" fmla="*/ 1 h 3"/>
                <a:gd name="T40" fmla="*/ 0 w 2"/>
                <a:gd name="T4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5" name="Freeform 299"/>
            <p:cNvSpPr>
              <a:spLocks/>
            </p:cNvSpPr>
            <p:nvPr/>
          </p:nvSpPr>
          <p:spPr bwMode="auto">
            <a:xfrm>
              <a:off x="1728" y="2991"/>
              <a:ext cx="42" cy="78"/>
            </a:xfrm>
            <a:custGeom>
              <a:avLst/>
              <a:gdLst>
                <a:gd name="T0" fmla="*/ 0 w 7"/>
                <a:gd name="T1" fmla="*/ 0 h 13"/>
                <a:gd name="T2" fmla="*/ 1 w 7"/>
                <a:gd name="T3" fmla="*/ 0 h 13"/>
                <a:gd name="T4" fmla="*/ 1 w 7"/>
                <a:gd name="T5" fmla="*/ 0 h 13"/>
                <a:gd name="T6" fmla="*/ 2 w 7"/>
                <a:gd name="T7" fmla="*/ 0 h 13"/>
                <a:gd name="T8" fmla="*/ 2 w 7"/>
                <a:gd name="T9" fmla="*/ 1 h 13"/>
                <a:gd name="T10" fmla="*/ 3 w 7"/>
                <a:gd name="T11" fmla="*/ 2 h 13"/>
                <a:gd name="T12" fmla="*/ 4 w 7"/>
                <a:gd name="T13" fmla="*/ 3 h 13"/>
                <a:gd name="T14" fmla="*/ 5 w 7"/>
                <a:gd name="T15" fmla="*/ 4 h 13"/>
                <a:gd name="T16" fmla="*/ 5 w 7"/>
                <a:gd name="T17" fmla="*/ 6 h 13"/>
                <a:gd name="T18" fmla="*/ 6 w 7"/>
                <a:gd name="T19" fmla="*/ 7 h 13"/>
                <a:gd name="T20" fmla="*/ 7 w 7"/>
                <a:gd name="T21" fmla="*/ 8 h 13"/>
                <a:gd name="T22" fmla="*/ 7 w 7"/>
                <a:gd name="T23" fmla="*/ 10 h 13"/>
                <a:gd name="T24" fmla="*/ 7 w 7"/>
                <a:gd name="T25" fmla="*/ 11 h 13"/>
                <a:gd name="T26" fmla="*/ 7 w 7"/>
                <a:gd name="T27" fmla="*/ 12 h 13"/>
                <a:gd name="T28" fmla="*/ 7 w 7"/>
                <a:gd name="T29" fmla="*/ 12 h 13"/>
                <a:gd name="T30" fmla="*/ 7 w 7"/>
                <a:gd name="T31" fmla="*/ 13 h 13"/>
                <a:gd name="T32" fmla="*/ 7 w 7"/>
                <a:gd name="T33" fmla="*/ 13 h 13"/>
                <a:gd name="T34" fmla="*/ 6 w 7"/>
                <a:gd name="T35" fmla="*/ 13 h 13"/>
                <a:gd name="T36" fmla="*/ 6 w 7"/>
                <a:gd name="T37" fmla="*/ 13 h 13"/>
                <a:gd name="T38" fmla="*/ 5 w 7"/>
                <a:gd name="T39" fmla="*/ 13 h 13"/>
                <a:gd name="T40" fmla="*/ 5 w 7"/>
                <a:gd name="T41" fmla="*/ 12 h 13"/>
                <a:gd name="T42" fmla="*/ 4 w 7"/>
                <a:gd name="T43" fmla="*/ 11 h 13"/>
                <a:gd name="T44" fmla="*/ 3 w 7"/>
                <a:gd name="T45" fmla="*/ 10 h 13"/>
                <a:gd name="T46" fmla="*/ 2 w 7"/>
                <a:gd name="T47" fmla="*/ 9 h 13"/>
                <a:gd name="T48" fmla="*/ 2 w 7"/>
                <a:gd name="T49" fmla="*/ 7 h 13"/>
                <a:gd name="T50" fmla="*/ 1 w 7"/>
                <a:gd name="T51" fmla="*/ 6 h 13"/>
                <a:gd name="T52" fmla="*/ 0 w 7"/>
                <a:gd name="T53" fmla="*/ 5 h 13"/>
                <a:gd name="T54" fmla="*/ 0 w 7"/>
                <a:gd name="T55" fmla="*/ 3 h 13"/>
                <a:gd name="T56" fmla="*/ 0 w 7"/>
                <a:gd name="T57" fmla="*/ 2 h 13"/>
                <a:gd name="T58" fmla="*/ 0 w 7"/>
                <a:gd name="T59" fmla="*/ 1 h 13"/>
                <a:gd name="T60" fmla="*/ 0 w 7"/>
                <a:gd name="T61" fmla="*/ 0 h 13"/>
                <a:gd name="T62" fmla="*/ 0 w 7"/>
                <a:gd name="T63" fmla="*/ 0 h 13"/>
                <a:gd name="T64" fmla="*/ 0 w 7"/>
                <a:gd name="T6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4" y="11"/>
                  </a:lnTo>
                  <a:lnTo>
                    <a:pt x="3" y="10"/>
                  </a:lnTo>
                  <a:lnTo>
                    <a:pt x="2" y="9"/>
                  </a:lnTo>
                  <a:lnTo>
                    <a:pt x="2" y="7"/>
                  </a:lnTo>
                  <a:lnTo>
                    <a:pt x="1" y="6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6" name="Freeform 300"/>
            <p:cNvSpPr>
              <a:spLocks/>
            </p:cNvSpPr>
            <p:nvPr/>
          </p:nvSpPr>
          <p:spPr bwMode="auto">
            <a:xfrm>
              <a:off x="1728" y="2985"/>
              <a:ext cx="36" cy="42"/>
            </a:xfrm>
            <a:custGeom>
              <a:avLst/>
              <a:gdLst>
                <a:gd name="T0" fmla="*/ 5 w 6"/>
                <a:gd name="T1" fmla="*/ 7 h 7"/>
                <a:gd name="T2" fmla="*/ 5 w 6"/>
                <a:gd name="T3" fmla="*/ 7 h 7"/>
                <a:gd name="T4" fmla="*/ 4 w 6"/>
                <a:gd name="T5" fmla="*/ 5 h 7"/>
                <a:gd name="T6" fmla="*/ 4 w 6"/>
                <a:gd name="T7" fmla="*/ 4 h 7"/>
                <a:gd name="T8" fmla="*/ 3 w 6"/>
                <a:gd name="T9" fmla="*/ 3 h 7"/>
                <a:gd name="T10" fmla="*/ 2 w 6"/>
                <a:gd name="T11" fmla="*/ 2 h 7"/>
                <a:gd name="T12" fmla="*/ 2 w 6"/>
                <a:gd name="T13" fmla="*/ 2 h 7"/>
                <a:gd name="T14" fmla="*/ 1 w 6"/>
                <a:gd name="T15" fmla="*/ 1 h 7"/>
                <a:gd name="T16" fmla="*/ 1 w 6"/>
                <a:gd name="T17" fmla="*/ 1 h 7"/>
                <a:gd name="T18" fmla="*/ 1 w 6"/>
                <a:gd name="T19" fmla="*/ 1 h 7"/>
                <a:gd name="T20" fmla="*/ 0 w 6"/>
                <a:gd name="T21" fmla="*/ 0 h 7"/>
                <a:gd name="T22" fmla="*/ 1 w 6"/>
                <a:gd name="T23" fmla="*/ 0 h 7"/>
                <a:gd name="T24" fmla="*/ 1 w 6"/>
                <a:gd name="T25" fmla="*/ 0 h 7"/>
                <a:gd name="T26" fmla="*/ 2 w 6"/>
                <a:gd name="T27" fmla="*/ 1 h 7"/>
                <a:gd name="T28" fmla="*/ 3 w 6"/>
                <a:gd name="T29" fmla="*/ 2 h 7"/>
                <a:gd name="T30" fmla="*/ 4 w 6"/>
                <a:gd name="T31" fmla="*/ 3 h 7"/>
                <a:gd name="T32" fmla="*/ 4 w 6"/>
                <a:gd name="T33" fmla="*/ 4 h 7"/>
                <a:gd name="T34" fmla="*/ 5 w 6"/>
                <a:gd name="T35" fmla="*/ 5 h 7"/>
                <a:gd name="T36" fmla="*/ 6 w 6"/>
                <a:gd name="T37" fmla="*/ 6 h 7"/>
                <a:gd name="T38" fmla="*/ 6 w 6"/>
                <a:gd name="T39" fmla="*/ 6 h 7"/>
                <a:gd name="T40" fmla="*/ 5 w 6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5" y="7"/>
                  </a:moveTo>
                  <a:lnTo>
                    <a:pt x="5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5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7" name="Freeform 301"/>
            <p:cNvSpPr>
              <a:spLocks/>
            </p:cNvSpPr>
            <p:nvPr/>
          </p:nvSpPr>
          <p:spPr bwMode="auto">
            <a:xfrm>
              <a:off x="1758" y="3021"/>
              <a:ext cx="18" cy="54"/>
            </a:xfrm>
            <a:custGeom>
              <a:avLst/>
              <a:gdLst>
                <a:gd name="T0" fmla="*/ 2 w 3"/>
                <a:gd name="T1" fmla="*/ 8 h 9"/>
                <a:gd name="T2" fmla="*/ 2 w 3"/>
                <a:gd name="T3" fmla="*/ 8 h 9"/>
                <a:gd name="T4" fmla="*/ 2 w 3"/>
                <a:gd name="T5" fmla="*/ 8 h 9"/>
                <a:gd name="T6" fmla="*/ 2 w 3"/>
                <a:gd name="T7" fmla="*/ 7 h 9"/>
                <a:gd name="T8" fmla="*/ 2 w 3"/>
                <a:gd name="T9" fmla="*/ 7 h 9"/>
                <a:gd name="T10" fmla="*/ 2 w 3"/>
                <a:gd name="T11" fmla="*/ 6 h 9"/>
                <a:gd name="T12" fmla="*/ 1 w 3"/>
                <a:gd name="T13" fmla="*/ 5 h 9"/>
                <a:gd name="T14" fmla="*/ 1 w 3"/>
                <a:gd name="T15" fmla="*/ 3 h 9"/>
                <a:gd name="T16" fmla="*/ 1 w 3"/>
                <a:gd name="T17" fmla="*/ 2 h 9"/>
                <a:gd name="T18" fmla="*/ 0 w 3"/>
                <a:gd name="T19" fmla="*/ 1 h 9"/>
                <a:gd name="T20" fmla="*/ 1 w 3"/>
                <a:gd name="T21" fmla="*/ 0 h 9"/>
                <a:gd name="T22" fmla="*/ 1 w 3"/>
                <a:gd name="T23" fmla="*/ 2 h 9"/>
                <a:gd name="T24" fmla="*/ 2 w 3"/>
                <a:gd name="T25" fmla="*/ 3 h 9"/>
                <a:gd name="T26" fmla="*/ 2 w 3"/>
                <a:gd name="T27" fmla="*/ 4 h 9"/>
                <a:gd name="T28" fmla="*/ 3 w 3"/>
                <a:gd name="T29" fmla="*/ 5 h 9"/>
                <a:gd name="T30" fmla="*/ 3 w 3"/>
                <a:gd name="T31" fmla="*/ 7 h 9"/>
                <a:gd name="T32" fmla="*/ 3 w 3"/>
                <a:gd name="T33" fmla="*/ 7 h 9"/>
                <a:gd name="T34" fmla="*/ 3 w 3"/>
                <a:gd name="T35" fmla="*/ 8 h 9"/>
                <a:gd name="T36" fmla="*/ 2 w 3"/>
                <a:gd name="T37" fmla="*/ 9 h 9"/>
                <a:gd name="T38" fmla="*/ 2 w 3"/>
                <a:gd name="T39" fmla="*/ 9 h 9"/>
                <a:gd name="T40" fmla="*/ 2 w 3"/>
                <a:gd name="T4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9">
                  <a:moveTo>
                    <a:pt x="2" y="8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8" name="Freeform 302"/>
            <p:cNvSpPr>
              <a:spLocks/>
            </p:cNvSpPr>
            <p:nvPr/>
          </p:nvSpPr>
          <p:spPr bwMode="auto">
            <a:xfrm>
              <a:off x="1734" y="3033"/>
              <a:ext cx="36" cy="42"/>
            </a:xfrm>
            <a:custGeom>
              <a:avLst/>
              <a:gdLst>
                <a:gd name="T0" fmla="*/ 1 w 6"/>
                <a:gd name="T1" fmla="*/ 0 h 7"/>
                <a:gd name="T2" fmla="*/ 1 w 6"/>
                <a:gd name="T3" fmla="*/ 0 h 7"/>
                <a:gd name="T4" fmla="*/ 2 w 6"/>
                <a:gd name="T5" fmla="*/ 2 h 7"/>
                <a:gd name="T6" fmla="*/ 3 w 6"/>
                <a:gd name="T7" fmla="*/ 3 h 7"/>
                <a:gd name="T8" fmla="*/ 3 w 6"/>
                <a:gd name="T9" fmla="*/ 4 h 7"/>
                <a:gd name="T10" fmla="*/ 4 w 6"/>
                <a:gd name="T11" fmla="*/ 5 h 7"/>
                <a:gd name="T12" fmla="*/ 5 w 6"/>
                <a:gd name="T13" fmla="*/ 5 h 7"/>
                <a:gd name="T14" fmla="*/ 5 w 6"/>
                <a:gd name="T15" fmla="*/ 6 h 7"/>
                <a:gd name="T16" fmla="*/ 6 w 6"/>
                <a:gd name="T17" fmla="*/ 6 h 7"/>
                <a:gd name="T18" fmla="*/ 6 w 6"/>
                <a:gd name="T19" fmla="*/ 6 h 7"/>
                <a:gd name="T20" fmla="*/ 6 w 6"/>
                <a:gd name="T21" fmla="*/ 7 h 7"/>
                <a:gd name="T22" fmla="*/ 5 w 6"/>
                <a:gd name="T23" fmla="*/ 7 h 7"/>
                <a:gd name="T24" fmla="*/ 5 w 6"/>
                <a:gd name="T25" fmla="*/ 7 h 7"/>
                <a:gd name="T26" fmla="*/ 4 w 6"/>
                <a:gd name="T27" fmla="*/ 6 h 7"/>
                <a:gd name="T28" fmla="*/ 3 w 6"/>
                <a:gd name="T29" fmla="*/ 5 h 7"/>
                <a:gd name="T30" fmla="*/ 2 w 6"/>
                <a:gd name="T31" fmla="*/ 4 h 7"/>
                <a:gd name="T32" fmla="*/ 2 w 6"/>
                <a:gd name="T33" fmla="*/ 3 h 7"/>
                <a:gd name="T34" fmla="*/ 1 w 6"/>
                <a:gd name="T35" fmla="*/ 2 h 7"/>
                <a:gd name="T36" fmla="*/ 0 w 6"/>
                <a:gd name="T37" fmla="*/ 0 h 7"/>
                <a:gd name="T38" fmla="*/ 0 w 6"/>
                <a:gd name="T39" fmla="*/ 0 h 7"/>
                <a:gd name="T40" fmla="*/ 1 w 6"/>
                <a:gd name="T4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1" y="0"/>
                  </a:moveTo>
                  <a:lnTo>
                    <a:pt x="1" y="0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4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4" y="6"/>
                  </a:lnTo>
                  <a:lnTo>
                    <a:pt x="3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59" name="Freeform 303"/>
            <p:cNvSpPr>
              <a:spLocks/>
            </p:cNvSpPr>
            <p:nvPr/>
          </p:nvSpPr>
          <p:spPr bwMode="auto">
            <a:xfrm>
              <a:off x="1722" y="2985"/>
              <a:ext cx="18" cy="48"/>
            </a:xfrm>
            <a:custGeom>
              <a:avLst/>
              <a:gdLst>
                <a:gd name="T0" fmla="*/ 2 w 3"/>
                <a:gd name="T1" fmla="*/ 1 h 8"/>
                <a:gd name="T2" fmla="*/ 2 w 3"/>
                <a:gd name="T3" fmla="*/ 1 h 8"/>
                <a:gd name="T4" fmla="*/ 1 w 3"/>
                <a:gd name="T5" fmla="*/ 1 h 8"/>
                <a:gd name="T6" fmla="*/ 1 w 3"/>
                <a:gd name="T7" fmla="*/ 2 h 8"/>
                <a:gd name="T8" fmla="*/ 1 w 3"/>
                <a:gd name="T9" fmla="*/ 2 h 8"/>
                <a:gd name="T10" fmla="*/ 1 w 3"/>
                <a:gd name="T11" fmla="*/ 3 h 8"/>
                <a:gd name="T12" fmla="*/ 2 w 3"/>
                <a:gd name="T13" fmla="*/ 4 h 8"/>
                <a:gd name="T14" fmla="*/ 2 w 3"/>
                <a:gd name="T15" fmla="*/ 5 h 8"/>
                <a:gd name="T16" fmla="*/ 2 w 3"/>
                <a:gd name="T17" fmla="*/ 7 h 8"/>
                <a:gd name="T18" fmla="*/ 3 w 3"/>
                <a:gd name="T19" fmla="*/ 8 h 8"/>
                <a:gd name="T20" fmla="*/ 2 w 3"/>
                <a:gd name="T21" fmla="*/ 8 h 8"/>
                <a:gd name="T22" fmla="*/ 2 w 3"/>
                <a:gd name="T23" fmla="*/ 7 h 8"/>
                <a:gd name="T24" fmla="*/ 1 w 3"/>
                <a:gd name="T25" fmla="*/ 6 h 8"/>
                <a:gd name="T26" fmla="*/ 1 w 3"/>
                <a:gd name="T27" fmla="*/ 4 h 8"/>
                <a:gd name="T28" fmla="*/ 0 w 3"/>
                <a:gd name="T29" fmla="*/ 3 h 8"/>
                <a:gd name="T30" fmla="*/ 0 w 3"/>
                <a:gd name="T31" fmla="*/ 2 h 8"/>
                <a:gd name="T32" fmla="*/ 0 w 3"/>
                <a:gd name="T33" fmla="*/ 1 h 8"/>
                <a:gd name="T34" fmla="*/ 1 w 3"/>
                <a:gd name="T35" fmla="*/ 1 h 8"/>
                <a:gd name="T36" fmla="*/ 1 w 3"/>
                <a:gd name="T37" fmla="*/ 0 h 8"/>
                <a:gd name="T38" fmla="*/ 1 w 3"/>
                <a:gd name="T39" fmla="*/ 0 h 8"/>
                <a:gd name="T40" fmla="*/ 2 w 3"/>
                <a:gd name="T4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8">
                  <a:moveTo>
                    <a:pt x="2" y="1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0" name="Freeform 304"/>
            <p:cNvSpPr>
              <a:spLocks/>
            </p:cNvSpPr>
            <p:nvPr/>
          </p:nvSpPr>
          <p:spPr bwMode="auto">
            <a:xfrm>
              <a:off x="1728" y="2985"/>
              <a:ext cx="54" cy="84"/>
            </a:xfrm>
            <a:custGeom>
              <a:avLst/>
              <a:gdLst>
                <a:gd name="T0" fmla="*/ 0 w 9"/>
                <a:gd name="T1" fmla="*/ 1 h 14"/>
                <a:gd name="T2" fmla="*/ 1 w 9"/>
                <a:gd name="T3" fmla="*/ 1 h 14"/>
                <a:gd name="T4" fmla="*/ 1 w 9"/>
                <a:gd name="T5" fmla="*/ 1 h 14"/>
                <a:gd name="T6" fmla="*/ 2 w 9"/>
                <a:gd name="T7" fmla="*/ 1 h 14"/>
                <a:gd name="T8" fmla="*/ 2 w 9"/>
                <a:gd name="T9" fmla="*/ 2 h 14"/>
                <a:gd name="T10" fmla="*/ 3 w 9"/>
                <a:gd name="T11" fmla="*/ 3 h 14"/>
                <a:gd name="T12" fmla="*/ 4 w 9"/>
                <a:gd name="T13" fmla="*/ 4 h 14"/>
                <a:gd name="T14" fmla="*/ 5 w 9"/>
                <a:gd name="T15" fmla="*/ 5 h 14"/>
                <a:gd name="T16" fmla="*/ 5 w 9"/>
                <a:gd name="T17" fmla="*/ 7 h 14"/>
                <a:gd name="T18" fmla="*/ 6 w 9"/>
                <a:gd name="T19" fmla="*/ 8 h 14"/>
                <a:gd name="T20" fmla="*/ 7 w 9"/>
                <a:gd name="T21" fmla="*/ 9 h 14"/>
                <a:gd name="T22" fmla="*/ 7 w 9"/>
                <a:gd name="T23" fmla="*/ 11 h 14"/>
                <a:gd name="T24" fmla="*/ 7 w 9"/>
                <a:gd name="T25" fmla="*/ 12 h 14"/>
                <a:gd name="T26" fmla="*/ 7 w 9"/>
                <a:gd name="T27" fmla="*/ 13 h 14"/>
                <a:gd name="T28" fmla="*/ 7 w 9"/>
                <a:gd name="T29" fmla="*/ 13 h 14"/>
                <a:gd name="T30" fmla="*/ 7 w 9"/>
                <a:gd name="T31" fmla="*/ 14 h 14"/>
                <a:gd name="T32" fmla="*/ 7 w 9"/>
                <a:gd name="T33" fmla="*/ 14 h 14"/>
                <a:gd name="T34" fmla="*/ 7 w 9"/>
                <a:gd name="T35" fmla="*/ 14 h 14"/>
                <a:gd name="T36" fmla="*/ 8 w 9"/>
                <a:gd name="T37" fmla="*/ 14 h 14"/>
                <a:gd name="T38" fmla="*/ 8 w 9"/>
                <a:gd name="T39" fmla="*/ 14 h 14"/>
                <a:gd name="T40" fmla="*/ 9 w 9"/>
                <a:gd name="T41" fmla="*/ 14 h 14"/>
                <a:gd name="T42" fmla="*/ 9 w 9"/>
                <a:gd name="T43" fmla="*/ 13 h 14"/>
                <a:gd name="T44" fmla="*/ 9 w 9"/>
                <a:gd name="T45" fmla="*/ 13 h 14"/>
                <a:gd name="T46" fmla="*/ 9 w 9"/>
                <a:gd name="T47" fmla="*/ 12 h 14"/>
                <a:gd name="T48" fmla="*/ 9 w 9"/>
                <a:gd name="T49" fmla="*/ 11 h 14"/>
                <a:gd name="T50" fmla="*/ 9 w 9"/>
                <a:gd name="T51" fmla="*/ 11 h 14"/>
                <a:gd name="T52" fmla="*/ 9 w 9"/>
                <a:gd name="T53" fmla="*/ 10 h 14"/>
                <a:gd name="T54" fmla="*/ 9 w 9"/>
                <a:gd name="T55" fmla="*/ 9 h 14"/>
                <a:gd name="T56" fmla="*/ 9 w 9"/>
                <a:gd name="T57" fmla="*/ 8 h 14"/>
                <a:gd name="T58" fmla="*/ 8 w 9"/>
                <a:gd name="T59" fmla="*/ 8 h 14"/>
                <a:gd name="T60" fmla="*/ 8 w 9"/>
                <a:gd name="T61" fmla="*/ 7 h 14"/>
                <a:gd name="T62" fmla="*/ 8 w 9"/>
                <a:gd name="T63" fmla="*/ 6 h 14"/>
                <a:gd name="T64" fmla="*/ 7 w 9"/>
                <a:gd name="T65" fmla="*/ 5 h 14"/>
                <a:gd name="T66" fmla="*/ 7 w 9"/>
                <a:gd name="T67" fmla="*/ 5 h 14"/>
                <a:gd name="T68" fmla="*/ 7 w 9"/>
                <a:gd name="T69" fmla="*/ 4 h 14"/>
                <a:gd name="T70" fmla="*/ 6 w 9"/>
                <a:gd name="T71" fmla="*/ 3 h 14"/>
                <a:gd name="T72" fmla="*/ 6 w 9"/>
                <a:gd name="T73" fmla="*/ 3 h 14"/>
                <a:gd name="T74" fmla="*/ 5 w 9"/>
                <a:gd name="T75" fmla="*/ 2 h 14"/>
                <a:gd name="T76" fmla="*/ 5 w 9"/>
                <a:gd name="T77" fmla="*/ 2 h 14"/>
                <a:gd name="T78" fmla="*/ 4 w 9"/>
                <a:gd name="T79" fmla="*/ 1 h 14"/>
                <a:gd name="T80" fmla="*/ 4 w 9"/>
                <a:gd name="T81" fmla="*/ 1 h 14"/>
                <a:gd name="T82" fmla="*/ 3 w 9"/>
                <a:gd name="T83" fmla="*/ 0 h 14"/>
                <a:gd name="T84" fmla="*/ 3 w 9"/>
                <a:gd name="T85" fmla="*/ 0 h 14"/>
                <a:gd name="T86" fmla="*/ 2 w 9"/>
                <a:gd name="T87" fmla="*/ 0 h 14"/>
                <a:gd name="T88" fmla="*/ 2 w 9"/>
                <a:gd name="T89" fmla="*/ 0 h 14"/>
                <a:gd name="T90" fmla="*/ 1 w 9"/>
                <a:gd name="T91" fmla="*/ 0 h 14"/>
                <a:gd name="T92" fmla="*/ 1 w 9"/>
                <a:gd name="T93" fmla="*/ 0 h 14"/>
                <a:gd name="T94" fmla="*/ 1 w 9"/>
                <a:gd name="T95" fmla="*/ 0 h 14"/>
                <a:gd name="T96" fmla="*/ 0 w 9"/>
                <a:gd name="T9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" h="14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7"/>
                  </a:lnTo>
                  <a:lnTo>
                    <a:pt x="6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1" name="Freeform 305"/>
            <p:cNvSpPr>
              <a:spLocks/>
            </p:cNvSpPr>
            <p:nvPr/>
          </p:nvSpPr>
          <p:spPr bwMode="auto">
            <a:xfrm>
              <a:off x="1728" y="2985"/>
              <a:ext cx="36" cy="42"/>
            </a:xfrm>
            <a:custGeom>
              <a:avLst/>
              <a:gdLst>
                <a:gd name="T0" fmla="*/ 5 w 6"/>
                <a:gd name="T1" fmla="*/ 7 h 7"/>
                <a:gd name="T2" fmla="*/ 5 w 6"/>
                <a:gd name="T3" fmla="*/ 7 h 7"/>
                <a:gd name="T4" fmla="*/ 4 w 6"/>
                <a:gd name="T5" fmla="*/ 5 h 7"/>
                <a:gd name="T6" fmla="*/ 4 w 6"/>
                <a:gd name="T7" fmla="*/ 4 h 7"/>
                <a:gd name="T8" fmla="*/ 3 w 6"/>
                <a:gd name="T9" fmla="*/ 3 h 7"/>
                <a:gd name="T10" fmla="*/ 2 w 6"/>
                <a:gd name="T11" fmla="*/ 2 h 7"/>
                <a:gd name="T12" fmla="*/ 2 w 6"/>
                <a:gd name="T13" fmla="*/ 2 h 7"/>
                <a:gd name="T14" fmla="*/ 1 w 6"/>
                <a:gd name="T15" fmla="*/ 1 h 7"/>
                <a:gd name="T16" fmla="*/ 1 w 6"/>
                <a:gd name="T17" fmla="*/ 1 h 7"/>
                <a:gd name="T18" fmla="*/ 1 w 6"/>
                <a:gd name="T19" fmla="*/ 1 h 7"/>
                <a:gd name="T20" fmla="*/ 0 w 6"/>
                <a:gd name="T21" fmla="*/ 0 h 7"/>
                <a:gd name="T22" fmla="*/ 1 w 6"/>
                <a:gd name="T23" fmla="*/ 0 h 7"/>
                <a:gd name="T24" fmla="*/ 1 w 6"/>
                <a:gd name="T25" fmla="*/ 0 h 7"/>
                <a:gd name="T26" fmla="*/ 2 w 6"/>
                <a:gd name="T27" fmla="*/ 1 h 7"/>
                <a:gd name="T28" fmla="*/ 3 w 6"/>
                <a:gd name="T29" fmla="*/ 2 h 7"/>
                <a:gd name="T30" fmla="*/ 4 w 6"/>
                <a:gd name="T31" fmla="*/ 3 h 7"/>
                <a:gd name="T32" fmla="*/ 4 w 6"/>
                <a:gd name="T33" fmla="*/ 4 h 7"/>
                <a:gd name="T34" fmla="*/ 5 w 6"/>
                <a:gd name="T35" fmla="*/ 5 h 7"/>
                <a:gd name="T36" fmla="*/ 6 w 6"/>
                <a:gd name="T37" fmla="*/ 6 h 7"/>
                <a:gd name="T38" fmla="*/ 6 w 6"/>
                <a:gd name="T39" fmla="*/ 6 h 7"/>
                <a:gd name="T40" fmla="*/ 5 w 6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7">
                  <a:moveTo>
                    <a:pt x="5" y="7"/>
                  </a:moveTo>
                  <a:lnTo>
                    <a:pt x="5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5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2" name="Freeform 306"/>
            <p:cNvSpPr>
              <a:spLocks/>
            </p:cNvSpPr>
            <p:nvPr/>
          </p:nvSpPr>
          <p:spPr bwMode="auto">
            <a:xfrm>
              <a:off x="1758" y="3021"/>
              <a:ext cx="18" cy="54"/>
            </a:xfrm>
            <a:custGeom>
              <a:avLst/>
              <a:gdLst>
                <a:gd name="T0" fmla="*/ 2 w 3"/>
                <a:gd name="T1" fmla="*/ 9 h 9"/>
                <a:gd name="T2" fmla="*/ 2 w 3"/>
                <a:gd name="T3" fmla="*/ 8 h 9"/>
                <a:gd name="T4" fmla="*/ 2 w 3"/>
                <a:gd name="T5" fmla="*/ 8 h 9"/>
                <a:gd name="T6" fmla="*/ 2 w 3"/>
                <a:gd name="T7" fmla="*/ 7 h 9"/>
                <a:gd name="T8" fmla="*/ 2 w 3"/>
                <a:gd name="T9" fmla="*/ 7 h 9"/>
                <a:gd name="T10" fmla="*/ 2 w 3"/>
                <a:gd name="T11" fmla="*/ 6 h 9"/>
                <a:gd name="T12" fmla="*/ 1 w 3"/>
                <a:gd name="T13" fmla="*/ 5 h 9"/>
                <a:gd name="T14" fmla="*/ 1 w 3"/>
                <a:gd name="T15" fmla="*/ 3 h 9"/>
                <a:gd name="T16" fmla="*/ 1 w 3"/>
                <a:gd name="T17" fmla="*/ 2 h 9"/>
                <a:gd name="T18" fmla="*/ 0 w 3"/>
                <a:gd name="T19" fmla="*/ 1 h 9"/>
                <a:gd name="T20" fmla="*/ 1 w 3"/>
                <a:gd name="T21" fmla="*/ 0 h 9"/>
                <a:gd name="T22" fmla="*/ 1 w 3"/>
                <a:gd name="T23" fmla="*/ 2 h 9"/>
                <a:gd name="T24" fmla="*/ 2 w 3"/>
                <a:gd name="T25" fmla="*/ 3 h 9"/>
                <a:gd name="T26" fmla="*/ 2 w 3"/>
                <a:gd name="T27" fmla="*/ 4 h 9"/>
                <a:gd name="T28" fmla="*/ 3 w 3"/>
                <a:gd name="T29" fmla="*/ 5 h 9"/>
                <a:gd name="T30" fmla="*/ 3 w 3"/>
                <a:gd name="T31" fmla="*/ 7 h 9"/>
                <a:gd name="T32" fmla="*/ 3 w 3"/>
                <a:gd name="T33" fmla="*/ 7 h 9"/>
                <a:gd name="T34" fmla="*/ 3 w 3"/>
                <a:gd name="T35" fmla="*/ 8 h 9"/>
                <a:gd name="T36" fmla="*/ 2 w 3"/>
                <a:gd name="T37" fmla="*/ 9 h 9"/>
                <a:gd name="T38" fmla="*/ 2 w 3"/>
                <a:gd name="T39" fmla="*/ 8 h 9"/>
                <a:gd name="T40" fmla="*/ 2 w 3"/>
                <a:gd name="T4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9">
                  <a:moveTo>
                    <a:pt x="2" y="9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8"/>
                  </a:lnTo>
                  <a:lnTo>
                    <a:pt x="2" y="9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3" name="Freeform 307"/>
            <p:cNvSpPr>
              <a:spLocks/>
            </p:cNvSpPr>
            <p:nvPr/>
          </p:nvSpPr>
          <p:spPr bwMode="auto">
            <a:xfrm>
              <a:off x="1770" y="3015"/>
              <a:ext cx="12" cy="60"/>
            </a:xfrm>
            <a:custGeom>
              <a:avLst/>
              <a:gdLst>
                <a:gd name="T0" fmla="*/ 1 w 2"/>
                <a:gd name="T1" fmla="*/ 0 h 10"/>
                <a:gd name="T2" fmla="*/ 1 w 2"/>
                <a:gd name="T3" fmla="*/ 0 h 10"/>
                <a:gd name="T4" fmla="*/ 1 w 2"/>
                <a:gd name="T5" fmla="*/ 1 h 10"/>
                <a:gd name="T6" fmla="*/ 1 w 2"/>
                <a:gd name="T7" fmla="*/ 2 h 10"/>
                <a:gd name="T8" fmla="*/ 2 w 2"/>
                <a:gd name="T9" fmla="*/ 3 h 10"/>
                <a:gd name="T10" fmla="*/ 2 w 2"/>
                <a:gd name="T11" fmla="*/ 3 h 10"/>
                <a:gd name="T12" fmla="*/ 2 w 2"/>
                <a:gd name="T13" fmla="*/ 4 h 10"/>
                <a:gd name="T14" fmla="*/ 2 w 2"/>
                <a:gd name="T15" fmla="*/ 5 h 10"/>
                <a:gd name="T16" fmla="*/ 2 w 2"/>
                <a:gd name="T17" fmla="*/ 6 h 10"/>
                <a:gd name="T18" fmla="*/ 2 w 2"/>
                <a:gd name="T19" fmla="*/ 6 h 10"/>
                <a:gd name="T20" fmla="*/ 2 w 2"/>
                <a:gd name="T21" fmla="*/ 7 h 10"/>
                <a:gd name="T22" fmla="*/ 2 w 2"/>
                <a:gd name="T23" fmla="*/ 8 h 10"/>
                <a:gd name="T24" fmla="*/ 2 w 2"/>
                <a:gd name="T25" fmla="*/ 8 h 10"/>
                <a:gd name="T26" fmla="*/ 2 w 2"/>
                <a:gd name="T27" fmla="*/ 9 h 10"/>
                <a:gd name="T28" fmla="*/ 1 w 2"/>
                <a:gd name="T29" fmla="*/ 9 h 10"/>
                <a:gd name="T30" fmla="*/ 1 w 2"/>
                <a:gd name="T31" fmla="*/ 10 h 10"/>
                <a:gd name="T32" fmla="*/ 0 w 2"/>
                <a:gd name="T33" fmla="*/ 10 h 10"/>
                <a:gd name="T34" fmla="*/ 0 w 2"/>
                <a:gd name="T35" fmla="*/ 10 h 10"/>
                <a:gd name="T36" fmla="*/ 0 w 2"/>
                <a:gd name="T37" fmla="*/ 9 h 10"/>
                <a:gd name="T38" fmla="*/ 0 w 2"/>
                <a:gd name="T39" fmla="*/ 9 h 10"/>
                <a:gd name="T40" fmla="*/ 1 w 2"/>
                <a:gd name="T41" fmla="*/ 9 h 10"/>
                <a:gd name="T42" fmla="*/ 1 w 2"/>
                <a:gd name="T43" fmla="*/ 9 h 10"/>
                <a:gd name="T44" fmla="*/ 1 w 2"/>
                <a:gd name="T45" fmla="*/ 8 h 10"/>
                <a:gd name="T46" fmla="*/ 1 w 2"/>
                <a:gd name="T47" fmla="*/ 8 h 10"/>
                <a:gd name="T48" fmla="*/ 2 w 2"/>
                <a:gd name="T49" fmla="*/ 8 h 10"/>
                <a:gd name="T50" fmla="*/ 2 w 2"/>
                <a:gd name="T51" fmla="*/ 7 h 10"/>
                <a:gd name="T52" fmla="*/ 2 w 2"/>
                <a:gd name="T53" fmla="*/ 7 h 10"/>
                <a:gd name="T54" fmla="*/ 1 w 2"/>
                <a:gd name="T55" fmla="*/ 6 h 10"/>
                <a:gd name="T56" fmla="*/ 1 w 2"/>
                <a:gd name="T57" fmla="*/ 5 h 10"/>
                <a:gd name="T58" fmla="*/ 1 w 2"/>
                <a:gd name="T59" fmla="*/ 4 h 10"/>
                <a:gd name="T60" fmla="*/ 1 w 2"/>
                <a:gd name="T61" fmla="*/ 4 h 10"/>
                <a:gd name="T62" fmla="*/ 1 w 2"/>
                <a:gd name="T63" fmla="*/ 3 h 10"/>
                <a:gd name="T64" fmla="*/ 1 w 2"/>
                <a:gd name="T65" fmla="*/ 2 h 10"/>
                <a:gd name="T66" fmla="*/ 0 w 2"/>
                <a:gd name="T67" fmla="*/ 1 h 10"/>
                <a:gd name="T68" fmla="*/ 0 w 2"/>
                <a:gd name="T69" fmla="*/ 1 h 10"/>
                <a:gd name="T70" fmla="*/ 0 w 2"/>
                <a:gd name="T71" fmla="*/ 1 h 10"/>
                <a:gd name="T72" fmla="*/ 1 w 2"/>
                <a:gd name="T7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4" name="Freeform 308"/>
            <p:cNvSpPr>
              <a:spLocks/>
            </p:cNvSpPr>
            <p:nvPr/>
          </p:nvSpPr>
          <p:spPr bwMode="auto">
            <a:xfrm>
              <a:off x="1728" y="2979"/>
              <a:ext cx="48" cy="42"/>
            </a:xfrm>
            <a:custGeom>
              <a:avLst/>
              <a:gdLst>
                <a:gd name="T0" fmla="*/ 1 w 8"/>
                <a:gd name="T1" fmla="*/ 2 h 7"/>
                <a:gd name="T2" fmla="*/ 0 w 8"/>
                <a:gd name="T3" fmla="*/ 1 h 7"/>
                <a:gd name="T4" fmla="*/ 0 w 8"/>
                <a:gd name="T5" fmla="*/ 1 h 7"/>
                <a:gd name="T6" fmla="*/ 1 w 8"/>
                <a:gd name="T7" fmla="*/ 1 h 7"/>
                <a:gd name="T8" fmla="*/ 1 w 8"/>
                <a:gd name="T9" fmla="*/ 0 h 7"/>
                <a:gd name="T10" fmla="*/ 2 w 8"/>
                <a:gd name="T11" fmla="*/ 0 h 7"/>
                <a:gd name="T12" fmla="*/ 2 w 8"/>
                <a:gd name="T13" fmla="*/ 1 h 7"/>
                <a:gd name="T14" fmla="*/ 3 w 8"/>
                <a:gd name="T15" fmla="*/ 1 h 7"/>
                <a:gd name="T16" fmla="*/ 3 w 8"/>
                <a:gd name="T17" fmla="*/ 1 h 7"/>
                <a:gd name="T18" fmla="*/ 4 w 8"/>
                <a:gd name="T19" fmla="*/ 1 h 7"/>
                <a:gd name="T20" fmla="*/ 5 w 8"/>
                <a:gd name="T21" fmla="*/ 2 h 7"/>
                <a:gd name="T22" fmla="*/ 5 w 8"/>
                <a:gd name="T23" fmla="*/ 2 h 7"/>
                <a:gd name="T24" fmla="*/ 6 w 8"/>
                <a:gd name="T25" fmla="*/ 3 h 7"/>
                <a:gd name="T26" fmla="*/ 6 w 8"/>
                <a:gd name="T27" fmla="*/ 3 h 7"/>
                <a:gd name="T28" fmla="*/ 7 w 8"/>
                <a:gd name="T29" fmla="*/ 4 h 7"/>
                <a:gd name="T30" fmla="*/ 7 w 8"/>
                <a:gd name="T31" fmla="*/ 5 h 7"/>
                <a:gd name="T32" fmla="*/ 7 w 8"/>
                <a:gd name="T33" fmla="*/ 6 h 7"/>
                <a:gd name="T34" fmla="*/ 8 w 8"/>
                <a:gd name="T35" fmla="*/ 6 h 7"/>
                <a:gd name="T36" fmla="*/ 7 w 8"/>
                <a:gd name="T37" fmla="*/ 7 h 7"/>
                <a:gd name="T38" fmla="*/ 7 w 8"/>
                <a:gd name="T39" fmla="*/ 6 h 7"/>
                <a:gd name="T40" fmla="*/ 6 w 8"/>
                <a:gd name="T41" fmla="*/ 5 h 7"/>
                <a:gd name="T42" fmla="*/ 6 w 8"/>
                <a:gd name="T43" fmla="*/ 5 h 7"/>
                <a:gd name="T44" fmla="*/ 5 w 8"/>
                <a:gd name="T45" fmla="*/ 4 h 7"/>
                <a:gd name="T46" fmla="*/ 5 w 8"/>
                <a:gd name="T47" fmla="*/ 3 h 7"/>
                <a:gd name="T48" fmla="*/ 4 w 8"/>
                <a:gd name="T49" fmla="*/ 3 h 7"/>
                <a:gd name="T50" fmla="*/ 4 w 8"/>
                <a:gd name="T51" fmla="*/ 2 h 7"/>
                <a:gd name="T52" fmla="*/ 3 w 8"/>
                <a:gd name="T53" fmla="*/ 2 h 7"/>
                <a:gd name="T54" fmla="*/ 3 w 8"/>
                <a:gd name="T55" fmla="*/ 2 h 7"/>
                <a:gd name="T56" fmla="*/ 3 w 8"/>
                <a:gd name="T57" fmla="*/ 2 h 7"/>
                <a:gd name="T58" fmla="*/ 2 w 8"/>
                <a:gd name="T59" fmla="*/ 1 h 7"/>
                <a:gd name="T60" fmla="*/ 2 w 8"/>
                <a:gd name="T61" fmla="*/ 1 h 7"/>
                <a:gd name="T62" fmla="*/ 1 w 8"/>
                <a:gd name="T63" fmla="*/ 1 h 7"/>
                <a:gd name="T64" fmla="*/ 1 w 8"/>
                <a:gd name="T65" fmla="*/ 1 h 7"/>
                <a:gd name="T66" fmla="*/ 1 w 8"/>
                <a:gd name="T67" fmla="*/ 2 h 7"/>
                <a:gd name="T68" fmla="*/ 1 w 8"/>
                <a:gd name="T69" fmla="*/ 2 h 7"/>
                <a:gd name="T70" fmla="*/ 0 w 8"/>
                <a:gd name="T71" fmla="*/ 1 h 7"/>
                <a:gd name="T72" fmla="*/ 1 w 8"/>
                <a:gd name="T7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7">
                  <a:moveTo>
                    <a:pt x="1" y="2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7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5" name="Freeform 309"/>
            <p:cNvSpPr>
              <a:spLocks/>
            </p:cNvSpPr>
            <p:nvPr/>
          </p:nvSpPr>
          <p:spPr bwMode="auto">
            <a:xfrm>
              <a:off x="1734" y="2991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6" name="Freeform 310"/>
            <p:cNvSpPr>
              <a:spLocks/>
            </p:cNvSpPr>
            <p:nvPr/>
          </p:nvSpPr>
          <p:spPr bwMode="auto">
            <a:xfrm>
              <a:off x="1740" y="2985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1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7" name="Freeform 311"/>
            <p:cNvSpPr>
              <a:spLocks/>
            </p:cNvSpPr>
            <p:nvPr/>
          </p:nvSpPr>
          <p:spPr bwMode="auto">
            <a:xfrm>
              <a:off x="1746" y="298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8" name="Freeform 312"/>
            <p:cNvSpPr>
              <a:spLocks/>
            </p:cNvSpPr>
            <p:nvPr/>
          </p:nvSpPr>
          <p:spPr bwMode="auto">
            <a:xfrm>
              <a:off x="1740" y="29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69" name="Freeform 313"/>
            <p:cNvSpPr>
              <a:spLocks/>
            </p:cNvSpPr>
            <p:nvPr/>
          </p:nvSpPr>
          <p:spPr bwMode="auto">
            <a:xfrm>
              <a:off x="1746" y="2991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0" name="Freeform 314"/>
            <p:cNvSpPr>
              <a:spLocks/>
            </p:cNvSpPr>
            <p:nvPr/>
          </p:nvSpPr>
          <p:spPr bwMode="auto">
            <a:xfrm>
              <a:off x="1746" y="3003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1" name="Freeform 315"/>
            <p:cNvSpPr>
              <a:spLocks/>
            </p:cNvSpPr>
            <p:nvPr/>
          </p:nvSpPr>
          <p:spPr bwMode="auto">
            <a:xfrm>
              <a:off x="1752" y="2997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2" name="Freeform 316"/>
            <p:cNvSpPr>
              <a:spLocks/>
            </p:cNvSpPr>
            <p:nvPr/>
          </p:nvSpPr>
          <p:spPr bwMode="auto">
            <a:xfrm>
              <a:off x="1752" y="301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3" name="Freeform 317"/>
            <p:cNvSpPr>
              <a:spLocks/>
            </p:cNvSpPr>
            <p:nvPr/>
          </p:nvSpPr>
          <p:spPr bwMode="auto">
            <a:xfrm>
              <a:off x="1758" y="3009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4" name="Freeform 318"/>
            <p:cNvSpPr>
              <a:spLocks/>
            </p:cNvSpPr>
            <p:nvPr/>
          </p:nvSpPr>
          <p:spPr bwMode="auto">
            <a:xfrm>
              <a:off x="1758" y="302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5" name="Freeform 319"/>
            <p:cNvSpPr>
              <a:spLocks/>
            </p:cNvSpPr>
            <p:nvPr/>
          </p:nvSpPr>
          <p:spPr bwMode="auto">
            <a:xfrm>
              <a:off x="1758" y="3021"/>
              <a:ext cx="18" cy="6"/>
            </a:xfrm>
            <a:custGeom>
              <a:avLst/>
              <a:gdLst>
                <a:gd name="T0" fmla="*/ 2 w 3"/>
                <a:gd name="T1" fmla="*/ 0 h 1"/>
                <a:gd name="T2" fmla="*/ 3 w 3"/>
                <a:gd name="T3" fmla="*/ 0 h 1"/>
                <a:gd name="T4" fmla="*/ 1 w 3"/>
                <a:gd name="T5" fmla="*/ 1 h 1"/>
                <a:gd name="T6" fmla="*/ 0 w 3"/>
                <a:gd name="T7" fmla="*/ 0 h 1"/>
                <a:gd name="T8" fmla="*/ 2 w 3"/>
                <a:gd name="T9" fmla="*/ 0 h 1"/>
                <a:gd name="T10" fmla="*/ 2 w 3"/>
                <a:gd name="T11" fmla="*/ 0 h 1"/>
                <a:gd name="T12" fmla="*/ 2 w 3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3" y="0"/>
                  </a:lnTo>
                  <a:lnTo>
                    <a:pt x="1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6" name="Freeform 320"/>
            <p:cNvSpPr>
              <a:spLocks/>
            </p:cNvSpPr>
            <p:nvPr/>
          </p:nvSpPr>
          <p:spPr bwMode="auto">
            <a:xfrm>
              <a:off x="1770" y="3015"/>
              <a:ext cx="6" cy="6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7" name="Freeform 321"/>
            <p:cNvSpPr>
              <a:spLocks/>
            </p:cNvSpPr>
            <p:nvPr/>
          </p:nvSpPr>
          <p:spPr bwMode="auto">
            <a:xfrm>
              <a:off x="1764" y="3027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1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8" name="Freeform 322"/>
            <p:cNvSpPr>
              <a:spLocks/>
            </p:cNvSpPr>
            <p:nvPr/>
          </p:nvSpPr>
          <p:spPr bwMode="auto">
            <a:xfrm>
              <a:off x="1764" y="3039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79" name="Freeform 323"/>
            <p:cNvSpPr>
              <a:spLocks/>
            </p:cNvSpPr>
            <p:nvPr/>
          </p:nvSpPr>
          <p:spPr bwMode="auto">
            <a:xfrm>
              <a:off x="1770" y="3039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0" name="Freeform 324"/>
            <p:cNvSpPr>
              <a:spLocks/>
            </p:cNvSpPr>
            <p:nvPr/>
          </p:nvSpPr>
          <p:spPr bwMode="auto">
            <a:xfrm>
              <a:off x="1776" y="303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1" name="Freeform 325"/>
            <p:cNvSpPr>
              <a:spLocks/>
            </p:cNvSpPr>
            <p:nvPr/>
          </p:nvSpPr>
          <p:spPr bwMode="auto">
            <a:xfrm>
              <a:off x="1770" y="3045"/>
              <a:ext cx="12" cy="12"/>
            </a:xfrm>
            <a:custGeom>
              <a:avLst/>
              <a:gdLst>
                <a:gd name="T0" fmla="*/ 2 w 2"/>
                <a:gd name="T1" fmla="*/ 1 h 2"/>
                <a:gd name="T2" fmla="*/ 2 w 2"/>
                <a:gd name="T3" fmla="*/ 1 h 2"/>
                <a:gd name="T4" fmla="*/ 0 w 2"/>
                <a:gd name="T5" fmla="*/ 2 h 2"/>
                <a:gd name="T6" fmla="*/ 0 w 2"/>
                <a:gd name="T7" fmla="*/ 1 h 2"/>
                <a:gd name="T8" fmla="*/ 2 w 2"/>
                <a:gd name="T9" fmla="*/ 0 h 2"/>
                <a:gd name="T10" fmla="*/ 2 w 2"/>
                <a:gd name="T11" fmla="*/ 1 h 2"/>
                <a:gd name="T12" fmla="*/ 2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2" name="Freeform 326"/>
            <p:cNvSpPr>
              <a:spLocks/>
            </p:cNvSpPr>
            <p:nvPr/>
          </p:nvSpPr>
          <p:spPr bwMode="auto">
            <a:xfrm>
              <a:off x="1770" y="3057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3" name="Freeform 327"/>
            <p:cNvSpPr>
              <a:spLocks/>
            </p:cNvSpPr>
            <p:nvPr/>
          </p:nvSpPr>
          <p:spPr bwMode="auto">
            <a:xfrm>
              <a:off x="1734" y="2985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4" name="Freeform 328"/>
            <p:cNvSpPr>
              <a:spLocks/>
            </p:cNvSpPr>
            <p:nvPr/>
          </p:nvSpPr>
          <p:spPr bwMode="auto">
            <a:xfrm>
              <a:off x="1770" y="3063"/>
              <a:ext cx="12" cy="6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5" name="Freeform 329"/>
            <p:cNvSpPr>
              <a:spLocks/>
            </p:cNvSpPr>
            <p:nvPr/>
          </p:nvSpPr>
          <p:spPr bwMode="auto">
            <a:xfrm>
              <a:off x="1698" y="3027"/>
              <a:ext cx="48" cy="24"/>
            </a:xfrm>
            <a:custGeom>
              <a:avLst/>
              <a:gdLst>
                <a:gd name="T0" fmla="*/ 7 w 8"/>
                <a:gd name="T1" fmla="*/ 0 h 4"/>
                <a:gd name="T2" fmla="*/ 7 w 8"/>
                <a:gd name="T3" fmla="*/ 0 h 4"/>
                <a:gd name="T4" fmla="*/ 6 w 8"/>
                <a:gd name="T5" fmla="*/ 0 h 4"/>
                <a:gd name="T6" fmla="*/ 5 w 8"/>
                <a:gd name="T7" fmla="*/ 0 h 4"/>
                <a:gd name="T8" fmla="*/ 5 w 8"/>
                <a:gd name="T9" fmla="*/ 0 h 4"/>
                <a:gd name="T10" fmla="*/ 5 w 8"/>
                <a:gd name="T11" fmla="*/ 1 h 4"/>
                <a:gd name="T12" fmla="*/ 4 w 8"/>
                <a:gd name="T13" fmla="*/ 1 h 4"/>
                <a:gd name="T14" fmla="*/ 4 w 8"/>
                <a:gd name="T15" fmla="*/ 1 h 4"/>
                <a:gd name="T16" fmla="*/ 3 w 8"/>
                <a:gd name="T17" fmla="*/ 1 h 4"/>
                <a:gd name="T18" fmla="*/ 3 w 8"/>
                <a:gd name="T19" fmla="*/ 1 h 4"/>
                <a:gd name="T20" fmla="*/ 2 w 8"/>
                <a:gd name="T21" fmla="*/ 2 h 4"/>
                <a:gd name="T22" fmla="*/ 2 w 8"/>
                <a:gd name="T23" fmla="*/ 2 h 4"/>
                <a:gd name="T24" fmla="*/ 1 w 8"/>
                <a:gd name="T25" fmla="*/ 2 h 4"/>
                <a:gd name="T26" fmla="*/ 1 w 8"/>
                <a:gd name="T27" fmla="*/ 2 h 4"/>
                <a:gd name="T28" fmla="*/ 0 w 8"/>
                <a:gd name="T29" fmla="*/ 2 h 4"/>
                <a:gd name="T30" fmla="*/ 0 w 8"/>
                <a:gd name="T31" fmla="*/ 3 h 4"/>
                <a:gd name="T32" fmla="*/ 0 w 8"/>
                <a:gd name="T33" fmla="*/ 3 h 4"/>
                <a:gd name="T34" fmla="*/ 0 w 8"/>
                <a:gd name="T35" fmla="*/ 3 h 4"/>
                <a:gd name="T36" fmla="*/ 0 w 8"/>
                <a:gd name="T37" fmla="*/ 4 h 4"/>
                <a:gd name="T38" fmla="*/ 0 w 8"/>
                <a:gd name="T39" fmla="*/ 4 h 4"/>
                <a:gd name="T40" fmla="*/ 0 w 8"/>
                <a:gd name="T41" fmla="*/ 4 h 4"/>
                <a:gd name="T42" fmla="*/ 1 w 8"/>
                <a:gd name="T43" fmla="*/ 4 h 4"/>
                <a:gd name="T44" fmla="*/ 1 w 8"/>
                <a:gd name="T45" fmla="*/ 4 h 4"/>
                <a:gd name="T46" fmla="*/ 2 w 8"/>
                <a:gd name="T47" fmla="*/ 4 h 4"/>
                <a:gd name="T48" fmla="*/ 2 w 8"/>
                <a:gd name="T49" fmla="*/ 3 h 4"/>
                <a:gd name="T50" fmla="*/ 2 w 8"/>
                <a:gd name="T51" fmla="*/ 3 h 4"/>
                <a:gd name="T52" fmla="*/ 3 w 8"/>
                <a:gd name="T53" fmla="*/ 3 h 4"/>
                <a:gd name="T54" fmla="*/ 3 w 8"/>
                <a:gd name="T55" fmla="*/ 3 h 4"/>
                <a:gd name="T56" fmla="*/ 4 w 8"/>
                <a:gd name="T57" fmla="*/ 3 h 4"/>
                <a:gd name="T58" fmla="*/ 4 w 8"/>
                <a:gd name="T59" fmla="*/ 3 h 4"/>
                <a:gd name="T60" fmla="*/ 5 w 8"/>
                <a:gd name="T61" fmla="*/ 2 h 4"/>
                <a:gd name="T62" fmla="*/ 5 w 8"/>
                <a:gd name="T63" fmla="*/ 2 h 4"/>
                <a:gd name="T64" fmla="*/ 6 w 8"/>
                <a:gd name="T65" fmla="*/ 2 h 4"/>
                <a:gd name="T66" fmla="*/ 6 w 8"/>
                <a:gd name="T67" fmla="*/ 2 h 4"/>
                <a:gd name="T68" fmla="*/ 7 w 8"/>
                <a:gd name="T69" fmla="*/ 2 h 4"/>
                <a:gd name="T70" fmla="*/ 7 w 8"/>
                <a:gd name="T71" fmla="*/ 2 h 4"/>
                <a:gd name="T72" fmla="*/ 8 w 8"/>
                <a:gd name="T73" fmla="*/ 1 h 4"/>
                <a:gd name="T74" fmla="*/ 8 w 8"/>
                <a:gd name="T75" fmla="*/ 1 h 4"/>
                <a:gd name="T76" fmla="*/ 8 w 8"/>
                <a:gd name="T77" fmla="*/ 1 h 4"/>
                <a:gd name="T78" fmla="*/ 8 w 8"/>
                <a:gd name="T79" fmla="*/ 1 h 4"/>
                <a:gd name="T80" fmla="*/ 8 w 8"/>
                <a:gd name="T81" fmla="*/ 0 h 4"/>
                <a:gd name="T82" fmla="*/ 8 w 8"/>
                <a:gd name="T83" fmla="*/ 0 h 4"/>
                <a:gd name="T84" fmla="*/ 8 w 8"/>
                <a:gd name="T85" fmla="*/ 0 h 4"/>
                <a:gd name="T86" fmla="*/ 7 w 8"/>
                <a:gd name="T87" fmla="*/ 0 h 4"/>
                <a:gd name="T88" fmla="*/ 7 w 8"/>
                <a:gd name="T8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" h="4">
                  <a:moveTo>
                    <a:pt x="7" y="0"/>
                  </a:move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6" name="Freeform 330"/>
            <p:cNvSpPr>
              <a:spLocks/>
            </p:cNvSpPr>
            <p:nvPr/>
          </p:nvSpPr>
          <p:spPr bwMode="auto">
            <a:xfrm>
              <a:off x="1692" y="3021"/>
              <a:ext cx="48" cy="24"/>
            </a:xfrm>
            <a:custGeom>
              <a:avLst/>
              <a:gdLst>
                <a:gd name="T0" fmla="*/ 0 w 8"/>
                <a:gd name="T1" fmla="*/ 4 h 4"/>
                <a:gd name="T2" fmla="*/ 0 w 8"/>
                <a:gd name="T3" fmla="*/ 3 h 4"/>
                <a:gd name="T4" fmla="*/ 1 w 8"/>
                <a:gd name="T5" fmla="*/ 3 h 4"/>
                <a:gd name="T6" fmla="*/ 1 w 8"/>
                <a:gd name="T7" fmla="*/ 3 h 4"/>
                <a:gd name="T8" fmla="*/ 2 w 8"/>
                <a:gd name="T9" fmla="*/ 3 h 4"/>
                <a:gd name="T10" fmla="*/ 2 w 8"/>
                <a:gd name="T11" fmla="*/ 2 h 4"/>
                <a:gd name="T12" fmla="*/ 3 w 8"/>
                <a:gd name="T13" fmla="*/ 2 h 4"/>
                <a:gd name="T14" fmla="*/ 3 w 8"/>
                <a:gd name="T15" fmla="*/ 2 h 4"/>
                <a:gd name="T16" fmla="*/ 4 w 8"/>
                <a:gd name="T17" fmla="*/ 2 h 4"/>
                <a:gd name="T18" fmla="*/ 4 w 8"/>
                <a:gd name="T19" fmla="*/ 2 h 4"/>
                <a:gd name="T20" fmla="*/ 4 w 8"/>
                <a:gd name="T21" fmla="*/ 2 h 4"/>
                <a:gd name="T22" fmla="*/ 5 w 8"/>
                <a:gd name="T23" fmla="*/ 1 h 4"/>
                <a:gd name="T24" fmla="*/ 5 w 8"/>
                <a:gd name="T25" fmla="*/ 1 h 4"/>
                <a:gd name="T26" fmla="*/ 6 w 8"/>
                <a:gd name="T27" fmla="*/ 1 h 4"/>
                <a:gd name="T28" fmla="*/ 6 w 8"/>
                <a:gd name="T29" fmla="*/ 1 h 4"/>
                <a:gd name="T30" fmla="*/ 7 w 8"/>
                <a:gd name="T31" fmla="*/ 1 h 4"/>
                <a:gd name="T32" fmla="*/ 7 w 8"/>
                <a:gd name="T33" fmla="*/ 0 h 4"/>
                <a:gd name="T34" fmla="*/ 8 w 8"/>
                <a:gd name="T35" fmla="*/ 0 h 4"/>
                <a:gd name="T36" fmla="*/ 8 w 8"/>
                <a:gd name="T37" fmla="*/ 1 h 4"/>
                <a:gd name="T38" fmla="*/ 8 w 8"/>
                <a:gd name="T39" fmla="*/ 1 h 4"/>
                <a:gd name="T40" fmla="*/ 7 w 8"/>
                <a:gd name="T41" fmla="*/ 1 h 4"/>
                <a:gd name="T42" fmla="*/ 7 w 8"/>
                <a:gd name="T43" fmla="*/ 2 h 4"/>
                <a:gd name="T44" fmla="*/ 6 w 8"/>
                <a:gd name="T45" fmla="*/ 2 h 4"/>
                <a:gd name="T46" fmla="*/ 6 w 8"/>
                <a:gd name="T47" fmla="*/ 2 h 4"/>
                <a:gd name="T48" fmla="*/ 5 w 8"/>
                <a:gd name="T49" fmla="*/ 2 h 4"/>
                <a:gd name="T50" fmla="*/ 5 w 8"/>
                <a:gd name="T51" fmla="*/ 2 h 4"/>
                <a:gd name="T52" fmla="*/ 4 w 8"/>
                <a:gd name="T53" fmla="*/ 3 h 4"/>
                <a:gd name="T54" fmla="*/ 4 w 8"/>
                <a:gd name="T55" fmla="*/ 3 h 4"/>
                <a:gd name="T56" fmla="*/ 3 w 8"/>
                <a:gd name="T57" fmla="*/ 3 h 4"/>
                <a:gd name="T58" fmla="*/ 3 w 8"/>
                <a:gd name="T59" fmla="*/ 3 h 4"/>
                <a:gd name="T60" fmla="*/ 3 w 8"/>
                <a:gd name="T61" fmla="*/ 3 h 4"/>
                <a:gd name="T62" fmla="*/ 2 w 8"/>
                <a:gd name="T63" fmla="*/ 3 h 4"/>
                <a:gd name="T64" fmla="*/ 2 w 8"/>
                <a:gd name="T65" fmla="*/ 4 h 4"/>
                <a:gd name="T66" fmla="*/ 1 w 8"/>
                <a:gd name="T67" fmla="*/ 4 h 4"/>
                <a:gd name="T68" fmla="*/ 1 w 8"/>
                <a:gd name="T69" fmla="*/ 4 h 4"/>
                <a:gd name="T70" fmla="*/ 1 w 8"/>
                <a:gd name="T71" fmla="*/ 4 h 4"/>
                <a:gd name="T72" fmla="*/ 0 w 8"/>
                <a:gd name="T7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0" y="4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7" name="Freeform 331"/>
            <p:cNvSpPr>
              <a:spLocks/>
            </p:cNvSpPr>
            <p:nvPr/>
          </p:nvSpPr>
          <p:spPr bwMode="auto">
            <a:xfrm>
              <a:off x="1692" y="3045"/>
              <a:ext cx="12" cy="12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2 h 2"/>
                <a:gd name="T4" fmla="*/ 0 w 2"/>
                <a:gd name="T5" fmla="*/ 1 h 2"/>
                <a:gd name="T6" fmla="*/ 0 w 2"/>
                <a:gd name="T7" fmla="*/ 1 h 2"/>
                <a:gd name="T8" fmla="*/ 0 w 2"/>
                <a:gd name="T9" fmla="*/ 0 h 2"/>
                <a:gd name="T10" fmla="*/ 0 w 2"/>
                <a:gd name="T11" fmla="*/ 0 h 2"/>
                <a:gd name="T12" fmla="*/ 1 w 2"/>
                <a:gd name="T13" fmla="*/ 0 h 2"/>
                <a:gd name="T14" fmla="*/ 1 w 2"/>
                <a:gd name="T15" fmla="*/ 0 h 2"/>
                <a:gd name="T16" fmla="*/ 1 w 2"/>
                <a:gd name="T17" fmla="*/ 0 h 2"/>
                <a:gd name="T18" fmla="*/ 1 w 2"/>
                <a:gd name="T19" fmla="*/ 1 h 2"/>
                <a:gd name="T20" fmla="*/ 2 w 2"/>
                <a:gd name="T21" fmla="*/ 1 h 2"/>
                <a:gd name="T22" fmla="*/ 1 w 2"/>
                <a:gd name="T23" fmla="*/ 1 h 2"/>
                <a:gd name="T24" fmla="*/ 1 w 2"/>
                <a:gd name="T2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8" name="Freeform 332"/>
            <p:cNvSpPr>
              <a:spLocks/>
            </p:cNvSpPr>
            <p:nvPr/>
          </p:nvSpPr>
          <p:spPr bwMode="auto">
            <a:xfrm>
              <a:off x="1698" y="3033"/>
              <a:ext cx="48" cy="24"/>
            </a:xfrm>
            <a:custGeom>
              <a:avLst/>
              <a:gdLst>
                <a:gd name="T0" fmla="*/ 8 w 8"/>
                <a:gd name="T1" fmla="*/ 0 h 4"/>
                <a:gd name="T2" fmla="*/ 8 w 8"/>
                <a:gd name="T3" fmla="*/ 1 h 4"/>
                <a:gd name="T4" fmla="*/ 7 w 8"/>
                <a:gd name="T5" fmla="*/ 1 h 4"/>
                <a:gd name="T6" fmla="*/ 7 w 8"/>
                <a:gd name="T7" fmla="*/ 1 h 4"/>
                <a:gd name="T8" fmla="*/ 6 w 8"/>
                <a:gd name="T9" fmla="*/ 1 h 4"/>
                <a:gd name="T10" fmla="*/ 6 w 8"/>
                <a:gd name="T11" fmla="*/ 2 h 4"/>
                <a:gd name="T12" fmla="*/ 5 w 8"/>
                <a:gd name="T13" fmla="*/ 2 h 4"/>
                <a:gd name="T14" fmla="*/ 5 w 8"/>
                <a:gd name="T15" fmla="*/ 2 h 4"/>
                <a:gd name="T16" fmla="*/ 4 w 8"/>
                <a:gd name="T17" fmla="*/ 2 h 4"/>
                <a:gd name="T18" fmla="*/ 4 w 8"/>
                <a:gd name="T19" fmla="*/ 2 h 4"/>
                <a:gd name="T20" fmla="*/ 4 w 8"/>
                <a:gd name="T21" fmla="*/ 2 h 4"/>
                <a:gd name="T22" fmla="*/ 3 w 8"/>
                <a:gd name="T23" fmla="*/ 3 h 4"/>
                <a:gd name="T24" fmla="*/ 3 w 8"/>
                <a:gd name="T25" fmla="*/ 3 h 4"/>
                <a:gd name="T26" fmla="*/ 2 w 8"/>
                <a:gd name="T27" fmla="*/ 3 h 4"/>
                <a:gd name="T28" fmla="*/ 2 w 8"/>
                <a:gd name="T29" fmla="*/ 3 h 4"/>
                <a:gd name="T30" fmla="*/ 1 w 8"/>
                <a:gd name="T31" fmla="*/ 3 h 4"/>
                <a:gd name="T32" fmla="*/ 1 w 8"/>
                <a:gd name="T33" fmla="*/ 4 h 4"/>
                <a:gd name="T34" fmla="*/ 0 w 8"/>
                <a:gd name="T35" fmla="*/ 4 h 4"/>
                <a:gd name="T36" fmla="*/ 0 w 8"/>
                <a:gd name="T37" fmla="*/ 3 h 4"/>
                <a:gd name="T38" fmla="*/ 0 w 8"/>
                <a:gd name="T39" fmla="*/ 3 h 4"/>
                <a:gd name="T40" fmla="*/ 1 w 8"/>
                <a:gd name="T41" fmla="*/ 3 h 4"/>
                <a:gd name="T42" fmla="*/ 1 w 8"/>
                <a:gd name="T43" fmla="*/ 2 h 4"/>
                <a:gd name="T44" fmla="*/ 2 w 8"/>
                <a:gd name="T45" fmla="*/ 2 h 4"/>
                <a:gd name="T46" fmla="*/ 2 w 8"/>
                <a:gd name="T47" fmla="*/ 2 h 4"/>
                <a:gd name="T48" fmla="*/ 3 w 8"/>
                <a:gd name="T49" fmla="*/ 2 h 4"/>
                <a:gd name="T50" fmla="*/ 3 w 8"/>
                <a:gd name="T51" fmla="*/ 2 h 4"/>
                <a:gd name="T52" fmla="*/ 4 w 8"/>
                <a:gd name="T53" fmla="*/ 1 h 4"/>
                <a:gd name="T54" fmla="*/ 4 w 8"/>
                <a:gd name="T55" fmla="*/ 1 h 4"/>
                <a:gd name="T56" fmla="*/ 5 w 8"/>
                <a:gd name="T57" fmla="*/ 1 h 4"/>
                <a:gd name="T58" fmla="*/ 5 w 8"/>
                <a:gd name="T59" fmla="*/ 1 h 4"/>
                <a:gd name="T60" fmla="*/ 6 w 8"/>
                <a:gd name="T61" fmla="*/ 1 h 4"/>
                <a:gd name="T62" fmla="*/ 6 w 8"/>
                <a:gd name="T63" fmla="*/ 1 h 4"/>
                <a:gd name="T64" fmla="*/ 7 w 8"/>
                <a:gd name="T65" fmla="*/ 0 h 4"/>
                <a:gd name="T66" fmla="*/ 7 w 8"/>
                <a:gd name="T67" fmla="*/ 0 h 4"/>
                <a:gd name="T68" fmla="*/ 8 w 8"/>
                <a:gd name="T69" fmla="*/ 0 h 4"/>
                <a:gd name="T70" fmla="*/ 7 w 8"/>
                <a:gd name="T71" fmla="*/ 0 h 4"/>
                <a:gd name="T72" fmla="*/ 8 w 8"/>
                <a:gd name="T7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89" name="Freeform 333"/>
            <p:cNvSpPr>
              <a:spLocks/>
            </p:cNvSpPr>
            <p:nvPr/>
          </p:nvSpPr>
          <p:spPr bwMode="auto">
            <a:xfrm>
              <a:off x="1740" y="3021"/>
              <a:ext cx="6" cy="12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0 w 1"/>
                <a:gd name="T5" fmla="*/ 0 h 2"/>
                <a:gd name="T6" fmla="*/ 1 w 1"/>
                <a:gd name="T7" fmla="*/ 1 h 2"/>
                <a:gd name="T8" fmla="*/ 1 w 1"/>
                <a:gd name="T9" fmla="*/ 1 h 2"/>
                <a:gd name="T10" fmla="*/ 1 w 1"/>
                <a:gd name="T11" fmla="*/ 1 h 2"/>
                <a:gd name="T12" fmla="*/ 1 w 1"/>
                <a:gd name="T13" fmla="*/ 1 h 2"/>
                <a:gd name="T14" fmla="*/ 1 w 1"/>
                <a:gd name="T15" fmla="*/ 2 h 2"/>
                <a:gd name="T16" fmla="*/ 1 w 1"/>
                <a:gd name="T17" fmla="*/ 2 h 2"/>
                <a:gd name="T18" fmla="*/ 1 w 1"/>
                <a:gd name="T19" fmla="*/ 2 h 2"/>
                <a:gd name="T20" fmla="*/ 0 w 1"/>
                <a:gd name="T21" fmla="*/ 2 h 2"/>
                <a:gd name="T22" fmla="*/ 0 w 1"/>
                <a:gd name="T23" fmla="*/ 2 h 2"/>
                <a:gd name="T24" fmla="*/ 0 w 1"/>
                <a:gd name="T25" fmla="*/ 2 h 2"/>
                <a:gd name="T26" fmla="*/ 0 w 1"/>
                <a:gd name="T27" fmla="*/ 2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0 w 1"/>
                <a:gd name="T35" fmla="*/ 1 h 2"/>
                <a:gd name="T36" fmla="*/ 0 w 1"/>
                <a:gd name="T37" fmla="*/ 1 h 2"/>
                <a:gd name="T38" fmla="*/ 0 w 1"/>
                <a:gd name="T39" fmla="*/ 1 h 2"/>
                <a:gd name="T40" fmla="*/ 0 w 1"/>
                <a:gd name="T4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0" name="Freeform 334"/>
            <p:cNvSpPr>
              <a:spLocks/>
            </p:cNvSpPr>
            <p:nvPr/>
          </p:nvSpPr>
          <p:spPr bwMode="auto">
            <a:xfrm>
              <a:off x="1698" y="3315"/>
              <a:ext cx="30" cy="78"/>
            </a:xfrm>
            <a:custGeom>
              <a:avLst/>
              <a:gdLst>
                <a:gd name="T0" fmla="*/ 5 w 5"/>
                <a:gd name="T1" fmla="*/ 0 h 13"/>
                <a:gd name="T2" fmla="*/ 3 w 5"/>
                <a:gd name="T3" fmla="*/ 13 h 13"/>
                <a:gd name="T4" fmla="*/ 0 w 5"/>
                <a:gd name="T5" fmla="*/ 1 h 13"/>
                <a:gd name="T6" fmla="*/ 5 w 5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3">
                  <a:moveTo>
                    <a:pt x="5" y="0"/>
                  </a:moveTo>
                  <a:lnTo>
                    <a:pt x="3" y="13"/>
                  </a:lnTo>
                  <a:lnTo>
                    <a:pt x="0" y="1"/>
                  </a:lnTo>
                  <a:lnTo>
                    <a:pt x="5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1" name="Freeform 335"/>
            <p:cNvSpPr>
              <a:spLocks/>
            </p:cNvSpPr>
            <p:nvPr/>
          </p:nvSpPr>
          <p:spPr bwMode="auto">
            <a:xfrm>
              <a:off x="1716" y="3315"/>
              <a:ext cx="18" cy="84"/>
            </a:xfrm>
            <a:custGeom>
              <a:avLst/>
              <a:gdLst>
                <a:gd name="T0" fmla="*/ 0 w 3"/>
                <a:gd name="T1" fmla="*/ 13 h 14"/>
                <a:gd name="T2" fmla="*/ 0 w 3"/>
                <a:gd name="T3" fmla="*/ 13 h 14"/>
                <a:gd name="T4" fmla="*/ 2 w 3"/>
                <a:gd name="T5" fmla="*/ 0 h 14"/>
                <a:gd name="T6" fmla="*/ 3 w 3"/>
                <a:gd name="T7" fmla="*/ 0 h 14"/>
                <a:gd name="T8" fmla="*/ 0 w 3"/>
                <a:gd name="T9" fmla="*/ 13 h 14"/>
                <a:gd name="T10" fmla="*/ 0 w 3"/>
                <a:gd name="T11" fmla="*/ 14 h 14"/>
                <a:gd name="T12" fmla="*/ 0 w 3"/>
                <a:gd name="T1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4">
                  <a:moveTo>
                    <a:pt x="0" y="13"/>
                  </a:moveTo>
                  <a:lnTo>
                    <a:pt x="0" y="13"/>
                  </a:lnTo>
                  <a:lnTo>
                    <a:pt x="2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2" name="Freeform 336"/>
            <p:cNvSpPr>
              <a:spLocks/>
            </p:cNvSpPr>
            <p:nvPr/>
          </p:nvSpPr>
          <p:spPr bwMode="auto">
            <a:xfrm>
              <a:off x="1692" y="3315"/>
              <a:ext cx="24" cy="84"/>
            </a:xfrm>
            <a:custGeom>
              <a:avLst/>
              <a:gdLst>
                <a:gd name="T0" fmla="*/ 1 w 4"/>
                <a:gd name="T1" fmla="*/ 1 h 14"/>
                <a:gd name="T2" fmla="*/ 1 w 4"/>
                <a:gd name="T3" fmla="*/ 0 h 14"/>
                <a:gd name="T4" fmla="*/ 4 w 4"/>
                <a:gd name="T5" fmla="*/ 13 h 14"/>
                <a:gd name="T6" fmla="*/ 4 w 4"/>
                <a:gd name="T7" fmla="*/ 14 h 14"/>
                <a:gd name="T8" fmla="*/ 0 w 4"/>
                <a:gd name="T9" fmla="*/ 1 h 14"/>
                <a:gd name="T10" fmla="*/ 1 w 4"/>
                <a:gd name="T11" fmla="*/ 0 h 14"/>
                <a:gd name="T12" fmla="*/ 1 w 4"/>
                <a:gd name="T13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4">
                  <a:moveTo>
                    <a:pt x="1" y="1"/>
                  </a:moveTo>
                  <a:lnTo>
                    <a:pt x="1" y="0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3" name="Freeform 337"/>
            <p:cNvSpPr>
              <a:spLocks/>
            </p:cNvSpPr>
            <p:nvPr/>
          </p:nvSpPr>
          <p:spPr bwMode="auto">
            <a:xfrm>
              <a:off x="1698" y="3315"/>
              <a:ext cx="36" cy="6"/>
            </a:xfrm>
            <a:custGeom>
              <a:avLst/>
              <a:gdLst>
                <a:gd name="T0" fmla="*/ 5 w 6"/>
                <a:gd name="T1" fmla="*/ 0 h 1"/>
                <a:gd name="T2" fmla="*/ 5 w 6"/>
                <a:gd name="T3" fmla="*/ 1 h 1"/>
                <a:gd name="T4" fmla="*/ 0 w 6"/>
                <a:gd name="T5" fmla="*/ 1 h 1"/>
                <a:gd name="T6" fmla="*/ 0 w 6"/>
                <a:gd name="T7" fmla="*/ 0 h 1"/>
                <a:gd name="T8" fmla="*/ 5 w 6"/>
                <a:gd name="T9" fmla="*/ 0 h 1"/>
                <a:gd name="T10" fmla="*/ 6 w 6"/>
                <a:gd name="T11" fmla="*/ 0 h 1"/>
                <a:gd name="T12" fmla="*/ 5 w 6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">
                  <a:moveTo>
                    <a:pt x="5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5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4" name="Freeform 338"/>
            <p:cNvSpPr>
              <a:spLocks/>
            </p:cNvSpPr>
            <p:nvPr/>
          </p:nvSpPr>
          <p:spPr bwMode="auto">
            <a:xfrm>
              <a:off x="1668" y="2925"/>
              <a:ext cx="72" cy="402"/>
            </a:xfrm>
            <a:custGeom>
              <a:avLst/>
              <a:gdLst>
                <a:gd name="T0" fmla="*/ 3 w 12"/>
                <a:gd name="T1" fmla="*/ 0 h 67"/>
                <a:gd name="T2" fmla="*/ 0 w 12"/>
                <a:gd name="T3" fmla="*/ 2 h 67"/>
                <a:gd name="T4" fmla="*/ 9 w 12"/>
                <a:gd name="T5" fmla="*/ 67 h 67"/>
                <a:gd name="T6" fmla="*/ 12 w 12"/>
                <a:gd name="T7" fmla="*/ 66 h 67"/>
                <a:gd name="T8" fmla="*/ 3 w 1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67">
                  <a:moveTo>
                    <a:pt x="3" y="0"/>
                  </a:moveTo>
                  <a:lnTo>
                    <a:pt x="0" y="2"/>
                  </a:lnTo>
                  <a:lnTo>
                    <a:pt x="9" y="67"/>
                  </a:lnTo>
                  <a:lnTo>
                    <a:pt x="12" y="66"/>
                  </a:lnTo>
                  <a:lnTo>
                    <a:pt x="3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5" name="Freeform 339"/>
            <p:cNvSpPr>
              <a:spLocks/>
            </p:cNvSpPr>
            <p:nvPr/>
          </p:nvSpPr>
          <p:spPr bwMode="auto">
            <a:xfrm>
              <a:off x="1668" y="2925"/>
              <a:ext cx="18" cy="12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0 h 2"/>
                <a:gd name="T8" fmla="*/ 0 w 3"/>
                <a:gd name="T9" fmla="*/ 2 h 2"/>
                <a:gd name="T10" fmla="*/ 0 w 3"/>
                <a:gd name="T11" fmla="*/ 1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6" name="Freeform 340"/>
            <p:cNvSpPr>
              <a:spLocks/>
            </p:cNvSpPr>
            <p:nvPr/>
          </p:nvSpPr>
          <p:spPr bwMode="auto">
            <a:xfrm>
              <a:off x="1668" y="2931"/>
              <a:ext cx="54" cy="396"/>
            </a:xfrm>
            <a:custGeom>
              <a:avLst/>
              <a:gdLst>
                <a:gd name="T0" fmla="*/ 9 w 9"/>
                <a:gd name="T1" fmla="*/ 66 h 66"/>
                <a:gd name="T2" fmla="*/ 8 w 9"/>
                <a:gd name="T3" fmla="*/ 66 h 66"/>
                <a:gd name="T4" fmla="*/ 0 w 9"/>
                <a:gd name="T5" fmla="*/ 1 h 66"/>
                <a:gd name="T6" fmla="*/ 0 w 9"/>
                <a:gd name="T7" fmla="*/ 0 h 66"/>
                <a:gd name="T8" fmla="*/ 9 w 9"/>
                <a:gd name="T9" fmla="*/ 66 h 66"/>
                <a:gd name="T10" fmla="*/ 9 w 9"/>
                <a:gd name="T11" fmla="*/ 66 h 66"/>
                <a:gd name="T12" fmla="*/ 9 w 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6">
                  <a:moveTo>
                    <a:pt x="9" y="66"/>
                  </a:moveTo>
                  <a:lnTo>
                    <a:pt x="8" y="66"/>
                  </a:lnTo>
                  <a:lnTo>
                    <a:pt x="0" y="1"/>
                  </a:lnTo>
                  <a:lnTo>
                    <a:pt x="0" y="0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9" y="6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7" name="Freeform 341"/>
            <p:cNvSpPr>
              <a:spLocks/>
            </p:cNvSpPr>
            <p:nvPr/>
          </p:nvSpPr>
          <p:spPr bwMode="auto">
            <a:xfrm>
              <a:off x="1722" y="3315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1 h 2"/>
                <a:gd name="T4" fmla="*/ 0 w 4"/>
                <a:gd name="T5" fmla="*/ 2 h 2"/>
                <a:gd name="T6" fmla="*/ 0 w 4"/>
                <a:gd name="T7" fmla="*/ 2 h 2"/>
                <a:gd name="T8" fmla="*/ 3 w 4"/>
                <a:gd name="T9" fmla="*/ 0 h 2"/>
                <a:gd name="T10" fmla="*/ 3 w 4"/>
                <a:gd name="T11" fmla="*/ 1 h 2"/>
                <a:gd name="T12" fmla="*/ 4 w 4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1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8" name="Freeform 342"/>
            <p:cNvSpPr>
              <a:spLocks/>
            </p:cNvSpPr>
            <p:nvPr/>
          </p:nvSpPr>
          <p:spPr bwMode="auto">
            <a:xfrm>
              <a:off x="1686" y="2925"/>
              <a:ext cx="60" cy="396"/>
            </a:xfrm>
            <a:custGeom>
              <a:avLst/>
              <a:gdLst>
                <a:gd name="T0" fmla="*/ 0 w 10"/>
                <a:gd name="T1" fmla="*/ 0 h 66"/>
                <a:gd name="T2" fmla="*/ 1 w 10"/>
                <a:gd name="T3" fmla="*/ 0 h 66"/>
                <a:gd name="T4" fmla="*/ 10 w 10"/>
                <a:gd name="T5" fmla="*/ 66 h 66"/>
                <a:gd name="T6" fmla="*/ 9 w 10"/>
                <a:gd name="T7" fmla="*/ 66 h 66"/>
                <a:gd name="T8" fmla="*/ 0 w 10"/>
                <a:gd name="T9" fmla="*/ 0 h 66"/>
                <a:gd name="T10" fmla="*/ 0 w 10"/>
                <a:gd name="T11" fmla="*/ 0 h 66"/>
                <a:gd name="T12" fmla="*/ 0 w 10"/>
                <a:gd name="T13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66">
                  <a:moveTo>
                    <a:pt x="0" y="0"/>
                  </a:moveTo>
                  <a:lnTo>
                    <a:pt x="1" y="0"/>
                  </a:lnTo>
                  <a:lnTo>
                    <a:pt x="10" y="66"/>
                  </a:lnTo>
                  <a:lnTo>
                    <a:pt x="9" y="6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399" name="Freeform 343"/>
            <p:cNvSpPr>
              <a:spLocks/>
            </p:cNvSpPr>
            <p:nvPr/>
          </p:nvSpPr>
          <p:spPr bwMode="auto">
            <a:xfrm>
              <a:off x="1644" y="2937"/>
              <a:ext cx="78" cy="390"/>
            </a:xfrm>
            <a:custGeom>
              <a:avLst/>
              <a:gdLst>
                <a:gd name="T0" fmla="*/ 0 w 13"/>
                <a:gd name="T1" fmla="*/ 1 h 65"/>
                <a:gd name="T2" fmla="*/ 4 w 13"/>
                <a:gd name="T3" fmla="*/ 0 h 65"/>
                <a:gd name="T4" fmla="*/ 13 w 13"/>
                <a:gd name="T5" fmla="*/ 65 h 65"/>
                <a:gd name="T6" fmla="*/ 7 w 13"/>
                <a:gd name="T7" fmla="*/ 65 h 65"/>
                <a:gd name="T8" fmla="*/ 0 w 13"/>
                <a:gd name="T9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65">
                  <a:moveTo>
                    <a:pt x="0" y="1"/>
                  </a:moveTo>
                  <a:lnTo>
                    <a:pt x="4" y="0"/>
                  </a:lnTo>
                  <a:lnTo>
                    <a:pt x="13" y="65"/>
                  </a:lnTo>
                  <a:lnTo>
                    <a:pt x="7" y="65"/>
                  </a:lnTo>
                  <a:lnTo>
                    <a:pt x="0" y="1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0" name="Freeform 344"/>
            <p:cNvSpPr>
              <a:spLocks/>
            </p:cNvSpPr>
            <p:nvPr/>
          </p:nvSpPr>
          <p:spPr bwMode="auto">
            <a:xfrm>
              <a:off x="1644" y="2931"/>
              <a:ext cx="24" cy="18"/>
            </a:xfrm>
            <a:custGeom>
              <a:avLst/>
              <a:gdLst>
                <a:gd name="T0" fmla="*/ 4 w 4"/>
                <a:gd name="T1" fmla="*/ 1 h 3"/>
                <a:gd name="T2" fmla="*/ 4 w 4"/>
                <a:gd name="T3" fmla="*/ 1 h 3"/>
                <a:gd name="T4" fmla="*/ 0 w 4"/>
                <a:gd name="T5" fmla="*/ 3 h 3"/>
                <a:gd name="T6" fmla="*/ 0 w 4"/>
                <a:gd name="T7" fmla="*/ 2 h 3"/>
                <a:gd name="T8" fmla="*/ 4 w 4"/>
                <a:gd name="T9" fmla="*/ 0 h 3"/>
                <a:gd name="T10" fmla="*/ 4 w 4"/>
                <a:gd name="T11" fmla="*/ 0 h 3"/>
                <a:gd name="T12" fmla="*/ 4 w 4"/>
                <a:gd name="T1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lnTo>
                    <a:pt x="4" y="1"/>
                  </a:lnTo>
                  <a:lnTo>
                    <a:pt x="0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1" name="Freeform 345"/>
            <p:cNvSpPr>
              <a:spLocks/>
            </p:cNvSpPr>
            <p:nvPr/>
          </p:nvSpPr>
          <p:spPr bwMode="auto">
            <a:xfrm>
              <a:off x="1668" y="2931"/>
              <a:ext cx="54" cy="396"/>
            </a:xfrm>
            <a:custGeom>
              <a:avLst/>
              <a:gdLst>
                <a:gd name="T0" fmla="*/ 9 w 9"/>
                <a:gd name="T1" fmla="*/ 66 h 66"/>
                <a:gd name="T2" fmla="*/ 8 w 9"/>
                <a:gd name="T3" fmla="*/ 66 h 66"/>
                <a:gd name="T4" fmla="*/ 0 w 9"/>
                <a:gd name="T5" fmla="*/ 1 h 66"/>
                <a:gd name="T6" fmla="*/ 0 w 9"/>
                <a:gd name="T7" fmla="*/ 0 h 66"/>
                <a:gd name="T8" fmla="*/ 9 w 9"/>
                <a:gd name="T9" fmla="*/ 66 h 66"/>
                <a:gd name="T10" fmla="*/ 9 w 9"/>
                <a:gd name="T11" fmla="*/ 66 h 66"/>
                <a:gd name="T12" fmla="*/ 9 w 9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6">
                  <a:moveTo>
                    <a:pt x="9" y="66"/>
                  </a:moveTo>
                  <a:lnTo>
                    <a:pt x="8" y="66"/>
                  </a:lnTo>
                  <a:lnTo>
                    <a:pt x="0" y="1"/>
                  </a:lnTo>
                  <a:lnTo>
                    <a:pt x="0" y="0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9" y="6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2" name="Freeform 346"/>
            <p:cNvSpPr>
              <a:spLocks/>
            </p:cNvSpPr>
            <p:nvPr/>
          </p:nvSpPr>
          <p:spPr bwMode="auto">
            <a:xfrm>
              <a:off x="1680" y="3321"/>
              <a:ext cx="42" cy="6"/>
            </a:xfrm>
            <a:custGeom>
              <a:avLst/>
              <a:gdLst>
                <a:gd name="T0" fmla="*/ 1 w 7"/>
                <a:gd name="T1" fmla="*/ 1 h 1"/>
                <a:gd name="T2" fmla="*/ 1 w 7"/>
                <a:gd name="T3" fmla="*/ 0 h 1"/>
                <a:gd name="T4" fmla="*/ 7 w 7"/>
                <a:gd name="T5" fmla="*/ 1 h 1"/>
                <a:gd name="T6" fmla="*/ 7 w 7"/>
                <a:gd name="T7" fmla="*/ 1 h 1"/>
                <a:gd name="T8" fmla="*/ 1 w 7"/>
                <a:gd name="T9" fmla="*/ 1 h 1"/>
                <a:gd name="T10" fmla="*/ 0 w 7"/>
                <a:gd name="T11" fmla="*/ 1 h 1"/>
                <a:gd name="T12" fmla="*/ 1 w 7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1" y="1"/>
                  </a:moveTo>
                  <a:lnTo>
                    <a:pt x="1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3" name="Freeform 347"/>
            <p:cNvSpPr>
              <a:spLocks/>
            </p:cNvSpPr>
            <p:nvPr/>
          </p:nvSpPr>
          <p:spPr bwMode="auto">
            <a:xfrm>
              <a:off x="1638" y="2943"/>
              <a:ext cx="48" cy="384"/>
            </a:xfrm>
            <a:custGeom>
              <a:avLst/>
              <a:gdLst>
                <a:gd name="T0" fmla="*/ 1 w 8"/>
                <a:gd name="T1" fmla="*/ 1 h 64"/>
                <a:gd name="T2" fmla="*/ 1 w 8"/>
                <a:gd name="T3" fmla="*/ 0 h 64"/>
                <a:gd name="T4" fmla="*/ 8 w 8"/>
                <a:gd name="T5" fmla="*/ 64 h 64"/>
                <a:gd name="T6" fmla="*/ 7 w 8"/>
                <a:gd name="T7" fmla="*/ 64 h 64"/>
                <a:gd name="T8" fmla="*/ 0 w 8"/>
                <a:gd name="T9" fmla="*/ 0 h 64"/>
                <a:gd name="T10" fmla="*/ 1 w 8"/>
                <a:gd name="T11" fmla="*/ 0 h 64"/>
                <a:gd name="T12" fmla="*/ 1 w 8"/>
                <a:gd name="T13" fmla="*/ 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4">
                  <a:moveTo>
                    <a:pt x="1" y="1"/>
                  </a:moveTo>
                  <a:lnTo>
                    <a:pt x="1" y="0"/>
                  </a:lnTo>
                  <a:lnTo>
                    <a:pt x="8" y="64"/>
                  </a:lnTo>
                  <a:lnTo>
                    <a:pt x="7" y="6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4" name="Freeform 348"/>
            <p:cNvSpPr>
              <a:spLocks/>
            </p:cNvSpPr>
            <p:nvPr/>
          </p:nvSpPr>
          <p:spPr bwMode="auto">
            <a:xfrm>
              <a:off x="1584" y="2817"/>
              <a:ext cx="186" cy="126"/>
            </a:xfrm>
            <a:custGeom>
              <a:avLst/>
              <a:gdLst>
                <a:gd name="T0" fmla="*/ 24 w 31"/>
                <a:gd name="T1" fmla="*/ 15 h 21"/>
                <a:gd name="T2" fmla="*/ 25 w 31"/>
                <a:gd name="T3" fmla="*/ 15 h 21"/>
                <a:gd name="T4" fmla="*/ 26 w 31"/>
                <a:gd name="T5" fmla="*/ 15 h 21"/>
                <a:gd name="T6" fmla="*/ 28 w 31"/>
                <a:gd name="T7" fmla="*/ 14 h 21"/>
                <a:gd name="T8" fmla="*/ 29 w 31"/>
                <a:gd name="T9" fmla="*/ 13 h 21"/>
                <a:gd name="T10" fmla="*/ 30 w 31"/>
                <a:gd name="T11" fmla="*/ 12 h 21"/>
                <a:gd name="T12" fmla="*/ 31 w 31"/>
                <a:gd name="T13" fmla="*/ 10 h 21"/>
                <a:gd name="T14" fmla="*/ 31 w 31"/>
                <a:gd name="T15" fmla="*/ 9 h 21"/>
                <a:gd name="T16" fmla="*/ 31 w 31"/>
                <a:gd name="T17" fmla="*/ 5 h 21"/>
                <a:gd name="T18" fmla="*/ 29 w 31"/>
                <a:gd name="T19" fmla="*/ 3 h 21"/>
                <a:gd name="T20" fmla="*/ 26 w 31"/>
                <a:gd name="T21" fmla="*/ 1 h 21"/>
                <a:gd name="T22" fmla="*/ 24 w 31"/>
                <a:gd name="T23" fmla="*/ 0 h 21"/>
                <a:gd name="T24" fmla="*/ 21 w 31"/>
                <a:gd name="T25" fmla="*/ 0 h 21"/>
                <a:gd name="T26" fmla="*/ 19 w 31"/>
                <a:gd name="T27" fmla="*/ 0 h 21"/>
                <a:gd name="T28" fmla="*/ 16 w 31"/>
                <a:gd name="T29" fmla="*/ 0 h 21"/>
                <a:gd name="T30" fmla="*/ 14 w 31"/>
                <a:gd name="T31" fmla="*/ 1 h 21"/>
                <a:gd name="T32" fmla="*/ 11 w 31"/>
                <a:gd name="T33" fmla="*/ 2 h 21"/>
                <a:gd name="T34" fmla="*/ 9 w 31"/>
                <a:gd name="T35" fmla="*/ 3 h 21"/>
                <a:gd name="T36" fmla="*/ 7 w 31"/>
                <a:gd name="T37" fmla="*/ 4 h 21"/>
                <a:gd name="T38" fmla="*/ 5 w 31"/>
                <a:gd name="T39" fmla="*/ 6 h 21"/>
                <a:gd name="T40" fmla="*/ 1 w 31"/>
                <a:gd name="T41" fmla="*/ 10 h 21"/>
                <a:gd name="T42" fmla="*/ 0 w 31"/>
                <a:gd name="T43" fmla="*/ 14 h 21"/>
                <a:gd name="T44" fmla="*/ 2 w 31"/>
                <a:gd name="T45" fmla="*/ 17 h 21"/>
                <a:gd name="T46" fmla="*/ 5 w 31"/>
                <a:gd name="T47" fmla="*/ 19 h 21"/>
                <a:gd name="T48" fmla="*/ 7 w 31"/>
                <a:gd name="T49" fmla="*/ 20 h 21"/>
                <a:gd name="T50" fmla="*/ 10 w 31"/>
                <a:gd name="T51" fmla="*/ 21 h 21"/>
                <a:gd name="T52" fmla="*/ 11 w 31"/>
                <a:gd name="T53" fmla="*/ 21 h 21"/>
                <a:gd name="T54" fmla="*/ 13 w 31"/>
                <a:gd name="T55" fmla="*/ 20 h 21"/>
                <a:gd name="T56" fmla="*/ 14 w 31"/>
                <a:gd name="T57" fmla="*/ 20 h 21"/>
                <a:gd name="T58" fmla="*/ 15 w 31"/>
                <a:gd name="T59" fmla="*/ 19 h 21"/>
                <a:gd name="T60" fmla="*/ 16 w 31"/>
                <a:gd name="T61" fmla="*/ 18 h 21"/>
                <a:gd name="T62" fmla="*/ 17 w 31"/>
                <a:gd name="T63" fmla="*/ 18 h 21"/>
                <a:gd name="T64" fmla="*/ 15 w 31"/>
                <a:gd name="T65" fmla="*/ 18 h 21"/>
                <a:gd name="T66" fmla="*/ 13 w 31"/>
                <a:gd name="T67" fmla="*/ 17 h 21"/>
                <a:gd name="T68" fmla="*/ 11 w 31"/>
                <a:gd name="T69" fmla="*/ 17 h 21"/>
                <a:gd name="T70" fmla="*/ 8 w 31"/>
                <a:gd name="T71" fmla="*/ 15 h 21"/>
                <a:gd name="T72" fmla="*/ 6 w 31"/>
                <a:gd name="T73" fmla="*/ 12 h 21"/>
                <a:gd name="T74" fmla="*/ 6 w 31"/>
                <a:gd name="T75" fmla="*/ 10 h 21"/>
                <a:gd name="T76" fmla="*/ 6 w 31"/>
                <a:gd name="T77" fmla="*/ 8 h 21"/>
                <a:gd name="T78" fmla="*/ 7 w 31"/>
                <a:gd name="T79" fmla="*/ 7 h 21"/>
                <a:gd name="T80" fmla="*/ 9 w 31"/>
                <a:gd name="T81" fmla="*/ 5 h 21"/>
                <a:gd name="T82" fmla="*/ 10 w 31"/>
                <a:gd name="T83" fmla="*/ 4 h 21"/>
                <a:gd name="T84" fmla="*/ 12 w 31"/>
                <a:gd name="T85" fmla="*/ 3 h 21"/>
                <a:gd name="T86" fmla="*/ 15 w 31"/>
                <a:gd name="T87" fmla="*/ 2 h 21"/>
                <a:gd name="T88" fmla="*/ 18 w 31"/>
                <a:gd name="T89" fmla="*/ 2 h 21"/>
                <a:gd name="T90" fmla="*/ 21 w 31"/>
                <a:gd name="T91" fmla="*/ 3 h 21"/>
                <a:gd name="T92" fmla="*/ 23 w 31"/>
                <a:gd name="T93" fmla="*/ 5 h 21"/>
                <a:gd name="T94" fmla="*/ 25 w 31"/>
                <a:gd name="T95" fmla="*/ 9 h 21"/>
                <a:gd name="T96" fmla="*/ 25 w 31"/>
                <a:gd name="T97" fmla="*/ 11 h 21"/>
                <a:gd name="T98" fmla="*/ 24 w 31"/>
                <a:gd name="T99" fmla="*/ 13 h 21"/>
                <a:gd name="T100" fmla="*/ 23 w 31"/>
                <a:gd name="T101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" h="21">
                  <a:moveTo>
                    <a:pt x="23" y="15"/>
                  </a:moveTo>
                  <a:lnTo>
                    <a:pt x="23" y="15"/>
                  </a:lnTo>
                  <a:lnTo>
                    <a:pt x="23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7" y="15"/>
                  </a:lnTo>
                  <a:lnTo>
                    <a:pt x="27" y="15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1"/>
                  </a:lnTo>
                  <a:lnTo>
                    <a:pt x="31" y="11"/>
                  </a:lnTo>
                  <a:lnTo>
                    <a:pt x="31" y="11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7"/>
                  </a:lnTo>
                  <a:lnTo>
                    <a:pt x="31" y="6"/>
                  </a:lnTo>
                  <a:lnTo>
                    <a:pt x="31" y="5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0" y="3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4" y="18"/>
                  </a:lnTo>
                  <a:lnTo>
                    <a:pt x="14" y="18"/>
                  </a:lnTo>
                  <a:lnTo>
                    <a:pt x="13" y="18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10" y="16"/>
                  </a:lnTo>
                  <a:lnTo>
                    <a:pt x="9" y="16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4" y="6"/>
                  </a:lnTo>
                  <a:lnTo>
                    <a:pt x="24" y="7"/>
                  </a:lnTo>
                  <a:lnTo>
                    <a:pt x="25" y="8"/>
                  </a:lnTo>
                  <a:lnTo>
                    <a:pt x="25" y="9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5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5" name="Freeform 349"/>
            <p:cNvSpPr>
              <a:spLocks/>
            </p:cNvSpPr>
            <p:nvPr/>
          </p:nvSpPr>
          <p:spPr bwMode="auto">
            <a:xfrm>
              <a:off x="1722" y="2901"/>
              <a:ext cx="24" cy="12"/>
            </a:xfrm>
            <a:custGeom>
              <a:avLst/>
              <a:gdLst>
                <a:gd name="T0" fmla="*/ 4 w 4"/>
                <a:gd name="T1" fmla="*/ 1 h 2"/>
                <a:gd name="T2" fmla="*/ 4 w 4"/>
                <a:gd name="T3" fmla="*/ 1 h 2"/>
                <a:gd name="T4" fmla="*/ 4 w 4"/>
                <a:gd name="T5" fmla="*/ 1 h 2"/>
                <a:gd name="T6" fmla="*/ 3 w 4"/>
                <a:gd name="T7" fmla="*/ 1 h 2"/>
                <a:gd name="T8" fmla="*/ 3 w 4"/>
                <a:gd name="T9" fmla="*/ 1 h 2"/>
                <a:gd name="T10" fmla="*/ 3 w 4"/>
                <a:gd name="T11" fmla="*/ 1 h 2"/>
                <a:gd name="T12" fmla="*/ 3 w 4"/>
                <a:gd name="T13" fmla="*/ 1 h 2"/>
                <a:gd name="T14" fmla="*/ 2 w 4"/>
                <a:gd name="T15" fmla="*/ 1 h 2"/>
                <a:gd name="T16" fmla="*/ 2 w 4"/>
                <a:gd name="T17" fmla="*/ 1 h 2"/>
                <a:gd name="T18" fmla="*/ 2 w 4"/>
                <a:gd name="T19" fmla="*/ 1 h 2"/>
                <a:gd name="T20" fmla="*/ 2 w 4"/>
                <a:gd name="T21" fmla="*/ 1 h 2"/>
                <a:gd name="T22" fmla="*/ 2 w 4"/>
                <a:gd name="T23" fmla="*/ 1 h 2"/>
                <a:gd name="T24" fmla="*/ 1 w 4"/>
                <a:gd name="T25" fmla="*/ 1 h 2"/>
                <a:gd name="T26" fmla="*/ 1 w 4"/>
                <a:gd name="T27" fmla="*/ 1 h 2"/>
                <a:gd name="T28" fmla="*/ 1 w 4"/>
                <a:gd name="T29" fmla="*/ 2 h 2"/>
                <a:gd name="T30" fmla="*/ 1 w 4"/>
                <a:gd name="T31" fmla="*/ 2 h 2"/>
                <a:gd name="T32" fmla="*/ 0 w 4"/>
                <a:gd name="T33" fmla="*/ 2 h 2"/>
                <a:gd name="T34" fmla="*/ 0 w 4"/>
                <a:gd name="T35" fmla="*/ 2 h 2"/>
                <a:gd name="T36" fmla="*/ 0 w 4"/>
                <a:gd name="T37" fmla="*/ 1 h 2"/>
                <a:gd name="T38" fmla="*/ 0 w 4"/>
                <a:gd name="T39" fmla="*/ 1 h 2"/>
                <a:gd name="T40" fmla="*/ 0 w 4"/>
                <a:gd name="T41" fmla="*/ 1 h 2"/>
                <a:gd name="T42" fmla="*/ 1 w 4"/>
                <a:gd name="T43" fmla="*/ 1 h 2"/>
                <a:gd name="T44" fmla="*/ 1 w 4"/>
                <a:gd name="T45" fmla="*/ 1 h 2"/>
                <a:gd name="T46" fmla="*/ 1 w 4"/>
                <a:gd name="T47" fmla="*/ 1 h 2"/>
                <a:gd name="T48" fmla="*/ 1 w 4"/>
                <a:gd name="T49" fmla="*/ 1 h 2"/>
                <a:gd name="T50" fmla="*/ 2 w 4"/>
                <a:gd name="T51" fmla="*/ 0 h 2"/>
                <a:gd name="T52" fmla="*/ 2 w 4"/>
                <a:gd name="T53" fmla="*/ 0 h 2"/>
                <a:gd name="T54" fmla="*/ 2 w 4"/>
                <a:gd name="T55" fmla="*/ 0 h 2"/>
                <a:gd name="T56" fmla="*/ 2 w 4"/>
                <a:gd name="T57" fmla="*/ 0 h 2"/>
                <a:gd name="T58" fmla="*/ 3 w 4"/>
                <a:gd name="T59" fmla="*/ 0 h 2"/>
                <a:gd name="T60" fmla="*/ 3 w 4"/>
                <a:gd name="T61" fmla="*/ 0 h 2"/>
                <a:gd name="T62" fmla="*/ 3 w 4"/>
                <a:gd name="T63" fmla="*/ 0 h 2"/>
                <a:gd name="T64" fmla="*/ 3 w 4"/>
                <a:gd name="T65" fmla="*/ 0 h 2"/>
                <a:gd name="T66" fmla="*/ 3 w 4"/>
                <a:gd name="T67" fmla="*/ 0 h 2"/>
                <a:gd name="T68" fmla="*/ 4 w 4"/>
                <a:gd name="T69" fmla="*/ 0 h 2"/>
                <a:gd name="T70" fmla="*/ 4 w 4"/>
                <a:gd name="T71" fmla="*/ 0 h 2"/>
                <a:gd name="T72" fmla="*/ 4 w 4"/>
                <a:gd name="T7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2">
                  <a:moveTo>
                    <a:pt x="4" y="1"/>
                  </a:move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6" name="Freeform 350"/>
            <p:cNvSpPr>
              <a:spLocks/>
            </p:cNvSpPr>
            <p:nvPr/>
          </p:nvSpPr>
          <p:spPr bwMode="auto">
            <a:xfrm>
              <a:off x="1746" y="2895"/>
              <a:ext cx="18" cy="12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0 h 2"/>
                <a:gd name="T4" fmla="*/ 2 w 3"/>
                <a:gd name="T5" fmla="*/ 1 h 2"/>
                <a:gd name="T6" fmla="*/ 2 w 3"/>
                <a:gd name="T7" fmla="*/ 1 h 2"/>
                <a:gd name="T8" fmla="*/ 2 w 3"/>
                <a:gd name="T9" fmla="*/ 1 h 2"/>
                <a:gd name="T10" fmla="*/ 1 w 3"/>
                <a:gd name="T11" fmla="*/ 1 h 2"/>
                <a:gd name="T12" fmla="*/ 1 w 3"/>
                <a:gd name="T13" fmla="*/ 1 h 2"/>
                <a:gd name="T14" fmla="*/ 1 w 3"/>
                <a:gd name="T15" fmla="*/ 1 h 2"/>
                <a:gd name="T16" fmla="*/ 0 w 3"/>
                <a:gd name="T17" fmla="*/ 2 h 2"/>
                <a:gd name="T18" fmla="*/ 0 w 3"/>
                <a:gd name="T19" fmla="*/ 2 h 2"/>
                <a:gd name="T20" fmla="*/ 0 w 3"/>
                <a:gd name="T21" fmla="*/ 1 h 2"/>
                <a:gd name="T22" fmla="*/ 0 w 3"/>
                <a:gd name="T23" fmla="*/ 1 h 2"/>
                <a:gd name="T24" fmla="*/ 0 w 3"/>
                <a:gd name="T25" fmla="*/ 1 h 2"/>
                <a:gd name="T26" fmla="*/ 1 w 3"/>
                <a:gd name="T27" fmla="*/ 1 h 2"/>
                <a:gd name="T28" fmla="*/ 1 w 3"/>
                <a:gd name="T29" fmla="*/ 0 h 2"/>
                <a:gd name="T30" fmla="*/ 1 w 3"/>
                <a:gd name="T31" fmla="*/ 0 h 2"/>
                <a:gd name="T32" fmla="*/ 1 w 3"/>
                <a:gd name="T33" fmla="*/ 0 h 2"/>
                <a:gd name="T34" fmla="*/ 2 w 3"/>
                <a:gd name="T35" fmla="*/ 0 h 2"/>
                <a:gd name="T36" fmla="*/ 2 w 3"/>
                <a:gd name="T37" fmla="*/ 0 h 2"/>
                <a:gd name="T38" fmla="*/ 2 w 3"/>
                <a:gd name="T39" fmla="*/ 0 h 2"/>
                <a:gd name="T40" fmla="*/ 3 w 3"/>
                <a:gd name="T4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7" name="Freeform 351"/>
            <p:cNvSpPr>
              <a:spLocks/>
            </p:cNvSpPr>
            <p:nvPr/>
          </p:nvSpPr>
          <p:spPr bwMode="auto">
            <a:xfrm>
              <a:off x="1758" y="2865"/>
              <a:ext cx="18" cy="30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1 h 5"/>
                <a:gd name="T6" fmla="*/ 3 w 3"/>
                <a:gd name="T7" fmla="*/ 1 h 5"/>
                <a:gd name="T8" fmla="*/ 3 w 3"/>
                <a:gd name="T9" fmla="*/ 1 h 5"/>
                <a:gd name="T10" fmla="*/ 3 w 3"/>
                <a:gd name="T11" fmla="*/ 2 h 5"/>
                <a:gd name="T12" fmla="*/ 2 w 3"/>
                <a:gd name="T13" fmla="*/ 2 h 5"/>
                <a:gd name="T14" fmla="*/ 2 w 3"/>
                <a:gd name="T15" fmla="*/ 2 h 5"/>
                <a:gd name="T16" fmla="*/ 2 w 3"/>
                <a:gd name="T17" fmla="*/ 3 h 5"/>
                <a:gd name="T18" fmla="*/ 2 w 3"/>
                <a:gd name="T19" fmla="*/ 3 h 5"/>
                <a:gd name="T20" fmla="*/ 2 w 3"/>
                <a:gd name="T21" fmla="*/ 3 h 5"/>
                <a:gd name="T22" fmla="*/ 2 w 3"/>
                <a:gd name="T23" fmla="*/ 4 h 5"/>
                <a:gd name="T24" fmla="*/ 2 w 3"/>
                <a:gd name="T25" fmla="*/ 4 h 5"/>
                <a:gd name="T26" fmla="*/ 1 w 3"/>
                <a:gd name="T27" fmla="*/ 4 h 5"/>
                <a:gd name="T28" fmla="*/ 1 w 3"/>
                <a:gd name="T29" fmla="*/ 5 h 5"/>
                <a:gd name="T30" fmla="*/ 1 w 3"/>
                <a:gd name="T31" fmla="*/ 5 h 5"/>
                <a:gd name="T32" fmla="*/ 1 w 3"/>
                <a:gd name="T33" fmla="*/ 5 h 5"/>
                <a:gd name="T34" fmla="*/ 1 w 3"/>
                <a:gd name="T35" fmla="*/ 5 h 5"/>
                <a:gd name="T36" fmla="*/ 0 w 3"/>
                <a:gd name="T37" fmla="*/ 5 h 5"/>
                <a:gd name="T38" fmla="*/ 0 w 3"/>
                <a:gd name="T39" fmla="*/ 5 h 5"/>
                <a:gd name="T40" fmla="*/ 0 w 3"/>
                <a:gd name="T41" fmla="*/ 4 h 5"/>
                <a:gd name="T42" fmla="*/ 0 w 3"/>
                <a:gd name="T43" fmla="*/ 4 h 5"/>
                <a:gd name="T44" fmla="*/ 1 w 3"/>
                <a:gd name="T45" fmla="*/ 4 h 5"/>
                <a:gd name="T46" fmla="*/ 1 w 3"/>
                <a:gd name="T47" fmla="*/ 4 h 5"/>
                <a:gd name="T48" fmla="*/ 1 w 3"/>
                <a:gd name="T49" fmla="*/ 3 h 5"/>
                <a:gd name="T50" fmla="*/ 1 w 3"/>
                <a:gd name="T51" fmla="*/ 3 h 5"/>
                <a:gd name="T52" fmla="*/ 1 w 3"/>
                <a:gd name="T53" fmla="*/ 3 h 5"/>
                <a:gd name="T54" fmla="*/ 1 w 3"/>
                <a:gd name="T55" fmla="*/ 2 h 5"/>
                <a:gd name="T56" fmla="*/ 2 w 3"/>
                <a:gd name="T57" fmla="*/ 2 h 5"/>
                <a:gd name="T58" fmla="*/ 2 w 3"/>
                <a:gd name="T59" fmla="*/ 2 h 5"/>
                <a:gd name="T60" fmla="*/ 2 w 3"/>
                <a:gd name="T61" fmla="*/ 1 h 5"/>
                <a:gd name="T62" fmla="*/ 2 w 3"/>
                <a:gd name="T63" fmla="*/ 1 h 5"/>
                <a:gd name="T64" fmla="*/ 2 w 3"/>
                <a:gd name="T65" fmla="*/ 1 h 5"/>
                <a:gd name="T66" fmla="*/ 2 w 3"/>
                <a:gd name="T67" fmla="*/ 1 h 5"/>
                <a:gd name="T68" fmla="*/ 2 w 3"/>
                <a:gd name="T69" fmla="*/ 0 h 5"/>
                <a:gd name="T70" fmla="*/ 2 w 3"/>
                <a:gd name="T71" fmla="*/ 0 h 5"/>
                <a:gd name="T72" fmla="*/ 3 w 3"/>
                <a:gd name="T7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8" name="Freeform 352"/>
            <p:cNvSpPr>
              <a:spLocks/>
            </p:cNvSpPr>
            <p:nvPr/>
          </p:nvSpPr>
          <p:spPr bwMode="auto">
            <a:xfrm>
              <a:off x="1758" y="2835"/>
              <a:ext cx="18" cy="30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0 h 5"/>
                <a:gd name="T4" fmla="*/ 1 w 3"/>
                <a:gd name="T5" fmla="*/ 0 h 5"/>
                <a:gd name="T6" fmla="*/ 1 w 3"/>
                <a:gd name="T7" fmla="*/ 1 h 5"/>
                <a:gd name="T8" fmla="*/ 2 w 3"/>
                <a:gd name="T9" fmla="*/ 1 h 5"/>
                <a:gd name="T10" fmla="*/ 2 w 3"/>
                <a:gd name="T11" fmla="*/ 2 h 5"/>
                <a:gd name="T12" fmla="*/ 2 w 3"/>
                <a:gd name="T13" fmla="*/ 3 h 5"/>
                <a:gd name="T14" fmla="*/ 2 w 3"/>
                <a:gd name="T15" fmla="*/ 4 h 5"/>
                <a:gd name="T16" fmla="*/ 3 w 3"/>
                <a:gd name="T17" fmla="*/ 5 h 5"/>
                <a:gd name="T18" fmla="*/ 3 w 3"/>
                <a:gd name="T19" fmla="*/ 5 h 5"/>
                <a:gd name="T20" fmla="*/ 2 w 3"/>
                <a:gd name="T21" fmla="*/ 5 h 5"/>
                <a:gd name="T22" fmla="*/ 2 w 3"/>
                <a:gd name="T23" fmla="*/ 5 h 5"/>
                <a:gd name="T24" fmla="*/ 2 w 3"/>
                <a:gd name="T25" fmla="*/ 4 h 5"/>
                <a:gd name="T26" fmla="*/ 2 w 3"/>
                <a:gd name="T27" fmla="*/ 3 h 5"/>
                <a:gd name="T28" fmla="*/ 1 w 3"/>
                <a:gd name="T29" fmla="*/ 3 h 5"/>
                <a:gd name="T30" fmla="*/ 1 w 3"/>
                <a:gd name="T31" fmla="*/ 2 h 5"/>
                <a:gd name="T32" fmla="*/ 1 w 3"/>
                <a:gd name="T33" fmla="*/ 1 h 5"/>
                <a:gd name="T34" fmla="*/ 0 w 3"/>
                <a:gd name="T35" fmla="*/ 1 h 5"/>
                <a:gd name="T36" fmla="*/ 0 w 3"/>
                <a:gd name="T37" fmla="*/ 0 h 5"/>
                <a:gd name="T38" fmla="*/ 0 w 3"/>
                <a:gd name="T39" fmla="*/ 0 h 5"/>
                <a:gd name="T40" fmla="*/ 0 w 3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09" name="Freeform 353"/>
            <p:cNvSpPr>
              <a:spLocks/>
            </p:cNvSpPr>
            <p:nvPr/>
          </p:nvSpPr>
          <p:spPr bwMode="auto">
            <a:xfrm>
              <a:off x="1710" y="2817"/>
              <a:ext cx="48" cy="18"/>
            </a:xfrm>
            <a:custGeom>
              <a:avLst/>
              <a:gdLst>
                <a:gd name="T0" fmla="*/ 1 w 8"/>
                <a:gd name="T1" fmla="*/ 0 h 3"/>
                <a:gd name="T2" fmla="*/ 1 w 8"/>
                <a:gd name="T3" fmla="*/ 0 h 3"/>
                <a:gd name="T4" fmla="*/ 1 w 8"/>
                <a:gd name="T5" fmla="*/ 0 h 3"/>
                <a:gd name="T6" fmla="*/ 1 w 8"/>
                <a:gd name="T7" fmla="*/ 0 h 3"/>
                <a:gd name="T8" fmla="*/ 2 w 8"/>
                <a:gd name="T9" fmla="*/ 0 h 3"/>
                <a:gd name="T10" fmla="*/ 3 w 8"/>
                <a:gd name="T11" fmla="*/ 0 h 3"/>
                <a:gd name="T12" fmla="*/ 3 w 8"/>
                <a:gd name="T13" fmla="*/ 0 h 3"/>
                <a:gd name="T14" fmla="*/ 4 w 8"/>
                <a:gd name="T15" fmla="*/ 0 h 3"/>
                <a:gd name="T16" fmla="*/ 4 w 8"/>
                <a:gd name="T17" fmla="*/ 0 h 3"/>
                <a:gd name="T18" fmla="*/ 5 w 8"/>
                <a:gd name="T19" fmla="*/ 1 h 3"/>
                <a:gd name="T20" fmla="*/ 5 w 8"/>
                <a:gd name="T21" fmla="*/ 1 h 3"/>
                <a:gd name="T22" fmla="*/ 6 w 8"/>
                <a:gd name="T23" fmla="*/ 1 h 3"/>
                <a:gd name="T24" fmla="*/ 6 w 8"/>
                <a:gd name="T25" fmla="*/ 1 h 3"/>
                <a:gd name="T26" fmla="*/ 7 w 8"/>
                <a:gd name="T27" fmla="*/ 1 h 3"/>
                <a:gd name="T28" fmla="*/ 7 w 8"/>
                <a:gd name="T29" fmla="*/ 2 h 3"/>
                <a:gd name="T30" fmla="*/ 7 w 8"/>
                <a:gd name="T31" fmla="*/ 2 h 3"/>
                <a:gd name="T32" fmla="*/ 8 w 8"/>
                <a:gd name="T33" fmla="*/ 2 h 3"/>
                <a:gd name="T34" fmla="*/ 8 w 8"/>
                <a:gd name="T35" fmla="*/ 3 h 3"/>
                <a:gd name="T36" fmla="*/ 8 w 8"/>
                <a:gd name="T37" fmla="*/ 3 h 3"/>
                <a:gd name="T38" fmla="*/ 7 w 8"/>
                <a:gd name="T39" fmla="*/ 3 h 3"/>
                <a:gd name="T40" fmla="*/ 7 w 8"/>
                <a:gd name="T41" fmla="*/ 3 h 3"/>
                <a:gd name="T42" fmla="*/ 7 w 8"/>
                <a:gd name="T43" fmla="*/ 2 h 3"/>
                <a:gd name="T44" fmla="*/ 6 w 8"/>
                <a:gd name="T45" fmla="*/ 2 h 3"/>
                <a:gd name="T46" fmla="*/ 6 w 8"/>
                <a:gd name="T47" fmla="*/ 2 h 3"/>
                <a:gd name="T48" fmla="*/ 5 w 8"/>
                <a:gd name="T49" fmla="*/ 2 h 3"/>
                <a:gd name="T50" fmla="*/ 5 w 8"/>
                <a:gd name="T51" fmla="*/ 1 h 3"/>
                <a:gd name="T52" fmla="*/ 4 w 8"/>
                <a:gd name="T53" fmla="*/ 1 h 3"/>
                <a:gd name="T54" fmla="*/ 4 w 8"/>
                <a:gd name="T55" fmla="*/ 1 h 3"/>
                <a:gd name="T56" fmla="*/ 3 w 8"/>
                <a:gd name="T57" fmla="*/ 1 h 3"/>
                <a:gd name="T58" fmla="*/ 3 w 8"/>
                <a:gd name="T59" fmla="*/ 1 h 3"/>
                <a:gd name="T60" fmla="*/ 2 w 8"/>
                <a:gd name="T61" fmla="*/ 1 h 3"/>
                <a:gd name="T62" fmla="*/ 2 w 8"/>
                <a:gd name="T63" fmla="*/ 1 h 3"/>
                <a:gd name="T64" fmla="*/ 1 w 8"/>
                <a:gd name="T65" fmla="*/ 1 h 3"/>
                <a:gd name="T66" fmla="*/ 1 w 8"/>
                <a:gd name="T67" fmla="*/ 1 h 3"/>
                <a:gd name="T68" fmla="*/ 0 w 8"/>
                <a:gd name="T69" fmla="*/ 0 h 3"/>
                <a:gd name="T70" fmla="*/ 0 w 8"/>
                <a:gd name="T71" fmla="*/ 0 h 3"/>
                <a:gd name="T72" fmla="*/ 1 w 8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3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0" name="Freeform 354"/>
            <p:cNvSpPr>
              <a:spLocks/>
            </p:cNvSpPr>
            <p:nvPr/>
          </p:nvSpPr>
          <p:spPr bwMode="auto">
            <a:xfrm>
              <a:off x="1620" y="2811"/>
              <a:ext cx="96" cy="36"/>
            </a:xfrm>
            <a:custGeom>
              <a:avLst/>
              <a:gdLst>
                <a:gd name="T0" fmla="*/ 0 w 16"/>
                <a:gd name="T1" fmla="*/ 5 h 6"/>
                <a:gd name="T2" fmla="*/ 1 w 16"/>
                <a:gd name="T3" fmla="*/ 5 h 6"/>
                <a:gd name="T4" fmla="*/ 1 w 16"/>
                <a:gd name="T5" fmla="*/ 4 h 6"/>
                <a:gd name="T6" fmla="*/ 2 w 16"/>
                <a:gd name="T7" fmla="*/ 4 h 6"/>
                <a:gd name="T8" fmla="*/ 3 w 16"/>
                <a:gd name="T9" fmla="*/ 3 h 6"/>
                <a:gd name="T10" fmla="*/ 4 w 16"/>
                <a:gd name="T11" fmla="*/ 3 h 6"/>
                <a:gd name="T12" fmla="*/ 5 w 16"/>
                <a:gd name="T13" fmla="*/ 2 h 6"/>
                <a:gd name="T14" fmla="*/ 6 w 16"/>
                <a:gd name="T15" fmla="*/ 2 h 6"/>
                <a:gd name="T16" fmla="*/ 7 w 16"/>
                <a:gd name="T17" fmla="*/ 2 h 6"/>
                <a:gd name="T18" fmla="*/ 8 w 16"/>
                <a:gd name="T19" fmla="*/ 1 h 6"/>
                <a:gd name="T20" fmla="*/ 9 w 16"/>
                <a:gd name="T21" fmla="*/ 1 h 6"/>
                <a:gd name="T22" fmla="*/ 10 w 16"/>
                <a:gd name="T23" fmla="*/ 1 h 6"/>
                <a:gd name="T24" fmla="*/ 12 w 16"/>
                <a:gd name="T25" fmla="*/ 1 h 6"/>
                <a:gd name="T26" fmla="*/ 12 w 16"/>
                <a:gd name="T27" fmla="*/ 1 h 6"/>
                <a:gd name="T28" fmla="*/ 14 w 16"/>
                <a:gd name="T29" fmla="*/ 0 h 6"/>
                <a:gd name="T30" fmla="*/ 15 w 16"/>
                <a:gd name="T31" fmla="*/ 1 h 6"/>
                <a:gd name="T32" fmla="*/ 16 w 16"/>
                <a:gd name="T33" fmla="*/ 1 h 6"/>
                <a:gd name="T34" fmla="*/ 15 w 16"/>
                <a:gd name="T35" fmla="*/ 1 h 6"/>
                <a:gd name="T36" fmla="*/ 14 w 16"/>
                <a:gd name="T37" fmla="*/ 1 h 6"/>
                <a:gd name="T38" fmla="*/ 13 w 16"/>
                <a:gd name="T39" fmla="*/ 1 h 6"/>
                <a:gd name="T40" fmla="*/ 12 w 16"/>
                <a:gd name="T41" fmla="*/ 1 h 6"/>
                <a:gd name="T42" fmla="*/ 11 w 16"/>
                <a:gd name="T43" fmla="*/ 2 h 6"/>
                <a:gd name="T44" fmla="*/ 10 w 16"/>
                <a:gd name="T45" fmla="*/ 2 h 6"/>
                <a:gd name="T46" fmla="*/ 9 w 16"/>
                <a:gd name="T47" fmla="*/ 2 h 6"/>
                <a:gd name="T48" fmla="*/ 8 w 16"/>
                <a:gd name="T49" fmla="*/ 2 h 6"/>
                <a:gd name="T50" fmla="*/ 7 w 16"/>
                <a:gd name="T51" fmla="*/ 3 h 6"/>
                <a:gd name="T52" fmla="*/ 6 w 16"/>
                <a:gd name="T53" fmla="*/ 3 h 6"/>
                <a:gd name="T54" fmla="*/ 5 w 16"/>
                <a:gd name="T55" fmla="*/ 3 h 6"/>
                <a:gd name="T56" fmla="*/ 4 w 16"/>
                <a:gd name="T57" fmla="*/ 4 h 6"/>
                <a:gd name="T58" fmla="*/ 3 w 16"/>
                <a:gd name="T59" fmla="*/ 4 h 6"/>
                <a:gd name="T60" fmla="*/ 2 w 16"/>
                <a:gd name="T61" fmla="*/ 5 h 6"/>
                <a:gd name="T62" fmla="*/ 2 w 16"/>
                <a:gd name="T63" fmla="*/ 5 h 6"/>
                <a:gd name="T64" fmla="*/ 1 w 16"/>
                <a:gd name="T65" fmla="*/ 6 h 6"/>
                <a:gd name="T66" fmla="*/ 1 w 16"/>
                <a:gd name="T6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" h="6">
                  <a:moveTo>
                    <a:pt x="0" y="5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1" name="Freeform 355"/>
            <p:cNvSpPr>
              <a:spLocks/>
            </p:cNvSpPr>
            <p:nvPr/>
          </p:nvSpPr>
          <p:spPr bwMode="auto">
            <a:xfrm>
              <a:off x="1578" y="2841"/>
              <a:ext cx="48" cy="78"/>
            </a:xfrm>
            <a:custGeom>
              <a:avLst/>
              <a:gdLst>
                <a:gd name="T0" fmla="*/ 2 w 8"/>
                <a:gd name="T1" fmla="*/ 13 h 13"/>
                <a:gd name="T2" fmla="*/ 2 w 8"/>
                <a:gd name="T3" fmla="*/ 13 h 13"/>
                <a:gd name="T4" fmla="*/ 1 w 8"/>
                <a:gd name="T5" fmla="*/ 12 h 13"/>
                <a:gd name="T6" fmla="*/ 1 w 8"/>
                <a:gd name="T7" fmla="*/ 11 h 13"/>
                <a:gd name="T8" fmla="*/ 0 w 8"/>
                <a:gd name="T9" fmla="*/ 10 h 13"/>
                <a:gd name="T10" fmla="*/ 1 w 8"/>
                <a:gd name="T11" fmla="*/ 9 h 13"/>
                <a:gd name="T12" fmla="*/ 1 w 8"/>
                <a:gd name="T13" fmla="*/ 8 h 13"/>
                <a:gd name="T14" fmla="*/ 1 w 8"/>
                <a:gd name="T15" fmla="*/ 8 h 13"/>
                <a:gd name="T16" fmla="*/ 1 w 8"/>
                <a:gd name="T17" fmla="*/ 7 h 13"/>
                <a:gd name="T18" fmla="*/ 2 w 8"/>
                <a:gd name="T19" fmla="*/ 6 h 13"/>
                <a:gd name="T20" fmla="*/ 2 w 8"/>
                <a:gd name="T21" fmla="*/ 5 h 13"/>
                <a:gd name="T22" fmla="*/ 3 w 8"/>
                <a:gd name="T23" fmla="*/ 4 h 13"/>
                <a:gd name="T24" fmla="*/ 4 w 8"/>
                <a:gd name="T25" fmla="*/ 3 h 13"/>
                <a:gd name="T26" fmla="*/ 4 w 8"/>
                <a:gd name="T27" fmla="*/ 3 h 13"/>
                <a:gd name="T28" fmla="*/ 5 w 8"/>
                <a:gd name="T29" fmla="*/ 2 h 13"/>
                <a:gd name="T30" fmla="*/ 6 w 8"/>
                <a:gd name="T31" fmla="*/ 1 h 13"/>
                <a:gd name="T32" fmla="*/ 7 w 8"/>
                <a:gd name="T33" fmla="*/ 1 h 13"/>
                <a:gd name="T34" fmla="*/ 7 w 8"/>
                <a:gd name="T35" fmla="*/ 0 h 13"/>
                <a:gd name="T36" fmla="*/ 8 w 8"/>
                <a:gd name="T37" fmla="*/ 1 h 13"/>
                <a:gd name="T38" fmla="*/ 7 w 8"/>
                <a:gd name="T39" fmla="*/ 1 h 13"/>
                <a:gd name="T40" fmla="*/ 6 w 8"/>
                <a:gd name="T41" fmla="*/ 2 h 13"/>
                <a:gd name="T42" fmla="*/ 6 w 8"/>
                <a:gd name="T43" fmla="*/ 3 h 13"/>
                <a:gd name="T44" fmla="*/ 5 w 8"/>
                <a:gd name="T45" fmla="*/ 3 h 13"/>
                <a:gd name="T46" fmla="*/ 4 w 8"/>
                <a:gd name="T47" fmla="*/ 4 h 13"/>
                <a:gd name="T48" fmla="*/ 4 w 8"/>
                <a:gd name="T49" fmla="*/ 5 h 13"/>
                <a:gd name="T50" fmla="*/ 3 w 8"/>
                <a:gd name="T51" fmla="*/ 6 h 13"/>
                <a:gd name="T52" fmla="*/ 3 w 8"/>
                <a:gd name="T53" fmla="*/ 6 h 13"/>
                <a:gd name="T54" fmla="*/ 2 w 8"/>
                <a:gd name="T55" fmla="*/ 7 h 13"/>
                <a:gd name="T56" fmla="*/ 2 w 8"/>
                <a:gd name="T57" fmla="*/ 8 h 13"/>
                <a:gd name="T58" fmla="*/ 1 w 8"/>
                <a:gd name="T59" fmla="*/ 9 h 13"/>
                <a:gd name="T60" fmla="*/ 1 w 8"/>
                <a:gd name="T61" fmla="*/ 9 h 13"/>
                <a:gd name="T62" fmla="*/ 1 w 8"/>
                <a:gd name="T63" fmla="*/ 10 h 13"/>
                <a:gd name="T64" fmla="*/ 1 w 8"/>
                <a:gd name="T65" fmla="*/ 11 h 13"/>
                <a:gd name="T66" fmla="*/ 2 w 8"/>
                <a:gd name="T67" fmla="*/ 11 h 13"/>
                <a:gd name="T68" fmla="*/ 2 w 8"/>
                <a:gd name="T69" fmla="*/ 12 h 13"/>
                <a:gd name="T70" fmla="*/ 2 w 8"/>
                <a:gd name="T71" fmla="*/ 12 h 13"/>
                <a:gd name="T72" fmla="*/ 2 w 8"/>
                <a:gd name="T73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13">
                  <a:moveTo>
                    <a:pt x="2" y="13"/>
                  </a:moveTo>
                  <a:lnTo>
                    <a:pt x="2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2" name="Freeform 356"/>
            <p:cNvSpPr>
              <a:spLocks/>
            </p:cNvSpPr>
            <p:nvPr/>
          </p:nvSpPr>
          <p:spPr bwMode="auto">
            <a:xfrm>
              <a:off x="1590" y="2913"/>
              <a:ext cx="54" cy="36"/>
            </a:xfrm>
            <a:custGeom>
              <a:avLst/>
              <a:gdLst>
                <a:gd name="T0" fmla="*/ 9 w 9"/>
                <a:gd name="T1" fmla="*/ 6 h 6"/>
                <a:gd name="T2" fmla="*/ 9 w 9"/>
                <a:gd name="T3" fmla="*/ 6 h 6"/>
                <a:gd name="T4" fmla="*/ 8 w 9"/>
                <a:gd name="T5" fmla="*/ 5 h 6"/>
                <a:gd name="T6" fmla="*/ 8 w 9"/>
                <a:gd name="T7" fmla="*/ 5 h 6"/>
                <a:gd name="T8" fmla="*/ 7 w 9"/>
                <a:gd name="T9" fmla="*/ 5 h 6"/>
                <a:gd name="T10" fmla="*/ 6 w 9"/>
                <a:gd name="T11" fmla="*/ 5 h 6"/>
                <a:gd name="T12" fmla="*/ 6 w 9"/>
                <a:gd name="T13" fmla="*/ 5 h 6"/>
                <a:gd name="T14" fmla="*/ 5 w 9"/>
                <a:gd name="T15" fmla="*/ 4 h 6"/>
                <a:gd name="T16" fmla="*/ 5 w 9"/>
                <a:gd name="T17" fmla="*/ 4 h 6"/>
                <a:gd name="T18" fmla="*/ 4 w 9"/>
                <a:gd name="T19" fmla="*/ 4 h 6"/>
                <a:gd name="T20" fmla="*/ 3 w 9"/>
                <a:gd name="T21" fmla="*/ 3 h 6"/>
                <a:gd name="T22" fmla="*/ 3 w 9"/>
                <a:gd name="T23" fmla="*/ 3 h 6"/>
                <a:gd name="T24" fmla="*/ 2 w 9"/>
                <a:gd name="T25" fmla="*/ 3 h 6"/>
                <a:gd name="T26" fmla="*/ 2 w 9"/>
                <a:gd name="T27" fmla="*/ 2 h 6"/>
                <a:gd name="T28" fmla="*/ 1 w 9"/>
                <a:gd name="T29" fmla="*/ 2 h 6"/>
                <a:gd name="T30" fmla="*/ 1 w 9"/>
                <a:gd name="T31" fmla="*/ 1 h 6"/>
                <a:gd name="T32" fmla="*/ 0 w 9"/>
                <a:gd name="T33" fmla="*/ 1 h 6"/>
                <a:gd name="T34" fmla="*/ 0 w 9"/>
                <a:gd name="T35" fmla="*/ 1 h 6"/>
                <a:gd name="T36" fmla="*/ 0 w 9"/>
                <a:gd name="T37" fmla="*/ 0 h 6"/>
                <a:gd name="T38" fmla="*/ 1 w 9"/>
                <a:gd name="T39" fmla="*/ 0 h 6"/>
                <a:gd name="T40" fmla="*/ 1 w 9"/>
                <a:gd name="T41" fmla="*/ 1 h 6"/>
                <a:gd name="T42" fmla="*/ 2 w 9"/>
                <a:gd name="T43" fmla="*/ 1 h 6"/>
                <a:gd name="T44" fmla="*/ 2 w 9"/>
                <a:gd name="T45" fmla="*/ 1 h 6"/>
                <a:gd name="T46" fmla="*/ 3 w 9"/>
                <a:gd name="T47" fmla="*/ 2 h 6"/>
                <a:gd name="T48" fmla="*/ 3 w 9"/>
                <a:gd name="T49" fmla="*/ 2 h 6"/>
                <a:gd name="T50" fmla="*/ 4 w 9"/>
                <a:gd name="T51" fmla="*/ 3 h 6"/>
                <a:gd name="T52" fmla="*/ 4 w 9"/>
                <a:gd name="T53" fmla="*/ 3 h 6"/>
                <a:gd name="T54" fmla="*/ 5 w 9"/>
                <a:gd name="T55" fmla="*/ 3 h 6"/>
                <a:gd name="T56" fmla="*/ 6 w 9"/>
                <a:gd name="T57" fmla="*/ 4 h 6"/>
                <a:gd name="T58" fmla="*/ 6 w 9"/>
                <a:gd name="T59" fmla="*/ 4 h 6"/>
                <a:gd name="T60" fmla="*/ 7 w 9"/>
                <a:gd name="T61" fmla="*/ 4 h 6"/>
                <a:gd name="T62" fmla="*/ 7 w 9"/>
                <a:gd name="T63" fmla="*/ 4 h 6"/>
                <a:gd name="T64" fmla="*/ 8 w 9"/>
                <a:gd name="T65" fmla="*/ 5 h 6"/>
                <a:gd name="T66" fmla="*/ 8 w 9"/>
                <a:gd name="T67" fmla="*/ 5 h 6"/>
                <a:gd name="T68" fmla="*/ 9 w 9"/>
                <a:gd name="T69" fmla="*/ 5 h 6"/>
                <a:gd name="T70" fmla="*/ 9 w 9"/>
                <a:gd name="T71" fmla="*/ 5 h 6"/>
                <a:gd name="T72" fmla="*/ 9 w 9"/>
                <a:gd name="T7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lnTo>
                    <a:pt x="9" y="6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3" name="Freeform 357"/>
            <p:cNvSpPr>
              <a:spLocks/>
            </p:cNvSpPr>
            <p:nvPr/>
          </p:nvSpPr>
          <p:spPr bwMode="auto">
            <a:xfrm>
              <a:off x="1644" y="2931"/>
              <a:ext cx="24" cy="18"/>
            </a:xfrm>
            <a:custGeom>
              <a:avLst/>
              <a:gdLst>
                <a:gd name="T0" fmla="*/ 4 w 4"/>
                <a:gd name="T1" fmla="*/ 1 h 3"/>
                <a:gd name="T2" fmla="*/ 4 w 4"/>
                <a:gd name="T3" fmla="*/ 1 h 3"/>
                <a:gd name="T4" fmla="*/ 4 w 4"/>
                <a:gd name="T5" fmla="*/ 1 h 3"/>
                <a:gd name="T6" fmla="*/ 4 w 4"/>
                <a:gd name="T7" fmla="*/ 1 h 3"/>
                <a:gd name="T8" fmla="*/ 3 w 4"/>
                <a:gd name="T9" fmla="*/ 1 h 3"/>
                <a:gd name="T10" fmla="*/ 3 w 4"/>
                <a:gd name="T11" fmla="*/ 1 h 3"/>
                <a:gd name="T12" fmla="*/ 3 w 4"/>
                <a:gd name="T13" fmla="*/ 1 h 3"/>
                <a:gd name="T14" fmla="*/ 3 w 4"/>
                <a:gd name="T15" fmla="*/ 1 h 3"/>
                <a:gd name="T16" fmla="*/ 2 w 4"/>
                <a:gd name="T17" fmla="*/ 2 h 3"/>
                <a:gd name="T18" fmla="*/ 2 w 4"/>
                <a:gd name="T19" fmla="*/ 2 h 3"/>
                <a:gd name="T20" fmla="*/ 2 w 4"/>
                <a:gd name="T21" fmla="*/ 2 h 3"/>
                <a:gd name="T22" fmla="*/ 2 w 4"/>
                <a:gd name="T23" fmla="*/ 2 h 3"/>
                <a:gd name="T24" fmla="*/ 1 w 4"/>
                <a:gd name="T25" fmla="*/ 2 h 3"/>
                <a:gd name="T26" fmla="*/ 1 w 4"/>
                <a:gd name="T27" fmla="*/ 2 h 3"/>
                <a:gd name="T28" fmla="*/ 1 w 4"/>
                <a:gd name="T29" fmla="*/ 2 h 3"/>
                <a:gd name="T30" fmla="*/ 0 w 4"/>
                <a:gd name="T31" fmla="*/ 2 h 3"/>
                <a:gd name="T32" fmla="*/ 0 w 4"/>
                <a:gd name="T33" fmla="*/ 2 h 3"/>
                <a:gd name="T34" fmla="*/ 0 w 4"/>
                <a:gd name="T35" fmla="*/ 3 h 3"/>
                <a:gd name="T36" fmla="*/ 0 w 4"/>
                <a:gd name="T37" fmla="*/ 2 h 3"/>
                <a:gd name="T38" fmla="*/ 0 w 4"/>
                <a:gd name="T39" fmla="*/ 2 h 3"/>
                <a:gd name="T40" fmla="*/ 0 w 4"/>
                <a:gd name="T41" fmla="*/ 2 h 3"/>
                <a:gd name="T42" fmla="*/ 0 w 4"/>
                <a:gd name="T43" fmla="*/ 2 h 3"/>
                <a:gd name="T44" fmla="*/ 1 w 4"/>
                <a:gd name="T45" fmla="*/ 1 h 3"/>
                <a:gd name="T46" fmla="*/ 1 w 4"/>
                <a:gd name="T47" fmla="*/ 1 h 3"/>
                <a:gd name="T48" fmla="*/ 1 w 4"/>
                <a:gd name="T49" fmla="*/ 1 h 3"/>
                <a:gd name="T50" fmla="*/ 1 w 4"/>
                <a:gd name="T51" fmla="*/ 1 h 3"/>
                <a:gd name="T52" fmla="*/ 2 w 4"/>
                <a:gd name="T53" fmla="*/ 1 h 3"/>
                <a:gd name="T54" fmla="*/ 2 w 4"/>
                <a:gd name="T55" fmla="*/ 1 h 3"/>
                <a:gd name="T56" fmla="*/ 2 w 4"/>
                <a:gd name="T57" fmla="*/ 1 h 3"/>
                <a:gd name="T58" fmla="*/ 2 w 4"/>
                <a:gd name="T59" fmla="*/ 1 h 3"/>
                <a:gd name="T60" fmla="*/ 3 w 4"/>
                <a:gd name="T61" fmla="*/ 1 h 3"/>
                <a:gd name="T62" fmla="*/ 3 w 4"/>
                <a:gd name="T63" fmla="*/ 1 h 3"/>
                <a:gd name="T64" fmla="*/ 3 w 4"/>
                <a:gd name="T65" fmla="*/ 0 h 3"/>
                <a:gd name="T66" fmla="*/ 3 w 4"/>
                <a:gd name="T67" fmla="*/ 0 h 3"/>
                <a:gd name="T68" fmla="*/ 4 w 4"/>
                <a:gd name="T69" fmla="*/ 0 h 3"/>
                <a:gd name="T70" fmla="*/ 4 w 4"/>
                <a:gd name="T71" fmla="*/ 0 h 3"/>
                <a:gd name="T72" fmla="*/ 4 w 4"/>
                <a:gd name="T7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4" name="Freeform 358"/>
            <p:cNvSpPr>
              <a:spLocks/>
            </p:cNvSpPr>
            <p:nvPr/>
          </p:nvSpPr>
          <p:spPr bwMode="auto">
            <a:xfrm>
              <a:off x="1668" y="2919"/>
              <a:ext cx="18" cy="18"/>
            </a:xfrm>
            <a:custGeom>
              <a:avLst/>
              <a:gdLst>
                <a:gd name="T0" fmla="*/ 3 w 3"/>
                <a:gd name="T1" fmla="*/ 0 h 3"/>
                <a:gd name="T2" fmla="*/ 3 w 3"/>
                <a:gd name="T3" fmla="*/ 1 h 3"/>
                <a:gd name="T4" fmla="*/ 3 w 3"/>
                <a:gd name="T5" fmla="*/ 1 h 3"/>
                <a:gd name="T6" fmla="*/ 3 w 3"/>
                <a:gd name="T7" fmla="*/ 1 h 3"/>
                <a:gd name="T8" fmla="*/ 3 w 3"/>
                <a:gd name="T9" fmla="*/ 2 h 3"/>
                <a:gd name="T10" fmla="*/ 3 w 3"/>
                <a:gd name="T11" fmla="*/ 2 h 3"/>
                <a:gd name="T12" fmla="*/ 2 w 3"/>
                <a:gd name="T13" fmla="*/ 2 h 3"/>
                <a:gd name="T14" fmla="*/ 2 w 3"/>
                <a:gd name="T15" fmla="*/ 2 h 3"/>
                <a:gd name="T16" fmla="*/ 2 w 3"/>
                <a:gd name="T17" fmla="*/ 2 h 3"/>
                <a:gd name="T18" fmla="*/ 2 w 3"/>
                <a:gd name="T19" fmla="*/ 2 h 3"/>
                <a:gd name="T20" fmla="*/ 2 w 3"/>
                <a:gd name="T21" fmla="*/ 2 h 3"/>
                <a:gd name="T22" fmla="*/ 1 w 3"/>
                <a:gd name="T23" fmla="*/ 2 h 3"/>
                <a:gd name="T24" fmla="*/ 1 w 3"/>
                <a:gd name="T25" fmla="*/ 2 h 3"/>
                <a:gd name="T26" fmla="*/ 1 w 3"/>
                <a:gd name="T27" fmla="*/ 3 h 3"/>
                <a:gd name="T28" fmla="*/ 1 w 3"/>
                <a:gd name="T29" fmla="*/ 3 h 3"/>
                <a:gd name="T30" fmla="*/ 1 w 3"/>
                <a:gd name="T31" fmla="*/ 3 h 3"/>
                <a:gd name="T32" fmla="*/ 0 w 3"/>
                <a:gd name="T33" fmla="*/ 3 h 3"/>
                <a:gd name="T34" fmla="*/ 0 w 3"/>
                <a:gd name="T35" fmla="*/ 3 h 3"/>
                <a:gd name="T36" fmla="*/ 0 w 3"/>
                <a:gd name="T37" fmla="*/ 2 h 3"/>
                <a:gd name="T38" fmla="*/ 0 w 3"/>
                <a:gd name="T39" fmla="*/ 2 h 3"/>
                <a:gd name="T40" fmla="*/ 0 w 3"/>
                <a:gd name="T41" fmla="*/ 2 h 3"/>
                <a:gd name="T42" fmla="*/ 0 w 3"/>
                <a:gd name="T43" fmla="*/ 2 h 3"/>
                <a:gd name="T44" fmla="*/ 1 w 3"/>
                <a:gd name="T45" fmla="*/ 2 h 3"/>
                <a:gd name="T46" fmla="*/ 1 w 3"/>
                <a:gd name="T47" fmla="*/ 2 h 3"/>
                <a:gd name="T48" fmla="*/ 1 w 3"/>
                <a:gd name="T49" fmla="*/ 2 h 3"/>
                <a:gd name="T50" fmla="*/ 1 w 3"/>
                <a:gd name="T51" fmla="*/ 2 h 3"/>
                <a:gd name="T52" fmla="*/ 1 w 3"/>
                <a:gd name="T53" fmla="*/ 1 h 3"/>
                <a:gd name="T54" fmla="*/ 2 w 3"/>
                <a:gd name="T55" fmla="*/ 1 h 3"/>
                <a:gd name="T56" fmla="*/ 2 w 3"/>
                <a:gd name="T57" fmla="*/ 1 h 3"/>
                <a:gd name="T58" fmla="*/ 2 w 3"/>
                <a:gd name="T59" fmla="*/ 1 h 3"/>
                <a:gd name="T60" fmla="*/ 2 w 3"/>
                <a:gd name="T61" fmla="*/ 1 h 3"/>
                <a:gd name="T62" fmla="*/ 2 w 3"/>
                <a:gd name="T63" fmla="*/ 1 h 3"/>
                <a:gd name="T64" fmla="*/ 3 w 3"/>
                <a:gd name="T65" fmla="*/ 1 h 3"/>
                <a:gd name="T66" fmla="*/ 3 w 3"/>
                <a:gd name="T67" fmla="*/ 1 h 3"/>
                <a:gd name="T68" fmla="*/ 3 w 3"/>
                <a:gd name="T69" fmla="*/ 1 h 3"/>
                <a:gd name="T70" fmla="*/ 3 w 3"/>
                <a:gd name="T71" fmla="*/ 1 h 3"/>
                <a:gd name="T72" fmla="*/ 3 w 3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5" name="Freeform 359"/>
            <p:cNvSpPr>
              <a:spLocks/>
            </p:cNvSpPr>
            <p:nvPr/>
          </p:nvSpPr>
          <p:spPr bwMode="auto">
            <a:xfrm>
              <a:off x="1638" y="2913"/>
              <a:ext cx="48" cy="12"/>
            </a:xfrm>
            <a:custGeom>
              <a:avLst/>
              <a:gdLst>
                <a:gd name="T0" fmla="*/ 1 w 8"/>
                <a:gd name="T1" fmla="*/ 0 h 2"/>
                <a:gd name="T2" fmla="*/ 1 w 8"/>
                <a:gd name="T3" fmla="*/ 0 h 2"/>
                <a:gd name="T4" fmla="*/ 1 w 8"/>
                <a:gd name="T5" fmla="*/ 0 h 2"/>
                <a:gd name="T6" fmla="*/ 2 w 8"/>
                <a:gd name="T7" fmla="*/ 0 h 2"/>
                <a:gd name="T8" fmla="*/ 2 w 8"/>
                <a:gd name="T9" fmla="*/ 1 h 2"/>
                <a:gd name="T10" fmla="*/ 2 w 8"/>
                <a:gd name="T11" fmla="*/ 1 h 2"/>
                <a:gd name="T12" fmla="*/ 3 w 8"/>
                <a:gd name="T13" fmla="*/ 1 h 2"/>
                <a:gd name="T14" fmla="*/ 3 w 8"/>
                <a:gd name="T15" fmla="*/ 1 h 2"/>
                <a:gd name="T16" fmla="*/ 4 w 8"/>
                <a:gd name="T17" fmla="*/ 1 h 2"/>
                <a:gd name="T18" fmla="*/ 4 w 8"/>
                <a:gd name="T19" fmla="*/ 1 h 2"/>
                <a:gd name="T20" fmla="*/ 5 w 8"/>
                <a:gd name="T21" fmla="*/ 1 h 2"/>
                <a:gd name="T22" fmla="*/ 5 w 8"/>
                <a:gd name="T23" fmla="*/ 1 h 2"/>
                <a:gd name="T24" fmla="*/ 6 w 8"/>
                <a:gd name="T25" fmla="*/ 1 h 2"/>
                <a:gd name="T26" fmla="*/ 6 w 8"/>
                <a:gd name="T27" fmla="*/ 1 h 2"/>
                <a:gd name="T28" fmla="*/ 7 w 8"/>
                <a:gd name="T29" fmla="*/ 1 h 2"/>
                <a:gd name="T30" fmla="*/ 7 w 8"/>
                <a:gd name="T31" fmla="*/ 1 h 2"/>
                <a:gd name="T32" fmla="*/ 8 w 8"/>
                <a:gd name="T33" fmla="*/ 1 h 2"/>
                <a:gd name="T34" fmla="*/ 8 w 8"/>
                <a:gd name="T35" fmla="*/ 1 h 2"/>
                <a:gd name="T36" fmla="*/ 8 w 8"/>
                <a:gd name="T37" fmla="*/ 2 h 2"/>
                <a:gd name="T38" fmla="*/ 8 w 8"/>
                <a:gd name="T39" fmla="*/ 2 h 2"/>
                <a:gd name="T40" fmla="*/ 7 w 8"/>
                <a:gd name="T41" fmla="*/ 2 h 2"/>
                <a:gd name="T42" fmla="*/ 7 w 8"/>
                <a:gd name="T43" fmla="*/ 2 h 2"/>
                <a:gd name="T44" fmla="*/ 6 w 8"/>
                <a:gd name="T45" fmla="*/ 2 h 2"/>
                <a:gd name="T46" fmla="*/ 6 w 8"/>
                <a:gd name="T47" fmla="*/ 2 h 2"/>
                <a:gd name="T48" fmla="*/ 5 w 8"/>
                <a:gd name="T49" fmla="*/ 2 h 2"/>
                <a:gd name="T50" fmla="*/ 5 w 8"/>
                <a:gd name="T51" fmla="*/ 2 h 2"/>
                <a:gd name="T52" fmla="*/ 4 w 8"/>
                <a:gd name="T53" fmla="*/ 2 h 2"/>
                <a:gd name="T54" fmla="*/ 4 w 8"/>
                <a:gd name="T55" fmla="*/ 2 h 2"/>
                <a:gd name="T56" fmla="*/ 3 w 8"/>
                <a:gd name="T57" fmla="*/ 2 h 2"/>
                <a:gd name="T58" fmla="*/ 3 w 8"/>
                <a:gd name="T59" fmla="*/ 2 h 2"/>
                <a:gd name="T60" fmla="*/ 2 w 8"/>
                <a:gd name="T61" fmla="*/ 1 h 2"/>
                <a:gd name="T62" fmla="*/ 2 w 8"/>
                <a:gd name="T63" fmla="*/ 1 h 2"/>
                <a:gd name="T64" fmla="*/ 1 w 8"/>
                <a:gd name="T65" fmla="*/ 1 h 2"/>
                <a:gd name="T66" fmla="*/ 1 w 8"/>
                <a:gd name="T67" fmla="*/ 1 h 2"/>
                <a:gd name="T68" fmla="*/ 0 w 8"/>
                <a:gd name="T69" fmla="*/ 1 h 2"/>
                <a:gd name="T70" fmla="*/ 0 w 8"/>
                <a:gd name="T71" fmla="*/ 1 h 2"/>
                <a:gd name="T72" fmla="*/ 1 w 8"/>
                <a:gd name="T7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" h="2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6" name="Freeform 360"/>
            <p:cNvSpPr>
              <a:spLocks/>
            </p:cNvSpPr>
            <p:nvPr/>
          </p:nvSpPr>
          <p:spPr bwMode="auto">
            <a:xfrm>
              <a:off x="1614" y="2889"/>
              <a:ext cx="30" cy="30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1 w 5"/>
                <a:gd name="T5" fmla="*/ 0 h 5"/>
                <a:gd name="T6" fmla="*/ 1 w 5"/>
                <a:gd name="T7" fmla="*/ 1 h 5"/>
                <a:gd name="T8" fmla="*/ 2 w 5"/>
                <a:gd name="T9" fmla="*/ 2 h 5"/>
                <a:gd name="T10" fmla="*/ 2 w 5"/>
                <a:gd name="T11" fmla="*/ 2 h 5"/>
                <a:gd name="T12" fmla="*/ 3 w 5"/>
                <a:gd name="T13" fmla="*/ 3 h 5"/>
                <a:gd name="T14" fmla="*/ 4 w 5"/>
                <a:gd name="T15" fmla="*/ 3 h 5"/>
                <a:gd name="T16" fmla="*/ 4 w 5"/>
                <a:gd name="T17" fmla="*/ 4 h 5"/>
                <a:gd name="T18" fmla="*/ 5 w 5"/>
                <a:gd name="T19" fmla="*/ 4 h 5"/>
                <a:gd name="T20" fmla="*/ 4 w 5"/>
                <a:gd name="T21" fmla="*/ 5 h 5"/>
                <a:gd name="T22" fmla="*/ 4 w 5"/>
                <a:gd name="T23" fmla="*/ 4 h 5"/>
                <a:gd name="T24" fmla="*/ 3 w 5"/>
                <a:gd name="T25" fmla="*/ 4 h 5"/>
                <a:gd name="T26" fmla="*/ 2 w 5"/>
                <a:gd name="T27" fmla="*/ 3 h 5"/>
                <a:gd name="T28" fmla="*/ 2 w 5"/>
                <a:gd name="T29" fmla="*/ 3 h 5"/>
                <a:gd name="T30" fmla="*/ 1 w 5"/>
                <a:gd name="T31" fmla="*/ 2 h 5"/>
                <a:gd name="T32" fmla="*/ 1 w 5"/>
                <a:gd name="T33" fmla="*/ 2 h 5"/>
                <a:gd name="T34" fmla="*/ 0 w 5"/>
                <a:gd name="T35" fmla="*/ 1 h 5"/>
                <a:gd name="T36" fmla="*/ 0 w 5"/>
                <a:gd name="T37" fmla="*/ 0 h 5"/>
                <a:gd name="T38" fmla="*/ 0 w 5"/>
                <a:gd name="T39" fmla="*/ 0 h 5"/>
                <a:gd name="T40" fmla="*/ 1 w 5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7" name="Freeform 361"/>
            <p:cNvSpPr>
              <a:spLocks/>
            </p:cNvSpPr>
            <p:nvPr/>
          </p:nvSpPr>
          <p:spPr bwMode="auto">
            <a:xfrm>
              <a:off x="1614" y="2853"/>
              <a:ext cx="18" cy="36"/>
            </a:xfrm>
            <a:custGeom>
              <a:avLst/>
              <a:gdLst>
                <a:gd name="T0" fmla="*/ 3 w 3"/>
                <a:gd name="T1" fmla="*/ 0 h 6"/>
                <a:gd name="T2" fmla="*/ 3 w 3"/>
                <a:gd name="T3" fmla="*/ 0 h 6"/>
                <a:gd name="T4" fmla="*/ 2 w 3"/>
                <a:gd name="T5" fmla="*/ 1 h 6"/>
                <a:gd name="T6" fmla="*/ 2 w 3"/>
                <a:gd name="T7" fmla="*/ 1 h 6"/>
                <a:gd name="T8" fmla="*/ 2 w 3"/>
                <a:gd name="T9" fmla="*/ 1 h 6"/>
                <a:gd name="T10" fmla="*/ 2 w 3"/>
                <a:gd name="T11" fmla="*/ 2 h 6"/>
                <a:gd name="T12" fmla="*/ 2 w 3"/>
                <a:gd name="T13" fmla="*/ 2 h 6"/>
                <a:gd name="T14" fmla="*/ 2 w 3"/>
                <a:gd name="T15" fmla="*/ 2 h 6"/>
                <a:gd name="T16" fmla="*/ 1 w 3"/>
                <a:gd name="T17" fmla="*/ 3 h 6"/>
                <a:gd name="T18" fmla="*/ 1 w 3"/>
                <a:gd name="T19" fmla="*/ 3 h 6"/>
                <a:gd name="T20" fmla="*/ 1 w 3"/>
                <a:gd name="T21" fmla="*/ 4 h 6"/>
                <a:gd name="T22" fmla="*/ 1 w 3"/>
                <a:gd name="T23" fmla="*/ 4 h 6"/>
                <a:gd name="T24" fmla="*/ 1 w 3"/>
                <a:gd name="T25" fmla="*/ 4 h 6"/>
                <a:gd name="T26" fmla="*/ 1 w 3"/>
                <a:gd name="T27" fmla="*/ 5 h 6"/>
                <a:gd name="T28" fmla="*/ 1 w 3"/>
                <a:gd name="T29" fmla="*/ 5 h 6"/>
                <a:gd name="T30" fmla="*/ 1 w 3"/>
                <a:gd name="T31" fmla="*/ 5 h 6"/>
                <a:gd name="T32" fmla="*/ 1 w 3"/>
                <a:gd name="T33" fmla="*/ 6 h 6"/>
                <a:gd name="T34" fmla="*/ 1 w 3"/>
                <a:gd name="T35" fmla="*/ 6 h 6"/>
                <a:gd name="T36" fmla="*/ 0 w 3"/>
                <a:gd name="T37" fmla="*/ 6 h 6"/>
                <a:gd name="T38" fmla="*/ 0 w 3"/>
                <a:gd name="T39" fmla="*/ 6 h 6"/>
                <a:gd name="T40" fmla="*/ 0 w 3"/>
                <a:gd name="T41" fmla="*/ 5 h 6"/>
                <a:gd name="T42" fmla="*/ 0 w 3"/>
                <a:gd name="T43" fmla="*/ 5 h 6"/>
                <a:gd name="T44" fmla="*/ 0 w 3"/>
                <a:gd name="T45" fmla="*/ 5 h 6"/>
                <a:gd name="T46" fmla="*/ 0 w 3"/>
                <a:gd name="T47" fmla="*/ 4 h 6"/>
                <a:gd name="T48" fmla="*/ 0 w 3"/>
                <a:gd name="T49" fmla="*/ 4 h 6"/>
                <a:gd name="T50" fmla="*/ 0 w 3"/>
                <a:gd name="T51" fmla="*/ 3 h 6"/>
                <a:gd name="T52" fmla="*/ 0 w 3"/>
                <a:gd name="T53" fmla="*/ 3 h 6"/>
                <a:gd name="T54" fmla="*/ 1 w 3"/>
                <a:gd name="T55" fmla="*/ 2 h 6"/>
                <a:gd name="T56" fmla="*/ 1 w 3"/>
                <a:gd name="T57" fmla="*/ 2 h 6"/>
                <a:gd name="T58" fmla="*/ 1 w 3"/>
                <a:gd name="T59" fmla="*/ 2 h 6"/>
                <a:gd name="T60" fmla="*/ 1 w 3"/>
                <a:gd name="T61" fmla="*/ 1 h 6"/>
                <a:gd name="T62" fmla="*/ 1 w 3"/>
                <a:gd name="T63" fmla="*/ 1 h 6"/>
                <a:gd name="T64" fmla="*/ 2 w 3"/>
                <a:gd name="T65" fmla="*/ 1 h 6"/>
                <a:gd name="T66" fmla="*/ 2 w 3"/>
                <a:gd name="T67" fmla="*/ 0 h 6"/>
                <a:gd name="T68" fmla="*/ 2 w 3"/>
                <a:gd name="T69" fmla="*/ 0 h 6"/>
                <a:gd name="T70" fmla="*/ 2 w 3"/>
                <a:gd name="T71" fmla="*/ 0 h 6"/>
                <a:gd name="T72" fmla="*/ 3 w 3"/>
                <a:gd name="T7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8" name="Freeform 362"/>
            <p:cNvSpPr>
              <a:spLocks/>
            </p:cNvSpPr>
            <p:nvPr/>
          </p:nvSpPr>
          <p:spPr bwMode="auto">
            <a:xfrm>
              <a:off x="1626" y="2829"/>
              <a:ext cx="36" cy="24"/>
            </a:xfrm>
            <a:custGeom>
              <a:avLst/>
              <a:gdLst>
                <a:gd name="T0" fmla="*/ 6 w 6"/>
                <a:gd name="T1" fmla="*/ 1 h 4"/>
                <a:gd name="T2" fmla="*/ 6 w 6"/>
                <a:gd name="T3" fmla="*/ 1 h 4"/>
                <a:gd name="T4" fmla="*/ 6 w 6"/>
                <a:gd name="T5" fmla="*/ 1 h 4"/>
                <a:gd name="T6" fmla="*/ 5 w 6"/>
                <a:gd name="T7" fmla="*/ 1 h 4"/>
                <a:gd name="T8" fmla="*/ 5 w 6"/>
                <a:gd name="T9" fmla="*/ 1 h 4"/>
                <a:gd name="T10" fmla="*/ 4 w 6"/>
                <a:gd name="T11" fmla="*/ 1 h 4"/>
                <a:gd name="T12" fmla="*/ 4 w 6"/>
                <a:gd name="T13" fmla="*/ 1 h 4"/>
                <a:gd name="T14" fmla="*/ 4 w 6"/>
                <a:gd name="T15" fmla="*/ 2 h 4"/>
                <a:gd name="T16" fmla="*/ 3 w 6"/>
                <a:gd name="T17" fmla="*/ 2 h 4"/>
                <a:gd name="T18" fmla="*/ 3 w 6"/>
                <a:gd name="T19" fmla="*/ 2 h 4"/>
                <a:gd name="T20" fmla="*/ 3 w 6"/>
                <a:gd name="T21" fmla="*/ 2 h 4"/>
                <a:gd name="T22" fmla="*/ 2 w 6"/>
                <a:gd name="T23" fmla="*/ 3 h 4"/>
                <a:gd name="T24" fmla="*/ 2 w 6"/>
                <a:gd name="T25" fmla="*/ 3 h 4"/>
                <a:gd name="T26" fmla="*/ 2 w 6"/>
                <a:gd name="T27" fmla="*/ 3 h 4"/>
                <a:gd name="T28" fmla="*/ 1 w 6"/>
                <a:gd name="T29" fmla="*/ 4 h 4"/>
                <a:gd name="T30" fmla="*/ 1 w 6"/>
                <a:gd name="T31" fmla="*/ 4 h 4"/>
                <a:gd name="T32" fmla="*/ 1 w 6"/>
                <a:gd name="T33" fmla="*/ 4 h 4"/>
                <a:gd name="T34" fmla="*/ 1 w 6"/>
                <a:gd name="T35" fmla="*/ 4 h 4"/>
                <a:gd name="T36" fmla="*/ 0 w 6"/>
                <a:gd name="T37" fmla="*/ 4 h 4"/>
                <a:gd name="T38" fmla="*/ 0 w 6"/>
                <a:gd name="T39" fmla="*/ 4 h 4"/>
                <a:gd name="T40" fmla="*/ 1 w 6"/>
                <a:gd name="T41" fmla="*/ 3 h 4"/>
                <a:gd name="T42" fmla="*/ 1 w 6"/>
                <a:gd name="T43" fmla="*/ 3 h 4"/>
                <a:gd name="T44" fmla="*/ 1 w 6"/>
                <a:gd name="T45" fmla="*/ 3 h 4"/>
                <a:gd name="T46" fmla="*/ 2 w 6"/>
                <a:gd name="T47" fmla="*/ 2 h 4"/>
                <a:gd name="T48" fmla="*/ 2 w 6"/>
                <a:gd name="T49" fmla="*/ 2 h 4"/>
                <a:gd name="T50" fmla="*/ 2 w 6"/>
                <a:gd name="T51" fmla="*/ 2 h 4"/>
                <a:gd name="T52" fmla="*/ 3 w 6"/>
                <a:gd name="T53" fmla="*/ 1 h 4"/>
                <a:gd name="T54" fmla="*/ 3 w 6"/>
                <a:gd name="T55" fmla="*/ 1 h 4"/>
                <a:gd name="T56" fmla="*/ 3 w 6"/>
                <a:gd name="T57" fmla="*/ 1 h 4"/>
                <a:gd name="T58" fmla="*/ 4 w 6"/>
                <a:gd name="T59" fmla="*/ 1 h 4"/>
                <a:gd name="T60" fmla="*/ 4 w 6"/>
                <a:gd name="T61" fmla="*/ 0 h 4"/>
                <a:gd name="T62" fmla="*/ 4 w 6"/>
                <a:gd name="T63" fmla="*/ 0 h 4"/>
                <a:gd name="T64" fmla="*/ 5 w 6"/>
                <a:gd name="T65" fmla="*/ 0 h 4"/>
                <a:gd name="T66" fmla="*/ 5 w 6"/>
                <a:gd name="T67" fmla="*/ 0 h 4"/>
                <a:gd name="T68" fmla="*/ 6 w 6"/>
                <a:gd name="T69" fmla="*/ 0 h 4"/>
                <a:gd name="T70" fmla="*/ 6 w 6"/>
                <a:gd name="T71" fmla="*/ 0 h 4"/>
                <a:gd name="T72" fmla="*/ 6 w 6"/>
                <a:gd name="T7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" h="4">
                  <a:moveTo>
                    <a:pt x="6" y="1"/>
                  </a:moveTo>
                  <a:lnTo>
                    <a:pt x="6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19" name="Freeform 363"/>
            <p:cNvSpPr>
              <a:spLocks/>
            </p:cNvSpPr>
            <p:nvPr/>
          </p:nvSpPr>
          <p:spPr bwMode="auto">
            <a:xfrm>
              <a:off x="1662" y="2823"/>
              <a:ext cx="60" cy="18"/>
            </a:xfrm>
            <a:custGeom>
              <a:avLst/>
              <a:gdLst>
                <a:gd name="T0" fmla="*/ 9 w 10"/>
                <a:gd name="T1" fmla="*/ 3 h 3"/>
                <a:gd name="T2" fmla="*/ 9 w 10"/>
                <a:gd name="T3" fmla="*/ 3 h 3"/>
                <a:gd name="T4" fmla="*/ 9 w 10"/>
                <a:gd name="T5" fmla="*/ 2 h 3"/>
                <a:gd name="T6" fmla="*/ 8 w 10"/>
                <a:gd name="T7" fmla="*/ 2 h 3"/>
                <a:gd name="T8" fmla="*/ 8 w 10"/>
                <a:gd name="T9" fmla="*/ 2 h 3"/>
                <a:gd name="T10" fmla="*/ 7 w 10"/>
                <a:gd name="T11" fmla="*/ 2 h 3"/>
                <a:gd name="T12" fmla="*/ 6 w 10"/>
                <a:gd name="T13" fmla="*/ 2 h 3"/>
                <a:gd name="T14" fmla="*/ 6 w 10"/>
                <a:gd name="T15" fmla="*/ 1 h 3"/>
                <a:gd name="T16" fmla="*/ 5 w 10"/>
                <a:gd name="T17" fmla="*/ 1 h 3"/>
                <a:gd name="T18" fmla="*/ 5 w 10"/>
                <a:gd name="T19" fmla="*/ 1 h 3"/>
                <a:gd name="T20" fmla="*/ 4 w 10"/>
                <a:gd name="T21" fmla="*/ 1 h 3"/>
                <a:gd name="T22" fmla="*/ 4 w 10"/>
                <a:gd name="T23" fmla="*/ 1 h 3"/>
                <a:gd name="T24" fmla="*/ 3 w 10"/>
                <a:gd name="T25" fmla="*/ 1 h 3"/>
                <a:gd name="T26" fmla="*/ 2 w 10"/>
                <a:gd name="T27" fmla="*/ 1 h 3"/>
                <a:gd name="T28" fmla="*/ 2 w 10"/>
                <a:gd name="T29" fmla="*/ 1 h 3"/>
                <a:gd name="T30" fmla="*/ 1 w 10"/>
                <a:gd name="T31" fmla="*/ 1 h 3"/>
                <a:gd name="T32" fmla="*/ 1 w 10"/>
                <a:gd name="T33" fmla="*/ 2 h 3"/>
                <a:gd name="T34" fmla="*/ 0 w 10"/>
                <a:gd name="T35" fmla="*/ 2 h 3"/>
                <a:gd name="T36" fmla="*/ 0 w 10"/>
                <a:gd name="T37" fmla="*/ 1 h 3"/>
                <a:gd name="T38" fmla="*/ 0 w 10"/>
                <a:gd name="T39" fmla="*/ 1 h 3"/>
                <a:gd name="T40" fmla="*/ 1 w 10"/>
                <a:gd name="T41" fmla="*/ 1 h 3"/>
                <a:gd name="T42" fmla="*/ 2 w 10"/>
                <a:gd name="T43" fmla="*/ 0 h 3"/>
                <a:gd name="T44" fmla="*/ 2 w 10"/>
                <a:gd name="T45" fmla="*/ 0 h 3"/>
                <a:gd name="T46" fmla="*/ 3 w 10"/>
                <a:gd name="T47" fmla="*/ 0 h 3"/>
                <a:gd name="T48" fmla="*/ 4 w 10"/>
                <a:gd name="T49" fmla="*/ 0 h 3"/>
                <a:gd name="T50" fmla="*/ 4 w 10"/>
                <a:gd name="T51" fmla="*/ 0 h 3"/>
                <a:gd name="T52" fmla="*/ 5 w 10"/>
                <a:gd name="T53" fmla="*/ 0 h 3"/>
                <a:gd name="T54" fmla="*/ 5 w 10"/>
                <a:gd name="T55" fmla="*/ 0 h 3"/>
                <a:gd name="T56" fmla="*/ 6 w 10"/>
                <a:gd name="T57" fmla="*/ 1 h 3"/>
                <a:gd name="T58" fmla="*/ 7 w 10"/>
                <a:gd name="T59" fmla="*/ 1 h 3"/>
                <a:gd name="T60" fmla="*/ 7 w 10"/>
                <a:gd name="T61" fmla="*/ 1 h 3"/>
                <a:gd name="T62" fmla="*/ 8 w 10"/>
                <a:gd name="T63" fmla="*/ 1 h 3"/>
                <a:gd name="T64" fmla="*/ 8 w 10"/>
                <a:gd name="T65" fmla="*/ 1 h 3"/>
                <a:gd name="T66" fmla="*/ 9 w 10"/>
                <a:gd name="T67" fmla="*/ 2 h 3"/>
                <a:gd name="T68" fmla="*/ 10 w 10"/>
                <a:gd name="T69" fmla="*/ 2 h 3"/>
                <a:gd name="T70" fmla="*/ 10 w 10"/>
                <a:gd name="T71" fmla="*/ 2 h 3"/>
                <a:gd name="T72" fmla="*/ 9 w 10"/>
                <a:gd name="T7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3">
                  <a:moveTo>
                    <a:pt x="9" y="3"/>
                  </a:move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0" name="Freeform 364"/>
            <p:cNvSpPr>
              <a:spLocks/>
            </p:cNvSpPr>
            <p:nvPr/>
          </p:nvSpPr>
          <p:spPr bwMode="auto">
            <a:xfrm>
              <a:off x="1716" y="2835"/>
              <a:ext cx="18" cy="42"/>
            </a:xfrm>
            <a:custGeom>
              <a:avLst/>
              <a:gdLst>
                <a:gd name="T0" fmla="*/ 2 w 3"/>
                <a:gd name="T1" fmla="*/ 7 h 7"/>
                <a:gd name="T2" fmla="*/ 2 w 3"/>
                <a:gd name="T3" fmla="*/ 7 h 7"/>
                <a:gd name="T4" fmla="*/ 2 w 3"/>
                <a:gd name="T5" fmla="*/ 6 h 7"/>
                <a:gd name="T6" fmla="*/ 2 w 3"/>
                <a:gd name="T7" fmla="*/ 5 h 7"/>
                <a:gd name="T8" fmla="*/ 2 w 3"/>
                <a:gd name="T9" fmla="*/ 4 h 7"/>
                <a:gd name="T10" fmla="*/ 2 w 3"/>
                <a:gd name="T11" fmla="*/ 3 h 7"/>
                <a:gd name="T12" fmla="*/ 1 w 3"/>
                <a:gd name="T13" fmla="*/ 3 h 7"/>
                <a:gd name="T14" fmla="*/ 1 w 3"/>
                <a:gd name="T15" fmla="*/ 2 h 7"/>
                <a:gd name="T16" fmla="*/ 1 w 3"/>
                <a:gd name="T17" fmla="*/ 1 h 7"/>
                <a:gd name="T18" fmla="*/ 0 w 3"/>
                <a:gd name="T19" fmla="*/ 1 h 7"/>
                <a:gd name="T20" fmla="*/ 1 w 3"/>
                <a:gd name="T21" fmla="*/ 0 h 7"/>
                <a:gd name="T22" fmla="*/ 1 w 3"/>
                <a:gd name="T23" fmla="*/ 1 h 7"/>
                <a:gd name="T24" fmla="*/ 2 w 3"/>
                <a:gd name="T25" fmla="*/ 1 h 7"/>
                <a:gd name="T26" fmla="*/ 2 w 3"/>
                <a:gd name="T27" fmla="*/ 2 h 7"/>
                <a:gd name="T28" fmla="*/ 3 w 3"/>
                <a:gd name="T29" fmla="*/ 3 h 7"/>
                <a:gd name="T30" fmla="*/ 3 w 3"/>
                <a:gd name="T31" fmla="*/ 4 h 7"/>
                <a:gd name="T32" fmla="*/ 3 w 3"/>
                <a:gd name="T33" fmla="*/ 5 h 7"/>
                <a:gd name="T34" fmla="*/ 3 w 3"/>
                <a:gd name="T35" fmla="*/ 6 h 7"/>
                <a:gd name="T36" fmla="*/ 3 w 3"/>
                <a:gd name="T37" fmla="*/ 7 h 7"/>
                <a:gd name="T38" fmla="*/ 3 w 3"/>
                <a:gd name="T39" fmla="*/ 7 h 7"/>
                <a:gd name="T40" fmla="*/ 2 w 3"/>
                <a:gd name="T4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7">
                  <a:moveTo>
                    <a:pt x="2" y="7"/>
                  </a:move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7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1" name="Freeform 365"/>
            <p:cNvSpPr>
              <a:spLocks/>
            </p:cNvSpPr>
            <p:nvPr/>
          </p:nvSpPr>
          <p:spPr bwMode="auto">
            <a:xfrm>
              <a:off x="1722" y="2877"/>
              <a:ext cx="12" cy="36"/>
            </a:xfrm>
            <a:custGeom>
              <a:avLst/>
              <a:gdLst>
                <a:gd name="T0" fmla="*/ 0 w 2"/>
                <a:gd name="T1" fmla="*/ 6 h 6"/>
                <a:gd name="T2" fmla="*/ 0 w 2"/>
                <a:gd name="T3" fmla="*/ 5 h 6"/>
                <a:gd name="T4" fmla="*/ 0 w 2"/>
                <a:gd name="T5" fmla="*/ 5 h 6"/>
                <a:gd name="T6" fmla="*/ 0 w 2"/>
                <a:gd name="T7" fmla="*/ 4 h 6"/>
                <a:gd name="T8" fmla="*/ 0 w 2"/>
                <a:gd name="T9" fmla="*/ 4 h 6"/>
                <a:gd name="T10" fmla="*/ 0 w 2"/>
                <a:gd name="T11" fmla="*/ 4 h 6"/>
                <a:gd name="T12" fmla="*/ 0 w 2"/>
                <a:gd name="T13" fmla="*/ 4 h 6"/>
                <a:gd name="T14" fmla="*/ 1 w 2"/>
                <a:gd name="T15" fmla="*/ 3 h 6"/>
                <a:gd name="T16" fmla="*/ 1 w 2"/>
                <a:gd name="T17" fmla="*/ 3 h 6"/>
                <a:gd name="T18" fmla="*/ 1 w 2"/>
                <a:gd name="T19" fmla="*/ 2 h 6"/>
                <a:gd name="T20" fmla="*/ 1 w 2"/>
                <a:gd name="T21" fmla="*/ 2 h 6"/>
                <a:gd name="T22" fmla="*/ 1 w 2"/>
                <a:gd name="T23" fmla="*/ 2 h 6"/>
                <a:gd name="T24" fmla="*/ 1 w 2"/>
                <a:gd name="T25" fmla="*/ 1 h 6"/>
                <a:gd name="T26" fmla="*/ 1 w 2"/>
                <a:gd name="T27" fmla="*/ 1 h 6"/>
                <a:gd name="T28" fmla="*/ 1 w 2"/>
                <a:gd name="T29" fmla="*/ 1 h 6"/>
                <a:gd name="T30" fmla="*/ 1 w 2"/>
                <a:gd name="T31" fmla="*/ 0 h 6"/>
                <a:gd name="T32" fmla="*/ 1 w 2"/>
                <a:gd name="T33" fmla="*/ 0 h 6"/>
                <a:gd name="T34" fmla="*/ 1 w 2"/>
                <a:gd name="T35" fmla="*/ 0 h 6"/>
                <a:gd name="T36" fmla="*/ 2 w 2"/>
                <a:gd name="T37" fmla="*/ 0 h 6"/>
                <a:gd name="T38" fmla="*/ 2 w 2"/>
                <a:gd name="T39" fmla="*/ 0 h 6"/>
                <a:gd name="T40" fmla="*/ 2 w 2"/>
                <a:gd name="T41" fmla="*/ 0 h 6"/>
                <a:gd name="T42" fmla="*/ 2 w 2"/>
                <a:gd name="T43" fmla="*/ 1 h 6"/>
                <a:gd name="T44" fmla="*/ 2 w 2"/>
                <a:gd name="T45" fmla="*/ 1 h 6"/>
                <a:gd name="T46" fmla="*/ 2 w 2"/>
                <a:gd name="T47" fmla="*/ 2 h 6"/>
                <a:gd name="T48" fmla="*/ 2 w 2"/>
                <a:gd name="T49" fmla="*/ 2 h 6"/>
                <a:gd name="T50" fmla="*/ 2 w 2"/>
                <a:gd name="T51" fmla="*/ 2 h 6"/>
                <a:gd name="T52" fmla="*/ 2 w 2"/>
                <a:gd name="T53" fmla="*/ 3 h 6"/>
                <a:gd name="T54" fmla="*/ 2 w 2"/>
                <a:gd name="T55" fmla="*/ 3 h 6"/>
                <a:gd name="T56" fmla="*/ 1 w 2"/>
                <a:gd name="T57" fmla="*/ 4 h 6"/>
                <a:gd name="T58" fmla="*/ 1 w 2"/>
                <a:gd name="T59" fmla="*/ 4 h 6"/>
                <a:gd name="T60" fmla="*/ 1 w 2"/>
                <a:gd name="T61" fmla="*/ 4 h 6"/>
                <a:gd name="T62" fmla="*/ 1 w 2"/>
                <a:gd name="T63" fmla="*/ 5 h 6"/>
                <a:gd name="T64" fmla="*/ 1 w 2"/>
                <a:gd name="T65" fmla="*/ 5 h 6"/>
                <a:gd name="T66" fmla="*/ 0 w 2"/>
                <a:gd name="T67" fmla="*/ 5 h 6"/>
                <a:gd name="T68" fmla="*/ 0 w 2"/>
                <a:gd name="T69" fmla="*/ 5 h 6"/>
                <a:gd name="T70" fmla="*/ 0 w 2"/>
                <a:gd name="T71" fmla="*/ 5 h 6"/>
                <a:gd name="T72" fmla="*/ 0 w 2"/>
                <a:gd name="T7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" h="6">
                  <a:moveTo>
                    <a:pt x="0" y="6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2" name="Freeform 366"/>
            <p:cNvSpPr>
              <a:spLocks/>
            </p:cNvSpPr>
            <p:nvPr/>
          </p:nvSpPr>
          <p:spPr bwMode="auto">
            <a:xfrm>
              <a:off x="1602" y="2739"/>
              <a:ext cx="78" cy="96"/>
            </a:xfrm>
            <a:custGeom>
              <a:avLst/>
              <a:gdLst>
                <a:gd name="T0" fmla="*/ 9 w 13"/>
                <a:gd name="T1" fmla="*/ 0 h 16"/>
                <a:gd name="T2" fmla="*/ 9 w 13"/>
                <a:gd name="T3" fmla="*/ 0 h 16"/>
                <a:gd name="T4" fmla="*/ 8 w 13"/>
                <a:gd name="T5" fmla="*/ 0 h 16"/>
                <a:gd name="T6" fmla="*/ 7 w 13"/>
                <a:gd name="T7" fmla="*/ 0 h 16"/>
                <a:gd name="T8" fmla="*/ 7 w 13"/>
                <a:gd name="T9" fmla="*/ 0 h 16"/>
                <a:gd name="T10" fmla="*/ 6 w 13"/>
                <a:gd name="T11" fmla="*/ 0 h 16"/>
                <a:gd name="T12" fmla="*/ 6 w 13"/>
                <a:gd name="T13" fmla="*/ 0 h 16"/>
                <a:gd name="T14" fmla="*/ 5 w 13"/>
                <a:gd name="T15" fmla="*/ 0 h 16"/>
                <a:gd name="T16" fmla="*/ 4 w 13"/>
                <a:gd name="T17" fmla="*/ 0 h 16"/>
                <a:gd name="T18" fmla="*/ 3 w 13"/>
                <a:gd name="T19" fmla="*/ 1 h 16"/>
                <a:gd name="T20" fmla="*/ 3 w 13"/>
                <a:gd name="T21" fmla="*/ 1 h 16"/>
                <a:gd name="T22" fmla="*/ 2 w 13"/>
                <a:gd name="T23" fmla="*/ 1 h 16"/>
                <a:gd name="T24" fmla="*/ 2 w 13"/>
                <a:gd name="T25" fmla="*/ 2 h 16"/>
                <a:gd name="T26" fmla="*/ 1 w 13"/>
                <a:gd name="T27" fmla="*/ 2 h 16"/>
                <a:gd name="T28" fmla="*/ 1 w 13"/>
                <a:gd name="T29" fmla="*/ 3 h 16"/>
                <a:gd name="T30" fmla="*/ 1 w 13"/>
                <a:gd name="T31" fmla="*/ 3 h 16"/>
                <a:gd name="T32" fmla="*/ 0 w 13"/>
                <a:gd name="T33" fmla="*/ 3 h 16"/>
                <a:gd name="T34" fmla="*/ 1 w 13"/>
                <a:gd name="T35" fmla="*/ 5 h 16"/>
                <a:gd name="T36" fmla="*/ 2 w 13"/>
                <a:gd name="T37" fmla="*/ 7 h 16"/>
                <a:gd name="T38" fmla="*/ 2 w 13"/>
                <a:gd name="T39" fmla="*/ 8 h 16"/>
                <a:gd name="T40" fmla="*/ 3 w 13"/>
                <a:gd name="T41" fmla="*/ 10 h 16"/>
                <a:gd name="T42" fmla="*/ 4 w 13"/>
                <a:gd name="T43" fmla="*/ 11 h 16"/>
                <a:gd name="T44" fmla="*/ 5 w 13"/>
                <a:gd name="T45" fmla="*/ 13 h 16"/>
                <a:gd name="T46" fmla="*/ 5 w 13"/>
                <a:gd name="T47" fmla="*/ 14 h 16"/>
                <a:gd name="T48" fmla="*/ 6 w 13"/>
                <a:gd name="T49" fmla="*/ 16 h 16"/>
                <a:gd name="T50" fmla="*/ 6 w 13"/>
                <a:gd name="T51" fmla="*/ 16 h 16"/>
                <a:gd name="T52" fmla="*/ 7 w 13"/>
                <a:gd name="T53" fmla="*/ 16 h 16"/>
                <a:gd name="T54" fmla="*/ 7 w 13"/>
                <a:gd name="T55" fmla="*/ 16 h 16"/>
                <a:gd name="T56" fmla="*/ 8 w 13"/>
                <a:gd name="T57" fmla="*/ 16 h 16"/>
                <a:gd name="T58" fmla="*/ 8 w 13"/>
                <a:gd name="T59" fmla="*/ 15 h 16"/>
                <a:gd name="T60" fmla="*/ 9 w 13"/>
                <a:gd name="T61" fmla="*/ 15 h 16"/>
                <a:gd name="T62" fmla="*/ 9 w 13"/>
                <a:gd name="T63" fmla="*/ 15 h 16"/>
                <a:gd name="T64" fmla="*/ 10 w 13"/>
                <a:gd name="T65" fmla="*/ 15 h 16"/>
                <a:gd name="T66" fmla="*/ 10 w 13"/>
                <a:gd name="T67" fmla="*/ 15 h 16"/>
                <a:gd name="T68" fmla="*/ 11 w 13"/>
                <a:gd name="T69" fmla="*/ 15 h 16"/>
                <a:gd name="T70" fmla="*/ 11 w 13"/>
                <a:gd name="T71" fmla="*/ 14 h 16"/>
                <a:gd name="T72" fmla="*/ 11 w 13"/>
                <a:gd name="T73" fmla="*/ 14 h 16"/>
                <a:gd name="T74" fmla="*/ 12 w 13"/>
                <a:gd name="T75" fmla="*/ 14 h 16"/>
                <a:gd name="T76" fmla="*/ 12 w 13"/>
                <a:gd name="T77" fmla="*/ 14 h 16"/>
                <a:gd name="T78" fmla="*/ 13 w 13"/>
                <a:gd name="T79" fmla="*/ 14 h 16"/>
                <a:gd name="T80" fmla="*/ 13 w 13"/>
                <a:gd name="T81" fmla="*/ 13 h 16"/>
                <a:gd name="T82" fmla="*/ 12 w 13"/>
                <a:gd name="T83" fmla="*/ 12 h 16"/>
                <a:gd name="T84" fmla="*/ 12 w 13"/>
                <a:gd name="T85" fmla="*/ 10 h 16"/>
                <a:gd name="T86" fmla="*/ 12 w 13"/>
                <a:gd name="T87" fmla="*/ 8 h 16"/>
                <a:gd name="T88" fmla="*/ 11 w 13"/>
                <a:gd name="T89" fmla="*/ 7 h 16"/>
                <a:gd name="T90" fmla="*/ 11 w 13"/>
                <a:gd name="T91" fmla="*/ 5 h 16"/>
                <a:gd name="T92" fmla="*/ 10 w 13"/>
                <a:gd name="T93" fmla="*/ 4 h 16"/>
                <a:gd name="T94" fmla="*/ 10 w 13"/>
                <a:gd name="T95" fmla="*/ 2 h 16"/>
                <a:gd name="T96" fmla="*/ 9 w 13"/>
                <a:gd name="T9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" h="16">
                  <a:moveTo>
                    <a:pt x="9" y="0"/>
                  </a:moveTo>
                  <a:lnTo>
                    <a:pt x="9" y="0"/>
                  </a:lnTo>
                  <a:lnTo>
                    <a:pt x="8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5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10" y="15"/>
                  </a:lnTo>
                  <a:lnTo>
                    <a:pt x="10" y="15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3" name="Freeform 367"/>
            <p:cNvSpPr>
              <a:spLocks/>
            </p:cNvSpPr>
            <p:nvPr/>
          </p:nvSpPr>
          <p:spPr bwMode="auto">
            <a:xfrm>
              <a:off x="1602" y="2733"/>
              <a:ext cx="54" cy="30"/>
            </a:xfrm>
            <a:custGeom>
              <a:avLst/>
              <a:gdLst>
                <a:gd name="T0" fmla="*/ 0 w 9"/>
                <a:gd name="T1" fmla="*/ 5 h 5"/>
                <a:gd name="T2" fmla="*/ 0 w 9"/>
                <a:gd name="T3" fmla="*/ 4 h 5"/>
                <a:gd name="T4" fmla="*/ 0 w 9"/>
                <a:gd name="T5" fmla="*/ 4 h 5"/>
                <a:gd name="T6" fmla="*/ 1 w 9"/>
                <a:gd name="T7" fmla="*/ 3 h 5"/>
                <a:gd name="T8" fmla="*/ 1 w 9"/>
                <a:gd name="T9" fmla="*/ 3 h 5"/>
                <a:gd name="T10" fmla="*/ 2 w 9"/>
                <a:gd name="T11" fmla="*/ 2 h 5"/>
                <a:gd name="T12" fmla="*/ 2 w 9"/>
                <a:gd name="T13" fmla="*/ 2 h 5"/>
                <a:gd name="T14" fmla="*/ 3 w 9"/>
                <a:gd name="T15" fmla="*/ 2 h 5"/>
                <a:gd name="T16" fmla="*/ 3 w 9"/>
                <a:gd name="T17" fmla="*/ 1 h 5"/>
                <a:gd name="T18" fmla="*/ 4 w 9"/>
                <a:gd name="T19" fmla="*/ 1 h 5"/>
                <a:gd name="T20" fmla="*/ 5 w 9"/>
                <a:gd name="T21" fmla="*/ 1 h 5"/>
                <a:gd name="T22" fmla="*/ 5 w 9"/>
                <a:gd name="T23" fmla="*/ 1 h 5"/>
                <a:gd name="T24" fmla="*/ 6 w 9"/>
                <a:gd name="T25" fmla="*/ 1 h 5"/>
                <a:gd name="T26" fmla="*/ 7 w 9"/>
                <a:gd name="T27" fmla="*/ 0 h 5"/>
                <a:gd name="T28" fmla="*/ 7 w 9"/>
                <a:gd name="T29" fmla="*/ 0 h 5"/>
                <a:gd name="T30" fmla="*/ 8 w 9"/>
                <a:gd name="T31" fmla="*/ 1 h 5"/>
                <a:gd name="T32" fmla="*/ 9 w 9"/>
                <a:gd name="T33" fmla="*/ 1 h 5"/>
                <a:gd name="T34" fmla="*/ 9 w 9"/>
                <a:gd name="T35" fmla="*/ 1 h 5"/>
                <a:gd name="T36" fmla="*/ 9 w 9"/>
                <a:gd name="T37" fmla="*/ 2 h 5"/>
                <a:gd name="T38" fmla="*/ 9 w 9"/>
                <a:gd name="T39" fmla="*/ 1 h 5"/>
                <a:gd name="T40" fmla="*/ 8 w 9"/>
                <a:gd name="T41" fmla="*/ 1 h 5"/>
                <a:gd name="T42" fmla="*/ 7 w 9"/>
                <a:gd name="T43" fmla="*/ 1 h 5"/>
                <a:gd name="T44" fmla="*/ 7 w 9"/>
                <a:gd name="T45" fmla="*/ 1 h 5"/>
                <a:gd name="T46" fmla="*/ 6 w 9"/>
                <a:gd name="T47" fmla="*/ 1 h 5"/>
                <a:gd name="T48" fmla="*/ 6 w 9"/>
                <a:gd name="T49" fmla="*/ 1 h 5"/>
                <a:gd name="T50" fmla="*/ 5 w 9"/>
                <a:gd name="T51" fmla="*/ 2 h 5"/>
                <a:gd name="T52" fmla="*/ 4 w 9"/>
                <a:gd name="T53" fmla="*/ 2 h 5"/>
                <a:gd name="T54" fmla="*/ 4 w 9"/>
                <a:gd name="T55" fmla="*/ 2 h 5"/>
                <a:gd name="T56" fmla="*/ 3 w 9"/>
                <a:gd name="T57" fmla="*/ 2 h 5"/>
                <a:gd name="T58" fmla="*/ 3 w 9"/>
                <a:gd name="T59" fmla="*/ 3 h 5"/>
                <a:gd name="T60" fmla="*/ 2 w 9"/>
                <a:gd name="T61" fmla="*/ 3 h 5"/>
                <a:gd name="T62" fmla="*/ 2 w 9"/>
                <a:gd name="T63" fmla="*/ 4 h 5"/>
                <a:gd name="T64" fmla="*/ 1 w 9"/>
                <a:gd name="T65" fmla="*/ 4 h 5"/>
                <a:gd name="T66" fmla="*/ 1 w 9"/>
                <a:gd name="T67" fmla="*/ 4 h 5"/>
                <a:gd name="T68" fmla="*/ 1 w 9"/>
                <a:gd name="T69" fmla="*/ 5 h 5"/>
                <a:gd name="T70" fmla="*/ 1 w 9"/>
                <a:gd name="T71" fmla="*/ 4 h 5"/>
                <a:gd name="T72" fmla="*/ 0 w 9"/>
                <a:gd name="T7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4" name="Freeform 368"/>
            <p:cNvSpPr>
              <a:spLocks/>
            </p:cNvSpPr>
            <p:nvPr/>
          </p:nvSpPr>
          <p:spPr bwMode="auto">
            <a:xfrm>
              <a:off x="1602" y="2757"/>
              <a:ext cx="36" cy="78"/>
            </a:xfrm>
            <a:custGeom>
              <a:avLst/>
              <a:gdLst>
                <a:gd name="T0" fmla="*/ 6 w 6"/>
                <a:gd name="T1" fmla="*/ 13 h 13"/>
                <a:gd name="T2" fmla="*/ 6 w 6"/>
                <a:gd name="T3" fmla="*/ 13 h 13"/>
                <a:gd name="T4" fmla="*/ 5 w 6"/>
                <a:gd name="T5" fmla="*/ 11 h 13"/>
                <a:gd name="T6" fmla="*/ 4 w 6"/>
                <a:gd name="T7" fmla="*/ 10 h 13"/>
                <a:gd name="T8" fmla="*/ 3 w 6"/>
                <a:gd name="T9" fmla="*/ 8 h 13"/>
                <a:gd name="T10" fmla="*/ 3 w 6"/>
                <a:gd name="T11" fmla="*/ 7 h 13"/>
                <a:gd name="T12" fmla="*/ 2 w 6"/>
                <a:gd name="T13" fmla="*/ 5 h 13"/>
                <a:gd name="T14" fmla="*/ 1 w 6"/>
                <a:gd name="T15" fmla="*/ 4 h 13"/>
                <a:gd name="T16" fmla="*/ 1 w 6"/>
                <a:gd name="T17" fmla="*/ 2 h 13"/>
                <a:gd name="T18" fmla="*/ 0 w 6"/>
                <a:gd name="T19" fmla="*/ 1 h 13"/>
                <a:gd name="T20" fmla="*/ 1 w 6"/>
                <a:gd name="T21" fmla="*/ 0 h 13"/>
                <a:gd name="T22" fmla="*/ 2 w 6"/>
                <a:gd name="T23" fmla="*/ 2 h 13"/>
                <a:gd name="T24" fmla="*/ 2 w 6"/>
                <a:gd name="T25" fmla="*/ 3 h 13"/>
                <a:gd name="T26" fmla="*/ 3 w 6"/>
                <a:gd name="T27" fmla="*/ 5 h 13"/>
                <a:gd name="T28" fmla="*/ 4 w 6"/>
                <a:gd name="T29" fmla="*/ 6 h 13"/>
                <a:gd name="T30" fmla="*/ 4 w 6"/>
                <a:gd name="T31" fmla="*/ 8 h 13"/>
                <a:gd name="T32" fmla="*/ 5 w 6"/>
                <a:gd name="T33" fmla="*/ 10 h 13"/>
                <a:gd name="T34" fmla="*/ 6 w 6"/>
                <a:gd name="T35" fmla="*/ 11 h 13"/>
                <a:gd name="T36" fmla="*/ 6 w 6"/>
                <a:gd name="T37" fmla="*/ 13 h 13"/>
                <a:gd name="T38" fmla="*/ 6 w 6"/>
                <a:gd name="T39" fmla="*/ 12 h 13"/>
                <a:gd name="T40" fmla="*/ 6 w 6"/>
                <a:gd name="T4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13">
                  <a:moveTo>
                    <a:pt x="6" y="13"/>
                  </a:moveTo>
                  <a:lnTo>
                    <a:pt x="6" y="13"/>
                  </a:lnTo>
                  <a:lnTo>
                    <a:pt x="5" y="11"/>
                  </a:lnTo>
                  <a:lnTo>
                    <a:pt x="4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2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3"/>
                  </a:lnTo>
                  <a:lnTo>
                    <a:pt x="3" y="5"/>
                  </a:lnTo>
                  <a:lnTo>
                    <a:pt x="4" y="6"/>
                  </a:lnTo>
                  <a:lnTo>
                    <a:pt x="4" y="8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5" name="Freeform 369"/>
            <p:cNvSpPr>
              <a:spLocks/>
            </p:cNvSpPr>
            <p:nvPr/>
          </p:nvSpPr>
          <p:spPr bwMode="auto">
            <a:xfrm>
              <a:off x="1638" y="2817"/>
              <a:ext cx="42" cy="18"/>
            </a:xfrm>
            <a:custGeom>
              <a:avLst/>
              <a:gdLst>
                <a:gd name="T0" fmla="*/ 7 w 7"/>
                <a:gd name="T1" fmla="*/ 0 h 3"/>
                <a:gd name="T2" fmla="*/ 7 w 7"/>
                <a:gd name="T3" fmla="*/ 1 h 3"/>
                <a:gd name="T4" fmla="*/ 7 w 7"/>
                <a:gd name="T5" fmla="*/ 1 h 3"/>
                <a:gd name="T6" fmla="*/ 6 w 7"/>
                <a:gd name="T7" fmla="*/ 1 h 3"/>
                <a:gd name="T8" fmla="*/ 6 w 7"/>
                <a:gd name="T9" fmla="*/ 1 h 3"/>
                <a:gd name="T10" fmla="*/ 6 w 7"/>
                <a:gd name="T11" fmla="*/ 2 h 3"/>
                <a:gd name="T12" fmla="*/ 5 w 7"/>
                <a:gd name="T13" fmla="*/ 2 h 3"/>
                <a:gd name="T14" fmla="*/ 5 w 7"/>
                <a:gd name="T15" fmla="*/ 2 h 3"/>
                <a:gd name="T16" fmla="*/ 4 w 7"/>
                <a:gd name="T17" fmla="*/ 2 h 3"/>
                <a:gd name="T18" fmla="*/ 4 w 7"/>
                <a:gd name="T19" fmla="*/ 2 h 3"/>
                <a:gd name="T20" fmla="*/ 3 w 7"/>
                <a:gd name="T21" fmla="*/ 3 h 3"/>
                <a:gd name="T22" fmla="*/ 3 w 7"/>
                <a:gd name="T23" fmla="*/ 3 h 3"/>
                <a:gd name="T24" fmla="*/ 2 w 7"/>
                <a:gd name="T25" fmla="*/ 3 h 3"/>
                <a:gd name="T26" fmla="*/ 2 w 7"/>
                <a:gd name="T27" fmla="*/ 3 h 3"/>
                <a:gd name="T28" fmla="*/ 1 w 7"/>
                <a:gd name="T29" fmla="*/ 3 h 3"/>
                <a:gd name="T30" fmla="*/ 1 w 7"/>
                <a:gd name="T31" fmla="*/ 3 h 3"/>
                <a:gd name="T32" fmla="*/ 0 w 7"/>
                <a:gd name="T33" fmla="*/ 3 h 3"/>
                <a:gd name="T34" fmla="*/ 0 w 7"/>
                <a:gd name="T35" fmla="*/ 3 h 3"/>
                <a:gd name="T36" fmla="*/ 0 w 7"/>
                <a:gd name="T37" fmla="*/ 2 h 3"/>
                <a:gd name="T38" fmla="*/ 0 w 7"/>
                <a:gd name="T39" fmla="*/ 2 h 3"/>
                <a:gd name="T40" fmla="*/ 1 w 7"/>
                <a:gd name="T41" fmla="*/ 2 h 3"/>
                <a:gd name="T42" fmla="*/ 1 w 7"/>
                <a:gd name="T43" fmla="*/ 2 h 3"/>
                <a:gd name="T44" fmla="*/ 2 w 7"/>
                <a:gd name="T45" fmla="*/ 2 h 3"/>
                <a:gd name="T46" fmla="*/ 2 w 7"/>
                <a:gd name="T47" fmla="*/ 2 h 3"/>
                <a:gd name="T48" fmla="*/ 3 w 7"/>
                <a:gd name="T49" fmla="*/ 2 h 3"/>
                <a:gd name="T50" fmla="*/ 3 w 7"/>
                <a:gd name="T51" fmla="*/ 2 h 3"/>
                <a:gd name="T52" fmla="*/ 3 w 7"/>
                <a:gd name="T53" fmla="*/ 2 h 3"/>
                <a:gd name="T54" fmla="*/ 4 w 7"/>
                <a:gd name="T55" fmla="*/ 1 h 3"/>
                <a:gd name="T56" fmla="*/ 4 w 7"/>
                <a:gd name="T57" fmla="*/ 1 h 3"/>
                <a:gd name="T58" fmla="*/ 5 w 7"/>
                <a:gd name="T59" fmla="*/ 1 h 3"/>
                <a:gd name="T60" fmla="*/ 5 w 7"/>
                <a:gd name="T61" fmla="*/ 1 h 3"/>
                <a:gd name="T62" fmla="*/ 6 w 7"/>
                <a:gd name="T63" fmla="*/ 1 h 3"/>
                <a:gd name="T64" fmla="*/ 6 w 7"/>
                <a:gd name="T65" fmla="*/ 0 h 3"/>
                <a:gd name="T66" fmla="*/ 6 w 7"/>
                <a:gd name="T67" fmla="*/ 0 h 3"/>
                <a:gd name="T68" fmla="*/ 7 w 7"/>
                <a:gd name="T69" fmla="*/ 0 h 3"/>
                <a:gd name="T70" fmla="*/ 7 w 7"/>
                <a:gd name="T71" fmla="*/ 1 h 3"/>
                <a:gd name="T72" fmla="*/ 7 w 7"/>
                <a:gd name="T7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6" name="Freeform 370"/>
            <p:cNvSpPr>
              <a:spLocks/>
            </p:cNvSpPr>
            <p:nvPr/>
          </p:nvSpPr>
          <p:spPr bwMode="auto">
            <a:xfrm>
              <a:off x="1656" y="2739"/>
              <a:ext cx="24" cy="84"/>
            </a:xfrm>
            <a:custGeom>
              <a:avLst/>
              <a:gdLst>
                <a:gd name="T0" fmla="*/ 0 w 4"/>
                <a:gd name="T1" fmla="*/ 0 h 14"/>
                <a:gd name="T2" fmla="*/ 0 w 4"/>
                <a:gd name="T3" fmla="*/ 0 h 14"/>
                <a:gd name="T4" fmla="*/ 1 w 4"/>
                <a:gd name="T5" fmla="*/ 2 h 14"/>
                <a:gd name="T6" fmla="*/ 2 w 4"/>
                <a:gd name="T7" fmla="*/ 3 h 14"/>
                <a:gd name="T8" fmla="*/ 2 w 4"/>
                <a:gd name="T9" fmla="*/ 5 h 14"/>
                <a:gd name="T10" fmla="*/ 3 w 4"/>
                <a:gd name="T11" fmla="*/ 7 h 14"/>
                <a:gd name="T12" fmla="*/ 3 w 4"/>
                <a:gd name="T13" fmla="*/ 8 h 14"/>
                <a:gd name="T14" fmla="*/ 3 w 4"/>
                <a:gd name="T15" fmla="*/ 10 h 14"/>
                <a:gd name="T16" fmla="*/ 4 w 4"/>
                <a:gd name="T17" fmla="*/ 12 h 14"/>
                <a:gd name="T18" fmla="*/ 4 w 4"/>
                <a:gd name="T19" fmla="*/ 13 h 14"/>
                <a:gd name="T20" fmla="*/ 4 w 4"/>
                <a:gd name="T21" fmla="*/ 14 h 14"/>
                <a:gd name="T22" fmla="*/ 3 w 4"/>
                <a:gd name="T23" fmla="*/ 12 h 14"/>
                <a:gd name="T24" fmla="*/ 3 w 4"/>
                <a:gd name="T25" fmla="*/ 10 h 14"/>
                <a:gd name="T26" fmla="*/ 2 w 4"/>
                <a:gd name="T27" fmla="*/ 8 h 14"/>
                <a:gd name="T28" fmla="*/ 2 w 4"/>
                <a:gd name="T29" fmla="*/ 7 h 14"/>
                <a:gd name="T30" fmla="*/ 1 w 4"/>
                <a:gd name="T31" fmla="*/ 5 h 14"/>
                <a:gd name="T32" fmla="*/ 1 w 4"/>
                <a:gd name="T33" fmla="*/ 4 h 14"/>
                <a:gd name="T34" fmla="*/ 0 w 4"/>
                <a:gd name="T35" fmla="*/ 2 h 14"/>
                <a:gd name="T36" fmla="*/ 0 w 4"/>
                <a:gd name="T37" fmla="*/ 0 h 14"/>
                <a:gd name="T38" fmla="*/ 0 w 4"/>
                <a:gd name="T39" fmla="*/ 1 h 14"/>
                <a:gd name="T40" fmla="*/ 0 w 4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14">
                  <a:moveTo>
                    <a:pt x="0" y="0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7" name="Freeform 371"/>
            <p:cNvSpPr>
              <a:spLocks/>
            </p:cNvSpPr>
            <p:nvPr/>
          </p:nvSpPr>
          <p:spPr bwMode="auto">
            <a:xfrm>
              <a:off x="1620" y="2757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8" name="Freeform 372"/>
            <p:cNvSpPr>
              <a:spLocks/>
            </p:cNvSpPr>
            <p:nvPr/>
          </p:nvSpPr>
          <p:spPr bwMode="auto">
            <a:xfrm>
              <a:off x="1608" y="2757"/>
              <a:ext cx="18" cy="12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1 h 2"/>
                <a:gd name="T4" fmla="*/ 2 w 3"/>
                <a:gd name="T5" fmla="*/ 0 h 2"/>
                <a:gd name="T6" fmla="*/ 3 w 3"/>
                <a:gd name="T7" fmla="*/ 1 h 2"/>
                <a:gd name="T8" fmla="*/ 0 w 3"/>
                <a:gd name="T9" fmla="*/ 2 h 2"/>
                <a:gd name="T10" fmla="*/ 0 w 3"/>
                <a:gd name="T11" fmla="*/ 2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29" name="Freeform 373"/>
            <p:cNvSpPr>
              <a:spLocks/>
            </p:cNvSpPr>
            <p:nvPr/>
          </p:nvSpPr>
          <p:spPr bwMode="auto">
            <a:xfrm>
              <a:off x="1626" y="2769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0" name="Freeform 374"/>
            <p:cNvSpPr>
              <a:spLocks/>
            </p:cNvSpPr>
            <p:nvPr/>
          </p:nvSpPr>
          <p:spPr bwMode="auto">
            <a:xfrm>
              <a:off x="1608" y="2769"/>
              <a:ext cx="18" cy="12"/>
            </a:xfrm>
            <a:custGeom>
              <a:avLst/>
              <a:gdLst>
                <a:gd name="T0" fmla="*/ 1 w 3"/>
                <a:gd name="T1" fmla="*/ 1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1 h 2"/>
                <a:gd name="T8" fmla="*/ 1 w 3"/>
                <a:gd name="T9" fmla="*/ 2 h 2"/>
                <a:gd name="T10" fmla="*/ 1 w 3"/>
                <a:gd name="T11" fmla="*/ 1 h 2"/>
                <a:gd name="T12" fmla="*/ 1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1" y="1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1" name="Freeform 375"/>
            <p:cNvSpPr>
              <a:spLocks/>
            </p:cNvSpPr>
            <p:nvPr/>
          </p:nvSpPr>
          <p:spPr bwMode="auto">
            <a:xfrm>
              <a:off x="1608" y="277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2" name="Freeform 376"/>
            <p:cNvSpPr>
              <a:spLocks/>
            </p:cNvSpPr>
            <p:nvPr/>
          </p:nvSpPr>
          <p:spPr bwMode="auto">
            <a:xfrm>
              <a:off x="1614" y="2781"/>
              <a:ext cx="18" cy="6"/>
            </a:xfrm>
            <a:custGeom>
              <a:avLst/>
              <a:gdLst>
                <a:gd name="T0" fmla="*/ 0 w 3"/>
                <a:gd name="T1" fmla="*/ 1 h 1"/>
                <a:gd name="T2" fmla="*/ 0 w 3"/>
                <a:gd name="T3" fmla="*/ 0 h 1"/>
                <a:gd name="T4" fmla="*/ 3 w 3"/>
                <a:gd name="T5" fmla="*/ 0 h 1"/>
                <a:gd name="T6" fmla="*/ 3 w 3"/>
                <a:gd name="T7" fmla="*/ 0 h 1"/>
                <a:gd name="T8" fmla="*/ 1 w 3"/>
                <a:gd name="T9" fmla="*/ 1 h 1"/>
                <a:gd name="T10" fmla="*/ 0 w 3"/>
                <a:gd name="T11" fmla="*/ 1 h 1"/>
                <a:gd name="T12" fmla="*/ 0 w 3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3" name="Freeform 377"/>
            <p:cNvSpPr>
              <a:spLocks/>
            </p:cNvSpPr>
            <p:nvPr/>
          </p:nvSpPr>
          <p:spPr bwMode="auto">
            <a:xfrm>
              <a:off x="1614" y="278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4" name="Freeform 378"/>
            <p:cNvSpPr>
              <a:spLocks/>
            </p:cNvSpPr>
            <p:nvPr/>
          </p:nvSpPr>
          <p:spPr bwMode="auto">
            <a:xfrm>
              <a:off x="1632" y="2787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5" name="Freeform 379"/>
            <p:cNvSpPr>
              <a:spLocks/>
            </p:cNvSpPr>
            <p:nvPr/>
          </p:nvSpPr>
          <p:spPr bwMode="auto">
            <a:xfrm>
              <a:off x="1620" y="2787"/>
              <a:ext cx="12" cy="12"/>
            </a:xfrm>
            <a:custGeom>
              <a:avLst/>
              <a:gdLst>
                <a:gd name="T0" fmla="*/ 0 w 2"/>
                <a:gd name="T1" fmla="*/ 2 h 2"/>
                <a:gd name="T2" fmla="*/ 0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0 w 2"/>
                <a:gd name="T9" fmla="*/ 2 h 2"/>
                <a:gd name="T10" fmla="*/ 0 w 2"/>
                <a:gd name="T11" fmla="*/ 2 h 2"/>
                <a:gd name="T12" fmla="*/ 0 w 2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6" name="Freeform 380"/>
            <p:cNvSpPr>
              <a:spLocks/>
            </p:cNvSpPr>
            <p:nvPr/>
          </p:nvSpPr>
          <p:spPr bwMode="auto">
            <a:xfrm>
              <a:off x="1626" y="2799"/>
              <a:ext cx="12" cy="6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0 w 2"/>
                <a:gd name="T9" fmla="*/ 1 h 1"/>
                <a:gd name="T10" fmla="*/ 0 w 2"/>
                <a:gd name="T11" fmla="*/ 1 h 1"/>
                <a:gd name="T12" fmla="*/ 0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7" name="Freeform 381"/>
            <p:cNvSpPr>
              <a:spLocks/>
            </p:cNvSpPr>
            <p:nvPr/>
          </p:nvSpPr>
          <p:spPr bwMode="auto">
            <a:xfrm>
              <a:off x="1638" y="280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8" name="Freeform 382"/>
            <p:cNvSpPr>
              <a:spLocks/>
            </p:cNvSpPr>
            <p:nvPr/>
          </p:nvSpPr>
          <p:spPr bwMode="auto">
            <a:xfrm>
              <a:off x="1626" y="2805"/>
              <a:ext cx="18" cy="12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1 h 2"/>
                <a:gd name="T4" fmla="*/ 2 w 3"/>
                <a:gd name="T5" fmla="*/ 0 h 2"/>
                <a:gd name="T6" fmla="*/ 3 w 3"/>
                <a:gd name="T7" fmla="*/ 1 h 2"/>
                <a:gd name="T8" fmla="*/ 1 w 3"/>
                <a:gd name="T9" fmla="*/ 2 h 2"/>
                <a:gd name="T10" fmla="*/ 0 w 3"/>
                <a:gd name="T11" fmla="*/ 1 h 2"/>
                <a:gd name="T12" fmla="*/ 0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39" name="Freeform 383"/>
            <p:cNvSpPr>
              <a:spLocks/>
            </p:cNvSpPr>
            <p:nvPr/>
          </p:nvSpPr>
          <p:spPr bwMode="auto">
            <a:xfrm>
              <a:off x="1626" y="2811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0" name="Freeform 384"/>
            <p:cNvSpPr>
              <a:spLocks/>
            </p:cNvSpPr>
            <p:nvPr/>
          </p:nvSpPr>
          <p:spPr bwMode="auto">
            <a:xfrm>
              <a:off x="1632" y="2817"/>
              <a:ext cx="18" cy="12"/>
            </a:xfrm>
            <a:custGeom>
              <a:avLst/>
              <a:gdLst>
                <a:gd name="T0" fmla="*/ 0 w 3"/>
                <a:gd name="T1" fmla="*/ 1 h 2"/>
                <a:gd name="T2" fmla="*/ 0 w 3"/>
                <a:gd name="T3" fmla="*/ 1 h 2"/>
                <a:gd name="T4" fmla="*/ 3 w 3"/>
                <a:gd name="T5" fmla="*/ 0 h 2"/>
                <a:gd name="T6" fmla="*/ 3 w 3"/>
                <a:gd name="T7" fmla="*/ 1 h 2"/>
                <a:gd name="T8" fmla="*/ 0 w 3"/>
                <a:gd name="T9" fmla="*/ 2 h 2"/>
                <a:gd name="T10" fmla="*/ 0 w 3"/>
                <a:gd name="T11" fmla="*/ 1 h 2"/>
                <a:gd name="T12" fmla="*/ 0 w 3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1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1" name="Freeform 385"/>
            <p:cNvSpPr>
              <a:spLocks/>
            </p:cNvSpPr>
            <p:nvPr/>
          </p:nvSpPr>
          <p:spPr bwMode="auto">
            <a:xfrm>
              <a:off x="1650" y="2823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2" name="Freeform 386"/>
            <p:cNvSpPr>
              <a:spLocks/>
            </p:cNvSpPr>
            <p:nvPr/>
          </p:nvSpPr>
          <p:spPr bwMode="auto">
            <a:xfrm>
              <a:off x="1638" y="2823"/>
              <a:ext cx="12" cy="12"/>
            </a:xfrm>
            <a:custGeom>
              <a:avLst/>
              <a:gdLst>
                <a:gd name="T0" fmla="*/ 0 w 2"/>
                <a:gd name="T1" fmla="*/ 1 h 2"/>
                <a:gd name="T2" fmla="*/ 0 w 2"/>
                <a:gd name="T3" fmla="*/ 1 h 2"/>
                <a:gd name="T4" fmla="*/ 2 w 2"/>
                <a:gd name="T5" fmla="*/ 0 h 2"/>
                <a:gd name="T6" fmla="*/ 2 w 2"/>
                <a:gd name="T7" fmla="*/ 1 h 2"/>
                <a:gd name="T8" fmla="*/ 0 w 2"/>
                <a:gd name="T9" fmla="*/ 2 h 2"/>
                <a:gd name="T10" fmla="*/ 0 w 2"/>
                <a:gd name="T11" fmla="*/ 1 h 2"/>
                <a:gd name="T12" fmla="*/ 0 w 2"/>
                <a:gd name="T1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3" name="Freeform 387"/>
            <p:cNvSpPr>
              <a:spLocks/>
            </p:cNvSpPr>
            <p:nvPr/>
          </p:nvSpPr>
          <p:spPr bwMode="auto">
            <a:xfrm>
              <a:off x="1632" y="2829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0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4" name="Freeform 388"/>
            <p:cNvSpPr>
              <a:spLocks/>
            </p:cNvSpPr>
            <p:nvPr/>
          </p:nvSpPr>
          <p:spPr bwMode="auto">
            <a:xfrm>
              <a:off x="1704" y="2829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0 w 1"/>
                <a:gd name="T9" fmla="*/ 0 h 1"/>
                <a:gd name="T10" fmla="*/ 1 w 1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5" name="Freeform 389"/>
            <p:cNvSpPr>
              <a:spLocks/>
            </p:cNvSpPr>
            <p:nvPr/>
          </p:nvSpPr>
          <p:spPr bwMode="auto">
            <a:xfrm>
              <a:off x="1704" y="2823"/>
              <a:ext cx="30" cy="12"/>
            </a:xfrm>
            <a:custGeom>
              <a:avLst/>
              <a:gdLst>
                <a:gd name="T0" fmla="*/ 5 w 5"/>
                <a:gd name="T1" fmla="*/ 0 h 2"/>
                <a:gd name="T2" fmla="*/ 5 w 5"/>
                <a:gd name="T3" fmla="*/ 0 h 2"/>
                <a:gd name="T4" fmla="*/ 1 w 5"/>
                <a:gd name="T5" fmla="*/ 2 h 2"/>
                <a:gd name="T6" fmla="*/ 0 w 5"/>
                <a:gd name="T7" fmla="*/ 1 h 2"/>
                <a:gd name="T8" fmla="*/ 5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0"/>
                  </a:lnTo>
                  <a:lnTo>
                    <a:pt x="1" y="2"/>
                  </a:ln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6" name="Freeform 390"/>
            <p:cNvSpPr>
              <a:spLocks/>
            </p:cNvSpPr>
            <p:nvPr/>
          </p:nvSpPr>
          <p:spPr bwMode="auto">
            <a:xfrm>
              <a:off x="1722" y="2829"/>
              <a:ext cx="36" cy="12"/>
            </a:xfrm>
            <a:custGeom>
              <a:avLst/>
              <a:gdLst>
                <a:gd name="T0" fmla="*/ 6 w 6"/>
                <a:gd name="T1" fmla="*/ 0 h 2"/>
                <a:gd name="T2" fmla="*/ 6 w 6"/>
                <a:gd name="T3" fmla="*/ 1 h 2"/>
                <a:gd name="T4" fmla="*/ 0 w 6"/>
                <a:gd name="T5" fmla="*/ 2 h 2"/>
                <a:gd name="T6" fmla="*/ 0 w 6"/>
                <a:gd name="T7" fmla="*/ 2 h 2"/>
                <a:gd name="T8" fmla="*/ 5 w 6"/>
                <a:gd name="T9" fmla="*/ 0 h 2"/>
                <a:gd name="T10" fmla="*/ 6 w 6"/>
                <a:gd name="T11" fmla="*/ 0 h 2"/>
                <a:gd name="T12" fmla="*/ 6 w 6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7" name="Freeform 391"/>
            <p:cNvSpPr>
              <a:spLocks/>
            </p:cNvSpPr>
            <p:nvPr/>
          </p:nvSpPr>
          <p:spPr bwMode="auto">
            <a:xfrm>
              <a:off x="1752" y="282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0 w 1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8" name="Freeform 392"/>
            <p:cNvSpPr>
              <a:spLocks/>
            </p:cNvSpPr>
            <p:nvPr/>
          </p:nvSpPr>
          <p:spPr bwMode="auto">
            <a:xfrm>
              <a:off x="1614" y="2919"/>
              <a:ext cx="36" cy="18"/>
            </a:xfrm>
            <a:custGeom>
              <a:avLst/>
              <a:gdLst>
                <a:gd name="T0" fmla="*/ 0 w 6"/>
                <a:gd name="T1" fmla="*/ 2 h 3"/>
                <a:gd name="T2" fmla="*/ 0 w 6"/>
                <a:gd name="T3" fmla="*/ 2 h 3"/>
                <a:gd name="T4" fmla="*/ 6 w 6"/>
                <a:gd name="T5" fmla="*/ 0 h 3"/>
                <a:gd name="T6" fmla="*/ 6 w 6"/>
                <a:gd name="T7" fmla="*/ 0 h 3"/>
                <a:gd name="T8" fmla="*/ 0 w 6"/>
                <a:gd name="T9" fmla="*/ 3 h 3"/>
                <a:gd name="T10" fmla="*/ 0 w 6"/>
                <a:gd name="T11" fmla="*/ 2 h 3"/>
                <a:gd name="T12" fmla="*/ 0 w 6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49" name="Freeform 393"/>
            <p:cNvSpPr>
              <a:spLocks/>
            </p:cNvSpPr>
            <p:nvPr/>
          </p:nvSpPr>
          <p:spPr bwMode="auto">
            <a:xfrm>
              <a:off x="1626" y="2919"/>
              <a:ext cx="36" cy="24"/>
            </a:xfrm>
            <a:custGeom>
              <a:avLst/>
              <a:gdLst>
                <a:gd name="T0" fmla="*/ 0 w 6"/>
                <a:gd name="T1" fmla="*/ 3 h 4"/>
                <a:gd name="T2" fmla="*/ 0 w 6"/>
                <a:gd name="T3" fmla="*/ 3 h 4"/>
                <a:gd name="T4" fmla="*/ 6 w 6"/>
                <a:gd name="T5" fmla="*/ 0 h 4"/>
                <a:gd name="T6" fmla="*/ 6 w 6"/>
                <a:gd name="T7" fmla="*/ 1 h 4"/>
                <a:gd name="T8" fmla="*/ 0 w 6"/>
                <a:gd name="T9" fmla="*/ 4 h 4"/>
                <a:gd name="T10" fmla="*/ 0 w 6"/>
                <a:gd name="T11" fmla="*/ 3 h 4"/>
                <a:gd name="T12" fmla="*/ 0 w 6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3"/>
                  </a:moveTo>
                  <a:lnTo>
                    <a:pt x="0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0" name="Freeform 394"/>
            <p:cNvSpPr>
              <a:spLocks/>
            </p:cNvSpPr>
            <p:nvPr/>
          </p:nvSpPr>
          <p:spPr bwMode="auto">
            <a:xfrm>
              <a:off x="1668" y="3045"/>
              <a:ext cx="6" cy="30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0 h 5"/>
                <a:gd name="T4" fmla="*/ 0 w 1"/>
                <a:gd name="T5" fmla="*/ 0 h 5"/>
                <a:gd name="T6" fmla="*/ 0 w 1"/>
                <a:gd name="T7" fmla="*/ 1 h 5"/>
                <a:gd name="T8" fmla="*/ 0 w 1"/>
                <a:gd name="T9" fmla="*/ 1 h 5"/>
                <a:gd name="T10" fmla="*/ 0 w 1"/>
                <a:gd name="T11" fmla="*/ 1 h 5"/>
                <a:gd name="T12" fmla="*/ 0 w 1"/>
                <a:gd name="T13" fmla="*/ 2 h 5"/>
                <a:gd name="T14" fmla="*/ 0 w 1"/>
                <a:gd name="T15" fmla="*/ 2 h 5"/>
                <a:gd name="T16" fmla="*/ 0 w 1"/>
                <a:gd name="T17" fmla="*/ 3 h 5"/>
                <a:gd name="T18" fmla="*/ 0 w 1"/>
                <a:gd name="T19" fmla="*/ 4 h 5"/>
                <a:gd name="T20" fmla="*/ 0 w 1"/>
                <a:gd name="T21" fmla="*/ 5 h 5"/>
                <a:gd name="T22" fmla="*/ 0 w 1"/>
                <a:gd name="T23" fmla="*/ 5 h 5"/>
                <a:gd name="T24" fmla="*/ 1 w 1"/>
                <a:gd name="T25" fmla="*/ 5 h 5"/>
                <a:gd name="T26" fmla="*/ 1 w 1"/>
                <a:gd name="T27" fmla="*/ 5 h 5"/>
                <a:gd name="T28" fmla="*/ 1 w 1"/>
                <a:gd name="T29" fmla="*/ 5 h 5"/>
                <a:gd name="T30" fmla="*/ 1 w 1"/>
                <a:gd name="T31" fmla="*/ 5 h 5"/>
                <a:gd name="T32" fmla="*/ 1 w 1"/>
                <a:gd name="T33" fmla="*/ 4 h 5"/>
                <a:gd name="T34" fmla="*/ 1 w 1"/>
                <a:gd name="T35" fmla="*/ 4 h 5"/>
                <a:gd name="T36" fmla="*/ 1 w 1"/>
                <a:gd name="T37" fmla="*/ 4 h 5"/>
                <a:gd name="T38" fmla="*/ 1 w 1"/>
                <a:gd name="T39" fmla="*/ 3 h 5"/>
                <a:gd name="T40" fmla="*/ 1 w 1"/>
                <a:gd name="T41" fmla="*/ 3 h 5"/>
                <a:gd name="T42" fmla="*/ 1 w 1"/>
                <a:gd name="T43" fmla="*/ 2 h 5"/>
                <a:gd name="T44" fmla="*/ 1 w 1"/>
                <a:gd name="T45" fmla="*/ 1 h 5"/>
                <a:gd name="T46" fmla="*/ 0 w 1"/>
                <a:gd name="T47" fmla="*/ 0 h 5"/>
                <a:gd name="T48" fmla="*/ 0 w 1"/>
                <a:gd name="T4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B2B5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1" name="Freeform 395"/>
            <p:cNvSpPr>
              <a:spLocks/>
            </p:cNvSpPr>
            <p:nvPr/>
          </p:nvSpPr>
          <p:spPr bwMode="auto">
            <a:xfrm>
              <a:off x="1662" y="3045"/>
              <a:ext cx="12" cy="18"/>
            </a:xfrm>
            <a:custGeom>
              <a:avLst/>
              <a:gdLst>
                <a:gd name="T0" fmla="*/ 1 w 2"/>
                <a:gd name="T1" fmla="*/ 3 h 3"/>
                <a:gd name="T2" fmla="*/ 0 w 2"/>
                <a:gd name="T3" fmla="*/ 3 h 3"/>
                <a:gd name="T4" fmla="*/ 0 w 2"/>
                <a:gd name="T5" fmla="*/ 2 h 3"/>
                <a:gd name="T6" fmla="*/ 0 w 2"/>
                <a:gd name="T7" fmla="*/ 2 h 3"/>
                <a:gd name="T8" fmla="*/ 0 w 2"/>
                <a:gd name="T9" fmla="*/ 1 h 3"/>
                <a:gd name="T10" fmla="*/ 1 w 2"/>
                <a:gd name="T11" fmla="*/ 1 h 3"/>
                <a:gd name="T12" fmla="*/ 1 w 2"/>
                <a:gd name="T13" fmla="*/ 1 h 3"/>
                <a:gd name="T14" fmla="*/ 1 w 2"/>
                <a:gd name="T15" fmla="*/ 0 h 3"/>
                <a:gd name="T16" fmla="*/ 1 w 2"/>
                <a:gd name="T17" fmla="*/ 0 h 3"/>
                <a:gd name="T18" fmla="*/ 1 w 2"/>
                <a:gd name="T19" fmla="*/ 0 h 3"/>
                <a:gd name="T20" fmla="*/ 1 w 2"/>
                <a:gd name="T21" fmla="*/ 1 h 3"/>
                <a:gd name="T22" fmla="*/ 2 w 2"/>
                <a:gd name="T23" fmla="*/ 1 h 3"/>
                <a:gd name="T24" fmla="*/ 2 w 2"/>
                <a:gd name="T25" fmla="*/ 1 h 3"/>
                <a:gd name="T26" fmla="*/ 1 w 2"/>
                <a:gd name="T27" fmla="*/ 1 h 3"/>
                <a:gd name="T28" fmla="*/ 1 w 2"/>
                <a:gd name="T29" fmla="*/ 1 h 3"/>
                <a:gd name="T30" fmla="*/ 1 w 2"/>
                <a:gd name="T31" fmla="*/ 1 h 3"/>
                <a:gd name="T32" fmla="*/ 1 w 2"/>
                <a:gd name="T33" fmla="*/ 2 h 3"/>
                <a:gd name="T34" fmla="*/ 1 w 2"/>
                <a:gd name="T35" fmla="*/ 2 h 3"/>
                <a:gd name="T36" fmla="*/ 1 w 2"/>
                <a:gd name="T37" fmla="*/ 3 h 3"/>
                <a:gd name="T38" fmla="*/ 1 w 2"/>
                <a:gd name="T39" fmla="*/ 3 h 3"/>
                <a:gd name="T40" fmla="*/ 1 w 2"/>
                <a:gd name="T4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2" name="Freeform 396"/>
            <p:cNvSpPr>
              <a:spLocks/>
            </p:cNvSpPr>
            <p:nvPr/>
          </p:nvSpPr>
          <p:spPr bwMode="auto">
            <a:xfrm>
              <a:off x="1668" y="3063"/>
              <a:ext cx="6" cy="18"/>
            </a:xfrm>
            <a:custGeom>
              <a:avLst/>
              <a:gdLst>
                <a:gd name="T0" fmla="*/ 1 w 1"/>
                <a:gd name="T1" fmla="*/ 3 h 3"/>
                <a:gd name="T2" fmla="*/ 1 w 1"/>
                <a:gd name="T3" fmla="*/ 3 h 3"/>
                <a:gd name="T4" fmla="*/ 0 w 1"/>
                <a:gd name="T5" fmla="*/ 2 h 3"/>
                <a:gd name="T6" fmla="*/ 0 w 1"/>
                <a:gd name="T7" fmla="*/ 2 h 3"/>
                <a:gd name="T8" fmla="*/ 0 w 1"/>
                <a:gd name="T9" fmla="*/ 1 h 3"/>
                <a:gd name="T10" fmla="*/ 0 w 1"/>
                <a:gd name="T11" fmla="*/ 0 h 3"/>
                <a:gd name="T12" fmla="*/ 0 w 1"/>
                <a:gd name="T13" fmla="*/ 0 h 3"/>
                <a:gd name="T14" fmla="*/ 1 w 1"/>
                <a:gd name="T15" fmla="*/ 1 h 3"/>
                <a:gd name="T16" fmla="*/ 1 w 1"/>
                <a:gd name="T17" fmla="*/ 1 h 3"/>
                <a:gd name="T18" fmla="*/ 1 w 1"/>
                <a:gd name="T19" fmla="*/ 2 h 3"/>
                <a:gd name="T20" fmla="*/ 1 w 1"/>
                <a:gd name="T21" fmla="*/ 2 h 3"/>
                <a:gd name="T22" fmla="*/ 1 w 1"/>
                <a:gd name="T23" fmla="*/ 2 h 3"/>
                <a:gd name="T24" fmla="*/ 1 w 1"/>
                <a:gd name="T2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3" name="Freeform 397"/>
            <p:cNvSpPr>
              <a:spLocks/>
            </p:cNvSpPr>
            <p:nvPr/>
          </p:nvSpPr>
          <p:spPr bwMode="auto">
            <a:xfrm>
              <a:off x="1674" y="3063"/>
              <a:ext cx="6" cy="1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1 w 1"/>
                <a:gd name="T5" fmla="*/ 0 h 3"/>
                <a:gd name="T6" fmla="*/ 1 w 1"/>
                <a:gd name="T7" fmla="*/ 1 h 3"/>
                <a:gd name="T8" fmla="*/ 1 w 1"/>
                <a:gd name="T9" fmla="*/ 1 h 3"/>
                <a:gd name="T10" fmla="*/ 1 w 1"/>
                <a:gd name="T11" fmla="*/ 1 h 3"/>
                <a:gd name="T12" fmla="*/ 0 w 1"/>
                <a:gd name="T13" fmla="*/ 2 h 3"/>
                <a:gd name="T14" fmla="*/ 0 w 1"/>
                <a:gd name="T15" fmla="*/ 2 h 3"/>
                <a:gd name="T16" fmla="*/ 0 w 1"/>
                <a:gd name="T17" fmla="*/ 2 h 3"/>
                <a:gd name="T18" fmla="*/ 0 w 1"/>
                <a:gd name="T19" fmla="*/ 3 h 3"/>
                <a:gd name="T20" fmla="*/ 0 w 1"/>
                <a:gd name="T21" fmla="*/ 2 h 3"/>
                <a:gd name="T22" fmla="*/ 0 w 1"/>
                <a:gd name="T23" fmla="*/ 2 h 3"/>
                <a:gd name="T24" fmla="*/ 0 w 1"/>
                <a:gd name="T25" fmla="*/ 2 h 3"/>
                <a:gd name="T26" fmla="*/ 0 w 1"/>
                <a:gd name="T27" fmla="*/ 2 h 3"/>
                <a:gd name="T28" fmla="*/ 0 w 1"/>
                <a:gd name="T29" fmla="*/ 1 h 3"/>
                <a:gd name="T30" fmla="*/ 0 w 1"/>
                <a:gd name="T31" fmla="*/ 1 h 3"/>
                <a:gd name="T32" fmla="*/ 0 w 1"/>
                <a:gd name="T33" fmla="*/ 1 h 3"/>
                <a:gd name="T34" fmla="*/ 0 w 1"/>
                <a:gd name="T35" fmla="*/ 0 h 3"/>
                <a:gd name="T36" fmla="*/ 0 w 1"/>
                <a:gd name="T37" fmla="*/ 0 h 3"/>
                <a:gd name="T38" fmla="*/ 0 w 1"/>
                <a:gd name="T39" fmla="*/ 0 h 3"/>
                <a:gd name="T40" fmla="*/ 0 w 1"/>
                <a:gd name="T4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4" name="Freeform 398"/>
            <p:cNvSpPr>
              <a:spLocks/>
            </p:cNvSpPr>
            <p:nvPr/>
          </p:nvSpPr>
          <p:spPr bwMode="auto">
            <a:xfrm>
              <a:off x="1668" y="3045"/>
              <a:ext cx="12" cy="18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1 w 2"/>
                <a:gd name="T5" fmla="*/ 0 h 3"/>
                <a:gd name="T6" fmla="*/ 1 w 2"/>
                <a:gd name="T7" fmla="*/ 1 h 3"/>
                <a:gd name="T8" fmla="*/ 2 w 2"/>
                <a:gd name="T9" fmla="*/ 2 h 3"/>
                <a:gd name="T10" fmla="*/ 1 w 2"/>
                <a:gd name="T11" fmla="*/ 3 h 3"/>
                <a:gd name="T12" fmla="*/ 1 w 2"/>
                <a:gd name="T13" fmla="*/ 3 h 3"/>
                <a:gd name="T14" fmla="*/ 1 w 2"/>
                <a:gd name="T15" fmla="*/ 2 h 3"/>
                <a:gd name="T16" fmla="*/ 0 w 2"/>
                <a:gd name="T17" fmla="*/ 1 h 3"/>
                <a:gd name="T18" fmla="*/ 0 w 2"/>
                <a:gd name="T19" fmla="*/ 1 h 3"/>
                <a:gd name="T20" fmla="*/ 0 w 2"/>
                <a:gd name="T21" fmla="*/ 1 h 3"/>
                <a:gd name="T22" fmla="*/ 0 w 2"/>
                <a:gd name="T23" fmla="*/ 1 h 3"/>
                <a:gd name="T24" fmla="*/ 0 w 2"/>
                <a:gd name="T2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5" name="Freeform 399"/>
            <p:cNvSpPr>
              <a:spLocks/>
            </p:cNvSpPr>
            <p:nvPr/>
          </p:nvSpPr>
          <p:spPr bwMode="auto">
            <a:xfrm>
              <a:off x="1668" y="3243"/>
              <a:ext cx="18" cy="60"/>
            </a:xfrm>
            <a:custGeom>
              <a:avLst/>
              <a:gdLst>
                <a:gd name="T0" fmla="*/ 1 w 3"/>
                <a:gd name="T1" fmla="*/ 0 h 10"/>
                <a:gd name="T2" fmla="*/ 1 w 3"/>
                <a:gd name="T3" fmla="*/ 0 h 10"/>
                <a:gd name="T4" fmla="*/ 1 w 3"/>
                <a:gd name="T5" fmla="*/ 1 h 10"/>
                <a:gd name="T6" fmla="*/ 2 w 3"/>
                <a:gd name="T7" fmla="*/ 1 h 10"/>
                <a:gd name="T8" fmla="*/ 2 w 3"/>
                <a:gd name="T9" fmla="*/ 2 h 10"/>
                <a:gd name="T10" fmla="*/ 2 w 3"/>
                <a:gd name="T11" fmla="*/ 2 h 10"/>
                <a:gd name="T12" fmla="*/ 3 w 3"/>
                <a:gd name="T13" fmla="*/ 3 h 10"/>
                <a:gd name="T14" fmla="*/ 3 w 3"/>
                <a:gd name="T15" fmla="*/ 4 h 10"/>
                <a:gd name="T16" fmla="*/ 3 w 3"/>
                <a:gd name="T17" fmla="*/ 5 h 10"/>
                <a:gd name="T18" fmla="*/ 3 w 3"/>
                <a:gd name="T19" fmla="*/ 6 h 10"/>
                <a:gd name="T20" fmla="*/ 3 w 3"/>
                <a:gd name="T21" fmla="*/ 7 h 10"/>
                <a:gd name="T22" fmla="*/ 3 w 3"/>
                <a:gd name="T23" fmla="*/ 8 h 10"/>
                <a:gd name="T24" fmla="*/ 3 w 3"/>
                <a:gd name="T25" fmla="*/ 8 h 10"/>
                <a:gd name="T26" fmla="*/ 3 w 3"/>
                <a:gd name="T27" fmla="*/ 9 h 10"/>
                <a:gd name="T28" fmla="*/ 3 w 3"/>
                <a:gd name="T29" fmla="*/ 9 h 10"/>
                <a:gd name="T30" fmla="*/ 3 w 3"/>
                <a:gd name="T31" fmla="*/ 10 h 10"/>
                <a:gd name="T32" fmla="*/ 3 w 3"/>
                <a:gd name="T33" fmla="*/ 10 h 10"/>
                <a:gd name="T34" fmla="*/ 2 w 3"/>
                <a:gd name="T35" fmla="*/ 10 h 10"/>
                <a:gd name="T36" fmla="*/ 2 w 3"/>
                <a:gd name="T37" fmla="*/ 10 h 10"/>
                <a:gd name="T38" fmla="*/ 2 w 3"/>
                <a:gd name="T39" fmla="*/ 9 h 10"/>
                <a:gd name="T40" fmla="*/ 2 w 3"/>
                <a:gd name="T41" fmla="*/ 9 h 10"/>
                <a:gd name="T42" fmla="*/ 1 w 3"/>
                <a:gd name="T43" fmla="*/ 8 h 10"/>
                <a:gd name="T44" fmla="*/ 1 w 3"/>
                <a:gd name="T45" fmla="*/ 7 h 10"/>
                <a:gd name="T46" fmla="*/ 1 w 3"/>
                <a:gd name="T47" fmla="*/ 6 h 10"/>
                <a:gd name="T48" fmla="*/ 0 w 3"/>
                <a:gd name="T49" fmla="*/ 5 h 10"/>
                <a:gd name="T50" fmla="*/ 0 w 3"/>
                <a:gd name="T51" fmla="*/ 4 h 10"/>
                <a:gd name="T52" fmla="*/ 0 w 3"/>
                <a:gd name="T53" fmla="*/ 3 h 10"/>
                <a:gd name="T54" fmla="*/ 0 w 3"/>
                <a:gd name="T55" fmla="*/ 3 h 10"/>
                <a:gd name="T56" fmla="*/ 0 w 3"/>
                <a:gd name="T57" fmla="*/ 2 h 10"/>
                <a:gd name="T58" fmla="*/ 0 w 3"/>
                <a:gd name="T59" fmla="*/ 1 h 10"/>
                <a:gd name="T60" fmla="*/ 1 w 3"/>
                <a:gd name="T61" fmla="*/ 1 h 10"/>
                <a:gd name="T62" fmla="*/ 1 w 3"/>
                <a:gd name="T63" fmla="*/ 1 h 10"/>
                <a:gd name="T64" fmla="*/ 1 w 3"/>
                <a:gd name="T6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solidFill>
              <a:srgbClr val="E7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6" name="Freeform 400"/>
            <p:cNvSpPr>
              <a:spLocks/>
            </p:cNvSpPr>
            <p:nvPr/>
          </p:nvSpPr>
          <p:spPr bwMode="auto">
            <a:xfrm>
              <a:off x="1674" y="3243"/>
              <a:ext cx="12" cy="30"/>
            </a:xfrm>
            <a:custGeom>
              <a:avLst/>
              <a:gdLst>
                <a:gd name="T0" fmla="*/ 2 w 2"/>
                <a:gd name="T1" fmla="*/ 5 h 5"/>
                <a:gd name="T2" fmla="*/ 2 w 2"/>
                <a:gd name="T3" fmla="*/ 5 h 5"/>
                <a:gd name="T4" fmla="*/ 2 w 2"/>
                <a:gd name="T5" fmla="*/ 4 h 5"/>
                <a:gd name="T6" fmla="*/ 1 w 2"/>
                <a:gd name="T7" fmla="*/ 3 h 5"/>
                <a:gd name="T8" fmla="*/ 1 w 2"/>
                <a:gd name="T9" fmla="*/ 2 h 5"/>
                <a:gd name="T10" fmla="*/ 1 w 2"/>
                <a:gd name="T11" fmla="*/ 2 h 5"/>
                <a:gd name="T12" fmla="*/ 0 w 2"/>
                <a:gd name="T13" fmla="*/ 1 h 5"/>
                <a:gd name="T14" fmla="*/ 0 w 2"/>
                <a:gd name="T15" fmla="*/ 1 h 5"/>
                <a:gd name="T16" fmla="*/ 0 w 2"/>
                <a:gd name="T17" fmla="*/ 1 h 5"/>
                <a:gd name="T18" fmla="*/ 0 w 2"/>
                <a:gd name="T19" fmla="*/ 1 h 5"/>
                <a:gd name="T20" fmla="*/ 0 w 2"/>
                <a:gd name="T21" fmla="*/ 0 h 5"/>
                <a:gd name="T22" fmla="*/ 0 w 2"/>
                <a:gd name="T23" fmla="*/ 0 h 5"/>
                <a:gd name="T24" fmla="*/ 1 w 2"/>
                <a:gd name="T25" fmla="*/ 0 h 5"/>
                <a:gd name="T26" fmla="*/ 1 w 2"/>
                <a:gd name="T27" fmla="*/ 1 h 5"/>
                <a:gd name="T28" fmla="*/ 2 w 2"/>
                <a:gd name="T29" fmla="*/ 1 h 5"/>
                <a:gd name="T30" fmla="*/ 2 w 2"/>
                <a:gd name="T31" fmla="*/ 2 h 5"/>
                <a:gd name="T32" fmla="*/ 2 w 2"/>
                <a:gd name="T33" fmla="*/ 3 h 5"/>
                <a:gd name="T34" fmla="*/ 2 w 2"/>
                <a:gd name="T35" fmla="*/ 4 h 5"/>
                <a:gd name="T36" fmla="*/ 2 w 2"/>
                <a:gd name="T37" fmla="*/ 5 h 5"/>
                <a:gd name="T38" fmla="*/ 2 w 2"/>
                <a:gd name="T39" fmla="*/ 5 h 5"/>
                <a:gd name="T40" fmla="*/ 2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7" name="Freeform 401"/>
            <p:cNvSpPr>
              <a:spLocks/>
            </p:cNvSpPr>
            <p:nvPr/>
          </p:nvSpPr>
          <p:spPr bwMode="auto">
            <a:xfrm>
              <a:off x="1686" y="3273"/>
              <a:ext cx="6" cy="30"/>
            </a:xfrm>
            <a:custGeom>
              <a:avLst/>
              <a:gdLst>
                <a:gd name="T0" fmla="*/ 0 w 1"/>
                <a:gd name="T1" fmla="*/ 4 h 5"/>
                <a:gd name="T2" fmla="*/ 0 w 1"/>
                <a:gd name="T3" fmla="*/ 4 h 5"/>
                <a:gd name="T4" fmla="*/ 0 w 1"/>
                <a:gd name="T5" fmla="*/ 4 h 5"/>
                <a:gd name="T6" fmla="*/ 0 w 1"/>
                <a:gd name="T7" fmla="*/ 4 h 5"/>
                <a:gd name="T8" fmla="*/ 0 w 1"/>
                <a:gd name="T9" fmla="*/ 4 h 5"/>
                <a:gd name="T10" fmla="*/ 0 w 1"/>
                <a:gd name="T11" fmla="*/ 3 h 5"/>
                <a:gd name="T12" fmla="*/ 0 w 1"/>
                <a:gd name="T13" fmla="*/ 3 h 5"/>
                <a:gd name="T14" fmla="*/ 0 w 1"/>
                <a:gd name="T15" fmla="*/ 2 h 5"/>
                <a:gd name="T16" fmla="*/ 0 w 1"/>
                <a:gd name="T17" fmla="*/ 1 h 5"/>
                <a:gd name="T18" fmla="*/ 0 w 1"/>
                <a:gd name="T19" fmla="*/ 0 h 5"/>
                <a:gd name="T20" fmla="*/ 0 w 1"/>
                <a:gd name="T21" fmla="*/ 0 h 5"/>
                <a:gd name="T22" fmla="*/ 1 w 1"/>
                <a:gd name="T23" fmla="*/ 1 h 5"/>
                <a:gd name="T24" fmla="*/ 1 w 1"/>
                <a:gd name="T25" fmla="*/ 2 h 5"/>
                <a:gd name="T26" fmla="*/ 1 w 1"/>
                <a:gd name="T27" fmla="*/ 3 h 5"/>
                <a:gd name="T28" fmla="*/ 1 w 1"/>
                <a:gd name="T29" fmla="*/ 3 h 5"/>
                <a:gd name="T30" fmla="*/ 1 w 1"/>
                <a:gd name="T31" fmla="*/ 4 h 5"/>
                <a:gd name="T32" fmla="*/ 0 w 1"/>
                <a:gd name="T33" fmla="*/ 5 h 5"/>
                <a:gd name="T34" fmla="*/ 0 w 1"/>
                <a:gd name="T35" fmla="*/ 5 h 5"/>
                <a:gd name="T36" fmla="*/ 0 w 1"/>
                <a:gd name="T37" fmla="*/ 5 h 5"/>
                <a:gd name="T38" fmla="*/ 0 w 1"/>
                <a:gd name="T39" fmla="*/ 5 h 5"/>
                <a:gd name="T40" fmla="*/ 0 w 1"/>
                <a:gd name="T4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5">
                  <a:moveTo>
                    <a:pt x="0" y="4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8" name="Freeform 402"/>
            <p:cNvSpPr>
              <a:spLocks/>
            </p:cNvSpPr>
            <p:nvPr/>
          </p:nvSpPr>
          <p:spPr bwMode="auto">
            <a:xfrm>
              <a:off x="1668" y="3273"/>
              <a:ext cx="18" cy="30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0 h 5"/>
                <a:gd name="T4" fmla="*/ 1 w 3"/>
                <a:gd name="T5" fmla="*/ 1 h 5"/>
                <a:gd name="T6" fmla="*/ 1 w 3"/>
                <a:gd name="T7" fmla="*/ 2 h 5"/>
                <a:gd name="T8" fmla="*/ 2 w 3"/>
                <a:gd name="T9" fmla="*/ 3 h 5"/>
                <a:gd name="T10" fmla="*/ 2 w 3"/>
                <a:gd name="T11" fmla="*/ 4 h 5"/>
                <a:gd name="T12" fmla="*/ 2 w 3"/>
                <a:gd name="T13" fmla="*/ 4 h 5"/>
                <a:gd name="T14" fmla="*/ 2 w 3"/>
                <a:gd name="T15" fmla="*/ 4 h 5"/>
                <a:gd name="T16" fmla="*/ 2 w 3"/>
                <a:gd name="T17" fmla="*/ 4 h 5"/>
                <a:gd name="T18" fmla="*/ 3 w 3"/>
                <a:gd name="T19" fmla="*/ 4 h 5"/>
                <a:gd name="T20" fmla="*/ 3 w 3"/>
                <a:gd name="T21" fmla="*/ 5 h 5"/>
                <a:gd name="T22" fmla="*/ 2 w 3"/>
                <a:gd name="T23" fmla="*/ 5 h 5"/>
                <a:gd name="T24" fmla="*/ 2 w 3"/>
                <a:gd name="T25" fmla="*/ 5 h 5"/>
                <a:gd name="T26" fmla="*/ 1 w 3"/>
                <a:gd name="T27" fmla="*/ 4 h 5"/>
                <a:gd name="T28" fmla="*/ 1 w 3"/>
                <a:gd name="T29" fmla="*/ 4 h 5"/>
                <a:gd name="T30" fmla="*/ 1 w 3"/>
                <a:gd name="T31" fmla="*/ 3 h 5"/>
                <a:gd name="T32" fmla="*/ 0 w 3"/>
                <a:gd name="T33" fmla="*/ 2 h 5"/>
                <a:gd name="T34" fmla="*/ 0 w 3"/>
                <a:gd name="T35" fmla="*/ 1 h 5"/>
                <a:gd name="T36" fmla="*/ 0 w 3"/>
                <a:gd name="T37" fmla="*/ 0 h 5"/>
                <a:gd name="T38" fmla="*/ 0 w 3"/>
                <a:gd name="T39" fmla="*/ 0 h 5"/>
                <a:gd name="T40" fmla="*/ 1 w 3"/>
                <a:gd name="T4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59" name="Freeform 403"/>
            <p:cNvSpPr>
              <a:spLocks/>
            </p:cNvSpPr>
            <p:nvPr/>
          </p:nvSpPr>
          <p:spPr bwMode="auto">
            <a:xfrm>
              <a:off x="1668" y="3243"/>
              <a:ext cx="6" cy="30"/>
            </a:xfrm>
            <a:custGeom>
              <a:avLst/>
              <a:gdLst>
                <a:gd name="T0" fmla="*/ 1 w 1"/>
                <a:gd name="T1" fmla="*/ 1 h 5"/>
                <a:gd name="T2" fmla="*/ 1 w 1"/>
                <a:gd name="T3" fmla="*/ 1 h 5"/>
                <a:gd name="T4" fmla="*/ 1 w 1"/>
                <a:gd name="T5" fmla="*/ 1 h 5"/>
                <a:gd name="T6" fmla="*/ 1 w 1"/>
                <a:gd name="T7" fmla="*/ 1 h 5"/>
                <a:gd name="T8" fmla="*/ 1 w 1"/>
                <a:gd name="T9" fmla="*/ 1 h 5"/>
                <a:gd name="T10" fmla="*/ 1 w 1"/>
                <a:gd name="T11" fmla="*/ 2 h 5"/>
                <a:gd name="T12" fmla="*/ 1 w 1"/>
                <a:gd name="T13" fmla="*/ 3 h 5"/>
                <a:gd name="T14" fmla="*/ 1 w 1"/>
                <a:gd name="T15" fmla="*/ 3 h 5"/>
                <a:gd name="T16" fmla="*/ 1 w 1"/>
                <a:gd name="T17" fmla="*/ 4 h 5"/>
                <a:gd name="T18" fmla="*/ 1 w 1"/>
                <a:gd name="T19" fmla="*/ 5 h 5"/>
                <a:gd name="T20" fmla="*/ 0 w 1"/>
                <a:gd name="T21" fmla="*/ 5 h 5"/>
                <a:gd name="T22" fmla="*/ 0 w 1"/>
                <a:gd name="T23" fmla="*/ 4 h 5"/>
                <a:gd name="T24" fmla="*/ 0 w 1"/>
                <a:gd name="T25" fmla="*/ 3 h 5"/>
                <a:gd name="T26" fmla="*/ 0 w 1"/>
                <a:gd name="T27" fmla="*/ 3 h 5"/>
                <a:gd name="T28" fmla="*/ 0 w 1"/>
                <a:gd name="T29" fmla="*/ 2 h 5"/>
                <a:gd name="T30" fmla="*/ 0 w 1"/>
                <a:gd name="T31" fmla="*/ 1 h 5"/>
                <a:gd name="T32" fmla="*/ 0 w 1"/>
                <a:gd name="T33" fmla="*/ 1 h 5"/>
                <a:gd name="T34" fmla="*/ 0 w 1"/>
                <a:gd name="T35" fmla="*/ 0 h 5"/>
                <a:gd name="T36" fmla="*/ 1 w 1"/>
                <a:gd name="T37" fmla="*/ 0 h 5"/>
                <a:gd name="T38" fmla="*/ 1 w 1"/>
                <a:gd name="T39" fmla="*/ 0 h 5"/>
                <a:gd name="T40" fmla="*/ 1 w 1"/>
                <a:gd name="T4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" h="5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0" name="Freeform 404"/>
            <p:cNvSpPr>
              <a:spLocks/>
            </p:cNvSpPr>
            <p:nvPr/>
          </p:nvSpPr>
          <p:spPr bwMode="auto">
            <a:xfrm>
              <a:off x="1674" y="3243"/>
              <a:ext cx="24" cy="60"/>
            </a:xfrm>
            <a:custGeom>
              <a:avLst/>
              <a:gdLst>
                <a:gd name="T0" fmla="*/ 0 w 4"/>
                <a:gd name="T1" fmla="*/ 0 h 10"/>
                <a:gd name="T2" fmla="*/ 0 w 4"/>
                <a:gd name="T3" fmla="*/ 0 h 10"/>
                <a:gd name="T4" fmla="*/ 0 w 4"/>
                <a:gd name="T5" fmla="*/ 1 h 10"/>
                <a:gd name="T6" fmla="*/ 1 w 4"/>
                <a:gd name="T7" fmla="*/ 1 h 10"/>
                <a:gd name="T8" fmla="*/ 1 w 4"/>
                <a:gd name="T9" fmla="*/ 2 h 10"/>
                <a:gd name="T10" fmla="*/ 1 w 4"/>
                <a:gd name="T11" fmla="*/ 2 h 10"/>
                <a:gd name="T12" fmla="*/ 2 w 4"/>
                <a:gd name="T13" fmla="*/ 3 h 10"/>
                <a:gd name="T14" fmla="*/ 2 w 4"/>
                <a:gd name="T15" fmla="*/ 4 h 10"/>
                <a:gd name="T16" fmla="*/ 2 w 4"/>
                <a:gd name="T17" fmla="*/ 5 h 10"/>
                <a:gd name="T18" fmla="*/ 2 w 4"/>
                <a:gd name="T19" fmla="*/ 6 h 10"/>
                <a:gd name="T20" fmla="*/ 2 w 4"/>
                <a:gd name="T21" fmla="*/ 7 h 10"/>
                <a:gd name="T22" fmla="*/ 2 w 4"/>
                <a:gd name="T23" fmla="*/ 8 h 10"/>
                <a:gd name="T24" fmla="*/ 2 w 4"/>
                <a:gd name="T25" fmla="*/ 8 h 10"/>
                <a:gd name="T26" fmla="*/ 2 w 4"/>
                <a:gd name="T27" fmla="*/ 9 h 10"/>
                <a:gd name="T28" fmla="*/ 2 w 4"/>
                <a:gd name="T29" fmla="*/ 9 h 10"/>
                <a:gd name="T30" fmla="*/ 2 w 4"/>
                <a:gd name="T31" fmla="*/ 10 h 10"/>
                <a:gd name="T32" fmla="*/ 2 w 4"/>
                <a:gd name="T33" fmla="*/ 10 h 10"/>
                <a:gd name="T34" fmla="*/ 2 w 4"/>
                <a:gd name="T35" fmla="*/ 10 h 10"/>
                <a:gd name="T36" fmla="*/ 2 w 4"/>
                <a:gd name="T37" fmla="*/ 10 h 10"/>
                <a:gd name="T38" fmla="*/ 3 w 4"/>
                <a:gd name="T39" fmla="*/ 10 h 10"/>
                <a:gd name="T40" fmla="*/ 3 w 4"/>
                <a:gd name="T41" fmla="*/ 10 h 10"/>
                <a:gd name="T42" fmla="*/ 3 w 4"/>
                <a:gd name="T43" fmla="*/ 9 h 10"/>
                <a:gd name="T44" fmla="*/ 3 w 4"/>
                <a:gd name="T45" fmla="*/ 9 h 10"/>
                <a:gd name="T46" fmla="*/ 3 w 4"/>
                <a:gd name="T47" fmla="*/ 9 h 10"/>
                <a:gd name="T48" fmla="*/ 3 w 4"/>
                <a:gd name="T49" fmla="*/ 9 h 10"/>
                <a:gd name="T50" fmla="*/ 3 w 4"/>
                <a:gd name="T51" fmla="*/ 8 h 10"/>
                <a:gd name="T52" fmla="*/ 3 w 4"/>
                <a:gd name="T53" fmla="*/ 8 h 10"/>
                <a:gd name="T54" fmla="*/ 4 w 4"/>
                <a:gd name="T55" fmla="*/ 7 h 10"/>
                <a:gd name="T56" fmla="*/ 4 w 4"/>
                <a:gd name="T57" fmla="*/ 7 h 10"/>
                <a:gd name="T58" fmla="*/ 4 w 4"/>
                <a:gd name="T59" fmla="*/ 6 h 10"/>
                <a:gd name="T60" fmla="*/ 3 w 4"/>
                <a:gd name="T61" fmla="*/ 6 h 10"/>
                <a:gd name="T62" fmla="*/ 3 w 4"/>
                <a:gd name="T63" fmla="*/ 5 h 10"/>
                <a:gd name="T64" fmla="*/ 3 w 4"/>
                <a:gd name="T65" fmla="*/ 4 h 10"/>
                <a:gd name="T66" fmla="*/ 3 w 4"/>
                <a:gd name="T67" fmla="*/ 4 h 10"/>
                <a:gd name="T68" fmla="*/ 3 w 4"/>
                <a:gd name="T69" fmla="*/ 3 h 10"/>
                <a:gd name="T70" fmla="*/ 2 w 4"/>
                <a:gd name="T71" fmla="*/ 2 h 10"/>
                <a:gd name="T72" fmla="*/ 2 w 4"/>
                <a:gd name="T73" fmla="*/ 1 h 10"/>
                <a:gd name="T74" fmla="*/ 2 w 4"/>
                <a:gd name="T75" fmla="*/ 0 h 10"/>
                <a:gd name="T76" fmla="*/ 1 w 4"/>
                <a:gd name="T77" fmla="*/ 0 h 10"/>
                <a:gd name="T78" fmla="*/ 0 w 4"/>
                <a:gd name="T79" fmla="*/ 0 h 10"/>
                <a:gd name="T80" fmla="*/ 0 w 4"/>
                <a:gd name="T8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CAC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1" name="Freeform 405"/>
            <p:cNvSpPr>
              <a:spLocks/>
            </p:cNvSpPr>
            <p:nvPr/>
          </p:nvSpPr>
          <p:spPr bwMode="auto">
            <a:xfrm>
              <a:off x="1674" y="3243"/>
              <a:ext cx="12" cy="30"/>
            </a:xfrm>
            <a:custGeom>
              <a:avLst/>
              <a:gdLst>
                <a:gd name="T0" fmla="*/ 2 w 2"/>
                <a:gd name="T1" fmla="*/ 5 h 5"/>
                <a:gd name="T2" fmla="*/ 2 w 2"/>
                <a:gd name="T3" fmla="*/ 5 h 5"/>
                <a:gd name="T4" fmla="*/ 2 w 2"/>
                <a:gd name="T5" fmla="*/ 4 h 5"/>
                <a:gd name="T6" fmla="*/ 1 w 2"/>
                <a:gd name="T7" fmla="*/ 3 h 5"/>
                <a:gd name="T8" fmla="*/ 1 w 2"/>
                <a:gd name="T9" fmla="*/ 2 h 5"/>
                <a:gd name="T10" fmla="*/ 1 w 2"/>
                <a:gd name="T11" fmla="*/ 2 h 5"/>
                <a:gd name="T12" fmla="*/ 0 w 2"/>
                <a:gd name="T13" fmla="*/ 1 h 5"/>
                <a:gd name="T14" fmla="*/ 0 w 2"/>
                <a:gd name="T15" fmla="*/ 1 h 5"/>
                <a:gd name="T16" fmla="*/ 0 w 2"/>
                <a:gd name="T17" fmla="*/ 1 h 5"/>
                <a:gd name="T18" fmla="*/ 0 w 2"/>
                <a:gd name="T19" fmla="*/ 1 h 5"/>
                <a:gd name="T20" fmla="*/ 0 w 2"/>
                <a:gd name="T21" fmla="*/ 0 h 5"/>
                <a:gd name="T22" fmla="*/ 0 w 2"/>
                <a:gd name="T23" fmla="*/ 0 h 5"/>
                <a:gd name="T24" fmla="*/ 1 w 2"/>
                <a:gd name="T25" fmla="*/ 0 h 5"/>
                <a:gd name="T26" fmla="*/ 1 w 2"/>
                <a:gd name="T27" fmla="*/ 1 h 5"/>
                <a:gd name="T28" fmla="*/ 2 w 2"/>
                <a:gd name="T29" fmla="*/ 1 h 5"/>
                <a:gd name="T30" fmla="*/ 2 w 2"/>
                <a:gd name="T31" fmla="*/ 2 h 5"/>
                <a:gd name="T32" fmla="*/ 2 w 2"/>
                <a:gd name="T33" fmla="*/ 3 h 5"/>
                <a:gd name="T34" fmla="*/ 2 w 2"/>
                <a:gd name="T35" fmla="*/ 4 h 5"/>
                <a:gd name="T36" fmla="*/ 2 w 2"/>
                <a:gd name="T37" fmla="*/ 5 h 5"/>
                <a:gd name="T38" fmla="*/ 2 w 2"/>
                <a:gd name="T39" fmla="*/ 5 h 5"/>
                <a:gd name="T40" fmla="*/ 2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2" y="5"/>
                  </a:lnTo>
                  <a:lnTo>
                    <a:pt x="2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2" name="Freeform 406"/>
            <p:cNvSpPr>
              <a:spLocks/>
            </p:cNvSpPr>
            <p:nvPr/>
          </p:nvSpPr>
          <p:spPr bwMode="auto">
            <a:xfrm>
              <a:off x="1680" y="3273"/>
              <a:ext cx="12" cy="30"/>
            </a:xfrm>
            <a:custGeom>
              <a:avLst/>
              <a:gdLst>
                <a:gd name="T0" fmla="*/ 0 w 2"/>
                <a:gd name="T1" fmla="*/ 5 h 5"/>
                <a:gd name="T2" fmla="*/ 1 w 2"/>
                <a:gd name="T3" fmla="*/ 4 h 5"/>
                <a:gd name="T4" fmla="*/ 1 w 2"/>
                <a:gd name="T5" fmla="*/ 4 h 5"/>
                <a:gd name="T6" fmla="*/ 1 w 2"/>
                <a:gd name="T7" fmla="*/ 4 h 5"/>
                <a:gd name="T8" fmla="*/ 1 w 2"/>
                <a:gd name="T9" fmla="*/ 4 h 5"/>
                <a:gd name="T10" fmla="*/ 1 w 2"/>
                <a:gd name="T11" fmla="*/ 3 h 5"/>
                <a:gd name="T12" fmla="*/ 1 w 2"/>
                <a:gd name="T13" fmla="*/ 3 h 5"/>
                <a:gd name="T14" fmla="*/ 1 w 2"/>
                <a:gd name="T15" fmla="*/ 2 h 5"/>
                <a:gd name="T16" fmla="*/ 1 w 2"/>
                <a:gd name="T17" fmla="*/ 1 h 5"/>
                <a:gd name="T18" fmla="*/ 1 w 2"/>
                <a:gd name="T19" fmla="*/ 0 h 5"/>
                <a:gd name="T20" fmla="*/ 1 w 2"/>
                <a:gd name="T21" fmla="*/ 0 h 5"/>
                <a:gd name="T22" fmla="*/ 2 w 2"/>
                <a:gd name="T23" fmla="*/ 1 h 5"/>
                <a:gd name="T24" fmla="*/ 2 w 2"/>
                <a:gd name="T25" fmla="*/ 2 h 5"/>
                <a:gd name="T26" fmla="*/ 2 w 2"/>
                <a:gd name="T27" fmla="*/ 3 h 5"/>
                <a:gd name="T28" fmla="*/ 2 w 2"/>
                <a:gd name="T29" fmla="*/ 3 h 5"/>
                <a:gd name="T30" fmla="*/ 2 w 2"/>
                <a:gd name="T31" fmla="*/ 4 h 5"/>
                <a:gd name="T32" fmla="*/ 1 w 2"/>
                <a:gd name="T33" fmla="*/ 5 h 5"/>
                <a:gd name="T34" fmla="*/ 1 w 2"/>
                <a:gd name="T35" fmla="*/ 5 h 5"/>
                <a:gd name="T36" fmla="*/ 1 w 2"/>
                <a:gd name="T37" fmla="*/ 5 h 5"/>
                <a:gd name="T38" fmla="*/ 1 w 2"/>
                <a:gd name="T39" fmla="*/ 5 h 5"/>
                <a:gd name="T40" fmla="*/ 0 w 2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" h="5">
                  <a:moveTo>
                    <a:pt x="0" y="5"/>
                  </a:move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3" name="Freeform 407"/>
            <p:cNvSpPr>
              <a:spLocks/>
            </p:cNvSpPr>
            <p:nvPr/>
          </p:nvSpPr>
          <p:spPr bwMode="auto">
            <a:xfrm>
              <a:off x="1680" y="3267"/>
              <a:ext cx="18" cy="36"/>
            </a:xfrm>
            <a:custGeom>
              <a:avLst/>
              <a:gdLst>
                <a:gd name="T0" fmla="*/ 3 w 3"/>
                <a:gd name="T1" fmla="*/ 0 h 6"/>
                <a:gd name="T2" fmla="*/ 3 w 3"/>
                <a:gd name="T3" fmla="*/ 0 h 6"/>
                <a:gd name="T4" fmla="*/ 3 w 3"/>
                <a:gd name="T5" fmla="*/ 1 h 6"/>
                <a:gd name="T6" fmla="*/ 3 w 3"/>
                <a:gd name="T7" fmla="*/ 1 h 6"/>
                <a:gd name="T8" fmla="*/ 3 w 3"/>
                <a:gd name="T9" fmla="*/ 2 h 6"/>
                <a:gd name="T10" fmla="*/ 3 w 3"/>
                <a:gd name="T11" fmla="*/ 3 h 6"/>
                <a:gd name="T12" fmla="*/ 3 w 3"/>
                <a:gd name="T13" fmla="*/ 3 h 6"/>
                <a:gd name="T14" fmla="*/ 3 w 3"/>
                <a:gd name="T15" fmla="*/ 4 h 6"/>
                <a:gd name="T16" fmla="*/ 3 w 3"/>
                <a:gd name="T17" fmla="*/ 4 h 6"/>
                <a:gd name="T18" fmla="*/ 3 w 3"/>
                <a:gd name="T19" fmla="*/ 5 h 6"/>
                <a:gd name="T20" fmla="*/ 3 w 3"/>
                <a:gd name="T21" fmla="*/ 5 h 6"/>
                <a:gd name="T22" fmla="*/ 2 w 3"/>
                <a:gd name="T23" fmla="*/ 5 h 6"/>
                <a:gd name="T24" fmla="*/ 2 w 3"/>
                <a:gd name="T25" fmla="*/ 6 h 6"/>
                <a:gd name="T26" fmla="*/ 2 w 3"/>
                <a:gd name="T27" fmla="*/ 6 h 6"/>
                <a:gd name="T28" fmla="*/ 2 w 3"/>
                <a:gd name="T29" fmla="*/ 6 h 6"/>
                <a:gd name="T30" fmla="*/ 1 w 3"/>
                <a:gd name="T31" fmla="*/ 6 h 6"/>
                <a:gd name="T32" fmla="*/ 1 w 3"/>
                <a:gd name="T33" fmla="*/ 6 h 6"/>
                <a:gd name="T34" fmla="*/ 0 w 3"/>
                <a:gd name="T35" fmla="*/ 6 h 6"/>
                <a:gd name="T36" fmla="*/ 1 w 3"/>
                <a:gd name="T37" fmla="*/ 6 h 6"/>
                <a:gd name="T38" fmla="*/ 1 w 3"/>
                <a:gd name="T39" fmla="*/ 6 h 6"/>
                <a:gd name="T40" fmla="*/ 1 w 3"/>
                <a:gd name="T41" fmla="*/ 6 h 6"/>
                <a:gd name="T42" fmla="*/ 1 w 3"/>
                <a:gd name="T43" fmla="*/ 6 h 6"/>
                <a:gd name="T44" fmla="*/ 1 w 3"/>
                <a:gd name="T45" fmla="*/ 6 h 6"/>
                <a:gd name="T46" fmla="*/ 2 w 3"/>
                <a:gd name="T47" fmla="*/ 5 h 6"/>
                <a:gd name="T48" fmla="*/ 2 w 3"/>
                <a:gd name="T49" fmla="*/ 5 h 6"/>
                <a:gd name="T50" fmla="*/ 2 w 3"/>
                <a:gd name="T51" fmla="*/ 5 h 6"/>
                <a:gd name="T52" fmla="*/ 2 w 3"/>
                <a:gd name="T53" fmla="*/ 4 h 6"/>
                <a:gd name="T54" fmla="*/ 2 w 3"/>
                <a:gd name="T55" fmla="*/ 4 h 6"/>
                <a:gd name="T56" fmla="*/ 2 w 3"/>
                <a:gd name="T57" fmla="*/ 4 h 6"/>
                <a:gd name="T58" fmla="*/ 2 w 3"/>
                <a:gd name="T59" fmla="*/ 3 h 6"/>
                <a:gd name="T60" fmla="*/ 2 w 3"/>
                <a:gd name="T61" fmla="*/ 2 h 6"/>
                <a:gd name="T62" fmla="*/ 2 w 3"/>
                <a:gd name="T63" fmla="*/ 2 h 6"/>
                <a:gd name="T64" fmla="*/ 2 w 3"/>
                <a:gd name="T65" fmla="*/ 2 h 6"/>
                <a:gd name="T66" fmla="*/ 2 w 3"/>
                <a:gd name="T67" fmla="*/ 1 h 6"/>
                <a:gd name="T68" fmla="*/ 2 w 3"/>
                <a:gd name="T69" fmla="*/ 1 h 6"/>
                <a:gd name="T70" fmla="*/ 2 w 3"/>
                <a:gd name="T71" fmla="*/ 1 h 6"/>
                <a:gd name="T72" fmla="*/ 3 w 3"/>
                <a:gd name="T7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4" name="Freeform 408"/>
            <p:cNvSpPr>
              <a:spLocks/>
            </p:cNvSpPr>
            <p:nvPr/>
          </p:nvSpPr>
          <p:spPr bwMode="auto">
            <a:xfrm>
              <a:off x="1674" y="3243"/>
              <a:ext cx="24" cy="30"/>
            </a:xfrm>
            <a:custGeom>
              <a:avLst/>
              <a:gdLst>
                <a:gd name="T0" fmla="*/ 0 w 4"/>
                <a:gd name="T1" fmla="*/ 1 h 5"/>
                <a:gd name="T2" fmla="*/ 0 w 4"/>
                <a:gd name="T3" fmla="*/ 0 h 5"/>
                <a:gd name="T4" fmla="*/ 0 w 4"/>
                <a:gd name="T5" fmla="*/ 0 h 5"/>
                <a:gd name="T6" fmla="*/ 1 w 4"/>
                <a:gd name="T7" fmla="*/ 0 h 5"/>
                <a:gd name="T8" fmla="*/ 2 w 4"/>
                <a:gd name="T9" fmla="*/ 0 h 5"/>
                <a:gd name="T10" fmla="*/ 3 w 4"/>
                <a:gd name="T11" fmla="*/ 1 h 5"/>
                <a:gd name="T12" fmla="*/ 3 w 4"/>
                <a:gd name="T13" fmla="*/ 1 h 5"/>
                <a:gd name="T14" fmla="*/ 3 w 4"/>
                <a:gd name="T15" fmla="*/ 3 h 5"/>
                <a:gd name="T16" fmla="*/ 4 w 4"/>
                <a:gd name="T17" fmla="*/ 3 h 5"/>
                <a:gd name="T18" fmla="*/ 4 w 4"/>
                <a:gd name="T19" fmla="*/ 4 h 5"/>
                <a:gd name="T20" fmla="*/ 3 w 4"/>
                <a:gd name="T21" fmla="*/ 5 h 5"/>
                <a:gd name="T22" fmla="*/ 3 w 4"/>
                <a:gd name="T23" fmla="*/ 4 h 5"/>
                <a:gd name="T24" fmla="*/ 2 w 4"/>
                <a:gd name="T25" fmla="*/ 3 h 5"/>
                <a:gd name="T26" fmla="*/ 2 w 4"/>
                <a:gd name="T27" fmla="*/ 2 h 5"/>
                <a:gd name="T28" fmla="*/ 2 w 4"/>
                <a:gd name="T29" fmla="*/ 1 h 5"/>
                <a:gd name="T30" fmla="*/ 1 w 4"/>
                <a:gd name="T31" fmla="*/ 1 h 5"/>
                <a:gd name="T32" fmla="*/ 1 w 4"/>
                <a:gd name="T33" fmla="*/ 1 h 5"/>
                <a:gd name="T34" fmla="*/ 1 w 4"/>
                <a:gd name="T35" fmla="*/ 1 h 5"/>
                <a:gd name="T36" fmla="*/ 0 w 4"/>
                <a:gd name="T37" fmla="*/ 1 h 5"/>
                <a:gd name="T38" fmla="*/ 0 w 4"/>
                <a:gd name="T39" fmla="*/ 0 h 5"/>
                <a:gd name="T40" fmla="*/ 0 w 4"/>
                <a:gd name="T41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5" name="Freeform 409"/>
            <p:cNvSpPr>
              <a:spLocks/>
            </p:cNvSpPr>
            <p:nvPr/>
          </p:nvSpPr>
          <p:spPr bwMode="auto">
            <a:xfrm>
              <a:off x="1680" y="3243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6" name="Freeform 410"/>
            <p:cNvSpPr>
              <a:spLocks/>
            </p:cNvSpPr>
            <p:nvPr/>
          </p:nvSpPr>
          <p:spPr bwMode="auto">
            <a:xfrm>
              <a:off x="1680" y="3249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1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7" name="Freeform 411"/>
            <p:cNvSpPr>
              <a:spLocks/>
            </p:cNvSpPr>
            <p:nvPr/>
          </p:nvSpPr>
          <p:spPr bwMode="auto">
            <a:xfrm>
              <a:off x="1686" y="3249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8" name="Freeform 412"/>
            <p:cNvSpPr>
              <a:spLocks/>
            </p:cNvSpPr>
            <p:nvPr/>
          </p:nvSpPr>
          <p:spPr bwMode="auto">
            <a:xfrm>
              <a:off x="1680" y="3255"/>
              <a:ext cx="6" cy="6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69" name="Freeform 413"/>
            <p:cNvSpPr>
              <a:spLocks/>
            </p:cNvSpPr>
            <p:nvPr/>
          </p:nvSpPr>
          <p:spPr bwMode="auto">
            <a:xfrm>
              <a:off x="1686" y="3255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0" name="Freeform 414"/>
            <p:cNvSpPr>
              <a:spLocks/>
            </p:cNvSpPr>
            <p:nvPr/>
          </p:nvSpPr>
          <p:spPr bwMode="auto">
            <a:xfrm>
              <a:off x="1692" y="3261"/>
              <a:ext cx="6" cy="6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0 h 1"/>
                <a:gd name="T4" fmla="*/ 1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1" name="Freeform 415"/>
            <p:cNvSpPr>
              <a:spLocks/>
            </p:cNvSpPr>
            <p:nvPr/>
          </p:nvSpPr>
          <p:spPr bwMode="auto">
            <a:xfrm>
              <a:off x="1686" y="326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2" name="Freeform 416"/>
            <p:cNvSpPr>
              <a:spLocks/>
            </p:cNvSpPr>
            <p:nvPr/>
          </p:nvSpPr>
          <p:spPr bwMode="auto">
            <a:xfrm>
              <a:off x="1692" y="3267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3" name="Freeform 417"/>
            <p:cNvSpPr>
              <a:spLocks/>
            </p:cNvSpPr>
            <p:nvPr/>
          </p:nvSpPr>
          <p:spPr bwMode="auto">
            <a:xfrm>
              <a:off x="1686" y="3273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0 h 1"/>
                <a:gd name="T8" fmla="*/ 2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4" name="Freeform 418"/>
            <p:cNvSpPr>
              <a:spLocks/>
            </p:cNvSpPr>
            <p:nvPr/>
          </p:nvSpPr>
          <p:spPr bwMode="auto">
            <a:xfrm>
              <a:off x="1686" y="3285"/>
              <a:ext cx="12" cy="6"/>
            </a:xfrm>
            <a:custGeom>
              <a:avLst/>
              <a:gdLst>
                <a:gd name="T0" fmla="*/ 1 w 2"/>
                <a:gd name="T1" fmla="*/ 1 h 1"/>
                <a:gd name="T2" fmla="*/ 2 w 2"/>
                <a:gd name="T3" fmla="*/ 1 h 1"/>
                <a:gd name="T4" fmla="*/ 0 w 2"/>
                <a:gd name="T5" fmla="*/ 1 h 1"/>
                <a:gd name="T6" fmla="*/ 0 w 2"/>
                <a:gd name="T7" fmla="*/ 1 h 1"/>
                <a:gd name="T8" fmla="*/ 1 w 2"/>
                <a:gd name="T9" fmla="*/ 0 h 1"/>
                <a:gd name="T10" fmla="*/ 1 w 2"/>
                <a:gd name="T11" fmla="*/ 1 h 1"/>
                <a:gd name="T12" fmla="*/ 1 w 2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5" name="Freeform 419"/>
            <p:cNvSpPr>
              <a:spLocks/>
            </p:cNvSpPr>
            <p:nvPr/>
          </p:nvSpPr>
          <p:spPr bwMode="auto">
            <a:xfrm>
              <a:off x="1692" y="3285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6" name="Freeform 420"/>
            <p:cNvSpPr>
              <a:spLocks/>
            </p:cNvSpPr>
            <p:nvPr/>
          </p:nvSpPr>
          <p:spPr bwMode="auto">
            <a:xfrm>
              <a:off x="1686" y="3291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7" name="Freeform 421"/>
            <p:cNvSpPr>
              <a:spLocks/>
            </p:cNvSpPr>
            <p:nvPr/>
          </p:nvSpPr>
          <p:spPr bwMode="auto">
            <a:xfrm>
              <a:off x="1692" y="3291"/>
              <a:ext cx="6" cy="6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8" name="Freeform 422"/>
            <p:cNvSpPr>
              <a:spLocks/>
            </p:cNvSpPr>
            <p:nvPr/>
          </p:nvSpPr>
          <p:spPr bwMode="auto">
            <a:xfrm>
              <a:off x="1674" y="3243"/>
              <a:ext cx="6" cy="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79" name="Freeform 423"/>
            <p:cNvSpPr>
              <a:spLocks/>
            </p:cNvSpPr>
            <p:nvPr/>
          </p:nvSpPr>
          <p:spPr bwMode="auto">
            <a:xfrm>
              <a:off x="1680" y="3243"/>
              <a:ext cx="6" cy="6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0 w 1"/>
                <a:gd name="T17" fmla="*/ 1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80" name="Freeform 424"/>
            <p:cNvSpPr>
              <a:spLocks/>
            </p:cNvSpPr>
            <p:nvPr/>
          </p:nvSpPr>
          <p:spPr bwMode="auto">
            <a:xfrm>
              <a:off x="1680" y="32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1 h 1"/>
                <a:gd name="T8" fmla="*/ 0 w 1"/>
                <a:gd name="T9" fmla="*/ 1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1 w 1"/>
                <a:gd name="T1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  <p:sp>
          <p:nvSpPr>
            <p:cNvPr id="481" name="Freeform 425"/>
            <p:cNvSpPr>
              <a:spLocks/>
            </p:cNvSpPr>
            <p:nvPr/>
          </p:nvSpPr>
          <p:spPr bwMode="auto">
            <a:xfrm>
              <a:off x="1686" y="3297"/>
              <a:ext cx="6" cy="6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1 h 1"/>
                <a:gd name="T12" fmla="*/ 1 w 1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rgbClr val="2427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482" name="Text Box 426" descr="Parchment"/>
          <p:cNvSpPr txBox="1">
            <a:spLocks noChangeArrowheads="1"/>
          </p:cNvSpPr>
          <p:nvPr/>
        </p:nvSpPr>
        <p:spPr bwMode="auto">
          <a:xfrm>
            <a:off x="1713558" y="2858297"/>
            <a:ext cx="7234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4. </a:t>
            </a:r>
            <a:r>
              <a:rPr lang="en-GB" altLang="en-US" dirty="0" smtClean="0">
                <a:solidFill>
                  <a:srgbClr val="000000"/>
                </a:solidFill>
              </a:rPr>
              <a:t>Draw straight lines from A and B to point of intersection.</a:t>
            </a:r>
          </a:p>
        </p:txBody>
      </p:sp>
      <p:sp>
        <p:nvSpPr>
          <p:cNvPr id="483" name="Text Box 427" descr="Parchment"/>
          <p:cNvSpPr txBox="1">
            <a:spLocks noChangeArrowheads="1"/>
          </p:cNvSpPr>
          <p:nvPr/>
        </p:nvSpPr>
        <p:spPr bwMode="auto">
          <a:xfrm>
            <a:off x="1713558" y="2542782"/>
            <a:ext cx="8836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dirty="0" smtClean="0"/>
              <a:t>3. Set </a:t>
            </a:r>
            <a:r>
              <a:rPr lang="en-GB" altLang="en-US" dirty="0" smtClean="0">
                <a:solidFill>
                  <a:srgbClr val="000000"/>
                </a:solidFill>
              </a:rPr>
              <a:t>compass to 3½ cm, place at B and draw an arc to intersect the first one.</a:t>
            </a:r>
          </a:p>
        </p:txBody>
      </p:sp>
      <p:sp>
        <p:nvSpPr>
          <p:cNvPr id="484" name="Freeform 464"/>
          <p:cNvSpPr>
            <a:spLocks/>
          </p:cNvSpPr>
          <p:nvPr/>
        </p:nvSpPr>
        <p:spPr bwMode="auto">
          <a:xfrm>
            <a:off x="6789204" y="3943155"/>
            <a:ext cx="412750" cy="1377950"/>
          </a:xfrm>
          <a:custGeom>
            <a:avLst/>
            <a:gdLst>
              <a:gd name="T0" fmla="*/ 0 w 260"/>
              <a:gd name="T1" fmla="*/ 0 h 868"/>
              <a:gd name="T2" fmla="*/ 108 w 260"/>
              <a:gd name="T3" fmla="*/ 248 h 868"/>
              <a:gd name="T4" fmla="*/ 200 w 260"/>
              <a:gd name="T5" fmla="*/ 540 h 868"/>
              <a:gd name="T6" fmla="*/ 260 w 260"/>
              <a:gd name="T7" fmla="*/ 868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" h="868">
                <a:moveTo>
                  <a:pt x="0" y="0"/>
                </a:moveTo>
                <a:cubicBezTo>
                  <a:pt x="37" y="79"/>
                  <a:pt x="75" y="158"/>
                  <a:pt x="108" y="248"/>
                </a:cubicBezTo>
                <a:cubicBezTo>
                  <a:pt x="141" y="338"/>
                  <a:pt x="175" y="437"/>
                  <a:pt x="200" y="540"/>
                </a:cubicBezTo>
                <a:cubicBezTo>
                  <a:pt x="225" y="643"/>
                  <a:pt x="251" y="813"/>
                  <a:pt x="260" y="868"/>
                </a:cubicBezTo>
              </a:path>
            </a:pathLst>
          </a:custGeom>
          <a:noFill/>
          <a:ln w="3175" cmpd="sng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  <p:sp>
        <p:nvSpPr>
          <p:cNvPr id="485" name="Freeform 466"/>
          <p:cNvSpPr>
            <a:spLocks/>
          </p:cNvSpPr>
          <p:nvPr/>
        </p:nvSpPr>
        <p:spPr bwMode="auto">
          <a:xfrm>
            <a:off x="6941604" y="4444805"/>
            <a:ext cx="463550" cy="1016000"/>
          </a:xfrm>
          <a:custGeom>
            <a:avLst/>
            <a:gdLst>
              <a:gd name="T0" fmla="*/ 0 w 292"/>
              <a:gd name="T1" fmla="*/ 640 h 640"/>
              <a:gd name="T2" fmla="*/ 28 w 292"/>
              <a:gd name="T3" fmla="*/ 516 h 640"/>
              <a:gd name="T4" fmla="*/ 72 w 292"/>
              <a:gd name="T5" fmla="*/ 372 h 640"/>
              <a:gd name="T6" fmla="*/ 140 w 292"/>
              <a:gd name="T7" fmla="*/ 208 h 640"/>
              <a:gd name="T8" fmla="*/ 232 w 292"/>
              <a:gd name="T9" fmla="*/ 72 h 640"/>
              <a:gd name="T10" fmla="*/ 292 w 292"/>
              <a:gd name="T11" fmla="*/ 0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2" h="640">
                <a:moveTo>
                  <a:pt x="0" y="640"/>
                </a:moveTo>
                <a:cubicBezTo>
                  <a:pt x="8" y="600"/>
                  <a:pt x="16" y="561"/>
                  <a:pt x="28" y="516"/>
                </a:cubicBezTo>
                <a:cubicBezTo>
                  <a:pt x="40" y="471"/>
                  <a:pt x="53" y="423"/>
                  <a:pt x="72" y="372"/>
                </a:cubicBezTo>
                <a:cubicBezTo>
                  <a:pt x="91" y="321"/>
                  <a:pt x="113" y="258"/>
                  <a:pt x="140" y="208"/>
                </a:cubicBezTo>
                <a:cubicBezTo>
                  <a:pt x="167" y="158"/>
                  <a:pt x="207" y="107"/>
                  <a:pt x="232" y="72"/>
                </a:cubicBezTo>
                <a:cubicBezTo>
                  <a:pt x="257" y="37"/>
                  <a:pt x="274" y="18"/>
                  <a:pt x="292" y="0"/>
                </a:cubicBezTo>
              </a:path>
            </a:pathLst>
          </a:custGeom>
          <a:noFill/>
          <a:ln w="3175" cmpd="sng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mtClean="0">
              <a:solidFill>
                <a:srgbClr val="000000"/>
              </a:solidFill>
            </a:endParaRPr>
          </a:p>
        </p:txBody>
      </p:sp>
      <p:grpSp>
        <p:nvGrpSpPr>
          <p:cNvPr id="486" name="Group 472"/>
          <p:cNvGrpSpPr>
            <a:grpSpLocks/>
          </p:cNvGrpSpPr>
          <p:nvPr/>
        </p:nvGrpSpPr>
        <p:grpSpPr bwMode="auto">
          <a:xfrm>
            <a:off x="3284004" y="4860730"/>
            <a:ext cx="3835400" cy="892175"/>
            <a:chOff x="1356" y="3314"/>
            <a:chExt cx="2416" cy="562"/>
          </a:xfrm>
        </p:grpSpPr>
        <p:sp>
          <p:nvSpPr>
            <p:cNvPr id="487" name="Text Box 34"/>
            <p:cNvSpPr txBox="1">
              <a:spLocks noChangeArrowheads="1"/>
            </p:cNvSpPr>
            <p:nvPr/>
          </p:nvSpPr>
          <p:spPr bwMode="auto">
            <a:xfrm>
              <a:off x="2456" y="3327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7 cm</a:t>
              </a:r>
            </a:p>
          </p:txBody>
        </p:sp>
        <p:sp>
          <p:nvSpPr>
            <p:cNvPr id="488" name="Freeform 467"/>
            <p:cNvSpPr>
              <a:spLocks/>
            </p:cNvSpPr>
            <p:nvPr/>
          </p:nvSpPr>
          <p:spPr bwMode="auto">
            <a:xfrm>
              <a:off x="1356" y="3314"/>
              <a:ext cx="2416" cy="562"/>
            </a:xfrm>
            <a:custGeom>
              <a:avLst/>
              <a:gdLst>
                <a:gd name="T0" fmla="*/ 0 w 2416"/>
                <a:gd name="T1" fmla="*/ 562 h 562"/>
                <a:gd name="T2" fmla="*/ 2416 w 2416"/>
                <a:gd name="T3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16" h="562">
                  <a:moveTo>
                    <a:pt x="0" y="562"/>
                  </a:moveTo>
                  <a:lnTo>
                    <a:pt x="241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489" name="Group 473"/>
          <p:cNvGrpSpPr>
            <a:grpSpLocks/>
          </p:cNvGrpSpPr>
          <p:nvPr/>
        </p:nvGrpSpPr>
        <p:grpSpPr bwMode="auto">
          <a:xfrm>
            <a:off x="7119404" y="4860730"/>
            <a:ext cx="1755775" cy="885825"/>
            <a:chOff x="3772" y="3314"/>
            <a:chExt cx="1106" cy="558"/>
          </a:xfrm>
        </p:grpSpPr>
        <p:sp>
          <p:nvSpPr>
            <p:cNvPr id="490" name="Text Box 440"/>
            <p:cNvSpPr txBox="1">
              <a:spLocks noChangeArrowheads="1"/>
            </p:cNvSpPr>
            <p:nvPr/>
          </p:nvSpPr>
          <p:spPr bwMode="auto">
            <a:xfrm>
              <a:off x="4123" y="3327"/>
              <a:ext cx="72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GB" altLang="en-US" smtClean="0">
                  <a:solidFill>
                    <a:srgbClr val="000000"/>
                  </a:solidFill>
                </a:rPr>
                <a:t>3½  cm</a:t>
              </a:r>
            </a:p>
          </p:txBody>
        </p:sp>
        <p:sp>
          <p:nvSpPr>
            <p:cNvPr id="491" name="Freeform 468"/>
            <p:cNvSpPr>
              <a:spLocks/>
            </p:cNvSpPr>
            <p:nvPr/>
          </p:nvSpPr>
          <p:spPr bwMode="auto">
            <a:xfrm>
              <a:off x="3772" y="3314"/>
              <a:ext cx="1106" cy="558"/>
            </a:xfrm>
            <a:custGeom>
              <a:avLst/>
              <a:gdLst>
                <a:gd name="T0" fmla="*/ 1106 w 1106"/>
                <a:gd name="T1" fmla="*/ 558 h 558"/>
                <a:gd name="T2" fmla="*/ 0 w 1106"/>
                <a:gd name="T3" fmla="*/ 0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06" h="558">
                  <a:moveTo>
                    <a:pt x="1106" y="558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mtClean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422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  <p:bldP spid="71" grpId="0" build="p"/>
      <p:bldP spid="482" grpId="0" build="p"/>
      <p:bldP spid="483" grpId="0" build="p"/>
      <p:bldP spid="484" grpId="0" animBg="1"/>
      <p:bldP spid="48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 TRIANGLE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133856" y="1353312"/>
            <a:ext cx="9637776" cy="4976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1327006" y="1336231"/>
            <a:ext cx="4499992" cy="2985433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solidFill>
                  <a:prstClr val="black"/>
                </a:solidFill>
                <a:latin typeface="+mn-lt"/>
              </a:rPr>
              <a:t>Constructing from 1 side, 2 angles (ASA)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1) 45°, 50°, 7cm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2) 30°, 70°, 3cm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3) 70°, 110°, 6.5cm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4) 53°, 20°, 6cm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5) 120°, 42°, 12.5cm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6) 135°, 12°, 9cm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5971014" y="1336231"/>
            <a:ext cx="4499992" cy="2985433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solidFill>
                  <a:prstClr val="black"/>
                </a:solidFill>
                <a:latin typeface="+mn-lt"/>
              </a:rPr>
              <a:t>Constructing from 2 sides, 1 angle (SAS)</a:t>
            </a:r>
            <a:endParaRPr lang="en-US" altLang="en-US" sz="2000" b="1" dirty="0">
              <a:solidFill>
                <a:prstClr val="black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1) 45°, 4cm, 7cm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2) 30°, 6cm, 3cm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3) 70°, 4.5cm, 6.5cm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4) 53°, 8cm, 11cm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5) 120°, 4cm, 12.5cm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6) 135°, 9cm, 9cm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1330911" y="4429093"/>
            <a:ext cx="9140095" cy="1692771"/>
          </a:xfrm>
          <a:prstGeom prst="rect">
            <a:avLst/>
          </a:prstGeom>
          <a:ln/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prstClr val="black"/>
                </a:solidFill>
                <a:latin typeface="+mn-lt"/>
              </a:rPr>
              <a:t>Constructing from 3 sides (SSS)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1) 8cm, 10cm, 6cm          		2) 7cm, 4cm, 9cm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3) 11cm, 6cm, 8cm          		4) 2.5cm, 3cm, 4.5cm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+mn-lt"/>
              </a:rPr>
              <a:t>5) 6.2cm, 4.5cm, 7.3cm  		6) 9cm, 10cm, 3.6cm</a:t>
            </a:r>
          </a:p>
        </p:txBody>
      </p:sp>
      <p:pic>
        <p:nvPicPr>
          <p:cNvPr id="48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9741">
            <a:off x="4405022" y="1924144"/>
            <a:ext cx="1224136" cy="68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4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9741">
            <a:off x="9085542" y="1882526"/>
            <a:ext cx="1224136" cy="68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" name="Picture 13" descr="rul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27" y="2969849"/>
            <a:ext cx="1123393" cy="66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3" descr="rul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972" y="2965209"/>
            <a:ext cx="1123393" cy="66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3" descr="rul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27" y="4825720"/>
            <a:ext cx="1123393" cy="66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7" descr="Product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2412">
            <a:off x="9234296" y="4694389"/>
            <a:ext cx="926627" cy="9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TRIANGLE BE MADE?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Triangle Inequality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shorter sides must ADD UP to more than the longest side.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arcs never meet.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 ✓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926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cm, 6 cm, 4 cm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+ 6 = 10  &gt;  7  ✓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shorter sides beat the longest — the triangle closes.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9456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Impossible  ✗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926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cm, 10 cm, 7 cm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+ 7 = 9  &lt;  10  ✗</a:t>
            </a:r>
            <a:endParaRPr lang="en-US" sz="15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short sides cannot reach across — the arcs never meet.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66928" y="54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Shorter + shorter  &gt;  longest  →  the triangle can be built.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Side Lengths CANNOT Make a Triangle?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230373" y="1133856"/>
            <a:ext cx="7730950" cy="5040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row: do the two shorter sides add up to more than the longest?</a:t>
            </a:r>
            <a:endParaRPr lang="en-US" sz="1300" dirty="0"/>
          </a:p>
        </p:txBody>
      </p:sp>
      <p:sp>
        <p:nvSpPr>
          <p:cNvPr id="45" name="Rectangle 44"/>
          <p:cNvSpPr/>
          <p:nvPr/>
        </p:nvSpPr>
        <p:spPr>
          <a:xfrm>
            <a:off x="2230373" y="11562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Task – Which of these groups of side lengths CANNOT be used to construct a triangle?</a:t>
            </a:r>
            <a:endParaRPr lang="en-GB" dirty="0"/>
          </a:p>
        </p:txBody>
      </p:sp>
      <p:graphicFrame>
        <p:nvGraphicFramePr>
          <p:cNvPr id="46" name="Group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75306"/>
              </p:ext>
            </p:extLst>
          </p:nvPr>
        </p:nvGraphicFramePr>
        <p:xfrm>
          <a:off x="4572000" y="1704104"/>
          <a:ext cx="6096000" cy="44704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Side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Side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Side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9.3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7.2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82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99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 cm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7" name="Group 100"/>
          <p:cNvGrpSpPr>
            <a:grpSpLocks/>
          </p:cNvGrpSpPr>
          <p:nvPr/>
        </p:nvGrpSpPr>
        <p:grpSpPr bwMode="auto">
          <a:xfrm>
            <a:off x="4832350" y="2977279"/>
            <a:ext cx="1046163" cy="2719388"/>
            <a:chOff x="1124" y="1682"/>
            <a:chExt cx="659" cy="1713"/>
          </a:xfrm>
        </p:grpSpPr>
        <p:grpSp>
          <p:nvGrpSpPr>
            <p:cNvPr id="48" name="Group 87"/>
            <p:cNvGrpSpPr>
              <a:grpSpLocks/>
            </p:cNvGrpSpPr>
            <p:nvPr/>
          </p:nvGrpSpPr>
          <p:grpSpPr bwMode="auto">
            <a:xfrm>
              <a:off x="1124" y="1682"/>
              <a:ext cx="600" cy="164"/>
              <a:chOff x="1152" y="1188"/>
              <a:chExt cx="600" cy="164"/>
            </a:xfrm>
          </p:grpSpPr>
          <p:sp>
            <p:nvSpPr>
              <p:cNvPr id="61" name="Line 84"/>
              <p:cNvSpPr>
                <a:spLocks noChangeShapeType="1"/>
              </p:cNvSpPr>
              <p:nvPr/>
            </p:nvSpPr>
            <p:spPr bwMode="auto">
              <a:xfrm flipV="1">
                <a:off x="1152" y="1212"/>
                <a:ext cx="600" cy="120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Line 86"/>
              <p:cNvSpPr>
                <a:spLocks noChangeShapeType="1"/>
              </p:cNvSpPr>
              <p:nvPr/>
            </p:nvSpPr>
            <p:spPr bwMode="auto">
              <a:xfrm>
                <a:off x="1184" y="1188"/>
                <a:ext cx="524" cy="164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9" name="Group 88"/>
            <p:cNvGrpSpPr>
              <a:grpSpLocks/>
            </p:cNvGrpSpPr>
            <p:nvPr/>
          </p:nvGrpSpPr>
          <p:grpSpPr bwMode="auto">
            <a:xfrm>
              <a:off x="1132" y="2202"/>
              <a:ext cx="600" cy="164"/>
              <a:chOff x="1152" y="1188"/>
              <a:chExt cx="600" cy="164"/>
            </a:xfrm>
          </p:grpSpPr>
          <p:sp>
            <p:nvSpPr>
              <p:cNvPr id="59" name="Line 89"/>
              <p:cNvSpPr>
                <a:spLocks noChangeShapeType="1"/>
              </p:cNvSpPr>
              <p:nvPr/>
            </p:nvSpPr>
            <p:spPr bwMode="auto">
              <a:xfrm flipV="1">
                <a:off x="1152" y="1212"/>
                <a:ext cx="600" cy="120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Line 90"/>
              <p:cNvSpPr>
                <a:spLocks noChangeShapeType="1"/>
              </p:cNvSpPr>
              <p:nvPr/>
            </p:nvSpPr>
            <p:spPr bwMode="auto">
              <a:xfrm>
                <a:off x="1184" y="1188"/>
                <a:ext cx="524" cy="164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0" name="Group 91"/>
            <p:cNvGrpSpPr>
              <a:grpSpLocks/>
            </p:cNvGrpSpPr>
            <p:nvPr/>
          </p:nvGrpSpPr>
          <p:grpSpPr bwMode="auto">
            <a:xfrm>
              <a:off x="1167" y="2704"/>
              <a:ext cx="600" cy="164"/>
              <a:chOff x="1152" y="1188"/>
              <a:chExt cx="600" cy="164"/>
            </a:xfrm>
          </p:grpSpPr>
          <p:sp>
            <p:nvSpPr>
              <p:cNvPr id="57" name="Line 92"/>
              <p:cNvSpPr>
                <a:spLocks noChangeShapeType="1"/>
              </p:cNvSpPr>
              <p:nvPr/>
            </p:nvSpPr>
            <p:spPr bwMode="auto">
              <a:xfrm flipV="1">
                <a:off x="1152" y="1212"/>
                <a:ext cx="600" cy="120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Line 93"/>
              <p:cNvSpPr>
                <a:spLocks noChangeShapeType="1"/>
              </p:cNvSpPr>
              <p:nvPr/>
            </p:nvSpPr>
            <p:spPr bwMode="auto">
              <a:xfrm>
                <a:off x="1184" y="1188"/>
                <a:ext cx="524" cy="164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1" name="Group 94"/>
            <p:cNvGrpSpPr>
              <a:grpSpLocks/>
            </p:cNvGrpSpPr>
            <p:nvPr/>
          </p:nvGrpSpPr>
          <p:grpSpPr bwMode="auto">
            <a:xfrm>
              <a:off x="1183" y="2977"/>
              <a:ext cx="600" cy="164"/>
              <a:chOff x="1152" y="1188"/>
              <a:chExt cx="600" cy="164"/>
            </a:xfrm>
          </p:grpSpPr>
          <p:sp>
            <p:nvSpPr>
              <p:cNvPr id="55" name="Line 95"/>
              <p:cNvSpPr>
                <a:spLocks noChangeShapeType="1"/>
              </p:cNvSpPr>
              <p:nvPr/>
            </p:nvSpPr>
            <p:spPr bwMode="auto">
              <a:xfrm flipV="1">
                <a:off x="1152" y="1212"/>
                <a:ext cx="600" cy="120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Line 96"/>
              <p:cNvSpPr>
                <a:spLocks noChangeShapeType="1"/>
              </p:cNvSpPr>
              <p:nvPr/>
            </p:nvSpPr>
            <p:spPr bwMode="auto">
              <a:xfrm>
                <a:off x="1184" y="1188"/>
                <a:ext cx="524" cy="164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2" name="Group 97"/>
            <p:cNvGrpSpPr>
              <a:grpSpLocks/>
            </p:cNvGrpSpPr>
            <p:nvPr/>
          </p:nvGrpSpPr>
          <p:grpSpPr bwMode="auto">
            <a:xfrm>
              <a:off x="1172" y="3231"/>
              <a:ext cx="600" cy="164"/>
              <a:chOff x="1152" y="1188"/>
              <a:chExt cx="600" cy="164"/>
            </a:xfrm>
          </p:grpSpPr>
          <p:sp>
            <p:nvSpPr>
              <p:cNvPr id="53" name="Line 98"/>
              <p:cNvSpPr>
                <a:spLocks noChangeShapeType="1"/>
              </p:cNvSpPr>
              <p:nvPr/>
            </p:nvSpPr>
            <p:spPr bwMode="auto">
              <a:xfrm flipV="1">
                <a:off x="1152" y="1212"/>
                <a:ext cx="600" cy="120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Line 99"/>
              <p:cNvSpPr>
                <a:spLocks noChangeShapeType="1"/>
              </p:cNvSpPr>
              <p:nvPr/>
            </p:nvSpPr>
            <p:spPr bwMode="auto">
              <a:xfrm>
                <a:off x="1184" y="1188"/>
                <a:ext cx="524" cy="164"/>
              </a:xfrm>
              <a:prstGeom prst="line">
                <a:avLst/>
              </a:prstGeom>
              <a:noFill/>
              <a:ln w="57150">
                <a:solidFill>
                  <a:schemeClr val="accent4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mtClean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Bisectors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‘Bisect’ means cut exactly in half.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bisector — cuts a LINE in half at 90°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 bisector — cuts an ANGLE in half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compass width for both arcs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crossing points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&amp; Bisector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to know before you start.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30175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right angles (90°).</a:t>
            </a:r>
            <a:endParaRPr lang="en-US" sz="1600" dirty="0"/>
          </a:p>
          <a:p>
            <a:pPr marL="0" indent="0">
              <a:buNone/>
            </a:pPr>
            <a:r>
              <a:rPr lang="en-US" sz="13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perpendicular line meets another at exactly 90°.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0488" y="228600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BISECTOR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Cuts exactly in HALF.</a:t>
            </a:r>
            <a:endParaRPr lang="en-US" sz="1600" dirty="0"/>
          </a:p>
          <a:p>
            <a:pPr marL="0" indent="0">
              <a:buNone/>
            </a:pPr>
            <a:r>
              <a:rPr lang="en-US" sz="13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bisector divides a line or an angle into two equal parts.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6928" y="54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PERPENDICULAR BISECTOR cuts a line in half AND at 90°.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BISECTOR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Construct It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8333" y="1353312"/>
            <a:ext cx="6955030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341" y="1417320"/>
            <a:ext cx="6827014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Compasses more than half the line.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arcs from EACH end, then join where they cross — above and below.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BISECTOR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Finished Construction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97000" y="1353312"/>
            <a:ext cx="8997696" cy="44682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17320"/>
            <a:ext cx="8869680" cy="434023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this line is EQUIDISTANT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two ends — that is what a perpendicular bisector is.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BISECTOR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Construct It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74849" y="1353312"/>
            <a:ext cx="6841998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57" y="1417320"/>
            <a:ext cx="6713982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from the corner to cross both arms,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arcs from those two points. Join the corner to where they cross.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BISECTOR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Finished Construction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97000" y="1353312"/>
            <a:ext cx="8997696" cy="453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17320"/>
            <a:ext cx="8869680" cy="4405274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this line is EQUIDISTANT from the two arms of the angle.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Perpendiculars to a Line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shortest distance from a point to a line is the PERPENDICULAR distance.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distance = perpendicular distance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point to a line: drop a perpendicular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point on a line: raise a perpendicular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arc method as a bisector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Shortest Distance from a Point to a Line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186782" y="1353312"/>
            <a:ext cx="7818132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790" y="1417320"/>
            <a:ext cx="7690116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route from a point to a line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the PERPENDICULAR — straight down at 90°.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from a Point to a Line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40560" y="1353312"/>
            <a:ext cx="8310575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from the point cross the line twice;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bisect that section to drop the perpendicular.</a:t>
            </a:r>
            <a:endParaRPr lang="en-US" sz="1300" dirty="0"/>
          </a:p>
        </p:txBody>
      </p:sp>
      <p:sp>
        <p:nvSpPr>
          <p:cNvPr id="45" name="Rectangle 44"/>
          <p:cNvSpPr/>
          <p:nvPr/>
        </p:nvSpPr>
        <p:spPr>
          <a:xfrm>
            <a:off x="2050095" y="1314822"/>
            <a:ext cx="8372226" cy="38884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6" name="Picture 1048" descr="set square blan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095" y="2250950"/>
            <a:ext cx="3529012" cy="206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42" descr="rul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070" y="4311525"/>
            <a:ext cx="7920037" cy="74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Box 1044"/>
          <p:cNvSpPr txBox="1">
            <a:spLocks noChangeArrowheads="1"/>
          </p:cNvSpPr>
          <p:nvPr/>
        </p:nvSpPr>
        <p:spPr bwMode="auto">
          <a:xfrm>
            <a:off x="2050095" y="1477838"/>
            <a:ext cx="42555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Draw a straight line using a ruler.</a:t>
            </a:r>
          </a:p>
        </p:txBody>
      </p:sp>
      <p:sp>
        <p:nvSpPr>
          <p:cNvPr id="49" name="Line 1045"/>
          <p:cNvSpPr>
            <a:spLocks noChangeShapeType="1"/>
          </p:cNvSpPr>
          <p:nvPr/>
        </p:nvSpPr>
        <p:spPr bwMode="auto">
          <a:xfrm>
            <a:off x="3797932" y="4303588"/>
            <a:ext cx="4679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0" name="Text Box 1046"/>
          <p:cNvSpPr txBox="1">
            <a:spLocks noChangeArrowheads="1"/>
          </p:cNvSpPr>
          <p:nvPr/>
        </p:nvSpPr>
        <p:spPr bwMode="auto">
          <a:xfrm>
            <a:off x="2050095" y="2035050"/>
            <a:ext cx="40513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Place the set square on the ruler and use the right angle to draw a line perpendicular to this line.</a:t>
            </a:r>
          </a:p>
        </p:txBody>
      </p:sp>
      <p:sp>
        <p:nvSpPr>
          <p:cNvPr id="51" name="Line 1049"/>
          <p:cNvSpPr>
            <a:spLocks noChangeShapeType="1"/>
          </p:cNvSpPr>
          <p:nvPr/>
        </p:nvSpPr>
        <p:spPr bwMode="auto">
          <a:xfrm>
            <a:off x="6750682" y="2296988"/>
            <a:ext cx="0" cy="20145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2" name="Rectangle 1050"/>
          <p:cNvSpPr>
            <a:spLocks noChangeArrowheads="1"/>
          </p:cNvSpPr>
          <p:nvPr/>
        </p:nvSpPr>
        <p:spPr bwMode="auto">
          <a:xfrm>
            <a:off x="6533195" y="4086100"/>
            <a:ext cx="217487" cy="2174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 animBg="1"/>
      <p:bldP spid="50" grpId="0"/>
      <p:bldP spid="51" grpId="0" animBg="1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en-US" sz="2800" b="1" dirty="0" smtClean="0"/>
              <a:t>Draw Parallel Lines</a:t>
            </a:r>
            <a:endParaRPr lang="en-US" sz="2700" b="1" dirty="0"/>
          </a:p>
        </p:txBody>
      </p:sp>
      <p:sp>
        <p:nvSpPr>
          <p:cNvPr id="41" name="Shape 39"/>
          <p:cNvSpPr/>
          <p:nvPr/>
        </p:nvSpPr>
        <p:spPr>
          <a:xfrm>
            <a:off x="1940560" y="1353312"/>
            <a:ext cx="8310575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from the point cross the line twice;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bisect that section to drop the perpendicular.</a:t>
            </a:r>
            <a:endParaRPr lang="en-US" sz="1300" dirty="0"/>
          </a:p>
        </p:txBody>
      </p:sp>
      <p:sp>
        <p:nvSpPr>
          <p:cNvPr id="45" name="Rectangle 44"/>
          <p:cNvSpPr/>
          <p:nvPr/>
        </p:nvSpPr>
        <p:spPr>
          <a:xfrm>
            <a:off x="2050095" y="1386830"/>
            <a:ext cx="8372226" cy="38884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46" name="Picture 1026" descr="set square blan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795" y="2322958"/>
            <a:ext cx="3529012" cy="206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32" descr="rul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070" y="4383533"/>
            <a:ext cx="7920037" cy="74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 Box 1035"/>
          <p:cNvSpPr txBox="1">
            <a:spLocks noChangeArrowheads="1"/>
          </p:cNvSpPr>
          <p:nvPr/>
        </p:nvSpPr>
        <p:spPr bwMode="auto">
          <a:xfrm>
            <a:off x="2050095" y="2467421"/>
            <a:ext cx="31162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Slide the set square along the ruler to draw a line parallel to the first.</a:t>
            </a:r>
          </a:p>
        </p:txBody>
      </p:sp>
      <p:grpSp>
        <p:nvGrpSpPr>
          <p:cNvPr id="49" name="Group 1046"/>
          <p:cNvGrpSpPr>
            <a:grpSpLocks/>
          </p:cNvGrpSpPr>
          <p:nvPr/>
        </p:nvGrpSpPr>
        <p:grpSpPr bwMode="auto">
          <a:xfrm>
            <a:off x="5237795" y="2322958"/>
            <a:ext cx="4752975" cy="2065338"/>
            <a:chOff x="2245" y="1888"/>
            <a:chExt cx="2994" cy="1301"/>
          </a:xfrm>
        </p:grpSpPr>
        <p:sp>
          <p:nvSpPr>
            <p:cNvPr id="50" name="Rectangle 1038"/>
            <p:cNvSpPr>
              <a:spLocks noChangeArrowheads="1"/>
            </p:cNvSpPr>
            <p:nvPr/>
          </p:nvSpPr>
          <p:spPr bwMode="auto">
            <a:xfrm>
              <a:off x="2245" y="1888"/>
              <a:ext cx="862" cy="13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400" smtClean="0"/>
            </a:p>
          </p:txBody>
        </p:sp>
        <p:pic>
          <p:nvPicPr>
            <p:cNvPr id="51" name="Picture 1043" descr="set square blan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1888"/>
              <a:ext cx="2223" cy="1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Line 1044"/>
          <p:cNvSpPr>
            <a:spLocks noChangeShapeType="1"/>
          </p:cNvSpPr>
          <p:nvPr/>
        </p:nvSpPr>
        <p:spPr bwMode="auto">
          <a:xfrm>
            <a:off x="6463345" y="2368996"/>
            <a:ext cx="0" cy="20145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3" name="Line 1045"/>
          <p:cNvSpPr>
            <a:spLocks noChangeShapeType="1"/>
          </p:cNvSpPr>
          <p:nvPr/>
        </p:nvSpPr>
        <p:spPr bwMode="auto">
          <a:xfrm>
            <a:off x="6463345" y="3305621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4" name="Line 1036"/>
          <p:cNvSpPr>
            <a:spLocks noChangeShapeType="1"/>
          </p:cNvSpPr>
          <p:nvPr/>
        </p:nvSpPr>
        <p:spPr bwMode="auto">
          <a:xfrm>
            <a:off x="5239382" y="2368996"/>
            <a:ext cx="0" cy="20145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5" name="Line 1041"/>
          <p:cNvSpPr>
            <a:spLocks noChangeShapeType="1"/>
          </p:cNvSpPr>
          <p:nvPr/>
        </p:nvSpPr>
        <p:spPr bwMode="auto">
          <a:xfrm>
            <a:off x="5239382" y="330403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 smtClean="0"/>
          </a:p>
        </p:txBody>
      </p:sp>
      <p:sp>
        <p:nvSpPr>
          <p:cNvPr id="56" name="Text Box 1033"/>
          <p:cNvSpPr txBox="1">
            <a:spLocks noChangeArrowheads="1"/>
          </p:cNvSpPr>
          <p:nvPr/>
        </p:nvSpPr>
        <p:spPr bwMode="auto">
          <a:xfrm>
            <a:off x="2050095" y="1554608"/>
            <a:ext cx="8228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2400" smtClean="0"/>
              <a:t>Place the set square on the ruler and use it to draw a straight line perpendicular to the ruler’s edge.</a:t>
            </a:r>
          </a:p>
        </p:txBody>
      </p:sp>
    </p:spTree>
    <p:extLst>
      <p:ext uri="{BB962C8B-B14F-4D97-AF65-F5344CB8AC3E}">
        <p14:creationId xmlns:p14="http://schemas.microsoft.com/office/powerpoint/2010/main" val="98291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52" grpId="0" animBg="1"/>
      <p:bldP spid="53" grpId="0" animBg="1"/>
      <p:bldP spid="54" grpId="0" animBg="1"/>
      <p:bldP spid="55" grpId="0" animBg="1"/>
      <p:bldP spid="5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Angles &amp; Shapes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only compasses, you can build exact angles and shapes.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hexagon — 6 arcs round a circle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60° — the equilateral-triangle angle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30° and 45° — by bisecting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line into equal parts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Regular Hexagon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35989" y="1353312"/>
            <a:ext cx="7319717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997" y="1417320"/>
            <a:ext cx="7191701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radius steps exactly 6 times around a circle.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6 arcs, then join them.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7863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Angle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</a:t>
            </a:r>
            <a:r>
              <a:rPr lang="en-US" sz="2700" b="1" dirty="0" smtClean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60° </a:t>
            </a: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equilateral-triangle angle</a:t>
            </a:r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90920" y="1353312"/>
            <a:ext cx="7409855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928" y="1417320"/>
            <a:ext cx="7281839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arcs from both ends of the base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equilateral triangle — so the angle is exactly 60°.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Angle of 30°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21181" y="1353312"/>
            <a:ext cx="734933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189" y="1417320"/>
            <a:ext cx="7221317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60° first,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BISECT it — half of 60° is 30°.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ANGLES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Angle of 45°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93354" y="1353312"/>
            <a:ext cx="8204987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62" y="1417320"/>
            <a:ext cx="8076971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perpendicular (90°) at the point,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bisect it — half of 90° is 45°.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Line into Equal Parts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375029" y="1353312"/>
            <a:ext cx="7441638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0" descr="/tmp/work/clean5/cn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37" y="1417320"/>
            <a:ext cx="7313622" cy="452628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second line at an angle,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off equal lengths, then draw parallels back to the original line.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Constructions are ACCURATE drawings with a ruler and compasses — keep your arcs.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can be made only if the two shorter sides add to MORE than the longest.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bisector: arcs from each end — every point is equidistant from the two ends.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bisector: arc across both arms, then arcs from those — splits the angle in half.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 from an equilateral triangle; bisect for 30°; perpendicular then bisect for 45°.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rub out your construction arcs — they show the method and carry the marks.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1718</Words>
  <Application>Microsoft Office PowerPoint</Application>
  <PresentationFormat>Custom</PresentationFormat>
  <Paragraphs>315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4</cp:revision>
  <dcterms:created xsi:type="dcterms:W3CDTF">2026-07-15T07:31:58Z</dcterms:created>
  <dcterms:modified xsi:type="dcterms:W3CDTF">2026-07-27T09:55:30Z</dcterms:modified>
</cp:coreProperties>
</file>