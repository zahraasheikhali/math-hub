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96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1: 30 000. 2: 124 000. 3: 0.006. 4: 0.101.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1: 2×10⁴. 2: 4.3×10⁻³. 3: 9.31×10⁸. 4: 1.001×10⁻⁶.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1 300 000 = 1.3×10⁶.  0.005 = 5×10⁻³.  8×10⁴ = 80 000.  2 940 000 000 = 2.94×10⁹.  9 880 000 = 9.88×10⁶.  6.25×10⁻³ = 0.00625.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try — 1: 6×10⁹. 2: 35×10¹³ = 3.5×10¹⁴. 3: (2.5)²×10¹⁰ = 6.25×10¹⁰.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try — 1: 0.5×10⁰ = 5×10⁻¹. 2: 4×10⁵. 3: 3×10⁻⁶.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(3.5×10³)÷(7×10⁶) = 0.5×10⁻³ = 5×10⁻⁴.  (2.4×10²)÷(9.6×10⁵) = 0.25×10⁻³ = 2.5×10⁻⁴.  (9.6+6.4)×10¹⁶ ÷ 3.2×10¹⁰ = 16×10¹⁶ ÷ 3.2×10¹⁰ = 5×10⁶.  a² = 625×10⁸ⁿ = 6.25×10^(8n+2).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— 1.1×10⁵+2×10⁴=1.3×10⁵; 5×10⁷+2×10⁵=5.02×10⁷; 3.2×10⁻⁴–5×10⁻⁵=2.7×10⁻⁴.  Now try — 1: 9×10⁴. 2: 2.09×10¹². 3: 6.5×10⁻².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— (a) 8.60×10⁶ = 8 600 000. (b) Barcelona (5.50×10⁶). (c) 3.70×10⁷ − 7.70×10⁶ = 2.93×10⁷.  Ocean — (a) 7.18×10⁷ = 71 800 000. (b) 9.6×10¹⁶ + 6.4×10¹⁶ = 1.6×10¹⁷ km³.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91440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0561320" y="960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21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496" dirty="0"/>
          </a:p>
        </p:txBody>
      </p:sp>
      <p:sp>
        <p:nvSpPr>
          <p:cNvPr id="6" name="Text 4"/>
          <p:cNvSpPr/>
          <p:nvPr/>
        </p:nvSpPr>
        <p:spPr>
          <a:xfrm>
            <a:off x="162763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950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8" name="anim_1_a"/>
          <p:cNvSpPr/>
          <p:nvPr/>
        </p:nvSpPr>
        <p:spPr>
          <a:xfrm>
            <a:off x="731520" y="1828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</a:t>
            </a:r>
            <a:endParaRPr lang="en-US" sz="4800" dirty="0"/>
          </a:p>
        </p:txBody>
      </p:sp>
      <p:sp>
        <p:nvSpPr>
          <p:cNvPr id="9" name="anim_2_a"/>
          <p:cNvSpPr/>
          <p:nvPr/>
        </p:nvSpPr>
        <p:spPr>
          <a:xfrm>
            <a:off x="758952" y="2926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↔ Standard Form  ·  Add · Subtract · Multiply · Divide</a:t>
            </a:r>
            <a:endParaRPr lang="en-US" sz="1600" dirty="0"/>
          </a:p>
        </p:txBody>
      </p:sp>
      <p:sp>
        <p:nvSpPr>
          <p:cNvPr id="10" name="anim_3_a"/>
          <p:cNvSpPr/>
          <p:nvPr/>
        </p:nvSpPr>
        <p:spPr>
          <a:xfrm>
            <a:off x="731520" y="4114800"/>
            <a:ext cx="6858000" cy="1627632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anim_3_a"/>
          <p:cNvSpPr/>
          <p:nvPr/>
        </p:nvSpPr>
        <p:spPr>
          <a:xfrm>
            <a:off x="1005840" y="4297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100" dirty="0"/>
          </a:p>
        </p:txBody>
      </p:sp>
      <p:sp>
        <p:nvSpPr>
          <p:cNvPr id="12" name="anim_3_a"/>
          <p:cNvSpPr/>
          <p:nvPr/>
        </p:nvSpPr>
        <p:spPr>
          <a:xfrm>
            <a:off x="1005840" y="4690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Mathematics Teacher  ·  M.Sc. Differential Geometry &amp; Geometric Control</a:t>
            </a:r>
            <a:endParaRPr lang="en-US" sz="1200" dirty="0"/>
          </a:p>
        </p:txBody>
      </p:sp>
      <p:sp>
        <p:nvSpPr>
          <p:cNvPr id="13" name="anim_3_a"/>
          <p:cNvSpPr/>
          <p:nvPr/>
        </p:nvSpPr>
        <p:spPr>
          <a:xfrm>
            <a:off x="1005840" y="5129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Standard Form?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0020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16261F"/>
          </a:solidFill>
          <a:ln/>
          <a:effectLst>
            <a:outerShdw blurRad="127000" dist="508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783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× 10</a:t>
            </a:r>
            <a:r>
              <a:rPr lang="en-US" sz="40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8" name="anim_1_a"/>
          <p:cNvSpPr/>
          <p:nvPr/>
        </p:nvSpPr>
        <p:spPr>
          <a:xfrm>
            <a:off x="548640" y="2606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between 1 and 10</a:t>
            </a: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 ≤ a &lt; 10)     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any whole number</a:t>
            </a: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(can be negative)</a:t>
            </a:r>
            <a:endParaRPr lang="en-US" sz="1400" dirty="0"/>
          </a:p>
        </p:txBody>
      </p:sp>
      <p:sp>
        <p:nvSpPr>
          <p:cNvPr id="9" name="anim_2_c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</a:t>
            </a:r>
            <a:endParaRPr lang="en-US" sz="1200" dirty="0"/>
          </a:p>
        </p:txBody>
      </p:sp>
      <p:sp>
        <p:nvSpPr>
          <p:cNvPr id="10" name="anim_2_c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anim_2_c"/>
          <p:cNvSpPr/>
          <p:nvPr/>
        </p:nvSpPr>
        <p:spPr>
          <a:xfrm>
            <a:off x="1463040" y="4114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very big or very small numbers concisely</a:t>
            </a:r>
            <a:endParaRPr lang="en-US" sz="1500" dirty="0"/>
          </a:p>
        </p:txBody>
      </p:sp>
      <p:sp>
        <p:nvSpPr>
          <p:cNvPr id="14" name="anim_2_c"/>
          <p:cNvSpPr/>
          <p:nvPr/>
        </p:nvSpPr>
        <p:spPr>
          <a:xfrm>
            <a:off x="822960" y="5074920"/>
            <a:ext cx="4892040" cy="502920"/>
          </a:xfrm>
          <a:prstGeom prst="roundRect">
            <a:avLst>
              <a:gd name="adj" fmla="val 14545"/>
            </a:avLst>
          </a:prstGeom>
          <a:solidFill>
            <a:srgbClr val="EEF1E8"/>
          </a:solidFill>
          <a:ln/>
        </p:spPr>
      </p:sp>
      <p:sp>
        <p:nvSpPr>
          <p:cNvPr id="15" name="anim_2_c"/>
          <p:cNvSpPr/>
          <p:nvPr/>
        </p:nvSpPr>
        <p:spPr>
          <a:xfrm>
            <a:off x="822960" y="50749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234 000 000 000 000 = 2.34 × 10¹⁴</a:t>
            </a:r>
            <a:endParaRPr lang="en-US" sz="1350" dirty="0"/>
          </a:p>
        </p:txBody>
      </p:sp>
      <p:sp>
        <p:nvSpPr>
          <p:cNvPr id="16" name="anim_2_c"/>
          <p:cNvSpPr/>
          <p:nvPr/>
        </p:nvSpPr>
        <p:spPr>
          <a:xfrm>
            <a:off x="6263640" y="3840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6537960" y="413308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2_c"/>
          <p:cNvSpPr/>
          <p:nvPr/>
        </p:nvSpPr>
        <p:spPr>
          <a:xfrm>
            <a:off x="6537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anim_2_c"/>
          <p:cNvSpPr/>
          <p:nvPr/>
        </p:nvSpPr>
        <p:spPr>
          <a:xfrm>
            <a:off x="7178040" y="4114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big and small numbers easily</a:t>
            </a:r>
            <a:endParaRPr lang="en-US" sz="1500" dirty="0"/>
          </a:p>
        </p:txBody>
      </p:sp>
      <p:sp>
        <p:nvSpPr>
          <p:cNvPr id="20" name="anim_2_c"/>
          <p:cNvSpPr/>
          <p:nvPr/>
        </p:nvSpPr>
        <p:spPr>
          <a:xfrm>
            <a:off x="6537960" y="5074920"/>
            <a:ext cx="4892040" cy="502920"/>
          </a:xfrm>
          <a:prstGeom prst="roundRect">
            <a:avLst>
              <a:gd name="adj" fmla="val 14545"/>
            </a:avLst>
          </a:prstGeom>
          <a:solidFill>
            <a:srgbClr val="EEF1E8"/>
          </a:solidFill>
          <a:ln/>
        </p:spPr>
      </p:sp>
      <p:sp>
        <p:nvSpPr>
          <p:cNvPr id="21" name="anim_2_c"/>
          <p:cNvSpPr/>
          <p:nvPr/>
        </p:nvSpPr>
        <p:spPr>
          <a:xfrm>
            <a:off x="6537960" y="50749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 × 10¹⁴  &gt;  2.34 × 10¹³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 — or Not?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8745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 FORM</a:t>
            </a:r>
            <a:endParaRPr lang="en-US" sz="1400" dirty="0"/>
          </a:p>
        </p:txBody>
      </p:sp>
      <p:sp>
        <p:nvSpPr>
          <p:cNvPr id="8" name="anim_1_a"/>
          <p:cNvSpPr/>
          <p:nvPr/>
        </p:nvSpPr>
        <p:spPr>
          <a:xfrm>
            <a:off x="1005840" y="2331720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9" name="anim_1_a"/>
          <p:cNvSpPr/>
          <p:nvPr/>
        </p:nvSpPr>
        <p:spPr>
          <a:xfrm>
            <a:off x="1005840" y="233172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anim_1_a"/>
          <p:cNvSpPr/>
          <p:nvPr/>
        </p:nvSpPr>
        <p:spPr>
          <a:xfrm>
            <a:off x="1005840" y="2990088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1" name="anim_1_a"/>
          <p:cNvSpPr/>
          <p:nvPr/>
        </p:nvSpPr>
        <p:spPr>
          <a:xfrm>
            <a:off x="1005840" y="299008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–6</a:t>
            </a:r>
            <a:endParaRPr lang="en-US" sz="1800" dirty="0"/>
          </a:p>
        </p:txBody>
      </p:sp>
      <p:sp>
        <p:nvSpPr>
          <p:cNvPr id="12" name="anim_1_a"/>
          <p:cNvSpPr/>
          <p:nvPr/>
        </p:nvSpPr>
        <p:spPr>
          <a:xfrm>
            <a:off x="1005840" y="3648456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3" name="anim_1_a"/>
          <p:cNvSpPr/>
          <p:nvPr/>
        </p:nvSpPr>
        <p:spPr>
          <a:xfrm>
            <a:off x="1005840" y="364845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anim_1_a"/>
          <p:cNvSpPr/>
          <p:nvPr/>
        </p:nvSpPr>
        <p:spPr>
          <a:xfrm>
            <a:off x="1005840" y="4306824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5" name="anim_1_a"/>
          <p:cNvSpPr/>
          <p:nvPr/>
        </p:nvSpPr>
        <p:spPr>
          <a:xfrm>
            <a:off x="1005840" y="430682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–3.45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anim_1_a"/>
          <p:cNvSpPr/>
          <p:nvPr/>
        </p:nvSpPr>
        <p:spPr>
          <a:xfrm>
            <a:off x="1005840" y="4965192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7" name="anim_1_a"/>
          <p:cNvSpPr/>
          <p:nvPr/>
        </p:nvSpPr>
        <p:spPr>
          <a:xfrm>
            <a:off x="1005840" y="496519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–4.32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</a:t>
            </a:r>
            <a:endParaRPr lang="en-US" sz="1800" dirty="0"/>
          </a:p>
        </p:txBody>
      </p:sp>
      <p:sp>
        <p:nvSpPr>
          <p:cNvPr id="18" name="anim_2_c"/>
          <p:cNvSpPr/>
          <p:nvPr/>
        </p:nvSpPr>
        <p:spPr>
          <a:xfrm>
            <a:off x="6199632" y="169164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FBEAE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6199632" y="18745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STANDARD FORM</a:t>
            </a:r>
            <a:endParaRPr lang="en-US" sz="1400" dirty="0"/>
          </a:p>
        </p:txBody>
      </p:sp>
      <p:sp>
        <p:nvSpPr>
          <p:cNvPr id="20" name="anim_2_c"/>
          <p:cNvSpPr/>
          <p:nvPr/>
        </p:nvSpPr>
        <p:spPr>
          <a:xfrm>
            <a:off x="6382512" y="233172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1" name="anim_2_c"/>
          <p:cNvSpPr/>
          <p:nvPr/>
        </p:nvSpPr>
        <p:spPr>
          <a:xfrm>
            <a:off x="6583680" y="23317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680000   </a:t>
            </a:r>
            <a:r>
              <a:rPr lang="en-US" sz="11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written as a × 10ⁿ</a:t>
            </a:r>
            <a:endParaRPr lang="en-US" sz="1600" dirty="0"/>
          </a:p>
        </p:txBody>
      </p:sp>
      <p:sp>
        <p:nvSpPr>
          <p:cNvPr id="22" name="anim_2_c"/>
          <p:cNvSpPr/>
          <p:nvPr/>
        </p:nvSpPr>
        <p:spPr>
          <a:xfrm>
            <a:off x="6382512" y="2990088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3" name="anim_2_c"/>
          <p:cNvSpPr/>
          <p:nvPr/>
        </p:nvSpPr>
        <p:spPr>
          <a:xfrm>
            <a:off x="6583680" y="299008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× 10²   </a:t>
            </a:r>
            <a:r>
              <a:rPr lang="en-US" sz="11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is not between 1 and 10</a:t>
            </a:r>
            <a:endParaRPr lang="en-US" sz="1600" dirty="0"/>
          </a:p>
        </p:txBody>
      </p:sp>
      <p:sp>
        <p:nvSpPr>
          <p:cNvPr id="24" name="anim_2_c"/>
          <p:cNvSpPr/>
          <p:nvPr/>
        </p:nvSpPr>
        <p:spPr>
          <a:xfrm>
            <a:off x="6382512" y="3648456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5" name="anim_2_c"/>
          <p:cNvSpPr/>
          <p:nvPr/>
        </p:nvSpPr>
        <p:spPr>
          <a:xfrm>
            <a:off x="6583680" y="364845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10 × 10   </a:t>
            </a:r>
            <a:r>
              <a:rPr lang="en-US" sz="11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power of 10</a:t>
            </a:r>
            <a:endParaRPr lang="en-US" sz="1600" dirty="0"/>
          </a:p>
        </p:txBody>
      </p:sp>
      <p:sp>
        <p:nvSpPr>
          <p:cNvPr id="26" name="anim_2_c"/>
          <p:cNvSpPr/>
          <p:nvPr/>
        </p:nvSpPr>
        <p:spPr>
          <a:xfrm>
            <a:off x="6382512" y="4306824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7" name="anim_2_c"/>
          <p:cNvSpPr/>
          <p:nvPr/>
        </p:nvSpPr>
        <p:spPr>
          <a:xfrm>
            <a:off x="6583680" y="4306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0.0004   </a:t>
            </a:r>
            <a:r>
              <a:rPr lang="en-US" sz="11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written as a × 10ⁿ</a:t>
            </a:r>
            <a:endParaRPr lang="en-US" sz="1600" dirty="0"/>
          </a:p>
        </p:txBody>
      </p:sp>
      <p:sp>
        <p:nvSpPr>
          <p:cNvPr id="28" name="anim_2_c"/>
          <p:cNvSpPr/>
          <p:nvPr/>
        </p:nvSpPr>
        <p:spPr>
          <a:xfrm>
            <a:off x="6382512" y="4965192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9" name="anim_2_c"/>
          <p:cNvSpPr/>
          <p:nvPr/>
        </p:nvSpPr>
        <p:spPr>
          <a:xfrm>
            <a:off x="6583680" y="49651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4²   </a:t>
            </a:r>
            <a:r>
              <a:rPr lang="en-US" sz="11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4, not 10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Big &amp; Very Small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965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— positive power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86868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of the Earth ≈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86868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5 970 000 000 000 000 000 000 000 kg</a:t>
            </a:r>
            <a:endParaRPr lang="en-US" sz="1400" dirty="0"/>
          </a:p>
        </p:txBody>
      </p:sp>
      <p:sp>
        <p:nvSpPr>
          <p:cNvPr id="10" name="anim_2_c"/>
          <p:cNvSpPr/>
          <p:nvPr/>
        </p:nvSpPr>
        <p:spPr>
          <a:xfrm>
            <a:off x="868680" y="352044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105156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5.97 × 10</a:t>
            </a:r>
            <a:r>
              <a:rPr lang="en-US" sz="20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kg</a:t>
            </a:r>
            <a:endParaRPr lang="en-US" sz="2000" dirty="0"/>
          </a:p>
        </p:txBody>
      </p:sp>
      <p:sp>
        <p:nvSpPr>
          <p:cNvPr id="12" name="anim_2_c"/>
          <p:cNvSpPr/>
          <p:nvPr/>
        </p:nvSpPr>
        <p:spPr>
          <a:xfrm>
            <a:off x="86868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places from where the decimal sits.</a:t>
            </a:r>
            <a:endParaRPr lang="en-US" sz="1200" dirty="0"/>
          </a:p>
        </p:txBody>
      </p:sp>
      <p:sp>
        <p:nvSpPr>
          <p:cNvPr id="13" name="anim_3_c"/>
          <p:cNvSpPr/>
          <p:nvPr/>
        </p:nvSpPr>
        <p:spPr>
          <a:xfrm>
            <a:off x="617220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6492240" y="1965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— negative power</a:t>
            </a:r>
            <a:endParaRPr lang="en-US" sz="1200" dirty="0"/>
          </a:p>
        </p:txBody>
      </p:sp>
      <p:sp>
        <p:nvSpPr>
          <p:cNvPr id="15" name="anim_3_c"/>
          <p:cNvSpPr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 of a shelled amoeba =</a:t>
            </a:r>
            <a:endParaRPr lang="en-US" sz="1500" dirty="0"/>
          </a:p>
        </p:txBody>
      </p:sp>
      <p:sp>
        <p:nvSpPr>
          <p:cNvPr id="16" name="anim_3_c"/>
          <p:cNvSpPr/>
          <p:nvPr/>
        </p:nvSpPr>
        <p:spPr>
          <a:xfrm>
            <a:off x="649224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 13 m</a:t>
            </a:r>
            <a:endParaRPr lang="en-US" sz="2000" dirty="0"/>
          </a:p>
        </p:txBody>
      </p:sp>
      <p:sp>
        <p:nvSpPr>
          <p:cNvPr id="17" name="anim_4_c"/>
          <p:cNvSpPr/>
          <p:nvPr/>
        </p:nvSpPr>
        <p:spPr>
          <a:xfrm>
            <a:off x="6492240" y="352044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6675120" y="3520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1.3 × 10</a:t>
            </a:r>
            <a:r>
              <a:rPr lang="en-US" sz="20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</a:t>
            </a: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000" dirty="0"/>
          </a:p>
        </p:txBody>
      </p:sp>
      <p:sp>
        <p:nvSpPr>
          <p:cNvPr id="19" name="anim_4_c"/>
          <p:cNvSpPr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 → the power is negative.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· FROM STANDARD FORM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  →  Ordinary Number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power 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point n places to the right (fill with zeros).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0" name="anim_2_c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point 7 places right</a:t>
            </a:r>
            <a:endParaRPr lang="en-US" sz="1450" dirty="0"/>
          </a:p>
        </p:txBody>
      </p:sp>
      <p:sp>
        <p:nvSpPr>
          <p:cNvPr id="13" name="anim_3_c"/>
          <p:cNvSpPr/>
          <p:nvPr/>
        </p:nvSpPr>
        <p:spPr>
          <a:xfrm>
            <a:off x="868680" y="384048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105156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80 000 000</a:t>
            </a:r>
            <a:endParaRPr lang="en-US" sz="2000" dirty="0"/>
          </a:p>
        </p:txBody>
      </p:sp>
      <p:sp>
        <p:nvSpPr>
          <p:cNvPr id="15" name="anim_4_c"/>
          <p:cNvSpPr/>
          <p:nvPr/>
        </p:nvSpPr>
        <p:spPr>
          <a:xfrm>
            <a:off x="6172200" y="2377440"/>
            <a:ext cx="5468112" cy="3383280"/>
          </a:xfrm>
          <a:prstGeom prst="roundRect">
            <a:avLst>
              <a:gd name="adj" fmla="val 2703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anim_4_c"/>
          <p:cNvSpPr/>
          <p:nvPr/>
        </p:nvSpPr>
        <p:spPr>
          <a:xfrm>
            <a:off x="64922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5.273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7" name="anim_4_c"/>
          <p:cNvSpPr/>
          <p:nvPr/>
        </p:nvSpPr>
        <p:spPr>
          <a:xfrm>
            <a:off x="649224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6492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anim_4_c"/>
          <p:cNvSpPr/>
          <p:nvPr/>
        </p:nvSpPr>
        <p:spPr>
          <a:xfrm>
            <a:off x="70408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point 8 places right</a:t>
            </a:r>
            <a:endParaRPr lang="en-US" sz="1450" dirty="0"/>
          </a:p>
        </p:txBody>
      </p:sp>
      <p:sp>
        <p:nvSpPr>
          <p:cNvPr id="20" name="anim_5_c"/>
          <p:cNvSpPr/>
          <p:nvPr/>
        </p:nvSpPr>
        <p:spPr>
          <a:xfrm>
            <a:off x="6492240" y="3840480"/>
            <a:ext cx="438912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anim_5_c"/>
          <p:cNvSpPr/>
          <p:nvPr/>
        </p:nvSpPr>
        <p:spPr>
          <a:xfrm>
            <a:off x="667512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527 300 000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· FROM STANDARD FORM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Powers → Small Numbers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power: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point that many places to the LEFT.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3172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2.35 × 10</a:t>
            </a:r>
            <a:r>
              <a:rPr lang="en-US" sz="17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</a:t>
            </a: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4 places left</a:t>
            </a:r>
            <a:endParaRPr lang="en-US" sz="1700" dirty="0"/>
          </a:p>
        </p:txBody>
      </p:sp>
      <p:sp>
        <p:nvSpPr>
          <p:cNvPr id="10" name="anim_2_c"/>
          <p:cNvSpPr/>
          <p:nvPr/>
        </p:nvSpPr>
        <p:spPr>
          <a:xfrm>
            <a:off x="868680" y="3108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1051560" y="3108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0.000235</a:t>
            </a:r>
            <a:endParaRPr lang="en-US" sz="1900" dirty="0"/>
          </a:p>
        </p:txBody>
      </p:sp>
      <p:sp>
        <p:nvSpPr>
          <p:cNvPr id="12" name="anim_3_c"/>
          <p:cNvSpPr/>
          <p:nvPr/>
        </p:nvSpPr>
        <p:spPr>
          <a:xfrm>
            <a:off x="6172200" y="233172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anim_3_c"/>
          <p:cNvSpPr/>
          <p:nvPr/>
        </p:nvSpPr>
        <p:spPr>
          <a:xfrm>
            <a:off x="649224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10</a:t>
            </a:r>
            <a:r>
              <a:rPr lang="en-US" sz="17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</a:t>
            </a: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3 places left</a:t>
            </a:r>
            <a:endParaRPr lang="en-US" sz="1700" dirty="0"/>
          </a:p>
        </p:txBody>
      </p:sp>
      <p:sp>
        <p:nvSpPr>
          <p:cNvPr id="14" name="anim_3_c"/>
          <p:cNvSpPr/>
          <p:nvPr/>
        </p:nvSpPr>
        <p:spPr>
          <a:xfrm>
            <a:off x="6492240" y="31089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6675120" y="3108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0.004</a:t>
            </a:r>
            <a:endParaRPr lang="en-US" sz="1900" dirty="0"/>
          </a:p>
        </p:txBody>
      </p:sp>
      <p:sp>
        <p:nvSpPr>
          <p:cNvPr id="16" name="anim_4_c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— write as an ordinary number</a:t>
            </a:r>
            <a:endParaRPr lang="en-US" sz="1200" dirty="0"/>
          </a:p>
        </p:txBody>
      </p:sp>
      <p:sp>
        <p:nvSpPr>
          <p:cNvPr id="17" name="anim_4_c"/>
          <p:cNvSpPr/>
          <p:nvPr/>
        </p:nvSpPr>
        <p:spPr>
          <a:xfrm>
            <a:off x="548640" y="4663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8" name="anim_4_c"/>
          <p:cNvSpPr/>
          <p:nvPr/>
        </p:nvSpPr>
        <p:spPr>
          <a:xfrm>
            <a:off x="713232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4_c"/>
          <p:cNvSpPr/>
          <p:nvPr/>
        </p:nvSpPr>
        <p:spPr>
          <a:xfrm>
            <a:off x="713232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anim_4_c"/>
          <p:cNvSpPr/>
          <p:nvPr/>
        </p:nvSpPr>
        <p:spPr>
          <a:xfrm>
            <a:off x="1152144" y="4663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anim_4_c"/>
          <p:cNvSpPr/>
          <p:nvPr/>
        </p:nvSpPr>
        <p:spPr>
          <a:xfrm>
            <a:off x="3346704" y="4663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2" name="anim_4_c"/>
          <p:cNvSpPr/>
          <p:nvPr/>
        </p:nvSpPr>
        <p:spPr>
          <a:xfrm>
            <a:off x="3511296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3" name="anim_4_c"/>
          <p:cNvSpPr/>
          <p:nvPr/>
        </p:nvSpPr>
        <p:spPr>
          <a:xfrm>
            <a:off x="3511296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anim_4_c"/>
          <p:cNvSpPr/>
          <p:nvPr/>
        </p:nvSpPr>
        <p:spPr>
          <a:xfrm>
            <a:off x="3950208" y="4663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anim_4_c"/>
          <p:cNvSpPr/>
          <p:nvPr/>
        </p:nvSpPr>
        <p:spPr>
          <a:xfrm>
            <a:off x="6144768" y="4663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6" name="anim_4_c"/>
          <p:cNvSpPr/>
          <p:nvPr/>
        </p:nvSpPr>
        <p:spPr>
          <a:xfrm>
            <a:off x="6309360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7" name="anim_4_c"/>
          <p:cNvSpPr/>
          <p:nvPr/>
        </p:nvSpPr>
        <p:spPr>
          <a:xfrm>
            <a:off x="630936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anim_4_c"/>
          <p:cNvSpPr/>
          <p:nvPr/>
        </p:nvSpPr>
        <p:spPr>
          <a:xfrm>
            <a:off x="6748272" y="4663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</a:t>
            </a:r>
            <a:endParaRPr lang="en-US" sz="1600" dirty="0"/>
          </a:p>
        </p:txBody>
      </p:sp>
      <p:sp>
        <p:nvSpPr>
          <p:cNvPr id="29" name="anim_4_c"/>
          <p:cNvSpPr/>
          <p:nvPr/>
        </p:nvSpPr>
        <p:spPr>
          <a:xfrm>
            <a:off x="8942832" y="4663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30" name="anim_4_c"/>
          <p:cNvSpPr/>
          <p:nvPr/>
        </p:nvSpPr>
        <p:spPr>
          <a:xfrm>
            <a:off x="9107424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1" name="anim_4_c"/>
          <p:cNvSpPr/>
          <p:nvPr/>
        </p:nvSpPr>
        <p:spPr>
          <a:xfrm>
            <a:off x="9107424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anim_4_c"/>
          <p:cNvSpPr/>
          <p:nvPr/>
        </p:nvSpPr>
        <p:spPr>
          <a:xfrm>
            <a:off x="9546336" y="4663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· TO STANDARD FORM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Number  →  Standard Form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decimal point after the first non-zero digit, then count how many places it moved — that's n.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11091672" cy="3383280"/>
          </a:xfrm>
          <a:prstGeom prst="roundRect">
            <a:avLst>
              <a:gd name="adj" fmla="val 270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60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675 400 000 000 000 000   in standard form</a:t>
            </a:r>
            <a:endParaRPr lang="en-US" sz="1800" dirty="0"/>
          </a:p>
        </p:txBody>
      </p:sp>
      <p:sp>
        <p:nvSpPr>
          <p:cNvPr id="10" name="anim_2_c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063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digits give the number between 1 and 10:   6.754</a:t>
            </a:r>
            <a:endParaRPr lang="en-US" sz="1550" dirty="0"/>
          </a:p>
        </p:txBody>
      </p:sp>
      <p:sp>
        <p:nvSpPr>
          <p:cNvPr id="13" name="anim_3_c"/>
          <p:cNvSpPr/>
          <p:nvPr/>
        </p:nvSpPr>
        <p:spPr>
          <a:xfrm>
            <a:off x="868680" y="3813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7490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places back to the decimal point:   17</a:t>
            </a:r>
            <a:endParaRPr lang="en-US" sz="1550" dirty="0"/>
          </a:p>
        </p:txBody>
      </p:sp>
      <p:sp>
        <p:nvSpPr>
          <p:cNvPr id="16" name="anim_4_c"/>
          <p:cNvSpPr/>
          <p:nvPr/>
        </p:nvSpPr>
        <p:spPr>
          <a:xfrm>
            <a:off x="868680" y="452628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1051560" y="4526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6.754 × 10</a:t>
            </a:r>
            <a:r>
              <a:rPr lang="en-US" sz="21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100" dirty="0"/>
          </a:p>
        </p:txBody>
      </p:sp>
      <p:sp>
        <p:nvSpPr>
          <p:cNvPr id="18" name="anim_4_c"/>
          <p:cNvSpPr/>
          <p:nvPr/>
        </p:nvSpPr>
        <p:spPr>
          <a:xfrm>
            <a:off x="6126480" y="4526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number → positive power.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· TO STANDARD FORM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Numbers → Negative Powers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4592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105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0.000 000 000 000 004 26   in standard form</a:t>
            </a:r>
            <a:endParaRPr lang="en-US" sz="1700" dirty="0"/>
          </a:p>
        </p:txBody>
      </p:sp>
      <p:sp>
        <p:nvSpPr>
          <p:cNvPr id="8" name="anim_2_c"/>
          <p:cNvSpPr/>
          <p:nvPr/>
        </p:nvSpPr>
        <p:spPr>
          <a:xfrm>
            <a:off x="868680" y="23500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2_c"/>
          <p:cNvSpPr/>
          <p:nvPr/>
        </p:nvSpPr>
        <p:spPr>
          <a:xfrm>
            <a:off x="86868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2_c"/>
          <p:cNvSpPr/>
          <p:nvPr/>
        </p:nvSpPr>
        <p:spPr>
          <a:xfrm>
            <a:off x="1417320" y="22860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between 1 and 10:  4.26    ·    decimal moves 15 places right → power –15</a:t>
            </a:r>
            <a:endParaRPr lang="en-US" sz="1450" dirty="0"/>
          </a:p>
        </p:txBody>
      </p:sp>
      <p:sp>
        <p:nvSpPr>
          <p:cNvPr id="11" name="anim_3_c"/>
          <p:cNvSpPr/>
          <p:nvPr/>
        </p:nvSpPr>
        <p:spPr>
          <a:xfrm>
            <a:off x="868680" y="288036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anim_3_c"/>
          <p:cNvSpPr/>
          <p:nvPr/>
        </p:nvSpPr>
        <p:spPr>
          <a:xfrm>
            <a:off x="10515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4.26 × 10</a:t>
            </a: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–15</a:t>
            </a:r>
            <a:endParaRPr lang="en-US" sz="1900" dirty="0"/>
          </a:p>
        </p:txBody>
      </p:sp>
      <p:sp>
        <p:nvSpPr>
          <p:cNvPr id="13" name="anim_4_c"/>
          <p:cNvSpPr/>
          <p:nvPr/>
        </p:nvSpPr>
        <p:spPr>
          <a:xfrm>
            <a:off x="54864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— write in standard form</a:t>
            </a:r>
            <a:endParaRPr lang="en-US" sz="1200" dirty="0"/>
          </a:p>
        </p:txBody>
      </p:sp>
      <p:sp>
        <p:nvSpPr>
          <p:cNvPr id="14" name="anim_4_c"/>
          <p:cNvSpPr/>
          <p:nvPr/>
        </p:nvSpPr>
        <p:spPr>
          <a:xfrm>
            <a:off x="548640" y="3977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5" name="anim_4_c"/>
          <p:cNvSpPr/>
          <p:nvPr/>
        </p:nvSpPr>
        <p:spPr>
          <a:xfrm>
            <a:off x="713232" y="41788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4_c"/>
          <p:cNvSpPr/>
          <p:nvPr/>
        </p:nvSpPr>
        <p:spPr>
          <a:xfrm>
            <a:off x="713232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anim_4_c"/>
          <p:cNvSpPr/>
          <p:nvPr/>
        </p:nvSpPr>
        <p:spPr>
          <a:xfrm>
            <a:off x="1115568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1500" dirty="0"/>
          </a:p>
        </p:txBody>
      </p:sp>
      <p:sp>
        <p:nvSpPr>
          <p:cNvPr id="18" name="anim_4_c"/>
          <p:cNvSpPr/>
          <p:nvPr/>
        </p:nvSpPr>
        <p:spPr>
          <a:xfrm>
            <a:off x="3346704" y="3977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9" name="anim_4_c"/>
          <p:cNvSpPr/>
          <p:nvPr/>
        </p:nvSpPr>
        <p:spPr>
          <a:xfrm>
            <a:off x="3511296" y="41788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0" name="anim_4_c"/>
          <p:cNvSpPr/>
          <p:nvPr/>
        </p:nvSpPr>
        <p:spPr>
          <a:xfrm>
            <a:off x="3511296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anim_4_c"/>
          <p:cNvSpPr/>
          <p:nvPr/>
        </p:nvSpPr>
        <p:spPr>
          <a:xfrm>
            <a:off x="3913632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</a:t>
            </a:r>
            <a:endParaRPr lang="en-US" sz="1500" dirty="0"/>
          </a:p>
        </p:txBody>
      </p:sp>
      <p:sp>
        <p:nvSpPr>
          <p:cNvPr id="22" name="anim_4_c"/>
          <p:cNvSpPr/>
          <p:nvPr/>
        </p:nvSpPr>
        <p:spPr>
          <a:xfrm>
            <a:off x="6144768" y="3977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3" name="anim_4_c"/>
          <p:cNvSpPr/>
          <p:nvPr/>
        </p:nvSpPr>
        <p:spPr>
          <a:xfrm>
            <a:off x="6309360" y="41788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4_c"/>
          <p:cNvSpPr/>
          <p:nvPr/>
        </p:nvSpPr>
        <p:spPr>
          <a:xfrm>
            <a:off x="63093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anim_4_c"/>
          <p:cNvSpPr/>
          <p:nvPr/>
        </p:nvSpPr>
        <p:spPr>
          <a:xfrm>
            <a:off x="6711696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931 000 000</a:t>
            </a:r>
            <a:endParaRPr lang="en-US" sz="1500" dirty="0"/>
          </a:p>
        </p:txBody>
      </p:sp>
      <p:sp>
        <p:nvSpPr>
          <p:cNvPr id="26" name="anim_4_c"/>
          <p:cNvSpPr/>
          <p:nvPr/>
        </p:nvSpPr>
        <p:spPr>
          <a:xfrm>
            <a:off x="8942832" y="3977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7" name="anim_4_c"/>
          <p:cNvSpPr/>
          <p:nvPr/>
        </p:nvSpPr>
        <p:spPr>
          <a:xfrm>
            <a:off x="9107424" y="41788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8" name="anim_4_c"/>
          <p:cNvSpPr/>
          <p:nvPr/>
        </p:nvSpPr>
        <p:spPr>
          <a:xfrm>
            <a:off x="9107424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anim_4_c"/>
          <p:cNvSpPr/>
          <p:nvPr/>
        </p:nvSpPr>
        <p:spPr>
          <a:xfrm>
            <a:off x="950976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0.000001001</a:t>
            </a:r>
            <a:endParaRPr lang="en-US" sz="1500" dirty="0"/>
          </a:p>
        </p:txBody>
      </p:sp>
      <p:sp>
        <p:nvSpPr>
          <p:cNvPr id="30" name="anim_4_c"/>
          <p:cNvSpPr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the first non-zero digit always sits just before the × sign.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— 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9110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41248" y="235000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1 300 000   in standard form</a:t>
            </a:r>
            <a:endParaRPr lang="en-US" sz="1500" dirty="0"/>
          </a:p>
        </p:txBody>
      </p:sp>
      <p:sp>
        <p:nvSpPr>
          <p:cNvPr id="10" name="anim_1_a"/>
          <p:cNvSpPr/>
          <p:nvPr/>
        </p:nvSpPr>
        <p:spPr>
          <a:xfrm>
            <a:off x="4261104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4517136" y="19110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4517136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13" name="anim_1_a"/>
          <p:cNvSpPr/>
          <p:nvPr/>
        </p:nvSpPr>
        <p:spPr>
          <a:xfrm>
            <a:off x="4553712" y="235000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0.005   in standard form</a:t>
            </a:r>
            <a:endParaRPr lang="en-US" sz="1500" dirty="0"/>
          </a:p>
        </p:txBody>
      </p:sp>
      <p:sp>
        <p:nvSpPr>
          <p:cNvPr id="14" name="anim_1_a"/>
          <p:cNvSpPr/>
          <p:nvPr/>
        </p:nvSpPr>
        <p:spPr>
          <a:xfrm>
            <a:off x="797356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nim_1_a"/>
          <p:cNvSpPr/>
          <p:nvPr/>
        </p:nvSpPr>
        <p:spPr>
          <a:xfrm>
            <a:off x="8229600" y="19110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8229600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</a:t>
            </a:r>
            <a:endParaRPr lang="en-US" sz="1000" dirty="0"/>
          </a:p>
        </p:txBody>
      </p:sp>
      <p:sp>
        <p:nvSpPr>
          <p:cNvPr id="17" name="anim_1_a"/>
          <p:cNvSpPr/>
          <p:nvPr/>
        </p:nvSpPr>
        <p:spPr>
          <a:xfrm>
            <a:off x="8266176" y="235000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8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as an ordinary number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804672" y="401421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804672" y="4014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21" name="anim_2_c"/>
          <p:cNvSpPr/>
          <p:nvPr/>
        </p:nvSpPr>
        <p:spPr>
          <a:xfrm>
            <a:off x="841248" y="44531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2 940 000 000   in standard form</a:t>
            </a:r>
            <a:endParaRPr lang="en-US" sz="1500" dirty="0"/>
          </a:p>
        </p:txBody>
      </p:sp>
      <p:sp>
        <p:nvSpPr>
          <p:cNvPr id="22" name="anim_2_c"/>
          <p:cNvSpPr/>
          <p:nvPr/>
        </p:nvSpPr>
        <p:spPr>
          <a:xfrm>
            <a:off x="4261104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anim_2_c"/>
          <p:cNvSpPr/>
          <p:nvPr/>
        </p:nvSpPr>
        <p:spPr>
          <a:xfrm>
            <a:off x="4517136" y="401421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4517136" y="4014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25" name="anim_2_c"/>
          <p:cNvSpPr/>
          <p:nvPr/>
        </p:nvSpPr>
        <p:spPr>
          <a:xfrm>
            <a:off x="4553712" y="44531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of the South China Sea is 9 880 000 km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 Write 9 880 000 in standard form</a:t>
            </a:r>
            <a:endParaRPr lang="en-US" sz="1350" dirty="0"/>
          </a:p>
        </p:txBody>
      </p:sp>
      <p:sp>
        <p:nvSpPr>
          <p:cNvPr id="26" name="anim_2_c"/>
          <p:cNvSpPr/>
          <p:nvPr/>
        </p:nvSpPr>
        <p:spPr>
          <a:xfrm>
            <a:off x="7973568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anim_2_c"/>
          <p:cNvSpPr/>
          <p:nvPr/>
        </p:nvSpPr>
        <p:spPr>
          <a:xfrm>
            <a:off x="8229600" y="401421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8229600" y="40142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</a:t>
            </a:r>
            <a:endParaRPr lang="en-US" sz="1000" dirty="0"/>
          </a:p>
        </p:txBody>
      </p:sp>
      <p:sp>
        <p:nvSpPr>
          <p:cNvPr id="29" name="anim_2_c"/>
          <p:cNvSpPr/>
          <p:nvPr/>
        </p:nvSpPr>
        <p:spPr>
          <a:xfrm>
            <a:off x="8266176" y="44531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6.25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as an ordinary number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in Standard Form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number parts,  </a:t>
            </a: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powers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— then fix to standard form.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  2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7.2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60273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387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Numbers: 2 × 7.2 = 14.4    Powers: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50" dirty="0"/>
          </a:p>
        </p:txBody>
      </p:sp>
      <p:sp>
        <p:nvSpPr>
          <p:cNvPr id="14" name="anim_3_c"/>
          <p:cNvSpPr/>
          <p:nvPr/>
        </p:nvSpPr>
        <p:spPr>
          <a:xfrm>
            <a:off x="868680" y="4315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14.4 × 10</a:t>
            </a:r>
            <a:r>
              <a:rPr lang="en-US" sz="155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not standard form (14.4 &gt; 10)</a:t>
            </a:r>
            <a:endParaRPr lang="en-US" sz="1550" dirty="0"/>
          </a:p>
        </p:txBody>
      </p:sp>
      <p:sp>
        <p:nvSpPr>
          <p:cNvPr id="17" name="anim_4_c"/>
          <p:cNvSpPr/>
          <p:nvPr/>
        </p:nvSpPr>
        <p:spPr>
          <a:xfrm>
            <a:off x="868680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86868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nim_4_c"/>
          <p:cNvSpPr/>
          <p:nvPr/>
        </p:nvSpPr>
        <p:spPr>
          <a:xfrm>
            <a:off x="1417320" y="4892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 = 1.44 × 10,  so 14.4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1.44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50" dirty="0"/>
          </a:p>
        </p:txBody>
      </p:sp>
      <p:sp>
        <p:nvSpPr>
          <p:cNvPr id="20" name="anim_4_c"/>
          <p:cNvSpPr/>
          <p:nvPr/>
        </p:nvSpPr>
        <p:spPr>
          <a:xfrm>
            <a:off x="868680" y="5504688"/>
            <a:ext cx="4206240" cy="411480"/>
          </a:xfrm>
          <a:prstGeom prst="roundRect">
            <a:avLst>
              <a:gd name="adj" fmla="val 26667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anim_4_c"/>
          <p:cNvSpPr/>
          <p:nvPr/>
        </p:nvSpPr>
        <p:spPr>
          <a:xfrm>
            <a:off x="10515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1.44 × 10</a:t>
            </a:r>
            <a:r>
              <a:rPr lang="en-US" sz="17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&amp; Practice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)(4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anim_1_a"/>
          <p:cNvSpPr/>
          <p:nvPr/>
        </p:nvSpPr>
        <p:spPr>
          <a:xfrm>
            <a:off x="868680" y="2743200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16261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 × 10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anim_1_a"/>
          <p:cNvSpPr/>
          <p:nvPr/>
        </p:nvSpPr>
        <p:spPr>
          <a:xfrm>
            <a:off x="6199632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519672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)(6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800" dirty="0"/>
          </a:p>
        </p:txBody>
      </p:sp>
      <p:sp>
        <p:nvSpPr>
          <p:cNvPr id="12" name="anim_1_a"/>
          <p:cNvSpPr/>
          <p:nvPr/>
        </p:nvSpPr>
        <p:spPr>
          <a:xfrm>
            <a:off x="6519672" y="2743200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16261F"/>
          </a:solidFill>
          <a:ln/>
        </p:spPr>
      </p:sp>
      <p:sp>
        <p:nvSpPr>
          <p:cNvPr id="13" name="anim_1_a"/>
          <p:cNvSpPr/>
          <p:nvPr/>
        </p:nvSpPr>
        <p:spPr>
          <a:xfrm>
            <a:off x="6519672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42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4.2 × 10</a:t>
            </a:r>
            <a:r>
              <a:rPr lang="en-US" sz="16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14" name="anim_2_c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— give each answer in standard form</a:t>
            </a:r>
            <a:endParaRPr lang="en-US" sz="1200" dirty="0"/>
          </a:p>
        </p:txBody>
      </p:sp>
      <p:sp>
        <p:nvSpPr>
          <p:cNvPr id="15" name="anim_2_c"/>
          <p:cNvSpPr/>
          <p:nvPr/>
        </p:nvSpPr>
        <p:spPr>
          <a:xfrm>
            <a:off x="548640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6" name="anim_2_c"/>
          <p:cNvSpPr/>
          <p:nvPr/>
        </p:nvSpPr>
        <p:spPr>
          <a:xfrm>
            <a:off x="749808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7" name="anim_2_c"/>
          <p:cNvSpPr/>
          <p:nvPr/>
        </p:nvSpPr>
        <p:spPr>
          <a:xfrm>
            <a:off x="749808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anim_2_c"/>
          <p:cNvSpPr/>
          <p:nvPr/>
        </p:nvSpPr>
        <p:spPr>
          <a:xfrm>
            <a:off x="1225296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)(2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anim_2_c"/>
          <p:cNvSpPr/>
          <p:nvPr/>
        </p:nvSpPr>
        <p:spPr>
          <a:xfrm>
            <a:off x="4261104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0" name="anim_2_c"/>
          <p:cNvSpPr/>
          <p:nvPr/>
        </p:nvSpPr>
        <p:spPr>
          <a:xfrm>
            <a:off x="4462272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2_c"/>
          <p:cNvSpPr/>
          <p:nvPr/>
        </p:nvSpPr>
        <p:spPr>
          <a:xfrm>
            <a:off x="4462272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anim_2_c"/>
          <p:cNvSpPr/>
          <p:nvPr/>
        </p:nvSpPr>
        <p:spPr>
          <a:xfrm>
            <a:off x="4937760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)(7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anim_2_c"/>
          <p:cNvSpPr/>
          <p:nvPr/>
        </p:nvSpPr>
        <p:spPr>
          <a:xfrm>
            <a:off x="7973568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4" name="anim_2_c"/>
          <p:cNvSpPr/>
          <p:nvPr/>
        </p:nvSpPr>
        <p:spPr>
          <a:xfrm>
            <a:off x="8174736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2_c"/>
          <p:cNvSpPr/>
          <p:nvPr/>
        </p:nvSpPr>
        <p:spPr>
          <a:xfrm>
            <a:off x="8174736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anim_2_c"/>
          <p:cNvSpPr/>
          <p:nvPr/>
        </p:nvSpPr>
        <p:spPr>
          <a:xfrm>
            <a:off x="8650224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(2.5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in Standard Form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number parts,  </a:t>
            </a: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powers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÷ 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</a:t>
            </a:r>
            <a:r>
              <a:rPr lang="en-US" sz="15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m–n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— then fix to standard form.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  1.2 × 10</a:t>
            </a: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–6</a:t>
            </a: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÷  4.8 × 10</a:t>
            </a: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60273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387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Numbers: 1.2 ÷ 4.8 = 0.25    Powers: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–6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–13</a:t>
            </a:r>
            <a:endParaRPr lang="en-US" sz="1550" dirty="0"/>
          </a:p>
        </p:txBody>
      </p:sp>
      <p:sp>
        <p:nvSpPr>
          <p:cNvPr id="14" name="anim_3_c"/>
          <p:cNvSpPr/>
          <p:nvPr/>
        </p:nvSpPr>
        <p:spPr>
          <a:xfrm>
            <a:off x="868680" y="4315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0.25 × 10</a:t>
            </a:r>
            <a:r>
              <a:rPr lang="en-US" sz="155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–13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not standard form (0.25 &lt; 1)</a:t>
            </a:r>
            <a:endParaRPr lang="en-US" sz="1550" dirty="0"/>
          </a:p>
        </p:txBody>
      </p:sp>
      <p:sp>
        <p:nvSpPr>
          <p:cNvPr id="17" name="anim_4_c"/>
          <p:cNvSpPr/>
          <p:nvPr/>
        </p:nvSpPr>
        <p:spPr>
          <a:xfrm>
            <a:off x="868680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86868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nim_4_c"/>
          <p:cNvSpPr/>
          <p:nvPr/>
        </p:nvSpPr>
        <p:spPr>
          <a:xfrm>
            <a:off x="1417320" y="4892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 = 2.5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 so = 2.5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–14</a:t>
            </a:r>
            <a:endParaRPr lang="en-US" sz="1550" dirty="0"/>
          </a:p>
        </p:txBody>
      </p:sp>
      <p:sp>
        <p:nvSpPr>
          <p:cNvPr id="20" name="anim_4_c"/>
          <p:cNvSpPr/>
          <p:nvPr/>
        </p:nvSpPr>
        <p:spPr>
          <a:xfrm>
            <a:off x="868680" y="5504688"/>
            <a:ext cx="4389120" cy="411480"/>
          </a:xfrm>
          <a:prstGeom prst="roundRect">
            <a:avLst>
              <a:gd name="adj" fmla="val 26667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anim_4_c"/>
          <p:cNvSpPr/>
          <p:nvPr/>
        </p:nvSpPr>
        <p:spPr>
          <a:xfrm>
            <a:off x="1051560" y="5504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2.5 × 10</a:t>
            </a:r>
            <a:r>
              <a:rPr lang="en-US" sz="17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–14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&amp; Practice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÷  2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anim_1_a"/>
          <p:cNvSpPr/>
          <p:nvPr/>
        </p:nvSpPr>
        <p:spPr>
          <a:xfrm>
            <a:off x="868680" y="2743200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16261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 × 10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anim_1_a"/>
          <p:cNvSpPr/>
          <p:nvPr/>
        </p:nvSpPr>
        <p:spPr>
          <a:xfrm>
            <a:off x="6199632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519672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÷  9 × 10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anim_1_a"/>
          <p:cNvSpPr/>
          <p:nvPr/>
        </p:nvSpPr>
        <p:spPr>
          <a:xfrm>
            <a:off x="6519672" y="2743200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16261F"/>
          </a:solidFill>
          <a:ln/>
        </p:spPr>
      </p:sp>
      <p:sp>
        <p:nvSpPr>
          <p:cNvPr id="13" name="anim_1_a"/>
          <p:cNvSpPr/>
          <p:nvPr/>
        </p:nvSpPr>
        <p:spPr>
          <a:xfrm>
            <a:off x="6519672" y="2743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0.4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 × 10</a:t>
            </a:r>
            <a:r>
              <a:rPr lang="en-US" sz="16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anim_2_c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— give each answer in standard form</a:t>
            </a:r>
            <a:endParaRPr lang="en-US" sz="1200" dirty="0"/>
          </a:p>
        </p:txBody>
      </p:sp>
      <p:sp>
        <p:nvSpPr>
          <p:cNvPr id="15" name="anim_2_c"/>
          <p:cNvSpPr/>
          <p:nvPr/>
        </p:nvSpPr>
        <p:spPr>
          <a:xfrm>
            <a:off x="548640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6" name="anim_2_c"/>
          <p:cNvSpPr/>
          <p:nvPr/>
        </p:nvSpPr>
        <p:spPr>
          <a:xfrm>
            <a:off x="749808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7" name="anim_2_c"/>
          <p:cNvSpPr/>
          <p:nvPr/>
        </p:nvSpPr>
        <p:spPr>
          <a:xfrm>
            <a:off x="749808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anim_2_c"/>
          <p:cNvSpPr/>
          <p:nvPr/>
        </p:nvSpPr>
        <p:spPr>
          <a:xfrm>
            <a:off x="1188720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9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anim_2_c"/>
          <p:cNvSpPr/>
          <p:nvPr/>
        </p:nvSpPr>
        <p:spPr>
          <a:xfrm>
            <a:off x="4261104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0" name="anim_2_c"/>
          <p:cNvSpPr/>
          <p:nvPr/>
        </p:nvSpPr>
        <p:spPr>
          <a:xfrm>
            <a:off x="4462272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2_c"/>
          <p:cNvSpPr/>
          <p:nvPr/>
        </p:nvSpPr>
        <p:spPr>
          <a:xfrm>
            <a:off x="4462272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anim_2_c"/>
          <p:cNvSpPr/>
          <p:nvPr/>
        </p:nvSpPr>
        <p:spPr>
          <a:xfrm>
            <a:off x="4901184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(6.4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÷ (1.6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anim_2_c"/>
          <p:cNvSpPr/>
          <p:nvPr/>
        </p:nvSpPr>
        <p:spPr>
          <a:xfrm>
            <a:off x="7973568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4" name="anim_2_c"/>
          <p:cNvSpPr/>
          <p:nvPr/>
        </p:nvSpPr>
        <p:spPr>
          <a:xfrm>
            <a:off x="8174736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2_c"/>
          <p:cNvSpPr/>
          <p:nvPr/>
        </p:nvSpPr>
        <p:spPr>
          <a:xfrm>
            <a:off x="8174736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anim_2_c"/>
          <p:cNvSpPr/>
          <p:nvPr/>
        </p:nvSpPr>
        <p:spPr>
          <a:xfrm>
            <a:off x="8613648" y="42062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3 × 10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&amp; Divide — 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9110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41248" y="23500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  (3.5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÷ (7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6455664" y="19110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6455664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13" name="anim_2_c"/>
          <p:cNvSpPr/>
          <p:nvPr/>
        </p:nvSpPr>
        <p:spPr>
          <a:xfrm>
            <a:off x="6492240" y="23500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  (2.4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÷ (9.6 × 10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804672" y="39684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3_c"/>
          <p:cNvSpPr/>
          <p:nvPr/>
        </p:nvSpPr>
        <p:spPr>
          <a:xfrm>
            <a:off x="804672" y="3968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000" dirty="0"/>
          </a:p>
        </p:txBody>
      </p:sp>
      <p:sp>
        <p:nvSpPr>
          <p:cNvPr id="17" name="anim_3_c"/>
          <p:cNvSpPr/>
          <p:nvPr/>
        </p:nvSpPr>
        <p:spPr>
          <a:xfrm>
            <a:off x="841248" y="44074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(9.6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+ 6.4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÷ (3.2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anim_4_c"/>
          <p:cNvSpPr/>
          <p:nvPr/>
        </p:nvSpPr>
        <p:spPr>
          <a:xfrm>
            <a:off x="6199632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anim_4_c"/>
          <p:cNvSpPr/>
          <p:nvPr/>
        </p:nvSpPr>
        <p:spPr>
          <a:xfrm>
            <a:off x="6455664" y="3968496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4_c"/>
          <p:cNvSpPr/>
          <p:nvPr/>
        </p:nvSpPr>
        <p:spPr>
          <a:xfrm>
            <a:off x="6455664" y="3968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1" name="anim_4_c"/>
          <p:cNvSpPr/>
          <p:nvPr/>
        </p:nvSpPr>
        <p:spPr>
          <a:xfrm>
            <a:off x="6492240" y="44074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25 × 10</a:t>
            </a:r>
            <a:r>
              <a:rPr lang="en-US" sz="14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4n</a:t>
            </a: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n is an integer.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 expression for a</a:t>
            </a:r>
            <a:r>
              <a:rPr lang="en-US" sz="14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standard form.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SUBTRACTING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the Same Power of 10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powers equal (or convert to ordinary numbers), then add / subtract — and fix to standard form.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  2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3 × 10</a:t>
            </a: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60273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387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powers:  2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0.2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50" dirty="0"/>
          </a:p>
        </p:txBody>
      </p:sp>
      <p:sp>
        <p:nvSpPr>
          <p:cNvPr id="14" name="anim_3_c"/>
          <p:cNvSpPr/>
          <p:nvPr/>
        </p:nvSpPr>
        <p:spPr>
          <a:xfrm>
            <a:off x="868680" y="4315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3 × 10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3.2 × 10</a:t>
            </a:r>
            <a:r>
              <a:rPr lang="en-US" sz="155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50" dirty="0"/>
          </a:p>
        </p:txBody>
      </p:sp>
      <p:sp>
        <p:nvSpPr>
          <p:cNvPr id="17" name="anim_4_c"/>
          <p:cNvSpPr/>
          <p:nvPr/>
        </p:nvSpPr>
        <p:spPr>
          <a:xfrm>
            <a:off x="868680" y="498348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4983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3.2 × 10</a:t>
            </a: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9" name="anim_4_c"/>
          <p:cNvSpPr/>
          <p:nvPr/>
        </p:nvSpPr>
        <p:spPr>
          <a:xfrm>
            <a:off x="5303520" y="49834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convert both to ordinary numbers (20 000 + 300 000 = 320 000), then back to standard form.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SUBTRACTING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&amp; Practice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7724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(1.1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(2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777240" y="265176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9" name="anim_1_a"/>
          <p:cNvSpPr/>
          <p:nvPr/>
        </p:nvSpPr>
        <p:spPr>
          <a:xfrm>
            <a:off x="7772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1.3 × 10⁵</a:t>
            </a:r>
            <a:endParaRPr lang="en-US" sz="1500" dirty="0"/>
          </a:p>
        </p:txBody>
      </p:sp>
      <p:sp>
        <p:nvSpPr>
          <p:cNvPr id="10" name="anim_1_a"/>
          <p:cNvSpPr/>
          <p:nvPr/>
        </p:nvSpPr>
        <p:spPr>
          <a:xfrm>
            <a:off x="4261104" y="17830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4489704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(2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anim_1_a"/>
          <p:cNvSpPr/>
          <p:nvPr/>
        </p:nvSpPr>
        <p:spPr>
          <a:xfrm>
            <a:off x="4489704" y="265176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13" name="anim_1_a"/>
          <p:cNvSpPr/>
          <p:nvPr/>
        </p:nvSpPr>
        <p:spPr>
          <a:xfrm>
            <a:off x="4489704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5.02 × 10⁷</a:t>
            </a:r>
            <a:endParaRPr lang="en-US" sz="1500" dirty="0"/>
          </a:p>
        </p:txBody>
      </p:sp>
      <p:sp>
        <p:nvSpPr>
          <p:cNvPr id="14" name="anim_1_a"/>
          <p:cNvSpPr/>
          <p:nvPr/>
        </p:nvSpPr>
        <p:spPr>
          <a:xfrm>
            <a:off x="7973568" y="17830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anim_1_a"/>
          <p:cNvSpPr/>
          <p:nvPr/>
        </p:nvSpPr>
        <p:spPr>
          <a:xfrm>
            <a:off x="8202168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(3.2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– (5 × 10</a:t>
            </a:r>
            <a:r>
              <a:rPr lang="en-US" sz="1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–5</a:t>
            </a:r>
            <a:r>
              <a:rPr lang="en-US" sz="1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</p:txBody>
      </p:sp>
      <p:sp>
        <p:nvSpPr>
          <p:cNvPr id="16" name="anim_1_a"/>
          <p:cNvSpPr/>
          <p:nvPr/>
        </p:nvSpPr>
        <p:spPr>
          <a:xfrm>
            <a:off x="8202168" y="265176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17" name="anim_1_a"/>
          <p:cNvSpPr/>
          <p:nvPr/>
        </p:nvSpPr>
        <p:spPr>
          <a:xfrm>
            <a:off x="8202168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2.7 × 10⁻⁴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— give each answer in standard form</a:t>
            </a:r>
            <a:endParaRPr lang="en-US" sz="1200" dirty="0"/>
          </a:p>
        </p:txBody>
      </p:sp>
      <p:sp>
        <p:nvSpPr>
          <p:cNvPr id="19" name="anim_2_c"/>
          <p:cNvSpPr/>
          <p:nvPr/>
        </p:nvSpPr>
        <p:spPr>
          <a:xfrm>
            <a:off x="548640" y="4023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0" name="anim_2_c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2_c"/>
          <p:cNvSpPr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anim_2_c"/>
          <p:cNvSpPr/>
          <p:nvPr/>
        </p:nvSpPr>
        <p:spPr>
          <a:xfrm>
            <a:off x="1170432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(1.1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– (2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anim_2_c"/>
          <p:cNvSpPr/>
          <p:nvPr/>
        </p:nvSpPr>
        <p:spPr>
          <a:xfrm>
            <a:off x="4261104" y="4023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4" name="anim_2_c"/>
          <p:cNvSpPr/>
          <p:nvPr/>
        </p:nvSpPr>
        <p:spPr>
          <a:xfrm>
            <a:off x="4443984" y="4270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2_c"/>
          <p:cNvSpPr/>
          <p:nvPr/>
        </p:nvSpPr>
        <p:spPr>
          <a:xfrm>
            <a:off x="4443984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anim_2_c"/>
          <p:cNvSpPr/>
          <p:nvPr/>
        </p:nvSpPr>
        <p:spPr>
          <a:xfrm>
            <a:off x="4882896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(2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400" dirty="0"/>
          </a:p>
        </p:txBody>
      </p:sp>
      <p:sp>
        <p:nvSpPr>
          <p:cNvPr id="27" name="anim_2_c"/>
          <p:cNvSpPr/>
          <p:nvPr/>
        </p:nvSpPr>
        <p:spPr>
          <a:xfrm>
            <a:off x="7973568" y="40233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8" name="anim_2_c"/>
          <p:cNvSpPr/>
          <p:nvPr/>
        </p:nvSpPr>
        <p:spPr>
          <a:xfrm>
            <a:off x="8156448" y="4270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9" name="anim_2_c"/>
          <p:cNvSpPr/>
          <p:nvPr/>
        </p:nvSpPr>
        <p:spPr>
          <a:xfrm>
            <a:off x="815644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anim_2_c"/>
          <p:cNvSpPr/>
          <p:nvPr/>
        </p:nvSpPr>
        <p:spPr>
          <a:xfrm>
            <a:off x="8595360" y="4023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(6.2 × 10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(3 × 10</a:t>
            </a:r>
            <a:r>
              <a:rPr lang="en-US" sz="13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</a:t>
            </a:r>
            <a:r>
              <a:rPr lang="en-US" sz="13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— Mixed 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45920"/>
            <a:ext cx="546811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28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populations (2018, 3 s.f.)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100584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Ahmedabad</a:t>
            </a:r>
            <a:endParaRPr lang="en-US" sz="1300" dirty="0"/>
          </a:p>
        </p:txBody>
      </p:sp>
      <p:sp>
        <p:nvSpPr>
          <p:cNvPr id="9" name="anim_1_a"/>
          <p:cNvSpPr/>
          <p:nvPr/>
        </p:nvSpPr>
        <p:spPr>
          <a:xfrm>
            <a:off x="3383280" y="22128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7.70 × 10⁶</a:t>
            </a:r>
            <a:endParaRPr lang="en-US" sz="1300" dirty="0"/>
          </a:p>
        </p:txBody>
      </p:sp>
      <p:sp>
        <p:nvSpPr>
          <p:cNvPr id="10" name="anim_1_a"/>
          <p:cNvSpPr/>
          <p:nvPr/>
        </p:nvSpPr>
        <p:spPr>
          <a:xfrm>
            <a:off x="1005840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Barcelona</a:t>
            </a:r>
            <a:endParaRPr lang="en-US" sz="1300" dirty="0"/>
          </a:p>
        </p:txBody>
      </p:sp>
      <p:sp>
        <p:nvSpPr>
          <p:cNvPr id="11" name="anim_1_a"/>
          <p:cNvSpPr/>
          <p:nvPr/>
        </p:nvSpPr>
        <p:spPr>
          <a:xfrm>
            <a:off x="3383280" y="25786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5.50 × 10⁶</a:t>
            </a:r>
            <a:endParaRPr lang="en-US" sz="1300" dirty="0"/>
          </a:p>
        </p:txBody>
      </p:sp>
      <p:sp>
        <p:nvSpPr>
          <p:cNvPr id="12" name="anim_1_a"/>
          <p:cNvSpPr/>
          <p:nvPr/>
        </p:nvSpPr>
        <p:spPr>
          <a:xfrm>
            <a:off x="1005840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</a:t>
            </a:r>
            <a:endParaRPr lang="en-US" sz="1300" dirty="0"/>
          </a:p>
        </p:txBody>
      </p:sp>
      <p:sp>
        <p:nvSpPr>
          <p:cNvPr id="13" name="anim_1_a"/>
          <p:cNvSpPr/>
          <p:nvPr/>
        </p:nvSpPr>
        <p:spPr>
          <a:xfrm>
            <a:off x="3383280" y="29443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8.60 × 10⁶</a:t>
            </a:r>
            <a:endParaRPr lang="en-US" sz="1300" dirty="0"/>
          </a:p>
        </p:txBody>
      </p:sp>
      <p:sp>
        <p:nvSpPr>
          <p:cNvPr id="14" name="anim_1_a"/>
          <p:cNvSpPr/>
          <p:nvPr/>
        </p:nvSpPr>
        <p:spPr>
          <a:xfrm>
            <a:off x="100584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Lagos</a:t>
            </a:r>
            <a:endParaRPr lang="en-US" sz="1300" dirty="0"/>
          </a:p>
        </p:txBody>
      </p:sp>
      <p:sp>
        <p:nvSpPr>
          <p:cNvPr id="15" name="anim_1_a"/>
          <p:cNvSpPr/>
          <p:nvPr/>
        </p:nvSpPr>
        <p:spPr>
          <a:xfrm>
            <a:off x="3383280" y="33101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 × 10⁷</a:t>
            </a:r>
            <a:endParaRPr lang="en-US" sz="1300" dirty="0"/>
          </a:p>
        </p:txBody>
      </p:sp>
      <p:sp>
        <p:nvSpPr>
          <p:cNvPr id="16" name="anim_1_a"/>
          <p:cNvSpPr/>
          <p:nvPr/>
        </p:nvSpPr>
        <p:spPr>
          <a:xfrm>
            <a:off x="100584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Tokyo</a:t>
            </a:r>
            <a:endParaRPr lang="en-US" sz="1300" dirty="0"/>
          </a:p>
        </p:txBody>
      </p:sp>
      <p:sp>
        <p:nvSpPr>
          <p:cNvPr id="17" name="anim_1_a"/>
          <p:cNvSpPr/>
          <p:nvPr/>
        </p:nvSpPr>
        <p:spPr>
          <a:xfrm>
            <a:off x="3383280" y="3675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3.70 × 10⁷</a:t>
            </a:r>
            <a:endParaRPr lang="en-US" sz="1300" dirty="0"/>
          </a:p>
        </p:txBody>
      </p:sp>
      <p:sp>
        <p:nvSpPr>
          <p:cNvPr id="18" name="anim_1_a"/>
          <p:cNvSpPr/>
          <p:nvPr/>
        </p:nvSpPr>
        <p:spPr>
          <a:xfrm>
            <a:off x="868680" y="4114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</a:t>
            </a:r>
            <a:r>
              <a:rPr lang="en-US" sz="125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8.60 × 10⁶ as an ordinary number.</a:t>
            </a: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(b) </a:t>
            </a:r>
            <a:r>
              <a:rPr lang="en-US" sz="125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city had the least population?</a:t>
            </a:r>
            <a:r>
              <a:rPr lang="en-US" sz="12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(c) </a:t>
            </a:r>
            <a:r>
              <a:rPr lang="en-US" sz="125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Tokyo − Ahmedabad, in standard form.</a:t>
            </a:r>
            <a:endParaRPr lang="en-US" sz="1250" dirty="0"/>
          </a:p>
        </p:txBody>
      </p:sp>
      <p:sp>
        <p:nvSpPr>
          <p:cNvPr id="19" name="anim_2_c"/>
          <p:cNvSpPr/>
          <p:nvPr/>
        </p:nvSpPr>
        <p:spPr>
          <a:xfrm>
            <a:off x="6172200" y="1645920"/>
            <a:ext cx="5468112" cy="4160520"/>
          </a:xfrm>
          <a:prstGeom prst="roundRect">
            <a:avLst>
              <a:gd name="adj" fmla="val 2198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anim_2_c"/>
          <p:cNvSpPr/>
          <p:nvPr/>
        </p:nvSpPr>
        <p:spPr>
          <a:xfrm>
            <a:off x="6492240" y="1828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volumes (km³)</a:t>
            </a:r>
            <a:endParaRPr lang="en-US" sz="1200" dirty="0"/>
          </a:p>
        </p:txBody>
      </p:sp>
      <p:sp>
        <p:nvSpPr>
          <p:cNvPr id="21" name="anim_2_c"/>
          <p:cNvSpPr/>
          <p:nvPr/>
        </p:nvSpPr>
        <p:spPr>
          <a:xfrm>
            <a:off x="649224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oceans hold  9.6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and  6.4 × 10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km</a:t>
            </a:r>
            <a:r>
              <a:rPr lang="en-US" sz="14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4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</a:t>
            </a:r>
            <a:endParaRPr lang="en-US" sz="1400" dirty="0"/>
          </a:p>
        </p:txBody>
      </p:sp>
      <p:sp>
        <p:nvSpPr>
          <p:cNvPr id="22" name="anim_2_c"/>
          <p:cNvSpPr/>
          <p:nvPr/>
        </p:nvSpPr>
        <p:spPr>
          <a:xfrm>
            <a:off x="6492240" y="3108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</a:t>
            </a: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7.18 × 10⁷ as an ordinary number.</a:t>
            </a: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(b) </a:t>
            </a:r>
            <a:r>
              <a:rPr lang="en-US" sz="13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the total volume of the two oceans, giving your answer in standard form.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0" y="31089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08813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1517904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Resources</a:t>
            </a:r>
            <a:endParaRPr lang="en-US" sz="3200" dirty="0"/>
          </a:p>
        </p:txBody>
      </p:sp>
      <p:sp>
        <p:nvSpPr>
          <p:cNvPr id="8" name="anim_1_a"/>
          <p:cNvSpPr/>
          <p:nvPr/>
        </p:nvSpPr>
        <p:spPr>
          <a:xfrm>
            <a:off x="73152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100584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form</a:t>
            </a:r>
            <a:endParaRPr lang="en-US" sz="1500" dirty="0"/>
          </a:p>
        </p:txBody>
      </p:sp>
      <p:sp>
        <p:nvSpPr>
          <p:cNvPr id="10" name="anim_1_a"/>
          <p:cNvSpPr/>
          <p:nvPr/>
        </p:nvSpPr>
        <p:spPr>
          <a:xfrm>
            <a:off x="100584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× 10ⁿ, with 1 ≤ a &lt; 10</a:t>
            </a:r>
            <a:endParaRPr lang="en-US" sz="1150" dirty="0"/>
          </a:p>
        </p:txBody>
      </p:sp>
      <p:sp>
        <p:nvSpPr>
          <p:cNvPr id="11" name="anim_1_a"/>
          <p:cNvSpPr/>
          <p:nvPr/>
        </p:nvSpPr>
        <p:spPr>
          <a:xfrm>
            <a:off x="617220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anim_1_a"/>
          <p:cNvSpPr/>
          <p:nvPr/>
        </p:nvSpPr>
        <p:spPr>
          <a:xfrm>
            <a:off x="644652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standard form</a:t>
            </a:r>
            <a:endParaRPr lang="en-US" sz="1500" dirty="0"/>
          </a:p>
        </p:txBody>
      </p:sp>
      <p:sp>
        <p:nvSpPr>
          <p:cNvPr id="13" name="anim_1_a"/>
          <p:cNvSpPr/>
          <p:nvPr/>
        </p:nvSpPr>
        <p:spPr>
          <a:xfrm>
            <a:off x="644652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point n places (right if +, left if –)</a:t>
            </a:r>
            <a:endParaRPr lang="en-US" sz="1150" dirty="0"/>
          </a:p>
        </p:txBody>
      </p:sp>
      <p:sp>
        <p:nvSpPr>
          <p:cNvPr id="14" name="anim_2_c"/>
          <p:cNvSpPr/>
          <p:nvPr/>
        </p:nvSpPr>
        <p:spPr>
          <a:xfrm>
            <a:off x="73152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anim_2_c"/>
          <p:cNvSpPr/>
          <p:nvPr/>
        </p:nvSpPr>
        <p:spPr>
          <a:xfrm>
            <a:off x="100584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standard form</a:t>
            </a:r>
            <a:endParaRPr lang="en-US" sz="1500" dirty="0"/>
          </a:p>
        </p:txBody>
      </p:sp>
      <p:sp>
        <p:nvSpPr>
          <p:cNvPr id="16" name="anim_2_c"/>
          <p:cNvSpPr/>
          <p:nvPr/>
        </p:nvSpPr>
        <p:spPr>
          <a:xfrm>
            <a:off x="100584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moves back to 1–10</a:t>
            </a:r>
            <a:endParaRPr lang="en-US" sz="1150" dirty="0"/>
          </a:p>
        </p:txBody>
      </p:sp>
      <p:sp>
        <p:nvSpPr>
          <p:cNvPr id="17" name="anim_2_c"/>
          <p:cNvSpPr/>
          <p:nvPr/>
        </p:nvSpPr>
        <p:spPr>
          <a:xfrm>
            <a:off x="617220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anim_2_c"/>
          <p:cNvSpPr/>
          <p:nvPr/>
        </p:nvSpPr>
        <p:spPr>
          <a:xfrm>
            <a:off x="644652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/ divide</a:t>
            </a:r>
            <a:endParaRPr lang="en-US" sz="1500" dirty="0"/>
          </a:p>
        </p:txBody>
      </p:sp>
      <p:sp>
        <p:nvSpPr>
          <p:cNvPr id="19" name="anim_2_c"/>
          <p:cNvSpPr/>
          <p:nvPr/>
        </p:nvSpPr>
        <p:spPr>
          <a:xfrm>
            <a:off x="644652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or ÷ numbers, add or subtract powers</a:t>
            </a:r>
            <a:endParaRPr lang="en-US" sz="1150" dirty="0"/>
          </a:p>
        </p:txBody>
      </p:sp>
      <p:sp>
        <p:nvSpPr>
          <p:cNvPr id="20" name="anim_3_c"/>
          <p:cNvSpPr/>
          <p:nvPr/>
        </p:nvSpPr>
        <p:spPr>
          <a:xfrm>
            <a:off x="73152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anim_3_c"/>
          <p:cNvSpPr/>
          <p:nvPr/>
        </p:nvSpPr>
        <p:spPr>
          <a:xfrm>
            <a:off x="100584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subtract</a:t>
            </a:r>
            <a:endParaRPr lang="en-US" sz="1500" dirty="0"/>
          </a:p>
        </p:txBody>
      </p:sp>
      <p:sp>
        <p:nvSpPr>
          <p:cNvPr id="22" name="anim_3_c"/>
          <p:cNvSpPr/>
          <p:nvPr/>
        </p:nvSpPr>
        <p:spPr>
          <a:xfrm>
            <a:off x="100584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powers first, then ±</a:t>
            </a:r>
            <a:endParaRPr lang="en-US" sz="1150" dirty="0"/>
          </a:p>
        </p:txBody>
      </p:sp>
      <p:sp>
        <p:nvSpPr>
          <p:cNvPr id="23" name="anim_3_c"/>
          <p:cNvSpPr/>
          <p:nvPr/>
        </p:nvSpPr>
        <p:spPr>
          <a:xfrm>
            <a:off x="617220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anim_3_c"/>
          <p:cNvSpPr/>
          <p:nvPr/>
        </p:nvSpPr>
        <p:spPr>
          <a:xfrm>
            <a:off x="644652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finish</a:t>
            </a:r>
            <a:endParaRPr lang="en-US" sz="1500" dirty="0"/>
          </a:p>
        </p:txBody>
      </p:sp>
      <p:sp>
        <p:nvSpPr>
          <p:cNvPr id="25" name="anim_3_c"/>
          <p:cNvSpPr/>
          <p:nvPr/>
        </p:nvSpPr>
        <p:spPr>
          <a:xfrm>
            <a:off x="644652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 ≤ a &lt; 10 — fix if not</a:t>
            </a:r>
            <a:endParaRPr lang="en-US" sz="1150" dirty="0"/>
          </a:p>
        </p:txBody>
      </p:sp>
      <p:sp>
        <p:nvSpPr>
          <p:cNvPr id="26" name="anim_3_c"/>
          <p:cNvSpPr/>
          <p:nvPr/>
        </p:nvSpPr>
        <p:spPr>
          <a:xfrm>
            <a:off x="731520" y="507492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16261F"/>
          </a:solidFill>
          <a:ln w="15875">
            <a:solidFill>
              <a:srgbClr val="283731"/>
            </a:solidFill>
            <a:prstDash val="solid"/>
          </a:ln>
        </p:spPr>
      </p:sp>
      <p:sp>
        <p:nvSpPr>
          <p:cNvPr id="27" name="anim_3_c">
            <a:hlinkClick r:id=""/>
          </p:cNvPr>
          <p:cNvSpPr/>
          <p:nvPr/>
        </p:nvSpPr>
        <p:spPr>
          <a:xfrm>
            <a:off x="105156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Practice:  </a:t>
            </a:r>
            <a:r>
              <a:rPr lang="en-US" sz="1250" u="sng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wordwall.net — standard form match-up        ✉ zahraa.sheikhali@outlook.com  ·  ☎ 66613748</a:t>
            </a:r>
            <a:endParaRPr lang="en-US" sz="1250" dirty="0"/>
          </a:p>
        </p:txBody>
      </p:sp>
      <p:sp>
        <p:nvSpPr>
          <p:cNvPr id="28" name="anim_3_c"/>
          <p:cNvSpPr/>
          <p:nvPr/>
        </p:nvSpPr>
        <p:spPr>
          <a:xfrm>
            <a:off x="1051560" y="55229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Zahra Sheikh Ali  ·  Pearson Edexcel IGCSE (9–1) Mathematics A  ·  Higher Tier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1736</Words>
  <Application>Microsoft Office PowerPoint</Application>
  <PresentationFormat>Custom</PresentationFormat>
  <Paragraphs>277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Brackets — IGCSE Mathematics (Higher Tier)</dc:title>
  <dc:subject>PptxGenJS Presentation</dc:subject>
  <dc:creator>Zahra Sheikh Ali</dc:creator>
  <cp:lastModifiedBy>zahraa sheik ali</cp:lastModifiedBy>
  <cp:revision>1</cp:revision>
  <dcterms:created xsi:type="dcterms:W3CDTF">2026-06-28T10:21:19Z</dcterms:created>
  <dcterms:modified xsi:type="dcterms:W3CDTF">2026-06-29T11:38:46Z</dcterms:modified>
</cp:coreProperties>
</file>