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FA4B331-450B-4B37-89F6-56B629FFB0B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A9570E0-293B-47E1-84B9-E90FFE5D5A2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27C7DE1-9BA9-4293-9E60-3ACFBB8F4C9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1BBDB63-204F-4B60-9494-76C33B44636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8DB7323-9924-4C33-871A-4E74DF2364A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F9DA77F-7F9E-4C8F-9677-7665F98A763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1: 30 000. 2: 124 000. 3: 0.006. 4: 0.101.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468A334-212A-4C4B-9A38-21EBC42FEBF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34E8266-5770-4521-835F-D703FE603ACB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1: 2×10⁴. 2: 4.3×10⁻³. 3: 9.31×10⁸. 4: 1.001×10⁻⁶.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C669247-26D6-4324-818B-7AD557A96F9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1 300 000 = 1.3×10⁶.  0.005 = 5×10⁻³.  8×10⁴ = 80 000.  2 940 000 000 = 2.94×10⁹.  9 880 000 = 9.88×10⁶.  6.25×10⁻³ = 0.00625.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F6CB444-12F6-4C7C-B296-2DF1ACCB5A5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EE9A79D-FB52-404A-A61E-E7FFEE3478BD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Now try — 1: 6×10⁹. 2: 35×10¹³ = 3.5×10¹⁴. 3: (2.5)²×10¹⁰ = 6.25×10¹⁰.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BD94534-3E19-483B-B3E7-D2007D0BA5E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EFAB14E-A949-4B43-9D77-A8712CFAC3D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Now try — 1: 0.5×10⁰ = 5×10⁻¹. 2: 4×10⁵. 3: 3×10⁻⁶.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67D8771-D8BD-4544-A0BD-CD47A7F242D5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(3.5×10³)÷(7×10⁶) = 0.5×10⁻³ = 5×10⁻⁴.  (2.4×10²)÷(9.6×10⁵) = 0.25×10⁻³ = 2.5×10⁻⁴.  (9.6+6.4)×10¹⁶ ÷ 3.2×10¹⁰ = 16×10¹⁶ ÷ 3.2×10¹⁰ = 5×10⁶.  a² = 625×10⁸ⁿ = 6.25×10^(8n+2).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589BB01-65B8-4140-A493-0E979377E76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134C37E-7C22-46DC-A10F-916A3CEE6215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Examples — 1.1×10⁵+2×10⁴=1.3×10⁵; 5×10⁷+2×10⁵=5.02×10⁷; 3.2×10⁻⁴–5×10⁻⁵=2.7×10⁻⁴.  Now try — 1: 9×10⁴. 2: 2.09×10¹². 3: 6.5×10⁻².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56577B7-C9CD-48F7-B726-859D0C713AB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Cities — (a) 8.60×10⁶ = 8 600 000. (b) Barcelona (5.50×10⁶). (c) 3.70×10⁷ − 7.70×10⁶ = 2.93×10⁷.  Ocean — (a) 7.18×10⁷ = 71 800 000. (b) 9.6×10¹⁶ + 6.4×10¹⁶ = 1.6×10¹⁷ km³.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022A412-5AF8-452A-847D-50F4E43C603A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0F0CCFA-3301-4A28-B410-C0931800566D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8869680" y="914400"/>
            <a:ext cx="21942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5000" spc="-1" strike="noStrike">
                <a:solidFill>
                  <a:srgbClr val="283731"/>
                </a:solidFill>
                <a:latin typeface="Cambria"/>
                <a:ea typeface="Cambria"/>
              </a:rPr>
              <a:t>10</a:t>
            </a:r>
            <a:endParaRPr b="0" lang="en-US" sz="1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0561320" y="960120"/>
            <a:ext cx="914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6400" spc="-1" strike="noStrike">
                <a:solidFill>
                  <a:srgbClr val="283731"/>
                </a:solidFill>
                <a:latin typeface="Cambria"/>
                <a:ea typeface="Cambria"/>
              </a:rPr>
              <a:t>n</a:t>
            </a:r>
            <a:endParaRPr b="0" lang="en-US" sz="6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31520" y="640080"/>
            <a:ext cx="712800" cy="71280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31520" y="621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9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4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16275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1627560" y="951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anim_1_a"/>
          <p:cNvSpPr/>
          <p:nvPr/>
        </p:nvSpPr>
        <p:spPr>
          <a:xfrm>
            <a:off x="731520" y="1828800"/>
            <a:ext cx="8777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e0ac2b"/>
                </a:solidFill>
                <a:latin typeface="Cambria"/>
                <a:ea typeface="Cambria"/>
              </a:rPr>
              <a:t>Standard Form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anim_2_a"/>
          <p:cNvSpPr/>
          <p:nvPr/>
        </p:nvSpPr>
        <p:spPr>
          <a:xfrm>
            <a:off x="758880" y="2926080"/>
            <a:ext cx="1078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Ordinary ↔ Standard Form  ·  Add · Subtract · Multiply · Divide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anim_3_a"/>
          <p:cNvSpPr/>
          <p:nvPr/>
        </p:nvSpPr>
        <p:spPr>
          <a:xfrm>
            <a:off x="731520" y="4114800"/>
            <a:ext cx="6857640" cy="1627200"/>
          </a:xfrm>
          <a:prstGeom prst="roundRect">
            <a:avLst>
              <a:gd name="adj" fmla="val 6742"/>
            </a:avLst>
          </a:prstGeom>
          <a:solidFill>
            <a:srgbClr val="283731"/>
          </a:solidFill>
          <a:ln w="0">
            <a:noFill/>
          </a:ln>
          <a:effectLst>
            <a:outerShdw algn="bl" blurRad="152280" dir="5400000" dist="50760" rotWithShape="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anim_3_a"/>
          <p:cNvSpPr/>
          <p:nvPr/>
        </p:nvSpPr>
        <p:spPr>
          <a:xfrm>
            <a:off x="1005840" y="4297680"/>
            <a:ext cx="6400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anim_3_a"/>
          <p:cNvSpPr/>
          <p:nvPr/>
        </p:nvSpPr>
        <p:spPr>
          <a:xfrm>
            <a:off x="1005840" y="4690800"/>
            <a:ext cx="6400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IGCSE Mathematics Teacher  ·  M.Sc. Differential Geometry &amp; Geometric Control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anim_3_a"/>
          <p:cNvSpPr/>
          <p:nvPr/>
        </p:nvSpPr>
        <p:spPr>
          <a:xfrm>
            <a:off x="1005840" y="512964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66613748  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BIG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What is Standard Form?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anim_1_a"/>
          <p:cNvSpPr/>
          <p:nvPr/>
        </p:nvSpPr>
        <p:spPr>
          <a:xfrm>
            <a:off x="548640" y="1600200"/>
            <a:ext cx="11091240" cy="1691280"/>
          </a:xfrm>
          <a:prstGeom prst="roundRect">
            <a:avLst>
              <a:gd name="adj" fmla="val 5405"/>
            </a:avLst>
          </a:prstGeom>
          <a:solidFill>
            <a:srgbClr val="16261f"/>
          </a:solidFill>
          <a:ln w="0">
            <a:noFill/>
          </a:ln>
          <a:effectLst>
            <a:outerShdw algn="bl" blurRad="127080" dir="5400000" dist="507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anim_1_a"/>
          <p:cNvSpPr/>
          <p:nvPr/>
        </p:nvSpPr>
        <p:spPr>
          <a:xfrm>
            <a:off x="548640" y="178308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e0ac2b"/>
                </a:solidFill>
                <a:latin typeface="Cambria"/>
                <a:ea typeface="Cambria"/>
              </a:rPr>
              <a:t>a × 10</a:t>
            </a:r>
            <a:r>
              <a:rPr b="1" lang="en-US" sz="40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anim_1_a"/>
          <p:cNvSpPr/>
          <p:nvPr/>
        </p:nvSpPr>
        <p:spPr>
          <a:xfrm>
            <a:off x="548640" y="2606040"/>
            <a:ext cx="1109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 is between 1 and 10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  (1 ≤ a &lt; 10)      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n is any whole number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  (can be negative)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anim_2_c"/>
          <p:cNvSpPr/>
          <p:nvPr/>
        </p:nvSpPr>
        <p:spPr>
          <a:xfrm>
            <a:off x="548640" y="352044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WHY USE IT?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anim_2_c"/>
          <p:cNvSpPr/>
          <p:nvPr/>
        </p:nvSpPr>
        <p:spPr>
          <a:xfrm>
            <a:off x="548640" y="3840480"/>
            <a:ext cx="5440320" cy="19198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anim_2_c"/>
          <p:cNvSpPr/>
          <p:nvPr/>
        </p:nvSpPr>
        <p:spPr>
          <a:xfrm>
            <a:off x="822960" y="413316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anim_2_c"/>
          <p:cNvSpPr/>
          <p:nvPr/>
        </p:nvSpPr>
        <p:spPr>
          <a:xfrm>
            <a:off x="822960" y="4133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anim_2_c"/>
          <p:cNvSpPr/>
          <p:nvPr/>
        </p:nvSpPr>
        <p:spPr>
          <a:xfrm>
            <a:off x="1463040" y="4114800"/>
            <a:ext cx="4297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Write very big or very small numbers concisely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anim_2_c"/>
          <p:cNvSpPr/>
          <p:nvPr/>
        </p:nvSpPr>
        <p:spPr>
          <a:xfrm>
            <a:off x="822960" y="5074920"/>
            <a:ext cx="4891680" cy="502560"/>
          </a:xfrm>
          <a:prstGeom prst="roundRect">
            <a:avLst>
              <a:gd name="adj" fmla="val 14545"/>
            </a:avLst>
          </a:prstGeom>
          <a:solidFill>
            <a:srgbClr val="eef1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anim_2_c"/>
          <p:cNvSpPr/>
          <p:nvPr/>
        </p:nvSpPr>
        <p:spPr>
          <a:xfrm>
            <a:off x="822960" y="5074920"/>
            <a:ext cx="4891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234 000 000 000 000 = 2.34 × 10¹⁴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anim_2_c"/>
          <p:cNvSpPr/>
          <p:nvPr/>
        </p:nvSpPr>
        <p:spPr>
          <a:xfrm>
            <a:off x="6263640" y="3840480"/>
            <a:ext cx="5440320" cy="19198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anim_2_c"/>
          <p:cNvSpPr/>
          <p:nvPr/>
        </p:nvSpPr>
        <p:spPr>
          <a:xfrm>
            <a:off x="6537960" y="413316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anim_2_c"/>
          <p:cNvSpPr/>
          <p:nvPr/>
        </p:nvSpPr>
        <p:spPr>
          <a:xfrm>
            <a:off x="6537960" y="4133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anim_2_c"/>
          <p:cNvSpPr/>
          <p:nvPr/>
        </p:nvSpPr>
        <p:spPr>
          <a:xfrm>
            <a:off x="7178040" y="4114800"/>
            <a:ext cx="4297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Compare big and small numbers easily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anim_2_c"/>
          <p:cNvSpPr/>
          <p:nvPr/>
        </p:nvSpPr>
        <p:spPr>
          <a:xfrm>
            <a:off x="6537960" y="5074920"/>
            <a:ext cx="4891680" cy="502560"/>
          </a:xfrm>
          <a:prstGeom prst="roundRect">
            <a:avLst>
              <a:gd name="adj" fmla="val 14545"/>
            </a:avLst>
          </a:prstGeom>
          <a:solidFill>
            <a:srgbClr val="eef1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anim_2_c"/>
          <p:cNvSpPr/>
          <p:nvPr/>
        </p:nvSpPr>
        <p:spPr>
          <a:xfrm>
            <a:off x="6537960" y="5074920"/>
            <a:ext cx="4891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2.34 × 10¹⁴  &gt;  2.34 × 10¹³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" dur="indefinite" restart="never" nodeType="tmRoot">
          <p:childTnLst>
            <p:seq>
              <p:cTn id="28" dur="indefinite" nodeType="mainSeq"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QUICK CHECK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Standard Form — or Not?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anim_1_a"/>
          <p:cNvSpPr/>
          <p:nvPr/>
        </p:nvSpPr>
        <p:spPr>
          <a:xfrm>
            <a:off x="548640" y="1691640"/>
            <a:ext cx="5440320" cy="4114440"/>
          </a:xfrm>
          <a:prstGeom prst="roundRect">
            <a:avLst>
              <a:gd name="adj" fmla="val 2667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anim_1_a"/>
          <p:cNvSpPr/>
          <p:nvPr/>
        </p:nvSpPr>
        <p:spPr>
          <a:xfrm>
            <a:off x="548640" y="1874520"/>
            <a:ext cx="5440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97" strike="noStrike">
                <a:solidFill>
                  <a:srgbClr val="16261f"/>
                </a:solidFill>
                <a:latin typeface="Calibri"/>
                <a:ea typeface="Calibri"/>
              </a:rPr>
              <a:t>✓  </a:t>
            </a:r>
            <a:r>
              <a:rPr b="1" lang="en-US" sz="1400" spc="97" strike="noStrike">
                <a:solidFill>
                  <a:srgbClr val="16261f"/>
                </a:solidFill>
                <a:latin typeface="Calibri"/>
                <a:ea typeface="Calibri"/>
              </a:rPr>
              <a:t>STANDARD FORM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anim_1_a"/>
          <p:cNvSpPr/>
          <p:nvPr/>
        </p:nvSpPr>
        <p:spPr>
          <a:xfrm>
            <a:off x="1005840" y="2331720"/>
            <a:ext cx="45259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anim_1_a"/>
          <p:cNvSpPr/>
          <p:nvPr/>
        </p:nvSpPr>
        <p:spPr>
          <a:xfrm>
            <a:off x="1005840" y="2331720"/>
            <a:ext cx="45259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6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anim_1_a"/>
          <p:cNvSpPr/>
          <p:nvPr/>
        </p:nvSpPr>
        <p:spPr>
          <a:xfrm>
            <a:off x="1005840" y="2990160"/>
            <a:ext cx="45259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anim_1_a"/>
          <p:cNvSpPr/>
          <p:nvPr/>
        </p:nvSpPr>
        <p:spPr>
          <a:xfrm>
            <a:off x="1005840" y="2990160"/>
            <a:ext cx="45259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3.5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–6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anim_1_a"/>
          <p:cNvSpPr/>
          <p:nvPr/>
        </p:nvSpPr>
        <p:spPr>
          <a:xfrm>
            <a:off x="1005840" y="3648600"/>
            <a:ext cx="45259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anim_1_a"/>
          <p:cNvSpPr/>
          <p:nvPr/>
        </p:nvSpPr>
        <p:spPr>
          <a:xfrm>
            <a:off x="1005840" y="3648600"/>
            <a:ext cx="45259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5.0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anim_1_a"/>
          <p:cNvSpPr/>
          <p:nvPr/>
        </p:nvSpPr>
        <p:spPr>
          <a:xfrm>
            <a:off x="1005840" y="4306680"/>
            <a:ext cx="45259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anim_1_a"/>
          <p:cNvSpPr/>
          <p:nvPr/>
        </p:nvSpPr>
        <p:spPr>
          <a:xfrm>
            <a:off x="1005840" y="4306680"/>
            <a:ext cx="45259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–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3.45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8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anim_1_a"/>
          <p:cNvSpPr/>
          <p:nvPr/>
        </p:nvSpPr>
        <p:spPr>
          <a:xfrm>
            <a:off x="1005840" y="4965120"/>
            <a:ext cx="452592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anim_1_a"/>
          <p:cNvSpPr/>
          <p:nvPr/>
        </p:nvSpPr>
        <p:spPr>
          <a:xfrm>
            <a:off x="1005840" y="4965120"/>
            <a:ext cx="45259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–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4.32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–3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anim_2_c"/>
          <p:cNvSpPr/>
          <p:nvPr/>
        </p:nvSpPr>
        <p:spPr>
          <a:xfrm>
            <a:off x="6199560" y="1691640"/>
            <a:ext cx="5440320" cy="4114440"/>
          </a:xfrm>
          <a:prstGeom prst="roundRect">
            <a:avLst>
              <a:gd name="adj" fmla="val 2667"/>
            </a:avLst>
          </a:prstGeom>
          <a:solidFill>
            <a:srgbClr val="fbeae3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anim_2_c"/>
          <p:cNvSpPr/>
          <p:nvPr/>
        </p:nvSpPr>
        <p:spPr>
          <a:xfrm>
            <a:off x="6199560" y="1874520"/>
            <a:ext cx="5440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97" strike="noStrike">
                <a:solidFill>
                  <a:srgbClr val="c84f2f"/>
                </a:solidFill>
                <a:latin typeface="Calibri"/>
                <a:ea typeface="Calibri"/>
              </a:rPr>
              <a:t>✗  </a:t>
            </a:r>
            <a:r>
              <a:rPr b="1" lang="en-US" sz="1400" spc="97" strike="noStrike">
                <a:solidFill>
                  <a:srgbClr val="c84f2f"/>
                </a:solidFill>
                <a:latin typeface="Calibri"/>
                <a:ea typeface="Calibri"/>
              </a:rPr>
              <a:t>NOT STANDARD FORM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anim_2_c"/>
          <p:cNvSpPr/>
          <p:nvPr/>
        </p:nvSpPr>
        <p:spPr>
          <a:xfrm>
            <a:off x="6382440" y="2331720"/>
            <a:ext cx="50745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anim_2_c"/>
          <p:cNvSpPr/>
          <p:nvPr/>
        </p:nvSpPr>
        <p:spPr>
          <a:xfrm>
            <a:off x="6583680" y="2331720"/>
            <a:ext cx="4754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680000   </a:t>
            </a:r>
            <a:r>
              <a:rPr b="0" i="1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it isn't written as a × 10ⁿ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anim_2_c"/>
          <p:cNvSpPr/>
          <p:nvPr/>
        </p:nvSpPr>
        <p:spPr>
          <a:xfrm>
            <a:off x="6382440" y="2990160"/>
            <a:ext cx="50745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anim_2_c"/>
          <p:cNvSpPr/>
          <p:nvPr/>
        </p:nvSpPr>
        <p:spPr>
          <a:xfrm>
            <a:off x="6583680" y="2990160"/>
            <a:ext cx="4754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45 × 10²   </a:t>
            </a:r>
            <a:r>
              <a:rPr b="0" i="1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45 is not between 1 and 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anim_2_c"/>
          <p:cNvSpPr/>
          <p:nvPr/>
        </p:nvSpPr>
        <p:spPr>
          <a:xfrm>
            <a:off x="6382440" y="3648600"/>
            <a:ext cx="50745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anim_2_c"/>
          <p:cNvSpPr/>
          <p:nvPr/>
        </p:nvSpPr>
        <p:spPr>
          <a:xfrm>
            <a:off x="6583680" y="3648600"/>
            <a:ext cx="4754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4 × 10 × 10   </a:t>
            </a:r>
            <a:r>
              <a:rPr b="0" i="1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not a single power of 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anim_2_c"/>
          <p:cNvSpPr/>
          <p:nvPr/>
        </p:nvSpPr>
        <p:spPr>
          <a:xfrm>
            <a:off x="6382440" y="4306680"/>
            <a:ext cx="50745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anim_2_c"/>
          <p:cNvSpPr/>
          <p:nvPr/>
        </p:nvSpPr>
        <p:spPr>
          <a:xfrm>
            <a:off x="6583680" y="4306680"/>
            <a:ext cx="4754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0.0004   </a:t>
            </a:r>
            <a:r>
              <a:rPr b="0" i="1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not written as a × 10ⁿ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anim_2_c"/>
          <p:cNvSpPr/>
          <p:nvPr/>
        </p:nvSpPr>
        <p:spPr>
          <a:xfrm>
            <a:off x="6382440" y="4965120"/>
            <a:ext cx="5074560" cy="5299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anim_2_c"/>
          <p:cNvSpPr/>
          <p:nvPr/>
        </p:nvSpPr>
        <p:spPr>
          <a:xfrm>
            <a:off x="6583680" y="4965120"/>
            <a:ext cx="47545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3 × 4²   </a:t>
            </a:r>
            <a:r>
              <a:rPr b="0" i="1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the base is 4, not 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1" dur="indefinite" restart="never" nodeType="tmRoot">
          <p:childTnLst>
            <p:seq>
              <p:cTn id="82" dur="indefinite" nodeType="mainSeq">
                <p:childTnLst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REAL NUMBERS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Very Big &amp; Very Small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anim_1_a"/>
          <p:cNvSpPr/>
          <p:nvPr/>
        </p:nvSpPr>
        <p:spPr>
          <a:xfrm>
            <a:off x="548640" y="1783080"/>
            <a:ext cx="5467680" cy="3840120"/>
          </a:xfrm>
          <a:prstGeom prst="roundRect">
            <a:avLst>
              <a:gd name="adj" fmla="val 2381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anim_1_a"/>
          <p:cNvSpPr/>
          <p:nvPr/>
        </p:nvSpPr>
        <p:spPr>
          <a:xfrm>
            <a:off x="868680" y="196596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97" strike="noStrike">
                <a:solidFill>
                  <a:srgbClr val="c84f2f"/>
                </a:solidFill>
                <a:latin typeface="Calibri"/>
                <a:ea typeface="Calibri"/>
              </a:rPr>
              <a:t>BIG — positive power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anim_1_a"/>
          <p:cNvSpPr/>
          <p:nvPr/>
        </p:nvSpPr>
        <p:spPr>
          <a:xfrm>
            <a:off x="868680" y="23317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Mass of the Earth ≈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anim_1_a"/>
          <p:cNvSpPr/>
          <p:nvPr/>
        </p:nvSpPr>
        <p:spPr>
          <a:xfrm>
            <a:off x="868680" y="2697480"/>
            <a:ext cx="5028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261f"/>
                </a:solidFill>
                <a:latin typeface="Cambria"/>
                <a:ea typeface="Cambria"/>
              </a:rPr>
              <a:t>5 970 000 000 000 000 000 000 000 kg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anim_2_c"/>
          <p:cNvSpPr/>
          <p:nvPr/>
        </p:nvSpPr>
        <p:spPr>
          <a:xfrm>
            <a:off x="868680" y="3520440"/>
            <a:ext cx="457164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anim_2_c"/>
          <p:cNvSpPr/>
          <p:nvPr/>
        </p:nvSpPr>
        <p:spPr>
          <a:xfrm>
            <a:off x="1051560" y="3520440"/>
            <a:ext cx="4205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5.97 × 10</a:t>
            </a:r>
            <a:r>
              <a:rPr b="1" lang="en-US" sz="20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24</a:t>
            </a: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 kg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anim_2_c"/>
          <p:cNvSpPr/>
          <p:nvPr/>
        </p:nvSpPr>
        <p:spPr>
          <a:xfrm>
            <a:off x="868680" y="42976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a7269"/>
                </a:solidFill>
                <a:latin typeface="Calibri"/>
                <a:ea typeface="Calibri"/>
              </a:rPr>
              <a:t>24 places from where the decimal sits.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anim_3_c"/>
          <p:cNvSpPr/>
          <p:nvPr/>
        </p:nvSpPr>
        <p:spPr>
          <a:xfrm>
            <a:off x="6172200" y="1783080"/>
            <a:ext cx="5467680" cy="3840120"/>
          </a:xfrm>
          <a:prstGeom prst="roundRect">
            <a:avLst>
              <a:gd name="adj" fmla="val 2381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anim_3_c"/>
          <p:cNvSpPr/>
          <p:nvPr/>
        </p:nvSpPr>
        <p:spPr>
          <a:xfrm>
            <a:off x="6492240" y="196596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97" strike="noStrike">
                <a:solidFill>
                  <a:srgbClr val="c84f2f"/>
                </a:solidFill>
                <a:latin typeface="Calibri"/>
                <a:ea typeface="Calibri"/>
              </a:rPr>
              <a:t>SMALL — negative power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anim_3_c"/>
          <p:cNvSpPr/>
          <p:nvPr/>
        </p:nvSpPr>
        <p:spPr>
          <a:xfrm>
            <a:off x="6492240" y="23317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Width of a shelled amoeba =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anim_3_c"/>
          <p:cNvSpPr/>
          <p:nvPr/>
        </p:nvSpPr>
        <p:spPr>
          <a:xfrm>
            <a:off x="6492240" y="269748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0.000 13 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anim_4_c"/>
          <p:cNvSpPr/>
          <p:nvPr/>
        </p:nvSpPr>
        <p:spPr>
          <a:xfrm>
            <a:off x="6492240" y="3520440"/>
            <a:ext cx="457164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anim_4_c"/>
          <p:cNvSpPr/>
          <p:nvPr/>
        </p:nvSpPr>
        <p:spPr>
          <a:xfrm>
            <a:off x="6675120" y="3520440"/>
            <a:ext cx="4205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1.3 × 10</a:t>
            </a:r>
            <a:r>
              <a:rPr b="1" lang="en-US" sz="20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–4</a:t>
            </a: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 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anim_4_c"/>
          <p:cNvSpPr/>
          <p:nvPr/>
        </p:nvSpPr>
        <p:spPr>
          <a:xfrm>
            <a:off x="6492240" y="42976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a7269"/>
                </a:solidFill>
                <a:latin typeface="Calibri"/>
                <a:ea typeface="Calibri"/>
              </a:rPr>
              <a:t>Small number → the power is negative.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9" dur="indefinite" restart="never" nodeType="tmRoot">
          <p:childTnLst>
            <p:seq>
              <p:cTn id="160" dur="indefinite" nodeType="mainSeq">
                <p:childTnLst>
                  <p:par>
                    <p:cTn id="161" fill="hold">
                      <p:stCondLst>
                        <p:cond delay="0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9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4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CONVERTING · FROM STANDARD FORM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Standard Form  →  Ordinary Number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Positive power n: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move the decimal point n places to the right (fill with zeros).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anim_2_c"/>
          <p:cNvSpPr/>
          <p:nvPr/>
        </p:nvSpPr>
        <p:spPr>
          <a:xfrm>
            <a:off x="548640" y="2377440"/>
            <a:ext cx="5467680" cy="3382920"/>
          </a:xfrm>
          <a:prstGeom prst="roundRect">
            <a:avLst>
              <a:gd name="adj" fmla="val 270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anim_2_c"/>
          <p:cNvSpPr/>
          <p:nvPr/>
        </p:nvSpPr>
        <p:spPr>
          <a:xfrm>
            <a:off x="868680" y="26060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8 × 10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anim_2_c"/>
          <p:cNvSpPr/>
          <p:nvPr/>
        </p:nvSpPr>
        <p:spPr>
          <a:xfrm>
            <a:off x="868680" y="32187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anim_2_c"/>
          <p:cNvSpPr/>
          <p:nvPr/>
        </p:nvSpPr>
        <p:spPr>
          <a:xfrm>
            <a:off x="868680" y="3218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anim_2_c"/>
          <p:cNvSpPr/>
          <p:nvPr/>
        </p:nvSpPr>
        <p:spPr>
          <a:xfrm>
            <a:off x="1417320" y="31546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libri"/>
                <a:ea typeface="Calibri"/>
              </a:rPr>
              <a:t>move the point 7 places right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anim_3_c"/>
          <p:cNvSpPr/>
          <p:nvPr/>
        </p:nvSpPr>
        <p:spPr>
          <a:xfrm>
            <a:off x="868680" y="3840480"/>
            <a:ext cx="420588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anim_3_c"/>
          <p:cNvSpPr/>
          <p:nvPr/>
        </p:nvSpPr>
        <p:spPr>
          <a:xfrm>
            <a:off x="1051560" y="3840480"/>
            <a:ext cx="3840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80 000 000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anim_4_c"/>
          <p:cNvSpPr/>
          <p:nvPr/>
        </p:nvSpPr>
        <p:spPr>
          <a:xfrm>
            <a:off x="6172200" y="2377440"/>
            <a:ext cx="5467680" cy="3382920"/>
          </a:xfrm>
          <a:prstGeom prst="roundRect">
            <a:avLst>
              <a:gd name="adj" fmla="val 2703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anim_4_c"/>
          <p:cNvSpPr/>
          <p:nvPr/>
        </p:nvSpPr>
        <p:spPr>
          <a:xfrm>
            <a:off x="6492240" y="26060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5.273 × 10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anim_4_c"/>
          <p:cNvSpPr/>
          <p:nvPr/>
        </p:nvSpPr>
        <p:spPr>
          <a:xfrm>
            <a:off x="6492240" y="32187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anim_4_c"/>
          <p:cNvSpPr/>
          <p:nvPr/>
        </p:nvSpPr>
        <p:spPr>
          <a:xfrm>
            <a:off x="6492240" y="3218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anim_4_c"/>
          <p:cNvSpPr/>
          <p:nvPr/>
        </p:nvSpPr>
        <p:spPr>
          <a:xfrm>
            <a:off x="7040880" y="31546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libri"/>
                <a:ea typeface="Calibri"/>
              </a:rPr>
              <a:t>move the point 8 places right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anim_5_c"/>
          <p:cNvSpPr/>
          <p:nvPr/>
        </p:nvSpPr>
        <p:spPr>
          <a:xfrm>
            <a:off x="6492240" y="3840480"/>
            <a:ext cx="438876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anim_5_c"/>
          <p:cNvSpPr/>
          <p:nvPr/>
        </p:nvSpPr>
        <p:spPr>
          <a:xfrm>
            <a:off x="6675120" y="3840480"/>
            <a:ext cx="4023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527 300 000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11" dur="indefinite" restart="never" nodeType="tmRoot">
          <p:childTnLst>
            <p:seq>
              <p:cTn id="212" dur="indefinite" nodeType="mainSeq">
                <p:childTnLst>
                  <p:par>
                    <p:cTn id="213" fill="hold">
                      <p:stCondLst>
                        <p:cond delay="0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>
                      <p:stCondLst>
                        <p:cond delay="indefinite"/>
                      </p:stCondLst>
                      <p:childTnLst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id="24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5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6" fill="hold">
                      <p:stCondLst>
                        <p:cond delay="indefinite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4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CONVERTING · FROM STANDARD FORM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Negative Powers → Small Numbers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Negative power: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move the decimal point that many places to the LEFT.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anim_2_c"/>
          <p:cNvSpPr/>
          <p:nvPr/>
        </p:nvSpPr>
        <p:spPr>
          <a:xfrm>
            <a:off x="548640" y="2331720"/>
            <a:ext cx="5467680" cy="1782720"/>
          </a:xfrm>
          <a:prstGeom prst="roundRect">
            <a:avLst>
              <a:gd name="adj" fmla="val 5128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anim_2_c"/>
          <p:cNvSpPr/>
          <p:nvPr/>
        </p:nvSpPr>
        <p:spPr>
          <a:xfrm>
            <a:off x="868680" y="251460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6261f"/>
                </a:solidFill>
                <a:latin typeface="Cambria"/>
                <a:ea typeface="Cambria"/>
              </a:rPr>
              <a:t>2.35 × 10</a:t>
            </a:r>
            <a:r>
              <a:rPr b="1" lang="en-US" sz="17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–4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   →   4 places left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anim_2_c"/>
          <p:cNvSpPr/>
          <p:nvPr/>
        </p:nvSpPr>
        <p:spPr>
          <a:xfrm>
            <a:off x="868680" y="3108960"/>
            <a:ext cx="420588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anim_2_c"/>
          <p:cNvSpPr/>
          <p:nvPr/>
        </p:nvSpPr>
        <p:spPr>
          <a:xfrm>
            <a:off x="1051560" y="3108960"/>
            <a:ext cx="3840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0.000235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anim_3_c"/>
          <p:cNvSpPr/>
          <p:nvPr/>
        </p:nvSpPr>
        <p:spPr>
          <a:xfrm>
            <a:off x="6172200" y="2331720"/>
            <a:ext cx="5467680" cy="1782720"/>
          </a:xfrm>
          <a:prstGeom prst="roundRect">
            <a:avLst>
              <a:gd name="adj" fmla="val 5128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anim_3_c"/>
          <p:cNvSpPr/>
          <p:nvPr/>
        </p:nvSpPr>
        <p:spPr>
          <a:xfrm>
            <a:off x="6492240" y="251460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6261f"/>
                </a:solidFill>
                <a:latin typeface="Cambria"/>
                <a:ea typeface="Cambria"/>
              </a:rPr>
              <a:t>4 × 10</a:t>
            </a:r>
            <a:r>
              <a:rPr b="1" lang="en-US" sz="17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–3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   →   3 places left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anim_3_c"/>
          <p:cNvSpPr/>
          <p:nvPr/>
        </p:nvSpPr>
        <p:spPr>
          <a:xfrm>
            <a:off x="6492240" y="3108960"/>
            <a:ext cx="420588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anim_3_c"/>
          <p:cNvSpPr/>
          <p:nvPr/>
        </p:nvSpPr>
        <p:spPr>
          <a:xfrm>
            <a:off x="6675120" y="3108960"/>
            <a:ext cx="3840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0.004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anim_4_c"/>
          <p:cNvSpPr/>
          <p:nvPr/>
        </p:nvSpPr>
        <p:spPr>
          <a:xfrm>
            <a:off x="548640" y="4297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8" strike="noStrike">
                <a:solidFill>
                  <a:srgbClr val="c84f2f"/>
                </a:solidFill>
                <a:latin typeface="Calibri"/>
                <a:ea typeface="Calibri"/>
              </a:rPr>
              <a:t>NOW TRY — write as an ordinary number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anim_4_c"/>
          <p:cNvSpPr/>
          <p:nvPr/>
        </p:nvSpPr>
        <p:spPr>
          <a:xfrm>
            <a:off x="548640" y="466344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anim_4_c"/>
          <p:cNvSpPr/>
          <p:nvPr/>
        </p:nvSpPr>
        <p:spPr>
          <a:xfrm>
            <a:off x="71316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anim_4_c"/>
          <p:cNvSpPr/>
          <p:nvPr/>
        </p:nvSpPr>
        <p:spPr>
          <a:xfrm>
            <a:off x="71316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anim_4_c"/>
          <p:cNvSpPr/>
          <p:nvPr/>
        </p:nvSpPr>
        <p:spPr>
          <a:xfrm>
            <a:off x="1152000" y="4663440"/>
            <a:ext cx="1919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3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anim_4_c"/>
          <p:cNvSpPr/>
          <p:nvPr/>
        </p:nvSpPr>
        <p:spPr>
          <a:xfrm>
            <a:off x="3346560" y="466344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anim_4_c"/>
          <p:cNvSpPr/>
          <p:nvPr/>
        </p:nvSpPr>
        <p:spPr>
          <a:xfrm>
            <a:off x="351144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anim_4_c"/>
          <p:cNvSpPr/>
          <p:nvPr/>
        </p:nvSpPr>
        <p:spPr>
          <a:xfrm>
            <a:off x="351144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anim_4_c"/>
          <p:cNvSpPr/>
          <p:nvPr/>
        </p:nvSpPr>
        <p:spPr>
          <a:xfrm>
            <a:off x="3950280" y="4663440"/>
            <a:ext cx="1919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1.24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anim_4_c"/>
          <p:cNvSpPr/>
          <p:nvPr/>
        </p:nvSpPr>
        <p:spPr>
          <a:xfrm>
            <a:off x="6144840" y="466344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anim_4_c"/>
          <p:cNvSpPr/>
          <p:nvPr/>
        </p:nvSpPr>
        <p:spPr>
          <a:xfrm>
            <a:off x="630936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anim_4_c"/>
          <p:cNvSpPr/>
          <p:nvPr/>
        </p:nvSpPr>
        <p:spPr>
          <a:xfrm>
            <a:off x="630936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anim_4_c"/>
          <p:cNvSpPr/>
          <p:nvPr/>
        </p:nvSpPr>
        <p:spPr>
          <a:xfrm>
            <a:off x="6748200" y="4663440"/>
            <a:ext cx="1919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6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anim_4_c"/>
          <p:cNvSpPr/>
          <p:nvPr/>
        </p:nvSpPr>
        <p:spPr>
          <a:xfrm>
            <a:off x="8942760" y="466344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anim_4_c"/>
          <p:cNvSpPr/>
          <p:nvPr/>
        </p:nvSpPr>
        <p:spPr>
          <a:xfrm>
            <a:off x="910728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anim_4_c"/>
          <p:cNvSpPr/>
          <p:nvPr/>
        </p:nvSpPr>
        <p:spPr>
          <a:xfrm>
            <a:off x="910728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anim_4_c"/>
          <p:cNvSpPr/>
          <p:nvPr/>
        </p:nvSpPr>
        <p:spPr>
          <a:xfrm>
            <a:off x="9546480" y="4663440"/>
            <a:ext cx="1919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1.01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1" dur="indefinite" restart="never" nodeType="tmRoot">
          <p:childTnLst>
            <p:seq>
              <p:cTn id="272" dur="indefinite" nodeType="mainSeq">
                <p:childTnLst>
                  <p:par>
                    <p:cTn id="273" fill="hold">
                      <p:stCondLst>
                        <p:cond delay="0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id="27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1" fill="hold">
                      <p:stCondLst>
                        <p:cond delay="indefinite"/>
                      </p:stCondLst>
                      <p:childTnLst>
                        <p:par>
                          <p:cTn id="282" fill="hold">
                            <p:stCondLst>
                              <p:cond delay="0"/>
                            </p:stCondLst>
                            <p:childTnLst>
                              <p:par>
                                <p:cTn id="28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indefinite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9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5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8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9" fill="hold">
                      <p:stCondLst>
                        <p:cond delay="indefinite"/>
                      </p:stCondLst>
                      <p:childTnLst>
                        <p:par>
                          <p:cTn id="310" fill="hold">
                            <p:stCondLst>
                              <p:cond delay="0"/>
                            </p:stCondLst>
                            <p:childTnLst>
                              <p:par>
                                <p:cTn id="31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9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1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4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7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0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3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6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9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2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5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8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1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CONVERTING · TO STANDARD FORM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Ordinary Number  →  Standard Form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Put the decimal point after the first non-zero digit, then count how many places it moved — that's 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anim_2_c"/>
          <p:cNvSpPr/>
          <p:nvPr/>
        </p:nvSpPr>
        <p:spPr>
          <a:xfrm>
            <a:off x="548640" y="2377440"/>
            <a:ext cx="11091240" cy="3382920"/>
          </a:xfrm>
          <a:prstGeom prst="roundRect">
            <a:avLst>
              <a:gd name="adj" fmla="val 270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anim_2_c"/>
          <p:cNvSpPr/>
          <p:nvPr/>
        </p:nvSpPr>
        <p:spPr>
          <a:xfrm>
            <a:off x="868680" y="256032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Write   675 400 000 000 000 000   in standard form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anim_2_c"/>
          <p:cNvSpPr/>
          <p:nvPr/>
        </p:nvSpPr>
        <p:spPr>
          <a:xfrm>
            <a:off x="868680" y="31273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anim_2_c"/>
          <p:cNvSpPr/>
          <p:nvPr/>
        </p:nvSpPr>
        <p:spPr>
          <a:xfrm>
            <a:off x="868680" y="3127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anim_2_c"/>
          <p:cNvSpPr/>
          <p:nvPr/>
        </p:nvSpPr>
        <p:spPr>
          <a:xfrm>
            <a:off x="1417320" y="306324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First digits give the number between 1 and 10:   6.754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anim_3_c"/>
          <p:cNvSpPr/>
          <p:nvPr/>
        </p:nvSpPr>
        <p:spPr>
          <a:xfrm>
            <a:off x="868680" y="3813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anim_3_c"/>
          <p:cNvSpPr/>
          <p:nvPr/>
        </p:nvSpPr>
        <p:spPr>
          <a:xfrm>
            <a:off x="868680" y="3813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anim_3_c"/>
          <p:cNvSpPr/>
          <p:nvPr/>
        </p:nvSpPr>
        <p:spPr>
          <a:xfrm>
            <a:off x="1417320" y="374904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Count the places back to the decimal point:   17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anim_4_c"/>
          <p:cNvSpPr/>
          <p:nvPr/>
        </p:nvSpPr>
        <p:spPr>
          <a:xfrm>
            <a:off x="868680" y="4526280"/>
            <a:ext cx="493740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anim_4_c"/>
          <p:cNvSpPr/>
          <p:nvPr/>
        </p:nvSpPr>
        <p:spPr>
          <a:xfrm>
            <a:off x="1051560" y="452628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= 6.754 × 10</a:t>
            </a:r>
            <a:r>
              <a:rPr b="1" lang="en-US" sz="21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17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anim_4_c"/>
          <p:cNvSpPr/>
          <p:nvPr/>
        </p:nvSpPr>
        <p:spPr>
          <a:xfrm>
            <a:off x="6126480" y="452628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6a7269"/>
                </a:solidFill>
                <a:latin typeface="Calibri"/>
                <a:ea typeface="Calibri"/>
              </a:rPr>
              <a:t>Big number → positive power.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62" dur="indefinite" restart="never" nodeType="tmRoot">
          <p:childTnLst>
            <p:seq>
              <p:cTn id="363" dur="indefinite" nodeType="mainSeq">
                <p:childTnLst>
                  <p:par>
                    <p:cTn id="364" fill="hold">
                      <p:stCondLst>
                        <p:cond delay="0"/>
                      </p:stCondLst>
                      <p:childTnLst>
                        <p:par>
                          <p:cTn id="365" fill="hold">
                            <p:stCondLst>
                              <p:cond delay="0"/>
                            </p:stCondLst>
                            <p:childTnLst>
                              <p:par>
                                <p:cTn id="36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8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2" fill="hold">
                      <p:stCondLst>
                        <p:cond delay="indefinite"/>
                      </p:stCondLst>
                      <p:childTnLst>
                        <p:par>
                          <p:cTn id="373" fill="hold">
                            <p:stCondLst>
                              <p:cond delay="0"/>
                            </p:stCondLst>
                            <p:childTnLst>
                              <p:par>
                                <p:cTn id="37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6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9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2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8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9" fill="hold">
                      <p:stCondLst>
                        <p:cond delay="indefinite"/>
                      </p:stCondLst>
                      <p:childTnLst>
                        <p:par>
                          <p:cTn id="390" fill="hold">
                            <p:stCondLst>
                              <p:cond delay="0"/>
                            </p:stCondLst>
                            <p:childTnLst>
                              <p:par>
                                <p:cTn id="39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6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40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4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7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0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CONVERTING · TO STANDARD FORM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Small Numbers → Negative Powers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anim_1_a"/>
          <p:cNvSpPr/>
          <p:nvPr/>
        </p:nvSpPr>
        <p:spPr>
          <a:xfrm>
            <a:off x="548640" y="1645920"/>
            <a:ext cx="11091240" cy="1782720"/>
          </a:xfrm>
          <a:prstGeom prst="roundRect">
            <a:avLst>
              <a:gd name="adj" fmla="val 5128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anim_1_a"/>
          <p:cNvSpPr/>
          <p:nvPr/>
        </p:nvSpPr>
        <p:spPr>
          <a:xfrm>
            <a:off x="868680" y="181044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6261f"/>
                </a:solidFill>
                <a:latin typeface="Cambria"/>
                <a:ea typeface="Cambria"/>
              </a:rPr>
              <a:t>Write   0.000 000 000 000 004 26   in standard form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anim_2_c"/>
          <p:cNvSpPr/>
          <p:nvPr/>
        </p:nvSpPr>
        <p:spPr>
          <a:xfrm>
            <a:off x="868680" y="23500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anim_2_c"/>
          <p:cNvSpPr/>
          <p:nvPr/>
        </p:nvSpPr>
        <p:spPr>
          <a:xfrm>
            <a:off x="868680" y="23500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anim_2_c"/>
          <p:cNvSpPr/>
          <p:nvPr/>
        </p:nvSpPr>
        <p:spPr>
          <a:xfrm>
            <a:off x="1417320" y="228600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Number between 1 and 10:  4.26    ·    decimal moves 15 places right → power –15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anim_3_c"/>
          <p:cNvSpPr/>
          <p:nvPr/>
        </p:nvSpPr>
        <p:spPr>
          <a:xfrm>
            <a:off x="868680" y="2880360"/>
            <a:ext cx="4937400" cy="45684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anim_3_c"/>
          <p:cNvSpPr/>
          <p:nvPr/>
        </p:nvSpPr>
        <p:spPr>
          <a:xfrm>
            <a:off x="1051560" y="28803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4.26 × 10</a:t>
            </a:r>
            <a:r>
              <a:rPr b="1" lang="en-US" sz="19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–15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anim_4_c"/>
          <p:cNvSpPr/>
          <p:nvPr/>
        </p:nvSpPr>
        <p:spPr>
          <a:xfrm>
            <a:off x="548640" y="36118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8" strike="noStrike">
                <a:solidFill>
                  <a:srgbClr val="c84f2f"/>
                </a:solidFill>
                <a:latin typeface="Calibri"/>
                <a:ea typeface="Calibri"/>
              </a:rPr>
              <a:t>NOW TRY — write in standard form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anim_4_c"/>
          <p:cNvSpPr/>
          <p:nvPr/>
        </p:nvSpPr>
        <p:spPr>
          <a:xfrm>
            <a:off x="548640" y="397764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anim_4_c"/>
          <p:cNvSpPr/>
          <p:nvPr/>
        </p:nvSpPr>
        <p:spPr>
          <a:xfrm>
            <a:off x="713160" y="4178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anim_4_c"/>
          <p:cNvSpPr/>
          <p:nvPr/>
        </p:nvSpPr>
        <p:spPr>
          <a:xfrm>
            <a:off x="7131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anim_4_c"/>
          <p:cNvSpPr/>
          <p:nvPr/>
        </p:nvSpPr>
        <p:spPr>
          <a:xfrm>
            <a:off x="1115640" y="3977640"/>
            <a:ext cx="2011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20 000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anim_4_c"/>
          <p:cNvSpPr/>
          <p:nvPr/>
        </p:nvSpPr>
        <p:spPr>
          <a:xfrm>
            <a:off x="3346560" y="397764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anim_4_c"/>
          <p:cNvSpPr/>
          <p:nvPr/>
        </p:nvSpPr>
        <p:spPr>
          <a:xfrm>
            <a:off x="3511440" y="4178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anim_4_c"/>
          <p:cNvSpPr/>
          <p:nvPr/>
        </p:nvSpPr>
        <p:spPr>
          <a:xfrm>
            <a:off x="351144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anim_4_c"/>
          <p:cNvSpPr/>
          <p:nvPr/>
        </p:nvSpPr>
        <p:spPr>
          <a:xfrm>
            <a:off x="3913560" y="3977640"/>
            <a:ext cx="2011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0.0043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anim_4_c"/>
          <p:cNvSpPr/>
          <p:nvPr/>
        </p:nvSpPr>
        <p:spPr>
          <a:xfrm>
            <a:off x="6144840" y="397764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anim_4_c"/>
          <p:cNvSpPr/>
          <p:nvPr/>
        </p:nvSpPr>
        <p:spPr>
          <a:xfrm>
            <a:off x="6309360" y="4178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anim_4_c"/>
          <p:cNvSpPr/>
          <p:nvPr/>
        </p:nvSpPr>
        <p:spPr>
          <a:xfrm>
            <a:off x="63093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anim_4_c"/>
          <p:cNvSpPr/>
          <p:nvPr/>
        </p:nvSpPr>
        <p:spPr>
          <a:xfrm>
            <a:off x="6711840" y="3977640"/>
            <a:ext cx="2011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931 000 000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anim_4_c"/>
          <p:cNvSpPr/>
          <p:nvPr/>
        </p:nvSpPr>
        <p:spPr>
          <a:xfrm>
            <a:off x="8942760" y="397764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anim_4_c"/>
          <p:cNvSpPr/>
          <p:nvPr/>
        </p:nvSpPr>
        <p:spPr>
          <a:xfrm>
            <a:off x="9107280" y="4178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anim_4_c"/>
          <p:cNvSpPr/>
          <p:nvPr/>
        </p:nvSpPr>
        <p:spPr>
          <a:xfrm>
            <a:off x="910728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anim_4_c"/>
          <p:cNvSpPr/>
          <p:nvPr/>
        </p:nvSpPr>
        <p:spPr>
          <a:xfrm>
            <a:off x="9509760" y="3977640"/>
            <a:ext cx="2011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0.000001001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anim_4_c"/>
          <p:cNvSpPr/>
          <p:nvPr/>
        </p:nvSpPr>
        <p:spPr>
          <a:xfrm>
            <a:off x="548640" y="4983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a7269"/>
                </a:solidFill>
                <a:latin typeface="Calibri"/>
                <a:ea typeface="Calibri"/>
              </a:rPr>
              <a:t>Tip:  the first non-zero digit always sits just before the × sign.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11" dur="indefinite" restart="never" nodeType="tmRoot">
          <p:childTnLst>
            <p:seq>
              <p:cTn id="412" dur="indefinite" nodeType="mainSeq">
                <p:childTnLst>
                  <p:par>
                    <p:cTn id="413" fill="hold">
                      <p:stCondLst>
                        <p:cond delay="0"/>
                      </p:stCondLst>
                      <p:childTnLst>
                        <p:par>
                          <p:cTn id="414" fill="hold">
                            <p:stCondLst>
                              <p:cond delay="0"/>
                            </p:stCondLst>
                            <p:childTnLst>
                              <p:par>
                                <p:cTn id="41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7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0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1" fill="hold">
                      <p:stCondLst>
                        <p:cond delay="indefinite"/>
                      </p:stCondLst>
                      <p:childTnLst>
                        <p:par>
                          <p:cTn id="422" fill="hold">
                            <p:stCondLst>
                              <p:cond delay="0"/>
                            </p:stCondLst>
                            <p:childTnLst>
                              <p:par>
                                <p:cTn id="42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5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8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1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2" fill="hold">
                      <p:stCondLst>
                        <p:cond delay="indefinite"/>
                      </p:stCondLst>
                      <p:childTnLst>
                        <p:par>
                          <p:cTn id="433" fill="hold">
                            <p:stCondLst>
                              <p:cond delay="0"/>
                            </p:stCondLst>
                            <p:childTnLst>
                              <p:par>
                                <p:cTn id="43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6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9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0" fill="hold">
                      <p:stCondLst>
                        <p:cond delay="indefinite"/>
                      </p:stCondLst>
                      <p:childTnLst>
                        <p:par>
                          <p:cTn id="441" fill="hold">
                            <p:stCondLst>
                              <p:cond delay="0"/>
                            </p:stCondLst>
                            <p:childTnLst>
                              <p:par>
                                <p:cTn id="44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6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5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8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1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7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0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3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6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9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2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Converting — Exam Questions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anim_1_a"/>
          <p:cNvSpPr/>
          <p:nvPr/>
        </p:nvSpPr>
        <p:spPr>
          <a:xfrm>
            <a:off x="54864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anim_1_a"/>
          <p:cNvSpPr/>
          <p:nvPr/>
        </p:nvSpPr>
        <p:spPr>
          <a:xfrm>
            <a:off x="804600" y="191124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anim_1_a"/>
          <p:cNvSpPr/>
          <p:nvPr/>
        </p:nvSpPr>
        <p:spPr>
          <a:xfrm>
            <a:off x="804600" y="19112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STANDARD 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anim_1_a"/>
          <p:cNvSpPr/>
          <p:nvPr/>
        </p:nvSpPr>
        <p:spPr>
          <a:xfrm>
            <a:off x="841320" y="2350080"/>
            <a:ext cx="29530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Write   1 300 000   in standard form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anim_1_a"/>
          <p:cNvSpPr/>
          <p:nvPr/>
        </p:nvSpPr>
        <p:spPr>
          <a:xfrm>
            <a:off x="426096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anim_1_a"/>
          <p:cNvSpPr/>
          <p:nvPr/>
        </p:nvSpPr>
        <p:spPr>
          <a:xfrm>
            <a:off x="4517280" y="191124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anim_1_a"/>
          <p:cNvSpPr/>
          <p:nvPr/>
        </p:nvSpPr>
        <p:spPr>
          <a:xfrm>
            <a:off x="4517280" y="19112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STANDARD 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anim_1_a"/>
          <p:cNvSpPr/>
          <p:nvPr/>
        </p:nvSpPr>
        <p:spPr>
          <a:xfrm>
            <a:off x="4553640" y="2350080"/>
            <a:ext cx="29530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Write   0.005   in standard form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anim_1_a"/>
          <p:cNvSpPr/>
          <p:nvPr/>
        </p:nvSpPr>
        <p:spPr>
          <a:xfrm>
            <a:off x="797364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anim_1_a"/>
          <p:cNvSpPr/>
          <p:nvPr/>
        </p:nvSpPr>
        <p:spPr>
          <a:xfrm>
            <a:off x="8229600" y="191124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anim_1_a"/>
          <p:cNvSpPr/>
          <p:nvPr/>
        </p:nvSpPr>
        <p:spPr>
          <a:xfrm>
            <a:off x="8229600" y="19112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ORDINARY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anim_1_a"/>
          <p:cNvSpPr/>
          <p:nvPr/>
        </p:nvSpPr>
        <p:spPr>
          <a:xfrm>
            <a:off x="8266320" y="2350080"/>
            <a:ext cx="29530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Write   8 × 10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  as an ordinary number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anim_2_c"/>
          <p:cNvSpPr/>
          <p:nvPr/>
        </p:nvSpPr>
        <p:spPr>
          <a:xfrm>
            <a:off x="54864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anim_2_c"/>
          <p:cNvSpPr/>
          <p:nvPr/>
        </p:nvSpPr>
        <p:spPr>
          <a:xfrm>
            <a:off x="804600" y="401436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anim_2_c"/>
          <p:cNvSpPr/>
          <p:nvPr/>
        </p:nvSpPr>
        <p:spPr>
          <a:xfrm>
            <a:off x="804600" y="401436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STANDARD 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anim_2_c"/>
          <p:cNvSpPr/>
          <p:nvPr/>
        </p:nvSpPr>
        <p:spPr>
          <a:xfrm>
            <a:off x="841320" y="4453200"/>
            <a:ext cx="29530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Write   2 940 000 000   in standard form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anim_2_c"/>
          <p:cNvSpPr/>
          <p:nvPr/>
        </p:nvSpPr>
        <p:spPr>
          <a:xfrm>
            <a:off x="426096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anim_2_c"/>
          <p:cNvSpPr/>
          <p:nvPr/>
        </p:nvSpPr>
        <p:spPr>
          <a:xfrm>
            <a:off x="4517280" y="401436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anim_2_c"/>
          <p:cNvSpPr/>
          <p:nvPr/>
        </p:nvSpPr>
        <p:spPr>
          <a:xfrm>
            <a:off x="4517280" y="401436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STANDARD 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anim_2_c"/>
          <p:cNvSpPr/>
          <p:nvPr/>
        </p:nvSpPr>
        <p:spPr>
          <a:xfrm>
            <a:off x="4553640" y="4453200"/>
            <a:ext cx="29530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Volume of the South China Sea is 9 880 000 km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 . Write 9 880 000 in standard form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anim_2_c"/>
          <p:cNvSpPr/>
          <p:nvPr/>
        </p:nvSpPr>
        <p:spPr>
          <a:xfrm>
            <a:off x="797364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anim_2_c"/>
          <p:cNvSpPr/>
          <p:nvPr/>
        </p:nvSpPr>
        <p:spPr>
          <a:xfrm>
            <a:off x="8229600" y="401436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anim_2_c"/>
          <p:cNvSpPr/>
          <p:nvPr/>
        </p:nvSpPr>
        <p:spPr>
          <a:xfrm>
            <a:off x="8229600" y="401436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ORDINARY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anim_2_c"/>
          <p:cNvSpPr/>
          <p:nvPr/>
        </p:nvSpPr>
        <p:spPr>
          <a:xfrm>
            <a:off x="8266320" y="4453200"/>
            <a:ext cx="29530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Write   6.25 × 10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–3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  as an ordinary number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96" dur="indefinite" restart="never" nodeType="tmRoot">
          <p:childTnLst>
            <p:seq>
              <p:cTn id="497" dur="indefinite" nodeType="mainSeq">
                <p:childTnLst>
                  <p:par>
                    <p:cTn id="498" fill="hold">
                      <p:stCondLst>
                        <p:cond delay="0"/>
                      </p:stCondLst>
                      <p:childTnLst>
                        <p:par>
                          <p:cTn id="499" fill="hold">
                            <p:stCondLst>
                              <p:cond delay="0"/>
                            </p:stCondLst>
                            <p:childTnLst>
                              <p:par>
                                <p:cTn id="50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2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5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8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1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4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3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6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9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2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5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6" fill="hold">
                      <p:stCondLst>
                        <p:cond delay="indefinite"/>
                      </p:stCondLst>
                      <p:childTnLst>
                        <p:par>
                          <p:cTn id="537" fill="hold">
                            <p:stCondLst>
                              <p:cond delay="0"/>
                            </p:stCondLst>
                            <p:childTnLst>
                              <p:par>
                                <p:cTn id="53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3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6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2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5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8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1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4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7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0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3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MULTIPLYING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Multiply in Standard Form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Multiply the number parts, 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add the powers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 (10</a:t>
            </a:r>
            <a:r>
              <a:rPr b="0" lang="en-US" sz="1500" spc="-1" strike="noStrike" baseline="30000">
                <a:solidFill>
                  <a:srgbClr val="ffffff"/>
                </a:solidFill>
                <a:latin typeface="Calibri"/>
                <a:ea typeface="Calibri"/>
              </a:rPr>
              <a:t>m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× 10</a:t>
            </a:r>
            <a:r>
              <a:rPr b="0" lang="en-US" sz="1500" spc="-1" strike="noStrike" baseline="30000">
                <a:solidFill>
                  <a:srgbClr val="ffffff"/>
                </a:solidFill>
                <a:latin typeface="Calibri"/>
                <a:ea typeface="Calibri"/>
              </a:rPr>
              <a:t>n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= 10</a:t>
            </a:r>
            <a:r>
              <a:rPr b="0" lang="en-US" sz="1500" spc="-1" strike="noStrike" baseline="30000">
                <a:solidFill>
                  <a:srgbClr val="ffffff"/>
                </a:solidFill>
                <a:latin typeface="Calibri"/>
                <a:ea typeface="Calibri"/>
              </a:rPr>
              <a:t>m+n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) — then fix to standard form.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anim_1_a"/>
          <p:cNvSpPr/>
          <p:nvPr/>
        </p:nvSpPr>
        <p:spPr>
          <a:xfrm>
            <a:off x="548640" y="2377440"/>
            <a:ext cx="11091240" cy="822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anim_1_a"/>
          <p:cNvSpPr/>
          <p:nvPr/>
        </p:nvSpPr>
        <p:spPr>
          <a:xfrm>
            <a:off x="548640" y="237744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Work out   2 × 10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5</a:t>
            </a: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  ×  7.2 × 10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anim_2_c"/>
          <p:cNvSpPr/>
          <p:nvPr/>
        </p:nvSpPr>
        <p:spPr>
          <a:xfrm>
            <a:off x="548640" y="3337560"/>
            <a:ext cx="11091240" cy="260568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anim_2_c"/>
          <p:cNvSpPr/>
          <p:nvPr/>
        </p:nvSpPr>
        <p:spPr>
          <a:xfrm>
            <a:off x="868680" y="3602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anim_2_c"/>
          <p:cNvSpPr/>
          <p:nvPr/>
        </p:nvSpPr>
        <p:spPr>
          <a:xfrm>
            <a:off x="868680" y="3602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anim_2_c"/>
          <p:cNvSpPr/>
          <p:nvPr/>
        </p:nvSpPr>
        <p:spPr>
          <a:xfrm>
            <a:off x="1417320" y="35388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Numbers: 2 × 7.2 = 14.4    Powers: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=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8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anim_3_c"/>
          <p:cNvSpPr/>
          <p:nvPr/>
        </p:nvSpPr>
        <p:spPr>
          <a:xfrm>
            <a:off x="868680" y="4316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anim_3_c"/>
          <p:cNvSpPr/>
          <p:nvPr/>
        </p:nvSpPr>
        <p:spPr>
          <a:xfrm>
            <a:off x="868680" y="4316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anim_3_c"/>
          <p:cNvSpPr/>
          <p:nvPr/>
        </p:nvSpPr>
        <p:spPr>
          <a:xfrm>
            <a:off x="1417320" y="425196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c84f2f"/>
                </a:solidFill>
                <a:latin typeface="Cambria"/>
                <a:ea typeface="Cambria"/>
              </a:rPr>
              <a:t>= 14.4 × 10</a:t>
            </a:r>
            <a:r>
              <a:rPr b="1" lang="en-US" sz="155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8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  — not standard form (14.4 &gt; 10)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anim_4_c"/>
          <p:cNvSpPr/>
          <p:nvPr/>
        </p:nvSpPr>
        <p:spPr>
          <a:xfrm>
            <a:off x="868680" y="4956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anim_4_c"/>
          <p:cNvSpPr/>
          <p:nvPr/>
        </p:nvSpPr>
        <p:spPr>
          <a:xfrm>
            <a:off x="868680" y="495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anim_4_c"/>
          <p:cNvSpPr/>
          <p:nvPr/>
        </p:nvSpPr>
        <p:spPr>
          <a:xfrm>
            <a:off x="1417320" y="48920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14.4 = 1.44 × 10,  so 14.4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8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= 1.44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9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anim_4_c"/>
          <p:cNvSpPr/>
          <p:nvPr/>
        </p:nvSpPr>
        <p:spPr>
          <a:xfrm>
            <a:off x="868680" y="5504760"/>
            <a:ext cx="4205880" cy="411120"/>
          </a:xfrm>
          <a:prstGeom prst="roundRect">
            <a:avLst>
              <a:gd name="adj" fmla="val 26667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anim_4_c"/>
          <p:cNvSpPr/>
          <p:nvPr/>
        </p:nvSpPr>
        <p:spPr>
          <a:xfrm>
            <a:off x="1051560" y="5504760"/>
            <a:ext cx="3840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= 1.44 × 10</a:t>
            </a:r>
            <a:r>
              <a:rPr b="1" lang="en-US" sz="17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74" dur="indefinite" restart="never" nodeType="tmRoot">
          <p:childTnLst>
            <p:seq>
              <p:cTn id="575" dur="indefinite" nodeType="mainSeq">
                <p:childTnLst>
                  <p:par>
                    <p:cTn id="576" fill="hold">
                      <p:stCondLst>
                        <p:cond delay="0"/>
                      </p:stCondLst>
                      <p:childTnLst>
                        <p:par>
                          <p:cTn id="577" fill="hold">
                            <p:stCondLst>
                              <p:cond delay="0"/>
                            </p:stCondLst>
                            <p:childTnLst>
                              <p:par>
                                <p:cTn id="57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0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3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6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9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0" fill="hold">
                      <p:stCondLst>
                        <p:cond delay="indefinite"/>
                      </p:stCondLst>
                      <p:childTnLst>
                        <p:par>
                          <p:cTn id="591" fill="hold">
                            <p:stCondLst>
                              <p:cond delay="0"/>
                            </p:stCondLst>
                            <p:childTnLst>
                              <p:par>
                                <p:cTn id="59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4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7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0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4" fill="hold">
                      <p:stCondLst>
                        <p:cond delay="indefinite"/>
                      </p:stCondLst>
                      <p:childTnLst>
                        <p:par>
                          <p:cTn id="605" fill="hold">
                            <p:stCondLst>
                              <p:cond delay="0"/>
                            </p:stCondLst>
                            <p:childTnLst>
                              <p:par>
                                <p:cTn id="60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8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1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4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5" fill="hold">
                      <p:stCondLst>
                        <p:cond delay="indefinite"/>
                      </p:stCondLst>
                      <p:childTnLst>
                        <p:par>
                          <p:cTn id="616" fill="hold">
                            <p:stCondLst>
                              <p:cond delay="0"/>
                            </p:stCondLst>
                            <p:childTnLst>
                              <p:par>
                                <p:cTn id="61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2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5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8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1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MULTIPLYING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Worked Examples &amp; Practice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anim_1_a"/>
          <p:cNvSpPr/>
          <p:nvPr/>
        </p:nvSpPr>
        <p:spPr>
          <a:xfrm>
            <a:off x="548640" y="178308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anim_1_a"/>
          <p:cNvSpPr/>
          <p:nvPr/>
        </p:nvSpPr>
        <p:spPr>
          <a:xfrm>
            <a:off x="868680" y="2057400"/>
            <a:ext cx="4845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(2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3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)(4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4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anim_1_a"/>
          <p:cNvSpPr/>
          <p:nvPr/>
        </p:nvSpPr>
        <p:spPr>
          <a:xfrm>
            <a:off x="868680" y="2743200"/>
            <a:ext cx="4800240" cy="639720"/>
          </a:xfrm>
          <a:prstGeom prst="roundRect">
            <a:avLst>
              <a:gd name="adj" fmla="val 14286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anim_1_a"/>
          <p:cNvSpPr/>
          <p:nvPr/>
        </p:nvSpPr>
        <p:spPr>
          <a:xfrm>
            <a:off x="868680" y="2743200"/>
            <a:ext cx="4800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= 8 × 10</a:t>
            </a:r>
            <a:r>
              <a:rPr b="1" lang="en-US" sz="18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anim_1_a"/>
          <p:cNvSpPr/>
          <p:nvPr/>
        </p:nvSpPr>
        <p:spPr>
          <a:xfrm>
            <a:off x="6199560" y="178308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anim_1_a"/>
          <p:cNvSpPr/>
          <p:nvPr/>
        </p:nvSpPr>
        <p:spPr>
          <a:xfrm>
            <a:off x="6519600" y="2057400"/>
            <a:ext cx="4845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(7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5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)(6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6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anim_1_a"/>
          <p:cNvSpPr/>
          <p:nvPr/>
        </p:nvSpPr>
        <p:spPr>
          <a:xfrm>
            <a:off x="6519600" y="2743200"/>
            <a:ext cx="4800240" cy="639720"/>
          </a:xfrm>
          <a:prstGeom prst="roundRect">
            <a:avLst>
              <a:gd name="adj" fmla="val 14286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anim_1_a"/>
          <p:cNvSpPr/>
          <p:nvPr/>
        </p:nvSpPr>
        <p:spPr>
          <a:xfrm>
            <a:off x="6519600" y="2743200"/>
            <a:ext cx="4800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= 42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11</a:t>
            </a: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 = 4.2 × 10</a:t>
            </a:r>
            <a:r>
              <a:rPr b="1" lang="en-US" sz="16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12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anim_2_c"/>
          <p:cNvSpPr/>
          <p:nvPr/>
        </p:nvSpPr>
        <p:spPr>
          <a:xfrm>
            <a:off x="548640" y="38404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8" strike="noStrike">
                <a:solidFill>
                  <a:srgbClr val="c84f2f"/>
                </a:solidFill>
                <a:latin typeface="Calibri"/>
                <a:ea typeface="Calibri"/>
              </a:rPr>
              <a:t>NOW TRY — give each answer in standard form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anim_2_c"/>
          <p:cNvSpPr/>
          <p:nvPr/>
        </p:nvSpPr>
        <p:spPr>
          <a:xfrm>
            <a:off x="54864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anim_2_c"/>
          <p:cNvSpPr/>
          <p:nvPr/>
        </p:nvSpPr>
        <p:spPr>
          <a:xfrm>
            <a:off x="7498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anim_2_c"/>
          <p:cNvSpPr/>
          <p:nvPr/>
        </p:nvSpPr>
        <p:spPr>
          <a:xfrm>
            <a:off x="7498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anim_2_c"/>
          <p:cNvSpPr/>
          <p:nvPr/>
        </p:nvSpPr>
        <p:spPr>
          <a:xfrm>
            <a:off x="1225440" y="420624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(3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)(2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anim_2_c"/>
          <p:cNvSpPr/>
          <p:nvPr/>
        </p:nvSpPr>
        <p:spPr>
          <a:xfrm>
            <a:off x="426096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anim_2_c"/>
          <p:cNvSpPr/>
          <p:nvPr/>
        </p:nvSpPr>
        <p:spPr>
          <a:xfrm>
            <a:off x="446220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anim_2_c"/>
          <p:cNvSpPr/>
          <p:nvPr/>
        </p:nvSpPr>
        <p:spPr>
          <a:xfrm>
            <a:off x="446220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anim_2_c"/>
          <p:cNvSpPr/>
          <p:nvPr/>
        </p:nvSpPr>
        <p:spPr>
          <a:xfrm>
            <a:off x="4937760" y="420624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(5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6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)(7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7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anim_2_c"/>
          <p:cNvSpPr/>
          <p:nvPr/>
        </p:nvSpPr>
        <p:spPr>
          <a:xfrm>
            <a:off x="797364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anim_2_c"/>
          <p:cNvSpPr/>
          <p:nvPr/>
        </p:nvSpPr>
        <p:spPr>
          <a:xfrm>
            <a:off x="81748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anim_2_c"/>
          <p:cNvSpPr/>
          <p:nvPr/>
        </p:nvSpPr>
        <p:spPr>
          <a:xfrm>
            <a:off x="81748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anim_2_c"/>
          <p:cNvSpPr/>
          <p:nvPr/>
        </p:nvSpPr>
        <p:spPr>
          <a:xfrm>
            <a:off x="8650080" y="420624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(2.5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32" dur="indefinite" restart="never" nodeType="tmRoot">
          <p:childTnLst>
            <p:seq>
              <p:cTn id="633" dur="indefinite" nodeType="mainSeq">
                <p:childTnLst>
                  <p:par>
                    <p:cTn id="634" fill="hold">
                      <p:stCondLst>
                        <p:cond delay="0"/>
                      </p:stCondLst>
                      <p:childTnLst>
                        <p:par>
                          <p:cTn id="635" fill="hold">
                            <p:stCondLst>
                              <p:cond delay="0"/>
                            </p:stCondLst>
                            <p:childTnLst>
                              <p:par>
                                <p:cTn id="63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4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7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0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3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6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9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0" fill="hold">
                      <p:stCondLst>
                        <p:cond delay="indefinite"/>
                      </p:stCondLst>
                      <p:childTnLst>
                        <p:par>
                          <p:cTn id="661" fill="hold">
                            <p:stCondLst>
                              <p:cond delay="0"/>
                            </p:stCondLst>
                            <p:childTnLst>
                              <p:par>
                                <p:cTn id="66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7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0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6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9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2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5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8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1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4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7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0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DIVIDING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Divide in Standard Form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Divide the number parts, 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subtract the powers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 (10</a:t>
            </a:r>
            <a:r>
              <a:rPr b="0" lang="en-US" sz="1500" spc="-1" strike="noStrike" baseline="30000">
                <a:solidFill>
                  <a:srgbClr val="ffffff"/>
                </a:solidFill>
                <a:latin typeface="Calibri"/>
                <a:ea typeface="Calibri"/>
              </a:rPr>
              <a:t>m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÷ 10</a:t>
            </a:r>
            <a:r>
              <a:rPr b="0" lang="en-US" sz="1500" spc="-1" strike="noStrike" baseline="30000">
                <a:solidFill>
                  <a:srgbClr val="ffffff"/>
                </a:solidFill>
                <a:latin typeface="Calibri"/>
                <a:ea typeface="Calibri"/>
              </a:rPr>
              <a:t>n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= 10</a:t>
            </a:r>
            <a:r>
              <a:rPr b="0" lang="en-US" sz="1500" spc="-1" strike="noStrike" baseline="30000">
                <a:solidFill>
                  <a:srgbClr val="ffffff"/>
                </a:solidFill>
                <a:latin typeface="Calibri"/>
                <a:ea typeface="Calibri"/>
              </a:rPr>
              <a:t>m–n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) — then fix to standard form.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anim_1_a"/>
          <p:cNvSpPr/>
          <p:nvPr/>
        </p:nvSpPr>
        <p:spPr>
          <a:xfrm>
            <a:off x="548640" y="2377440"/>
            <a:ext cx="11091240" cy="822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anim_1_a"/>
          <p:cNvSpPr/>
          <p:nvPr/>
        </p:nvSpPr>
        <p:spPr>
          <a:xfrm>
            <a:off x="548640" y="237744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Work out   1.2 × 10</a:t>
            </a:r>
            <a:r>
              <a:rPr b="1" lang="en-US" sz="23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–6</a:t>
            </a: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  ÷  4.8 × 10</a:t>
            </a:r>
            <a:r>
              <a:rPr b="1" lang="en-US" sz="23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7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anim_2_c"/>
          <p:cNvSpPr/>
          <p:nvPr/>
        </p:nvSpPr>
        <p:spPr>
          <a:xfrm>
            <a:off x="548640" y="3337560"/>
            <a:ext cx="11091240" cy="260568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anim_2_c"/>
          <p:cNvSpPr/>
          <p:nvPr/>
        </p:nvSpPr>
        <p:spPr>
          <a:xfrm>
            <a:off x="868680" y="3602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anim_2_c"/>
          <p:cNvSpPr/>
          <p:nvPr/>
        </p:nvSpPr>
        <p:spPr>
          <a:xfrm>
            <a:off x="868680" y="3602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anim_2_c"/>
          <p:cNvSpPr/>
          <p:nvPr/>
        </p:nvSpPr>
        <p:spPr>
          <a:xfrm>
            <a:off x="1417320" y="35388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Numbers: 1.2 ÷ 4.8 = 0.25    Powers: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–6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÷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7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=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–13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anim_3_c"/>
          <p:cNvSpPr/>
          <p:nvPr/>
        </p:nvSpPr>
        <p:spPr>
          <a:xfrm>
            <a:off x="868680" y="4316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anim_3_c"/>
          <p:cNvSpPr/>
          <p:nvPr/>
        </p:nvSpPr>
        <p:spPr>
          <a:xfrm>
            <a:off x="868680" y="4316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anim_3_c"/>
          <p:cNvSpPr/>
          <p:nvPr/>
        </p:nvSpPr>
        <p:spPr>
          <a:xfrm>
            <a:off x="1417320" y="425196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c84f2f"/>
                </a:solidFill>
                <a:latin typeface="Cambria"/>
                <a:ea typeface="Cambria"/>
              </a:rPr>
              <a:t>= 0.25 × 10</a:t>
            </a:r>
            <a:r>
              <a:rPr b="1" lang="en-US" sz="155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–13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  — not standard form (0.25 &lt; 1)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anim_4_c"/>
          <p:cNvSpPr/>
          <p:nvPr/>
        </p:nvSpPr>
        <p:spPr>
          <a:xfrm>
            <a:off x="868680" y="4956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anim_4_c"/>
          <p:cNvSpPr/>
          <p:nvPr/>
        </p:nvSpPr>
        <p:spPr>
          <a:xfrm>
            <a:off x="868680" y="495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anim_4_c"/>
          <p:cNvSpPr/>
          <p:nvPr/>
        </p:nvSpPr>
        <p:spPr>
          <a:xfrm>
            <a:off x="1417320" y="48920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0.25 = 2.5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–1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,  so = 2.5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–14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anim_4_c"/>
          <p:cNvSpPr/>
          <p:nvPr/>
        </p:nvSpPr>
        <p:spPr>
          <a:xfrm>
            <a:off x="868680" y="5504760"/>
            <a:ext cx="4388760" cy="411120"/>
          </a:xfrm>
          <a:prstGeom prst="roundRect">
            <a:avLst>
              <a:gd name="adj" fmla="val 26667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anim_4_c"/>
          <p:cNvSpPr/>
          <p:nvPr/>
        </p:nvSpPr>
        <p:spPr>
          <a:xfrm>
            <a:off x="1051560" y="5504760"/>
            <a:ext cx="4023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= 2.5 × 10</a:t>
            </a:r>
            <a:r>
              <a:rPr b="1" lang="en-US" sz="17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–14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01" dur="indefinite" restart="never" nodeType="tmRoot">
          <p:childTnLst>
            <p:seq>
              <p:cTn id="702" dur="indefinite" nodeType="mainSeq">
                <p:childTnLst>
                  <p:par>
                    <p:cTn id="703" fill="hold">
                      <p:stCondLst>
                        <p:cond delay="0"/>
                      </p:stCondLst>
                      <p:childTnLst>
                        <p:par>
                          <p:cTn id="704" fill="hold">
                            <p:stCondLst>
                              <p:cond delay="0"/>
                            </p:stCondLst>
                            <p:childTnLst>
                              <p:par>
                                <p:cTn id="70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7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0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3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6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7" fill="hold">
                      <p:stCondLst>
                        <p:cond delay="indefinite"/>
                      </p:stCondLst>
                      <p:childTnLst>
                        <p:par>
                          <p:cTn id="718" fill="hold">
                            <p:stCondLst>
                              <p:cond delay="0"/>
                            </p:stCondLst>
                            <p:childTnLst>
                              <p:par>
                                <p:cTn id="71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1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4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7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0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1" fill="hold">
                      <p:stCondLst>
                        <p:cond delay="indefinite"/>
                      </p:stCondLst>
                      <p:childTnLst>
                        <p:par>
                          <p:cTn id="732" fill="hold">
                            <p:stCondLst>
                              <p:cond delay="0"/>
                            </p:stCondLst>
                            <p:childTnLst>
                              <p:par>
                                <p:cTn id="73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5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8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1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2" fill="hold">
                      <p:stCondLst>
                        <p:cond delay="indefinite"/>
                      </p:stCondLst>
                      <p:childTnLst>
                        <p:par>
                          <p:cTn id="743" fill="hold">
                            <p:stCondLst>
                              <p:cond delay="0"/>
                            </p:stCondLst>
                            <p:childTnLst>
                              <p:par>
                                <p:cTn id="74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6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9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2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5"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8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DIVIDING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Worked Examples &amp; Practice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anim_1_a"/>
          <p:cNvSpPr/>
          <p:nvPr/>
        </p:nvSpPr>
        <p:spPr>
          <a:xfrm>
            <a:off x="548640" y="178308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anim_1_a"/>
          <p:cNvSpPr/>
          <p:nvPr/>
        </p:nvSpPr>
        <p:spPr>
          <a:xfrm>
            <a:off x="868680" y="2057400"/>
            <a:ext cx="4845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8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7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  ÷  2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anim_1_a"/>
          <p:cNvSpPr/>
          <p:nvPr/>
        </p:nvSpPr>
        <p:spPr>
          <a:xfrm>
            <a:off x="868680" y="2743200"/>
            <a:ext cx="4800240" cy="639720"/>
          </a:xfrm>
          <a:prstGeom prst="roundRect">
            <a:avLst>
              <a:gd name="adj" fmla="val 14286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anim_1_a"/>
          <p:cNvSpPr/>
          <p:nvPr/>
        </p:nvSpPr>
        <p:spPr>
          <a:xfrm>
            <a:off x="868680" y="2743200"/>
            <a:ext cx="4800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= 4 × 10</a:t>
            </a:r>
            <a:r>
              <a:rPr b="1" lang="en-US" sz="18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anim_1_a"/>
          <p:cNvSpPr/>
          <p:nvPr/>
        </p:nvSpPr>
        <p:spPr>
          <a:xfrm>
            <a:off x="6199560" y="178308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anim_1_a"/>
          <p:cNvSpPr/>
          <p:nvPr/>
        </p:nvSpPr>
        <p:spPr>
          <a:xfrm>
            <a:off x="6519600" y="2057400"/>
            <a:ext cx="4845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3.6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9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  ÷  9 × 10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anim_1_a"/>
          <p:cNvSpPr/>
          <p:nvPr/>
        </p:nvSpPr>
        <p:spPr>
          <a:xfrm>
            <a:off x="6519600" y="2743200"/>
            <a:ext cx="4800240" cy="639720"/>
          </a:xfrm>
          <a:prstGeom prst="roundRect">
            <a:avLst>
              <a:gd name="adj" fmla="val 14286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anim_1_a"/>
          <p:cNvSpPr/>
          <p:nvPr/>
        </p:nvSpPr>
        <p:spPr>
          <a:xfrm>
            <a:off x="6519600" y="2743200"/>
            <a:ext cx="4800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= 0.4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 = 4 × 10</a:t>
            </a:r>
            <a:r>
              <a:rPr b="1" lang="en-US" sz="16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anim_2_c"/>
          <p:cNvSpPr/>
          <p:nvPr/>
        </p:nvSpPr>
        <p:spPr>
          <a:xfrm>
            <a:off x="548640" y="38404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8" strike="noStrike">
                <a:solidFill>
                  <a:srgbClr val="c84f2f"/>
                </a:solidFill>
                <a:latin typeface="Calibri"/>
                <a:ea typeface="Calibri"/>
              </a:rPr>
              <a:t>NOW TRY — give each answer in standard form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anim_2_c"/>
          <p:cNvSpPr/>
          <p:nvPr/>
        </p:nvSpPr>
        <p:spPr>
          <a:xfrm>
            <a:off x="54864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anim_2_c"/>
          <p:cNvSpPr/>
          <p:nvPr/>
        </p:nvSpPr>
        <p:spPr>
          <a:xfrm>
            <a:off x="7498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anim_2_c"/>
          <p:cNvSpPr/>
          <p:nvPr/>
        </p:nvSpPr>
        <p:spPr>
          <a:xfrm>
            <a:off x="7498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anim_2_c"/>
          <p:cNvSpPr/>
          <p:nvPr/>
        </p:nvSpPr>
        <p:spPr>
          <a:xfrm>
            <a:off x="1188720" y="4206240"/>
            <a:ext cx="2788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4.5 × 10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÷ 9 × 10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anim_2_c"/>
          <p:cNvSpPr/>
          <p:nvPr/>
        </p:nvSpPr>
        <p:spPr>
          <a:xfrm>
            <a:off x="426096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anim_2_c"/>
          <p:cNvSpPr/>
          <p:nvPr/>
        </p:nvSpPr>
        <p:spPr>
          <a:xfrm>
            <a:off x="446220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anim_2_c"/>
          <p:cNvSpPr/>
          <p:nvPr/>
        </p:nvSpPr>
        <p:spPr>
          <a:xfrm>
            <a:off x="446220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anim_2_c"/>
          <p:cNvSpPr/>
          <p:nvPr/>
        </p:nvSpPr>
        <p:spPr>
          <a:xfrm>
            <a:off x="4901040" y="4206240"/>
            <a:ext cx="2788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(6.4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8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) ÷ (1.6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anim_2_c"/>
          <p:cNvSpPr/>
          <p:nvPr/>
        </p:nvSpPr>
        <p:spPr>
          <a:xfrm>
            <a:off x="797364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anim_2_c"/>
          <p:cNvSpPr/>
          <p:nvPr/>
        </p:nvSpPr>
        <p:spPr>
          <a:xfrm>
            <a:off x="81748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anim_2_c"/>
          <p:cNvSpPr/>
          <p:nvPr/>
        </p:nvSpPr>
        <p:spPr>
          <a:xfrm>
            <a:off x="81748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anim_2_c"/>
          <p:cNvSpPr/>
          <p:nvPr/>
        </p:nvSpPr>
        <p:spPr>
          <a:xfrm>
            <a:off x="8613720" y="4206240"/>
            <a:ext cx="2788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9 × 10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÷ 3 × 10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59" dur="indefinite" restart="never" nodeType="tmRoot">
          <p:childTnLst>
            <p:seq>
              <p:cTn id="760" dur="indefinite" nodeType="mainSeq">
                <p:childTnLst>
                  <p:par>
                    <p:cTn id="761" fill="hold">
                      <p:stCondLst>
                        <p:cond delay="0"/>
                      </p:stCondLst>
                      <p:childTnLst>
                        <p:par>
                          <p:cTn id="762" fill="hold">
                            <p:stCondLst>
                              <p:cond delay="0"/>
                            </p:stCondLst>
                            <p:childTnLst>
                              <p:par>
                                <p:cTn id="76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5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8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1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4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7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0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3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6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7" fill="hold">
                      <p:stCondLst>
                        <p:cond delay="indefinite"/>
                      </p:stCondLst>
                      <p:childTnLst>
                        <p:par>
                          <p:cTn id="788" fill="hold">
                            <p:stCondLst>
                              <p:cond delay="0"/>
                            </p:stCondLst>
                            <p:childTnLst>
                              <p:par>
                                <p:cTn id="78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1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4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7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0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3" dur="50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6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9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2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5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8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1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4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7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Multiply &amp; Divide — Exam Questions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anim_1_a"/>
          <p:cNvSpPr/>
          <p:nvPr/>
        </p:nvSpPr>
        <p:spPr>
          <a:xfrm>
            <a:off x="54864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anim_1_a"/>
          <p:cNvSpPr/>
          <p:nvPr/>
        </p:nvSpPr>
        <p:spPr>
          <a:xfrm>
            <a:off x="804600" y="191124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anim_1_a"/>
          <p:cNvSpPr/>
          <p:nvPr/>
        </p:nvSpPr>
        <p:spPr>
          <a:xfrm>
            <a:off x="804600" y="19112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STANDARD 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anim_1_a"/>
          <p:cNvSpPr/>
          <p:nvPr/>
        </p:nvSpPr>
        <p:spPr>
          <a:xfrm>
            <a:off x="841320" y="2350080"/>
            <a:ext cx="4873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Work out   (3.5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 ÷ (7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6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anim_2_c"/>
          <p:cNvSpPr/>
          <p:nvPr/>
        </p:nvSpPr>
        <p:spPr>
          <a:xfrm>
            <a:off x="619956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anim_2_c"/>
          <p:cNvSpPr/>
          <p:nvPr/>
        </p:nvSpPr>
        <p:spPr>
          <a:xfrm>
            <a:off x="6455520" y="191124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anim_2_c"/>
          <p:cNvSpPr/>
          <p:nvPr/>
        </p:nvSpPr>
        <p:spPr>
          <a:xfrm>
            <a:off x="6455520" y="19112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STANDARD 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anim_2_c"/>
          <p:cNvSpPr/>
          <p:nvPr/>
        </p:nvSpPr>
        <p:spPr>
          <a:xfrm>
            <a:off x="6492240" y="2350080"/>
            <a:ext cx="4873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Work out   (2.4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 ÷ (9.6 × 10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anim_3_c"/>
          <p:cNvSpPr/>
          <p:nvPr/>
        </p:nvSpPr>
        <p:spPr>
          <a:xfrm>
            <a:off x="54864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anim_3_c"/>
          <p:cNvSpPr/>
          <p:nvPr/>
        </p:nvSpPr>
        <p:spPr>
          <a:xfrm>
            <a:off x="804600" y="396864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anim_3_c"/>
          <p:cNvSpPr/>
          <p:nvPr/>
        </p:nvSpPr>
        <p:spPr>
          <a:xfrm>
            <a:off x="804600" y="39686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STANDARD 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anim_3_c"/>
          <p:cNvSpPr/>
          <p:nvPr/>
        </p:nvSpPr>
        <p:spPr>
          <a:xfrm>
            <a:off x="841320" y="4407480"/>
            <a:ext cx="4873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Work out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(9.6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16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+ 6.4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16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) ÷ (3.2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10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anim_4_c"/>
          <p:cNvSpPr/>
          <p:nvPr/>
        </p:nvSpPr>
        <p:spPr>
          <a:xfrm>
            <a:off x="619956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anim_4_c"/>
          <p:cNvSpPr/>
          <p:nvPr/>
        </p:nvSpPr>
        <p:spPr>
          <a:xfrm>
            <a:off x="6455520" y="3968640"/>
            <a:ext cx="210276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anim_4_c"/>
          <p:cNvSpPr/>
          <p:nvPr/>
        </p:nvSpPr>
        <p:spPr>
          <a:xfrm>
            <a:off x="6455520" y="39686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CHALLENGE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anim_4_c"/>
          <p:cNvSpPr/>
          <p:nvPr/>
        </p:nvSpPr>
        <p:spPr>
          <a:xfrm>
            <a:off x="6492240" y="4407480"/>
            <a:ext cx="4873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a = 25 × 10</a:t>
            </a:r>
            <a:r>
              <a:rPr b="1" lang="en-US" sz="14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4n</a:t>
            </a: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 , n is an integer.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Find an expression for a</a:t>
            </a:r>
            <a:r>
              <a:rPr b="1" lang="en-US" sz="14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 in standard form.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28" dur="indefinite" restart="never" nodeType="tmRoot">
          <p:childTnLst>
            <p:seq>
              <p:cTn id="829" dur="indefinite" nodeType="mainSeq">
                <p:childTnLst>
                  <p:par>
                    <p:cTn id="830" fill="hold">
                      <p:stCondLst>
                        <p:cond delay="0"/>
                      </p:stCondLst>
                      <p:childTnLst>
                        <p:par>
                          <p:cTn id="831" fill="hold">
                            <p:stCondLst>
                              <p:cond delay="0"/>
                            </p:stCondLst>
                            <p:childTnLst>
                              <p:par>
                                <p:cTn id="832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34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37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0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3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4" fill="hold">
                      <p:stCondLst>
                        <p:cond delay="indefinite"/>
                      </p:stCondLst>
                      <p:childTnLst>
                        <p:par>
                          <p:cTn id="845" fill="hold">
                            <p:stCondLst>
                              <p:cond delay="0"/>
                            </p:stCondLst>
                            <p:childTnLst>
                              <p:par>
                                <p:cTn id="84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8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1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4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7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8" fill="hold">
                      <p:stCondLst>
                        <p:cond delay="indefinite"/>
                      </p:stCondLst>
                      <p:childTnLst>
                        <p:par>
                          <p:cTn id="859" fill="hold">
                            <p:stCondLst>
                              <p:cond delay="0"/>
                            </p:stCondLst>
                            <p:childTnLst>
                              <p:par>
                                <p:cTn id="86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2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5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8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1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2" fill="hold">
                      <p:stCondLst>
                        <p:cond delay="indefinite"/>
                      </p:stCondLst>
                      <p:childTnLst>
                        <p:par>
                          <p:cTn id="873" fill="hold">
                            <p:stCondLst>
                              <p:cond delay="0"/>
                            </p:stCondLst>
                            <p:childTnLst>
                              <p:par>
                                <p:cTn id="87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6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9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82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85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ADDING &amp; SUBTRACTING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You Need the Same Power of 10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Make the powers equal (or convert to ordinary numbers), then add / subtract — and fix to standard form.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anim_1_a"/>
          <p:cNvSpPr/>
          <p:nvPr/>
        </p:nvSpPr>
        <p:spPr>
          <a:xfrm>
            <a:off x="548640" y="2377440"/>
            <a:ext cx="11091240" cy="822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anim_1_a"/>
          <p:cNvSpPr/>
          <p:nvPr/>
        </p:nvSpPr>
        <p:spPr>
          <a:xfrm>
            <a:off x="548640" y="237744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Work out   2 × 10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4</a:t>
            </a: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  +  3 × 10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anim_2_c"/>
          <p:cNvSpPr/>
          <p:nvPr/>
        </p:nvSpPr>
        <p:spPr>
          <a:xfrm>
            <a:off x="548640" y="3337560"/>
            <a:ext cx="11091240" cy="260568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anim_2_c"/>
          <p:cNvSpPr/>
          <p:nvPr/>
        </p:nvSpPr>
        <p:spPr>
          <a:xfrm>
            <a:off x="868680" y="3602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anim_2_c"/>
          <p:cNvSpPr/>
          <p:nvPr/>
        </p:nvSpPr>
        <p:spPr>
          <a:xfrm>
            <a:off x="868680" y="3602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anim_2_c"/>
          <p:cNvSpPr/>
          <p:nvPr/>
        </p:nvSpPr>
        <p:spPr>
          <a:xfrm>
            <a:off x="1417320" y="35388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Match the powers:  2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= 0.2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anim_3_c"/>
          <p:cNvSpPr/>
          <p:nvPr/>
        </p:nvSpPr>
        <p:spPr>
          <a:xfrm>
            <a:off x="868680" y="4316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anim_3_c"/>
          <p:cNvSpPr/>
          <p:nvPr/>
        </p:nvSpPr>
        <p:spPr>
          <a:xfrm>
            <a:off x="868680" y="4316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anim_3_c"/>
          <p:cNvSpPr/>
          <p:nvPr/>
        </p:nvSpPr>
        <p:spPr>
          <a:xfrm>
            <a:off x="1417320" y="425196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0.2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 +  3 × 10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r>
              <a:rPr b="1" lang="en-US" sz="1550" spc="-1" strike="noStrike">
                <a:solidFill>
                  <a:srgbClr val="c84f2f"/>
                </a:solidFill>
                <a:latin typeface="Cambria"/>
                <a:ea typeface="Cambria"/>
              </a:rPr>
              <a:t>  =  3.2 × 10</a:t>
            </a:r>
            <a:r>
              <a:rPr b="1" lang="en-US" sz="1550" spc="-1" strike="noStrike" baseline="30000">
                <a:solidFill>
                  <a:srgbClr val="c84f2f"/>
                </a:solidFill>
                <a:latin typeface="Cambria"/>
                <a:ea typeface="Cambria"/>
              </a:rPr>
              <a:t>5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anim_4_c"/>
          <p:cNvSpPr/>
          <p:nvPr/>
        </p:nvSpPr>
        <p:spPr>
          <a:xfrm>
            <a:off x="868680" y="4983480"/>
            <a:ext cx="420588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anim_4_c"/>
          <p:cNvSpPr/>
          <p:nvPr/>
        </p:nvSpPr>
        <p:spPr>
          <a:xfrm>
            <a:off x="1051560" y="4983480"/>
            <a:ext cx="38401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3.2 × 10</a:t>
            </a:r>
            <a:r>
              <a:rPr b="1" lang="en-US" sz="19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5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anim_4_c"/>
          <p:cNvSpPr/>
          <p:nvPr/>
        </p:nvSpPr>
        <p:spPr>
          <a:xfrm>
            <a:off x="5303520" y="4983480"/>
            <a:ext cx="6126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a7269"/>
                </a:solidFill>
                <a:latin typeface="Calibri"/>
                <a:ea typeface="Calibri"/>
              </a:rPr>
              <a:t>Or convert both to ordinary numbers (20 000 + 300 000 = 320 000), then back to standard form.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86" dur="indefinite" restart="never" nodeType="tmRoot">
          <p:childTnLst>
            <p:seq>
              <p:cTn id="887" dur="indefinite" nodeType="mainSeq">
                <p:childTnLst>
                  <p:par>
                    <p:cTn id="888" fill="hold">
                      <p:stCondLst>
                        <p:cond delay="0"/>
                      </p:stCondLst>
                      <p:childTnLst>
                        <p:par>
                          <p:cTn id="889" fill="hold">
                            <p:stCondLst>
                              <p:cond delay="0"/>
                            </p:stCondLst>
                            <p:childTnLst>
                              <p:par>
                                <p:cTn id="89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2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5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8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1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2" fill="hold">
                      <p:stCondLst>
                        <p:cond delay="indefinite"/>
                      </p:stCondLst>
                      <p:childTnLst>
                        <p:par>
                          <p:cTn id="903" fill="hold">
                            <p:stCondLst>
                              <p:cond delay="0"/>
                            </p:stCondLst>
                            <p:childTnLst>
                              <p:par>
                                <p:cTn id="90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6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9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2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5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6" fill="hold">
                      <p:stCondLst>
                        <p:cond delay="indefinite"/>
                      </p:stCondLst>
                      <p:childTnLst>
                        <p:par>
                          <p:cTn id="917" fill="hold">
                            <p:stCondLst>
                              <p:cond delay="0"/>
                            </p:stCondLst>
                            <p:childTnLst>
                              <p:par>
                                <p:cTn id="91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0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3"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6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7" fill="hold">
                      <p:stCondLst>
                        <p:cond delay="indefinite"/>
                      </p:stCondLst>
                      <p:childTnLst>
                        <p:par>
                          <p:cTn id="928" fill="hold">
                            <p:stCondLst>
                              <p:cond delay="0"/>
                            </p:stCondLst>
                            <p:childTnLst>
                              <p:par>
                                <p:cTn id="92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1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4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7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ADDING &amp; SUBTRACTING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Worked Examples &amp; Practice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anim_1_a"/>
          <p:cNvSpPr/>
          <p:nvPr/>
        </p:nvSpPr>
        <p:spPr>
          <a:xfrm>
            <a:off x="548640" y="1783080"/>
            <a:ext cx="3520080" cy="15541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anim_1_a"/>
          <p:cNvSpPr/>
          <p:nvPr/>
        </p:nvSpPr>
        <p:spPr>
          <a:xfrm>
            <a:off x="777240" y="201168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(1.1 × 10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5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) + (2 × 10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4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anim_1_a"/>
          <p:cNvSpPr/>
          <p:nvPr/>
        </p:nvSpPr>
        <p:spPr>
          <a:xfrm>
            <a:off x="777240" y="2651760"/>
            <a:ext cx="3062880" cy="50256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anim_1_a"/>
          <p:cNvSpPr/>
          <p:nvPr/>
        </p:nvSpPr>
        <p:spPr>
          <a:xfrm>
            <a:off x="777240" y="2651760"/>
            <a:ext cx="3062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= 1.3 × 10⁵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anim_1_a"/>
          <p:cNvSpPr/>
          <p:nvPr/>
        </p:nvSpPr>
        <p:spPr>
          <a:xfrm>
            <a:off x="4260960" y="1783080"/>
            <a:ext cx="3520080" cy="15541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anim_1_a"/>
          <p:cNvSpPr/>
          <p:nvPr/>
        </p:nvSpPr>
        <p:spPr>
          <a:xfrm>
            <a:off x="4489560" y="201168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(5 × 10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7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) + (2 × 10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5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anim_1_a"/>
          <p:cNvSpPr/>
          <p:nvPr/>
        </p:nvSpPr>
        <p:spPr>
          <a:xfrm>
            <a:off x="4489560" y="2651760"/>
            <a:ext cx="3062880" cy="50256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anim_1_a"/>
          <p:cNvSpPr/>
          <p:nvPr/>
        </p:nvSpPr>
        <p:spPr>
          <a:xfrm>
            <a:off x="4489560" y="2651760"/>
            <a:ext cx="3062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= 5.02 × 10⁷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anim_1_a"/>
          <p:cNvSpPr/>
          <p:nvPr/>
        </p:nvSpPr>
        <p:spPr>
          <a:xfrm>
            <a:off x="7973640" y="1783080"/>
            <a:ext cx="3520080" cy="15541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anim_1_a"/>
          <p:cNvSpPr/>
          <p:nvPr/>
        </p:nvSpPr>
        <p:spPr>
          <a:xfrm>
            <a:off x="8202240" y="201168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(3.2 × 10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–4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) – (5 × 10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–5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anim_1_a"/>
          <p:cNvSpPr/>
          <p:nvPr/>
        </p:nvSpPr>
        <p:spPr>
          <a:xfrm>
            <a:off x="8202240" y="2651760"/>
            <a:ext cx="3062880" cy="50256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anim_1_a"/>
          <p:cNvSpPr/>
          <p:nvPr/>
        </p:nvSpPr>
        <p:spPr>
          <a:xfrm>
            <a:off x="8202240" y="2651760"/>
            <a:ext cx="3062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= 2.7 × 10⁻⁴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anim_2_c"/>
          <p:cNvSpPr/>
          <p:nvPr/>
        </p:nvSpPr>
        <p:spPr>
          <a:xfrm>
            <a:off x="548640" y="36576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48" strike="noStrike">
                <a:solidFill>
                  <a:srgbClr val="c84f2f"/>
                </a:solidFill>
                <a:latin typeface="Calibri"/>
                <a:ea typeface="Calibri"/>
              </a:rPr>
              <a:t>NOW TRY — give each answer in standard form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anim_2_c"/>
          <p:cNvSpPr/>
          <p:nvPr/>
        </p:nvSpPr>
        <p:spPr>
          <a:xfrm>
            <a:off x="548640" y="402336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anim_2_c"/>
          <p:cNvSpPr/>
          <p:nvPr/>
        </p:nvSpPr>
        <p:spPr>
          <a:xfrm>
            <a:off x="731520" y="42703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anim_2_c"/>
          <p:cNvSpPr/>
          <p:nvPr/>
        </p:nvSpPr>
        <p:spPr>
          <a:xfrm>
            <a:off x="731520" y="4270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anim_2_c"/>
          <p:cNvSpPr/>
          <p:nvPr/>
        </p:nvSpPr>
        <p:spPr>
          <a:xfrm>
            <a:off x="1170360" y="4023360"/>
            <a:ext cx="28342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(1.1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) – (2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anim_2_c"/>
          <p:cNvSpPr/>
          <p:nvPr/>
        </p:nvSpPr>
        <p:spPr>
          <a:xfrm>
            <a:off x="4260960" y="402336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anim_2_c"/>
          <p:cNvSpPr/>
          <p:nvPr/>
        </p:nvSpPr>
        <p:spPr>
          <a:xfrm>
            <a:off x="4443840" y="42703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anim_2_c"/>
          <p:cNvSpPr/>
          <p:nvPr/>
        </p:nvSpPr>
        <p:spPr>
          <a:xfrm>
            <a:off x="4443840" y="4270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anim_2_c"/>
          <p:cNvSpPr/>
          <p:nvPr/>
        </p:nvSpPr>
        <p:spPr>
          <a:xfrm>
            <a:off x="4883040" y="4023360"/>
            <a:ext cx="28342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(9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10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) + (2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12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anim_2_c"/>
          <p:cNvSpPr/>
          <p:nvPr/>
        </p:nvSpPr>
        <p:spPr>
          <a:xfrm>
            <a:off x="7973640" y="402336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anim_2_c"/>
          <p:cNvSpPr/>
          <p:nvPr/>
        </p:nvSpPr>
        <p:spPr>
          <a:xfrm>
            <a:off x="8156520" y="42703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anim_2_c"/>
          <p:cNvSpPr/>
          <p:nvPr/>
        </p:nvSpPr>
        <p:spPr>
          <a:xfrm>
            <a:off x="8156520" y="4270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anim_2_c"/>
          <p:cNvSpPr/>
          <p:nvPr/>
        </p:nvSpPr>
        <p:spPr>
          <a:xfrm>
            <a:off x="8595360" y="4023360"/>
            <a:ext cx="28342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(6.2 × 10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–2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) + (3 × 10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–3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38" dur="indefinite" restart="never" nodeType="tmRoot">
          <p:childTnLst>
            <p:seq>
              <p:cTn id="939" dur="indefinite" nodeType="mainSeq">
                <p:childTnLst>
                  <p:par>
                    <p:cTn id="940" fill="hold">
                      <p:stCondLst>
                        <p:cond delay="0"/>
                      </p:stCondLst>
                      <p:childTnLst>
                        <p:par>
                          <p:cTn id="941" fill="hold">
                            <p:stCondLst>
                              <p:cond delay="0"/>
                            </p:stCondLst>
                            <p:childTnLst>
                              <p:par>
                                <p:cTn id="942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4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7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0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3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6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9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2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5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8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1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4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7" dur="5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8" fill="hold">
                      <p:stCondLst>
                        <p:cond delay="indefinite"/>
                      </p:stCondLst>
                      <p:childTnLst>
                        <p:par>
                          <p:cTn id="979" fill="hold">
                            <p:stCondLst>
                              <p:cond delay="0"/>
                            </p:stCondLst>
                            <p:childTnLst>
                              <p:par>
                                <p:cTn id="98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2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5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8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1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4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7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0" dur="5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3" dur="5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6" dur="500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9" dur="5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2" dur="5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5" dur="500"/>
                                        <p:tgtEl>
                                          <p:spTgt spid="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8" dur="5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Real Data — Mixed Exam Questions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anim_1_a"/>
          <p:cNvSpPr/>
          <p:nvPr/>
        </p:nvSpPr>
        <p:spPr>
          <a:xfrm>
            <a:off x="548640" y="1645920"/>
            <a:ext cx="5467680" cy="416016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anim_1_a"/>
          <p:cNvSpPr/>
          <p:nvPr/>
        </p:nvSpPr>
        <p:spPr>
          <a:xfrm>
            <a:off x="868680" y="18288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84f2f"/>
                </a:solidFill>
                <a:latin typeface="Calibri"/>
                <a:ea typeface="Calibri"/>
              </a:rPr>
              <a:t>City populations (2018, 3 s.f.)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anim_1_a"/>
          <p:cNvSpPr/>
          <p:nvPr/>
        </p:nvSpPr>
        <p:spPr>
          <a:xfrm>
            <a:off x="1005840" y="221292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Ahmedabad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anim_1_a"/>
          <p:cNvSpPr/>
          <p:nvPr/>
        </p:nvSpPr>
        <p:spPr>
          <a:xfrm>
            <a:off x="3383280" y="2212920"/>
            <a:ext cx="2468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261f"/>
                </a:solidFill>
                <a:latin typeface="Cambria"/>
                <a:ea typeface="Cambria"/>
              </a:rPr>
              <a:t>7.70 × 10⁶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anim_1_a"/>
          <p:cNvSpPr/>
          <p:nvPr/>
        </p:nvSpPr>
        <p:spPr>
          <a:xfrm>
            <a:off x="1005840" y="257868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Barcelona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anim_1_a"/>
          <p:cNvSpPr/>
          <p:nvPr/>
        </p:nvSpPr>
        <p:spPr>
          <a:xfrm>
            <a:off x="3383280" y="2578680"/>
            <a:ext cx="2468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261f"/>
                </a:solidFill>
                <a:latin typeface="Cambria"/>
                <a:ea typeface="Cambria"/>
              </a:rPr>
              <a:t>5.50 × 10⁶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anim_1_a"/>
          <p:cNvSpPr/>
          <p:nvPr/>
        </p:nvSpPr>
        <p:spPr>
          <a:xfrm>
            <a:off x="1005840" y="294444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Chicago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anim_1_a"/>
          <p:cNvSpPr/>
          <p:nvPr/>
        </p:nvSpPr>
        <p:spPr>
          <a:xfrm>
            <a:off x="3383280" y="2944440"/>
            <a:ext cx="2468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261f"/>
                </a:solidFill>
                <a:latin typeface="Cambria"/>
                <a:ea typeface="Cambria"/>
              </a:rPr>
              <a:t>8.60 × 10⁶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anim_1_a"/>
          <p:cNvSpPr/>
          <p:nvPr/>
        </p:nvSpPr>
        <p:spPr>
          <a:xfrm>
            <a:off x="1005840" y="331020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Lagos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anim_1_a"/>
          <p:cNvSpPr/>
          <p:nvPr/>
        </p:nvSpPr>
        <p:spPr>
          <a:xfrm>
            <a:off x="3383280" y="3310200"/>
            <a:ext cx="2468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261f"/>
                </a:solidFill>
                <a:latin typeface="Cambria"/>
                <a:ea typeface="Cambria"/>
              </a:rPr>
              <a:t>1.50 × 10⁷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anim_1_a"/>
          <p:cNvSpPr/>
          <p:nvPr/>
        </p:nvSpPr>
        <p:spPr>
          <a:xfrm>
            <a:off x="1005840" y="367596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Tokyo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anim_1_a"/>
          <p:cNvSpPr/>
          <p:nvPr/>
        </p:nvSpPr>
        <p:spPr>
          <a:xfrm>
            <a:off x="3383280" y="3675960"/>
            <a:ext cx="24685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6261f"/>
                </a:solidFill>
                <a:latin typeface="Cambria"/>
                <a:ea typeface="Cambria"/>
              </a:rPr>
              <a:t>3.70 × 10⁷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anim_1_a"/>
          <p:cNvSpPr/>
          <p:nvPr/>
        </p:nvSpPr>
        <p:spPr>
          <a:xfrm>
            <a:off x="868680" y="4114800"/>
            <a:ext cx="49374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(a) </a:t>
            </a:r>
            <a:r>
              <a:rPr b="0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Write 8.60 × 10⁶ as an ordinary number.</a:t>
            </a: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  (b) </a:t>
            </a:r>
            <a:r>
              <a:rPr b="0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Which city had the least population?</a:t>
            </a: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  (c) </a:t>
            </a:r>
            <a:r>
              <a:rPr b="0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Work out Tokyo − Ahmedabad, in standard form.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anim_2_c"/>
          <p:cNvSpPr/>
          <p:nvPr/>
        </p:nvSpPr>
        <p:spPr>
          <a:xfrm>
            <a:off x="6172200" y="1645920"/>
            <a:ext cx="5467680" cy="4160160"/>
          </a:xfrm>
          <a:prstGeom prst="roundRect">
            <a:avLst>
              <a:gd name="adj" fmla="val 2198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anim_2_c"/>
          <p:cNvSpPr/>
          <p:nvPr/>
        </p:nvSpPr>
        <p:spPr>
          <a:xfrm>
            <a:off x="6492240" y="18288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84f2f"/>
                </a:solidFill>
                <a:latin typeface="Calibri"/>
                <a:ea typeface="Calibri"/>
              </a:rPr>
              <a:t>Ocean volumes (km³)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anim_2_c"/>
          <p:cNvSpPr/>
          <p:nvPr/>
        </p:nvSpPr>
        <p:spPr>
          <a:xfrm>
            <a:off x="6492240" y="2286000"/>
            <a:ext cx="4937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Two oceans hold  9.6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16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 and  6.4 × 10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16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 km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anim_2_c"/>
          <p:cNvSpPr/>
          <p:nvPr/>
        </p:nvSpPr>
        <p:spPr>
          <a:xfrm>
            <a:off x="6492240" y="3108960"/>
            <a:ext cx="49374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(a) </a:t>
            </a:r>
            <a:r>
              <a:rPr b="0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Write 7.18 × 10⁷ as an ordinary number.</a:t>
            </a: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   (b) </a:t>
            </a:r>
            <a:r>
              <a:rPr b="0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Work out the total volume of the two oceans, giving your answer in standard form.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19" dur="indefinite" restart="never" nodeType="tmRoot">
          <p:childTnLst>
            <p:seq>
              <p:cTn id="1020" dur="indefinite" nodeType="mainSeq">
                <p:childTnLst>
                  <p:par>
                    <p:cTn id="1021" fill="hold">
                      <p:stCondLst>
                        <p:cond delay="0"/>
                      </p:stCondLst>
                      <p:childTnLst>
                        <p:par>
                          <p:cTn id="1022" fill="hold">
                            <p:stCondLst>
                              <p:cond delay="0"/>
                            </p:stCondLst>
                            <p:childTnLst>
                              <p:par>
                                <p:cTn id="102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5" dur="500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8" dur="5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1" dur="5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4" dur="500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7" dur="500"/>
                                        <p:tgtEl>
                                          <p:spTgt spid="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0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3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6" dur="500"/>
                                        <p:tgtEl>
                                          <p:spTgt spid="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9" dur="500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2" dur="500"/>
                                        <p:tgtEl>
                                          <p:spTgt spid="3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5" dur="500"/>
                                        <p:tgtEl>
                                          <p:spTgt spid="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8" dur="500"/>
                                        <p:tgtEl>
                                          <p:spTgt spid="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1" dur="500"/>
                                        <p:tgtEl>
                                          <p:spTgt spid="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2" fill="hold">
                      <p:stCondLst>
                        <p:cond delay="indefinite"/>
                      </p:stCondLst>
                      <p:childTnLst>
                        <p:par>
                          <p:cTn id="1063" fill="hold">
                            <p:stCondLst>
                              <p:cond delay="0"/>
                            </p:stCondLst>
                            <p:childTnLst>
                              <p:par>
                                <p:cTn id="106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6" dur="500"/>
                                        <p:tgtEl>
                                          <p:spTgt spid="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9" dur="5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72" dur="5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75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 0"/>
          <p:cNvSpPr/>
          <p:nvPr/>
        </p:nvSpPr>
        <p:spPr>
          <a:xfrm>
            <a:off x="9784080" y="3108960"/>
            <a:ext cx="16455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9000" spc="-1" strike="noStrike">
                <a:solidFill>
                  <a:srgbClr val="283731"/>
                </a:solidFill>
                <a:latin typeface="Cambria"/>
                <a:ea typeface="Cambria"/>
              </a:rPr>
              <a:t>10</a:t>
            </a:r>
            <a:endParaRPr b="0" lang="en-US" sz="9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 1"/>
          <p:cNvSpPr/>
          <p:nvPr/>
        </p:nvSpPr>
        <p:spPr>
          <a:xfrm>
            <a:off x="10881360" y="31546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200" spc="-1" strike="noStrike">
                <a:solidFill>
                  <a:srgbClr val="283731"/>
                </a:solidFill>
                <a:latin typeface="Cambria"/>
                <a:ea typeface="Cambria"/>
              </a:rPr>
              <a:t>n</a:t>
            </a:r>
            <a:endParaRPr b="0" lang="en-US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731520" y="640080"/>
            <a:ext cx="639720" cy="63972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731520" y="6217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4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2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 4"/>
          <p:cNvSpPr/>
          <p:nvPr/>
        </p:nvSpPr>
        <p:spPr>
          <a:xfrm>
            <a:off x="15177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 5"/>
          <p:cNvSpPr/>
          <p:nvPr/>
        </p:nvSpPr>
        <p:spPr>
          <a:xfrm>
            <a:off x="731520" y="12801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e0ac2b"/>
                </a:solidFill>
                <a:latin typeface="Cambria"/>
                <a:ea typeface="Cambria"/>
              </a:rPr>
              <a:t>Recap &amp; Resources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anim_1_a"/>
          <p:cNvSpPr/>
          <p:nvPr/>
        </p:nvSpPr>
        <p:spPr>
          <a:xfrm>
            <a:off x="731520" y="205740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anim_1_a"/>
          <p:cNvSpPr/>
          <p:nvPr/>
        </p:nvSpPr>
        <p:spPr>
          <a:xfrm>
            <a:off x="1005840" y="21672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Standard form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anim_1_a"/>
          <p:cNvSpPr/>
          <p:nvPr/>
        </p:nvSpPr>
        <p:spPr>
          <a:xfrm>
            <a:off x="1005840" y="2477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a × 10ⁿ, with 1 ≤ a &lt; 10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anim_1_a"/>
          <p:cNvSpPr/>
          <p:nvPr/>
        </p:nvSpPr>
        <p:spPr>
          <a:xfrm>
            <a:off x="6172200" y="205740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anim_1_a"/>
          <p:cNvSpPr/>
          <p:nvPr/>
        </p:nvSpPr>
        <p:spPr>
          <a:xfrm>
            <a:off x="6446520" y="21672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From standard form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anim_1_a"/>
          <p:cNvSpPr/>
          <p:nvPr/>
        </p:nvSpPr>
        <p:spPr>
          <a:xfrm>
            <a:off x="6446520" y="2477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move the point n places (right if +, left if –)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anim_2_c"/>
          <p:cNvSpPr/>
          <p:nvPr/>
        </p:nvSpPr>
        <p:spPr>
          <a:xfrm>
            <a:off x="731520" y="301752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anim_2_c"/>
          <p:cNvSpPr/>
          <p:nvPr/>
        </p:nvSpPr>
        <p:spPr>
          <a:xfrm>
            <a:off x="100584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To standard form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anim_2_c"/>
          <p:cNvSpPr/>
          <p:nvPr/>
        </p:nvSpPr>
        <p:spPr>
          <a:xfrm>
            <a:off x="1005840" y="34380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count the moves back to 1–10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anim_2_c"/>
          <p:cNvSpPr/>
          <p:nvPr/>
        </p:nvSpPr>
        <p:spPr>
          <a:xfrm>
            <a:off x="6172200" y="301752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anim_2_c"/>
          <p:cNvSpPr/>
          <p:nvPr/>
        </p:nvSpPr>
        <p:spPr>
          <a:xfrm>
            <a:off x="644652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Multiply / divide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anim_2_c"/>
          <p:cNvSpPr/>
          <p:nvPr/>
        </p:nvSpPr>
        <p:spPr>
          <a:xfrm>
            <a:off x="6446520" y="34380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× or ÷ numbers, add or subtract powers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anim_3_c"/>
          <p:cNvSpPr/>
          <p:nvPr/>
        </p:nvSpPr>
        <p:spPr>
          <a:xfrm>
            <a:off x="731520" y="397764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anim_3_c"/>
          <p:cNvSpPr/>
          <p:nvPr/>
        </p:nvSpPr>
        <p:spPr>
          <a:xfrm>
            <a:off x="1005840" y="40874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Add / subtract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anim_3_c"/>
          <p:cNvSpPr/>
          <p:nvPr/>
        </p:nvSpPr>
        <p:spPr>
          <a:xfrm>
            <a:off x="1005840" y="4398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match the powers first, then ±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anim_3_c"/>
          <p:cNvSpPr/>
          <p:nvPr/>
        </p:nvSpPr>
        <p:spPr>
          <a:xfrm>
            <a:off x="6172200" y="397764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anim_3_c"/>
          <p:cNvSpPr/>
          <p:nvPr/>
        </p:nvSpPr>
        <p:spPr>
          <a:xfrm>
            <a:off x="6446520" y="40874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Always finish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anim_3_c"/>
          <p:cNvSpPr/>
          <p:nvPr/>
        </p:nvSpPr>
        <p:spPr>
          <a:xfrm>
            <a:off x="6446520" y="4398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check 1 ≤ a &lt; 10 — fix if not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anim_3_c"/>
          <p:cNvSpPr/>
          <p:nvPr/>
        </p:nvSpPr>
        <p:spPr>
          <a:xfrm>
            <a:off x="731520" y="5074920"/>
            <a:ext cx="10926720" cy="868320"/>
          </a:xfrm>
          <a:prstGeom prst="roundRect">
            <a:avLst>
              <a:gd name="adj" fmla="val 12632"/>
            </a:avLst>
          </a:prstGeom>
          <a:solidFill>
            <a:srgbClr val="16261f"/>
          </a:solidFill>
          <a:ln w="15875">
            <a:solidFill>
              <a:srgbClr val="28373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anim_3_c"/>
          <p:cNvSpPr/>
          <p:nvPr/>
        </p:nvSpPr>
        <p:spPr>
          <a:xfrm>
            <a:off x="1051560" y="5139000"/>
            <a:ext cx="10423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 u="sng">
                <a:solidFill>
                  <a:srgbClr val="e0ac2b"/>
                </a:solidFill>
                <a:uFillTx/>
                <a:latin typeface="Calibri"/>
                <a:ea typeface="Calibri"/>
              </a:rPr>
              <a:t>Practice:  </a:t>
            </a:r>
            <a:r>
              <a:rPr b="0" lang="en-US" sz="1250" spc="-1" strike="noStrike" u="sng">
                <a:solidFill>
                  <a:srgbClr val="edebdd"/>
                </a:solidFill>
                <a:uFillTx/>
                <a:latin typeface="Calibri"/>
                <a:ea typeface="Calibri"/>
              </a:rPr>
              <a:t>wordwall.net — standard form match-up        ✉ zahraa.sheikhali@outlook.com  ·  ☎ 66613748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anim_3_c"/>
          <p:cNvSpPr/>
          <p:nvPr/>
        </p:nvSpPr>
        <p:spPr>
          <a:xfrm>
            <a:off x="1051560" y="5523120"/>
            <a:ext cx="10058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Ms. Zahra Sheikh Ali  ·  Pearson Edexcel IGCSE (9–1) Mathematics A  ·  Higher Tier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76" dur="indefinite" restart="never" nodeType="tmRoot">
          <p:childTnLst>
            <p:seq>
              <p:cTn id="1077" dur="indefinite" nodeType="mainSeq">
                <p:childTnLst>
                  <p:par>
                    <p:cTn id="1078" fill="hold">
                      <p:stCondLst>
                        <p:cond delay="0"/>
                      </p:stCondLst>
                      <p:childTnLst>
                        <p:par>
                          <p:cTn id="1079" fill="hold">
                            <p:stCondLst>
                              <p:cond delay="0"/>
                            </p:stCondLst>
                            <p:childTnLst>
                              <p:par>
                                <p:cTn id="108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2" dur="500"/>
                                        <p:tgtEl>
                                          <p:spTgt spid="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5" dur="5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8" dur="5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1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4" dur="5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7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8" fill="hold">
                      <p:stCondLst>
                        <p:cond delay="indefinite"/>
                      </p:stCondLst>
                      <p:childTnLst>
                        <p:par>
                          <p:cTn id="1099" fill="hold">
                            <p:stCondLst>
                              <p:cond delay="0"/>
                            </p:stCondLst>
                            <p:childTnLst>
                              <p:par>
                                <p:cTn id="110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02" dur="5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05" dur="50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08" dur="500"/>
                                        <p:tgtEl>
                                          <p:spTgt spid="4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11" dur="500"/>
                                        <p:tgtEl>
                                          <p:spTgt spid="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14" dur="500"/>
                                        <p:tgtEl>
                                          <p:spTgt spid="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17" dur="500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8" fill="hold">
                      <p:stCondLst>
                        <p:cond delay="indefinite"/>
                      </p:stCondLst>
                      <p:childTnLst>
                        <p:par>
                          <p:cTn id="1119" fill="hold">
                            <p:stCondLst>
                              <p:cond delay="0"/>
                            </p:stCondLst>
                            <p:childTnLst>
                              <p:par>
                                <p:cTn id="112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2" dur="500"/>
                                        <p:tgtEl>
                                          <p:spTgt spid="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5" dur="5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8" dur="5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1" dur="500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4" dur="500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7" dur="500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40" dur="5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43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46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1736</Words>
  <Paragraphs>277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2026-06-28T10:21:19Z</dcterms:created>
  <dc:creator>Zahra Sheikh Ali</dc:creator>
  <dc:description/>
  <dc:language>en-US</dc:language>
  <cp:lastModifiedBy>zahraa sheik ali</cp:lastModifiedBy>
  <dcterms:modified xsi:type="dcterms:W3CDTF">2026-06-29T11:38:46Z</dcterms:modified>
  <cp:revision>1</cp:revision>
  <dc:subject>PptxGenJS Presentation</dc:subject>
  <dc:title>Expanding Brackets — IGCSE Mathematics (Higher Tier)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Custom</vt:lpwstr>
  </property>
  <property fmtid="{D5CDD505-2E9C-101B-9397-08002B2CF9AE}" pid="4" name="Slides">
    <vt:r8>18</vt:r8>
  </property>
</Properties>
</file>