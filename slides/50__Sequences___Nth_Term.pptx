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C5D74D6-8645-4300-8DF4-F5CA1370BB8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7DD3EC2-B689-4C09-BE33-F30D1D83135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3FBED1-7138-4C8F-AC3D-4290089F528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CE92327-3F77-4702-B31F-CAD612A9425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556305-9244-49B0-8B0F-9B9BCCACBA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4CEE7A-FFFB-400F-9BFA-22F107624C6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30ECEA-7633-4E63-9445-1995EECA6EC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4F1506-11BE-43BC-B639-47D5B3314DF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A26F99-864D-4D27-A017-09BC52F229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AAA358-FEAC-45AD-8D54-BD7FFBA0092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4D289B-C70C-4DDC-A8D2-E510352832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B2BDDF-1B3B-4C91-A42A-D0630858860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2631F5-0075-48F0-ABDA-A21FF4B2675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D08D3F-EFE6-481F-936C-0885D573B7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4C1933-91F2-4E14-AA99-AE80545D7A1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F5B6F4-5273-4896-9966-04D3FF7813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3ABA9E-07BB-4DBC-B8F5-E32F8209D9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9052560" y="109728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600" spc="-1" strike="noStrike">
                <a:solidFill>
                  <a:srgbClr val="33463a"/>
                </a:solidFill>
                <a:latin typeface="Cambria"/>
                <a:ea typeface="Cambria"/>
              </a:rPr>
              <a:t>nth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e0ac2b"/>
                </a:solidFill>
                <a:latin typeface="Cambria"/>
                <a:ea typeface="Cambria"/>
              </a:rPr>
              <a:t>Sequences: The nth Term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Term-to-Term &amp; Position-to-Term · Linear (Arithmetic) Sequences · Finding &amp; Using the nth Term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Rule for Every Term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sequence is a list of numbers following a rule.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 nth-term rule lets you jump straight to ANY term — the 5th, the 100th — without listing them all.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Term &amp; position (n)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Term-to-term vs position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common difference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Finding the nth term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Using the nth term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sequence · term · position · nth term · common difference · arithmetic · linear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Term-to-Term vs Position-to-Term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Each number is a TERM; its place in the line is its POSITION n.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There are two ways to describe a sequence.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41"/>
          <p:cNvSpPr/>
          <p:nvPr/>
        </p:nvSpPr>
        <p:spPr>
          <a:xfrm>
            <a:off x="567000" y="228600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2"/>
          <p:cNvSpPr/>
          <p:nvPr/>
        </p:nvSpPr>
        <p:spPr>
          <a:xfrm>
            <a:off x="93276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Term-to-term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43"/>
          <p:cNvSpPr/>
          <p:nvPr/>
        </p:nvSpPr>
        <p:spPr>
          <a:xfrm>
            <a:off x="914400" y="3017520"/>
            <a:ext cx="47545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Tells you how to get the NEXT term from the one before.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2, 5, 8, 11, …  →  ‘add 3 each time’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Slow for far-off terms (you must build up).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44"/>
          <p:cNvSpPr/>
          <p:nvPr/>
        </p:nvSpPr>
        <p:spPr>
          <a:xfrm>
            <a:off x="6190560" y="228600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5"/>
          <p:cNvSpPr/>
          <p:nvPr/>
        </p:nvSpPr>
        <p:spPr>
          <a:xfrm>
            <a:off x="655632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Position-to-term (nth term)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6"/>
          <p:cNvSpPr/>
          <p:nvPr/>
        </p:nvSpPr>
        <p:spPr>
          <a:xfrm>
            <a:off x="6537960" y="3017520"/>
            <a:ext cx="47545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A formula in n that gives ANY term directly.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nth term = 3n − 1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Put n = 100 to get the 100th term instantly.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47"/>
          <p:cNvSpPr/>
          <p:nvPr/>
        </p:nvSpPr>
        <p:spPr>
          <a:xfrm>
            <a:off x="567000" y="553212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48"/>
          <p:cNvSpPr/>
          <p:nvPr/>
        </p:nvSpPr>
        <p:spPr>
          <a:xfrm>
            <a:off x="841320" y="553212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The nth-term (position-to-term) rule is the powerful one — it works for any position n.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ARITHMETIC SEQUENCES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Constant Common Difference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An arithmetic (linear) sequence goes up or down by the SAME amount each time.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That amount is the common difference, 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41"/>
          <p:cNvSpPr/>
          <p:nvPr/>
        </p:nvSpPr>
        <p:spPr>
          <a:xfrm>
            <a:off x="1280160" y="2468880"/>
            <a:ext cx="1371240" cy="868320"/>
          </a:xfrm>
          <a:prstGeom prst="roundRect">
            <a:avLst>
              <a:gd name="adj" fmla="val 6316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42"/>
          <p:cNvSpPr/>
          <p:nvPr/>
        </p:nvSpPr>
        <p:spPr>
          <a:xfrm>
            <a:off x="1280160" y="2468880"/>
            <a:ext cx="1371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6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43"/>
          <p:cNvSpPr/>
          <p:nvPr/>
        </p:nvSpPr>
        <p:spPr>
          <a:xfrm>
            <a:off x="2651760" y="260604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+4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44"/>
          <p:cNvSpPr/>
          <p:nvPr/>
        </p:nvSpPr>
        <p:spPr>
          <a:xfrm>
            <a:off x="3200400" y="2468880"/>
            <a:ext cx="1371240" cy="868320"/>
          </a:xfrm>
          <a:prstGeom prst="roundRect">
            <a:avLst>
              <a:gd name="adj" fmla="val 6316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45"/>
          <p:cNvSpPr/>
          <p:nvPr/>
        </p:nvSpPr>
        <p:spPr>
          <a:xfrm>
            <a:off x="3200400" y="2468880"/>
            <a:ext cx="1371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10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46"/>
          <p:cNvSpPr/>
          <p:nvPr/>
        </p:nvSpPr>
        <p:spPr>
          <a:xfrm>
            <a:off x="4572000" y="260604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+4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47"/>
          <p:cNvSpPr/>
          <p:nvPr/>
        </p:nvSpPr>
        <p:spPr>
          <a:xfrm>
            <a:off x="5120640" y="2468880"/>
            <a:ext cx="1371240" cy="868320"/>
          </a:xfrm>
          <a:prstGeom prst="roundRect">
            <a:avLst>
              <a:gd name="adj" fmla="val 6316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48"/>
          <p:cNvSpPr/>
          <p:nvPr/>
        </p:nvSpPr>
        <p:spPr>
          <a:xfrm>
            <a:off x="5120640" y="2468880"/>
            <a:ext cx="1371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14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49"/>
          <p:cNvSpPr/>
          <p:nvPr/>
        </p:nvSpPr>
        <p:spPr>
          <a:xfrm>
            <a:off x="6492240" y="260604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+4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50"/>
          <p:cNvSpPr/>
          <p:nvPr/>
        </p:nvSpPr>
        <p:spPr>
          <a:xfrm>
            <a:off x="7040880" y="2468880"/>
            <a:ext cx="1371240" cy="868320"/>
          </a:xfrm>
          <a:prstGeom prst="roundRect">
            <a:avLst>
              <a:gd name="adj" fmla="val 6316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51"/>
          <p:cNvSpPr/>
          <p:nvPr/>
        </p:nvSpPr>
        <p:spPr>
          <a:xfrm>
            <a:off x="7040880" y="2468880"/>
            <a:ext cx="1371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18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52"/>
          <p:cNvSpPr/>
          <p:nvPr/>
        </p:nvSpPr>
        <p:spPr>
          <a:xfrm>
            <a:off x="8412480" y="260604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+4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53"/>
          <p:cNvSpPr/>
          <p:nvPr/>
        </p:nvSpPr>
        <p:spPr>
          <a:xfrm>
            <a:off x="8961120" y="2468880"/>
            <a:ext cx="1371240" cy="868320"/>
          </a:xfrm>
          <a:prstGeom prst="roundRect">
            <a:avLst>
              <a:gd name="adj" fmla="val 6316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54"/>
          <p:cNvSpPr/>
          <p:nvPr/>
        </p:nvSpPr>
        <p:spPr>
          <a:xfrm>
            <a:off x="8961120" y="2468880"/>
            <a:ext cx="1371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a22"/>
                </a:solidFill>
                <a:latin typeface="Cambria"/>
                <a:ea typeface="Cambria"/>
              </a:rPr>
              <a:t>22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55"/>
          <p:cNvSpPr/>
          <p:nvPr/>
        </p:nvSpPr>
        <p:spPr>
          <a:xfrm>
            <a:off x="567000" y="36576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Here the common difference is d = 4 (it increases). A decreasing sequence has a NEGATIVE 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56"/>
          <p:cNvSpPr/>
          <p:nvPr/>
        </p:nvSpPr>
        <p:spPr>
          <a:xfrm>
            <a:off x="567000" y="4297680"/>
            <a:ext cx="11063880" cy="1234080"/>
          </a:xfrm>
          <a:prstGeom prst="roundRect">
            <a:avLst>
              <a:gd name="adj" fmla="val 4444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57"/>
          <p:cNvSpPr/>
          <p:nvPr/>
        </p:nvSpPr>
        <p:spPr>
          <a:xfrm>
            <a:off x="841320" y="4297680"/>
            <a:ext cx="105152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Find d by subtracting any term from the next one:  10 − 6 = 4,  14 − 10 = 4.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FINDING THE nth TERM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nth term = dn + (first term − d)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Quick 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The number in front of n is the common difference 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Then adjust by a constant to match the first term.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Formula: nth term = dn + (a − d).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Check with n = 1 and n = 2.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For a decreasing sequence d is negative, e.g. 85, 79, 73 → −6n + 91.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Sequence 6, 10, 14, 18, …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Common difference d = 4, so start with 4n.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Check 4n at n = 1: 4 — but we need 6, so add 2.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nth term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4n + 2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nth term = 4n + 2   (check: n=1 → 6 ✓,  n=2 → 10 ✓)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USING THE nth TERM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Any Term, or Test a Number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Two common tasks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Find a term → substitute the position n.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Test a value → set the rule equal to it and solve.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 whole-number n means the value IS in the sequence.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 fraction or negative n means it is NOT.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n must be a positive whole number — you cannot have the 21.25th term.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Sequence has nth term = 4n + 2.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100th term:  4(100) + 2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402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Is 87 in the sequence?  Solve 4n + 2 = 87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4n = 85  →  n = 21.25  — not a whole number, so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NO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Substitute n to find a term;  solve for n to test a value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Find the common difference, then the nth-term rule dn + (a − d).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Find the common difference 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nth term = dn + (a − 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Check with n = 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Use it to find or test a term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39"/>
          <p:cNvSpPr/>
          <p:nvPr/>
        </p:nvSpPr>
        <p:spPr>
          <a:xfrm>
            <a:off x="2044080" y="1408320"/>
            <a:ext cx="81032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5" name="Image 0" descr="/tmp/work/sqq/q-15.png"/>
          <p:cNvPicPr/>
          <p:nvPr/>
        </p:nvPicPr>
        <p:blipFill>
          <a:blip r:embed="rId1"/>
          <a:stretch/>
        </p:blipFill>
        <p:spPr>
          <a:xfrm>
            <a:off x="2117160" y="1481400"/>
            <a:ext cx="79570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39"/>
          <p:cNvSpPr/>
          <p:nvPr/>
        </p:nvSpPr>
        <p:spPr>
          <a:xfrm>
            <a:off x="1496520" y="1408320"/>
            <a:ext cx="9198360" cy="497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6" name="Image 0" descr="/tmp/work/sqq/q-16.png"/>
          <p:cNvPicPr/>
          <p:nvPr/>
        </p:nvPicPr>
        <p:blipFill>
          <a:blip r:embed="rId1"/>
          <a:stretch/>
        </p:blipFill>
        <p:spPr>
          <a:xfrm>
            <a:off x="1569600" y="1481400"/>
            <a:ext cx="9052200" cy="4826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39"/>
          <p:cNvSpPr/>
          <p:nvPr/>
        </p:nvSpPr>
        <p:spPr>
          <a:xfrm>
            <a:off x="1496520" y="1408320"/>
            <a:ext cx="9198360" cy="492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7" name="Image 0" descr="/tmp/work/sqq/q-17.png"/>
          <p:cNvPicPr/>
          <p:nvPr/>
        </p:nvPicPr>
        <p:blipFill>
          <a:blip r:embed="rId1"/>
          <a:stretch/>
        </p:blipFill>
        <p:spPr>
          <a:xfrm>
            <a:off x="1569600" y="1481400"/>
            <a:ext cx="9052200" cy="4777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39"/>
          <p:cNvSpPr/>
          <p:nvPr/>
        </p:nvSpPr>
        <p:spPr>
          <a:xfrm>
            <a:off x="2676600" y="1408320"/>
            <a:ext cx="68378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8" name="Image 0" descr="/tmp/work/sqq/q-19.png"/>
          <p:cNvPicPr/>
          <p:nvPr/>
        </p:nvPicPr>
        <p:blipFill>
          <a:blip r:embed="rId1"/>
          <a:stretch/>
        </p:blipFill>
        <p:spPr>
          <a:xfrm>
            <a:off x="2749680" y="1481400"/>
            <a:ext cx="66916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39"/>
          <p:cNvSpPr/>
          <p:nvPr/>
        </p:nvSpPr>
        <p:spPr>
          <a:xfrm>
            <a:off x="1496520" y="1408320"/>
            <a:ext cx="9198360" cy="195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9" name="Image 0" descr="/tmp/work/sqq/q-20.png"/>
          <p:cNvPicPr/>
          <p:nvPr/>
        </p:nvPicPr>
        <p:blipFill>
          <a:blip r:embed="rId1"/>
          <a:stretch/>
        </p:blipFill>
        <p:spPr>
          <a:xfrm>
            <a:off x="1569600" y="1481400"/>
            <a:ext cx="9052200" cy="1813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39"/>
          <p:cNvSpPr/>
          <p:nvPr/>
        </p:nvSpPr>
        <p:spPr>
          <a:xfrm>
            <a:off x="2528640" y="1408320"/>
            <a:ext cx="71341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0" name="Image 0" descr="/tmp/work/sqq/q-21.png"/>
          <p:cNvPicPr/>
          <p:nvPr/>
        </p:nvPicPr>
        <p:blipFill>
          <a:blip r:embed="rId1"/>
          <a:stretch/>
        </p:blipFill>
        <p:spPr>
          <a:xfrm>
            <a:off x="2601720" y="1481400"/>
            <a:ext cx="69879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39"/>
          <p:cNvSpPr/>
          <p:nvPr/>
        </p:nvSpPr>
        <p:spPr>
          <a:xfrm>
            <a:off x="2246760" y="1408320"/>
            <a:ext cx="76978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1" name="Image 0" descr="/tmp/work/sqq/q-22.png"/>
          <p:cNvPicPr/>
          <p:nvPr/>
        </p:nvPicPr>
        <p:blipFill>
          <a:blip r:embed="rId1"/>
          <a:stretch/>
        </p:blipFill>
        <p:spPr>
          <a:xfrm>
            <a:off x="2319840" y="1481400"/>
            <a:ext cx="75517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39"/>
          <p:cNvSpPr/>
          <p:nvPr/>
        </p:nvSpPr>
        <p:spPr>
          <a:xfrm>
            <a:off x="1496520" y="1408320"/>
            <a:ext cx="9198360" cy="221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2" name="Image 0" descr="/tmp/work/sqq/q-23.png"/>
          <p:cNvPicPr/>
          <p:nvPr/>
        </p:nvPicPr>
        <p:blipFill>
          <a:blip r:embed="rId1"/>
          <a:stretch/>
        </p:blipFill>
        <p:spPr>
          <a:xfrm>
            <a:off x="1569600" y="1481400"/>
            <a:ext cx="9052200" cy="207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 sequence follows a rule; each number is a term at position 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Term-to-term describes the step; the nth-term rule gives any term directly.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Arithmetic sequences have a constant common difference d.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nth term = dn + (first term − d) — the coefficient of n is d.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0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Substitute n to find a term; solve the rule = value to test if a number is in the sequence.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3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the number in front of n is the common difference; adjust to match the first term.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852</Words>
  <Paragraphs>151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2026-07-17T10:11:02Z</dcterms:created>
  <dc:creator>Zahra Sheikh Ali</dc:creator>
  <dc:description/>
  <dc:language>en-US</dc:language>
  <cp:lastModifiedBy>zahraa sheik ali</cp:lastModifiedBy>
  <dcterms:modified xsi:type="dcterms:W3CDTF">2026-08-04T18:54:37Z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Custom</vt:lpwstr>
  </property>
  <property fmtid="{D5CDD505-2E9C-101B-9397-08002B2CF9AE}" pid="4" name="Slides">
    <vt:r8>16</vt:r8>
  </property>
</Properties>
</file>