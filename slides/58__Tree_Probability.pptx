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media/image11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6.png" ContentType="image/png"/>
  <Override PartName="/ppt/media/image15.png" ContentType="image/png"/>
  <Override PartName="/ppt/media/image5.png" ContentType="image/png"/>
  <Override PartName="/ppt/media/audio2.wav" ContentType="audio/x-wav"/>
  <Override PartName="/ppt/media/image14.png" ContentType="image/png"/>
  <Override PartName="/ppt/media/image21.png" ContentType="image/png"/>
  <Override PartName="/ppt/media/image19.png" ContentType="image/png"/>
  <Override PartName="/ppt/media/image1.wmf" ContentType="image/x-wmf"/>
  <Override PartName="/ppt/media/image12.png" ContentType="image/png"/>
  <Override PartName="/ppt/media/image8.png" ContentType="image/png"/>
  <Override PartName="/ppt/media/image17.png" ContentType="image/png"/>
  <Override PartName="/ppt/media/image3.wmf" ContentType="image/x-wmf"/>
  <Override PartName="/ppt/media/image20.png" ContentType="image/png"/>
  <Override PartName="/ppt/media/image18.png" ContentType="image/png"/>
  <Override PartName="/ppt/media/image9.png" ContentType="image/png"/>
  <Override PartName="/ppt/media/image4.png" ContentType="image/png"/>
  <Override PartName="/ppt/media/audio1.wav" ContentType="audio/x-wav"/>
  <Override PartName="/ppt/media/image13.png" ContentType="image/png"/>
  <Override PartName="/ppt/media/image2.wmf" ContentType="image/x-wmf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D59A40-FCC8-4B39-B8B8-1656B39C7A2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B807146-8203-4916-A9AC-8AB68912088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380EF4-29EC-44F4-A245-EAC0A0EA05F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DD60DD-11F6-4DE8-8180-3EE6BB28B8C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3C2AC49-736B-4678-98F2-BDC43E4DA1F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C85F68-9191-4D89-856A-6760AD15D54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E3801DF-4B24-4966-962D-90F96A68A48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F9E43B-8C49-4013-B0AE-C736F96F3F4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ECFA203-CF1A-4786-9E75-DFA1CC8EDA9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BFD879D-3E52-444A-823C-0FFAB9138F0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FF6D-0C49-4216-9B25-A19153A03B3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435603-E19C-4503-AADF-BDAF3AF0530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D9D5A8-DDC7-4514-8A7E-BAE4C55C787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D42B912-BF8F-41AE-8FD4-5E433A1B125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0A17C7-1772-4950-AC61-CE79DD5DA44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9BE128-3BCE-4D2E-B7AB-384633FC87C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5.bin"/><Relationship Id="rId6" Type="http://schemas.openxmlformats.org/officeDocument/2006/relationships/oleObject" Target="../embeddings/oleObject6.bin"/><Relationship Id="rId7" Type="http://schemas.openxmlformats.org/officeDocument/2006/relationships/audio" Target="../media/audio1.wav"/><Relationship Id="rId8" Type="http://schemas.openxmlformats.org/officeDocument/2006/relationships/audio" Target="../media/audio2.wav"/><Relationship Id="rId9" Type="http://schemas.openxmlformats.org/officeDocument/2006/relationships/audio" Target="../media/audio2.wav"/><Relationship Id="rId10" Type="http://schemas.openxmlformats.org/officeDocument/2006/relationships/audio" Target="../media/audio2.wav"/><Relationship Id="rId11" Type="http://schemas.openxmlformats.org/officeDocument/2006/relationships/audio" Target="../media/audio2.wav"/><Relationship Id="rId12" Type="http://schemas.openxmlformats.org/officeDocument/2006/relationships/audio" Target="../media/audio1.wav"/><Relationship Id="rId13" Type="http://schemas.openxmlformats.org/officeDocument/2006/relationships/audio" Target="../media/audio2.wav"/><Relationship Id="rId14" Type="http://schemas.openxmlformats.org/officeDocument/2006/relationships/audio" Target="../media/audio2.wav"/><Relationship Id="rId15" Type="http://schemas.openxmlformats.org/officeDocument/2006/relationships/audio" Target="../media/audio2.wav"/><Relationship Id="rId16" Type="http://schemas.openxmlformats.org/officeDocument/2006/relationships/audio" Target="../media/audio2.wav"/><Relationship Id="rId17" Type="http://schemas.openxmlformats.org/officeDocument/2006/relationships/audio" Target="../media/audio2.wav"/><Relationship Id="rId18" Type="http://schemas.openxmlformats.org/officeDocument/2006/relationships/audio" Target="../media/audio2.wav"/><Relationship Id="rId19" Type="http://schemas.openxmlformats.org/officeDocument/2006/relationships/audio" Target="../media/audio2.wav"/><Relationship Id="rId20" Type="http://schemas.openxmlformats.org/officeDocument/2006/relationships/audio" Target="../media/audio2.wav"/><Relationship Id="rId21" Type="http://schemas.openxmlformats.org/officeDocument/2006/relationships/audio" Target="../media/audio1.wav"/><Relationship Id="rId22" Type="http://schemas.openxmlformats.org/officeDocument/2006/relationships/audio" Target="../media/audio1.wav"/><Relationship Id="rId23" Type="http://schemas.openxmlformats.org/officeDocument/2006/relationships/audio" Target="../media/audio1.wav"/><Relationship Id="rId24" Type="http://schemas.openxmlformats.org/officeDocument/2006/relationships/audio" Target="../media/audio1.wav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3.bin"/><Relationship Id="rId6" Type="http://schemas.openxmlformats.org/officeDocument/2006/relationships/oleObject" Target="../embeddings/oleObject4.bin"/><Relationship Id="rId7" Type="http://schemas.openxmlformats.org/officeDocument/2006/relationships/oleObject" Target="../embeddings/oleObject5.bin"/><Relationship Id="rId8" Type="http://schemas.openxmlformats.org/officeDocument/2006/relationships/oleObject" Target="../embeddings/oleObject6.bin"/><Relationship Id="rId9" Type="http://schemas.openxmlformats.org/officeDocument/2006/relationships/oleObject" Target="../embeddings/oleObject7.bin"/><Relationship Id="rId10" Type="http://schemas.openxmlformats.org/officeDocument/2006/relationships/oleObject" Target="../embeddings/oleObject8.bin"/><Relationship Id="rId11" Type="http://schemas.openxmlformats.org/officeDocument/2006/relationships/oleObject" Target="../embeddings/oleObject9.bin"/><Relationship Id="rId12" Type="http://schemas.openxmlformats.org/officeDocument/2006/relationships/oleObject" Target="../embeddings/oleObject10.bin"/><Relationship Id="rId13" Type="http://schemas.openxmlformats.org/officeDocument/2006/relationships/audio" Target="../media/audio1.wav"/><Relationship Id="rId14" Type="http://schemas.openxmlformats.org/officeDocument/2006/relationships/audio" Target="../media/audio1.wav"/><Relationship Id="rId15" Type="http://schemas.openxmlformats.org/officeDocument/2006/relationships/audio" Target="../media/audio1.wav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3.bin"/><Relationship Id="rId6" Type="http://schemas.openxmlformats.org/officeDocument/2006/relationships/oleObject" Target="../embeddings/oleObject4.bin"/><Relationship Id="rId7" Type="http://schemas.openxmlformats.org/officeDocument/2006/relationships/oleObject" Target="../embeddings/oleObject5.bin"/><Relationship Id="rId8" Type="http://schemas.openxmlformats.org/officeDocument/2006/relationships/oleObject" Target="../embeddings/oleObject6.bin"/><Relationship Id="rId9" Type="http://schemas.openxmlformats.org/officeDocument/2006/relationships/oleObject" Target="../embeddings/oleObject7.bin"/><Relationship Id="rId10" Type="http://schemas.openxmlformats.org/officeDocument/2006/relationships/oleObject" Target="../embeddings/oleObject8.bin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9.png"/><Relationship Id="rId13" Type="http://schemas.openxmlformats.org/officeDocument/2006/relationships/image" Target="../media/image1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074080" y="1627560"/>
            <a:ext cx="127800" cy="127800"/>
          </a:xfrm>
          <a:prstGeom prst="ellipse">
            <a:avLst/>
          </a:prstGeom>
          <a:solidFill>
            <a:srgbClr val="1c2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183880" y="1691640"/>
            <a:ext cx="14630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8503920" y="8550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8183880" y="1691640"/>
            <a:ext cx="1463040" cy="10515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8503920" y="19065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9692640" y="49392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9692640" y="259704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10149840" y="640080"/>
            <a:ext cx="13716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424160" y="457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1567160" y="-7308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10149840" y="640080"/>
            <a:ext cx="1371600" cy="56664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424160" y="6127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1567160" y="106056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10149840" y="2743200"/>
            <a:ext cx="13716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10424160" y="21488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11567160" y="203004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149840" y="2743200"/>
            <a:ext cx="1371600" cy="56664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52"/>
          <p:cNvSpPr/>
          <p:nvPr/>
        </p:nvSpPr>
        <p:spPr>
          <a:xfrm>
            <a:off x="10424160" y="27158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53"/>
          <p:cNvSpPr/>
          <p:nvPr/>
        </p:nvSpPr>
        <p:spPr>
          <a:xfrm>
            <a:off x="11567160" y="316368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57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58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Tree Diagrams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59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Sequential Events · With &amp; Without Replacement · Multiply Along, Add Down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61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62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63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One Event After Another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tree diagram maps out two (or more) events happening in sequence.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Each branch carries a probability; you multiply along branches and add the results.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What a tree diagram shows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Multiply along, add down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With replacement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Without replacement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Combining branches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tree diagram · branch · outcome · with / without replacement · multiply along · add down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How a Tree Diagram Works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9"/>
          <p:cNvSpPr/>
          <p:nvPr/>
        </p:nvSpPr>
        <p:spPr>
          <a:xfrm>
            <a:off x="567000" y="128016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40"/>
          <p:cNvSpPr/>
          <p:nvPr/>
        </p:nvSpPr>
        <p:spPr>
          <a:xfrm>
            <a:off x="887040" y="128016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First event branches, then each branch splits for the second event.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Write the probability on every branch.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60"/>
          <p:cNvSpPr/>
          <p:nvPr/>
        </p:nvSpPr>
        <p:spPr>
          <a:xfrm>
            <a:off x="6766560" y="2194560"/>
            <a:ext cx="4864320" cy="3291480"/>
          </a:xfrm>
          <a:prstGeom prst="roundRect">
            <a:avLst>
              <a:gd name="adj" fmla="val 1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61"/>
          <p:cNvSpPr/>
          <p:nvPr/>
        </p:nvSpPr>
        <p:spPr>
          <a:xfrm>
            <a:off x="7132320" y="2432160"/>
            <a:ext cx="413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Two golden rules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62"/>
          <p:cNvSpPr/>
          <p:nvPr/>
        </p:nvSpPr>
        <p:spPr>
          <a:xfrm>
            <a:off x="7086600" y="2926080"/>
            <a:ext cx="43430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1.  MULTIPLY along the branches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     </a:t>
            </a:r>
            <a:r>
              <a:rPr b="0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(‘and’ — first AND second).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2.  ADD the branch results going DOWN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     </a:t>
            </a:r>
            <a:r>
              <a:rPr b="0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(‘or’ — this way OR that way).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Each PAIR of branches adds up to 1.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63"/>
          <p:cNvSpPr/>
          <p:nvPr/>
        </p:nvSpPr>
        <p:spPr>
          <a:xfrm>
            <a:off x="567000" y="566928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64"/>
          <p:cNvSpPr/>
          <p:nvPr/>
        </p:nvSpPr>
        <p:spPr>
          <a:xfrm>
            <a:off x="841320" y="56692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Multiply ALONG (×) for ‘and’;  add DOWN (+) for ‘or’.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Box 25"/>
          <p:cNvSpPr/>
          <p:nvPr/>
        </p:nvSpPr>
        <p:spPr>
          <a:xfrm>
            <a:off x="3064320" y="296568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rgbClr val="ff0000"/>
                </a:solidFill>
                <a:latin typeface="Calibri"/>
              </a:rPr>
              <a:t>red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Box 26"/>
          <p:cNvSpPr/>
          <p:nvPr/>
        </p:nvSpPr>
        <p:spPr>
          <a:xfrm>
            <a:off x="3007440" y="484704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rgbClr val="3333ff"/>
                </a:solidFill>
                <a:latin typeface="Calibri"/>
              </a:rPr>
              <a:t>blue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6" name="Group 61"/>
          <p:cNvGrpSpPr/>
          <p:nvPr/>
        </p:nvGrpSpPr>
        <p:grpSpPr>
          <a:xfrm>
            <a:off x="1230840" y="2338560"/>
            <a:ext cx="1834560" cy="2617560"/>
            <a:chOff x="1230840" y="2338560"/>
            <a:chExt cx="1834560" cy="2617560"/>
          </a:xfrm>
        </p:grpSpPr>
        <p:grpSp>
          <p:nvGrpSpPr>
            <p:cNvPr id="187" name="Group 24"/>
            <p:cNvGrpSpPr/>
            <p:nvPr/>
          </p:nvGrpSpPr>
          <p:grpSpPr>
            <a:xfrm>
              <a:off x="1332360" y="3208320"/>
              <a:ext cx="1733040" cy="1747800"/>
              <a:chOff x="1332360" y="3208320"/>
              <a:chExt cx="1733040" cy="1747800"/>
            </a:xfrm>
          </p:grpSpPr>
          <p:sp>
            <p:nvSpPr>
              <p:cNvPr id="188" name="Line 8"/>
              <p:cNvSpPr/>
              <p:nvPr/>
            </p:nvSpPr>
            <p:spPr>
              <a:xfrm flipV="1">
                <a:off x="1332360" y="3208320"/>
                <a:ext cx="1728720" cy="93672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89" name="Freeform 110"/>
              <p:cNvSpPr/>
              <p:nvPr/>
            </p:nvSpPr>
            <p:spPr>
              <a:xfrm>
                <a:off x="1332360" y="4143600"/>
                <a:ext cx="1733040" cy="812520"/>
              </a:xfrm>
              <a:custGeom>
                <a:avLst/>
                <a:gdLst>
                  <a:gd name="textAreaLeft" fmla="*/ 0 w 1733040"/>
                  <a:gd name="textAreaRight" fmla="*/ 1733400 w 1733040"/>
                  <a:gd name="textAreaTop" fmla="*/ 0 h 812520"/>
                  <a:gd name="textAreaBottom" fmla="*/ 812880 h 812520"/>
                </a:gdLst>
                <a:ahLst/>
                <a:rect l="textAreaLeft" t="textAreaTop" r="textAreaRight" b="textAreaBottom"/>
                <a:pathLst>
                  <a:path w="1092" h="512">
                    <a:moveTo>
                      <a:pt x="0" y="0"/>
                    </a:moveTo>
                    <a:lnTo>
                      <a:pt x="1092" y="51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90" name="Text Box 27"/>
            <p:cNvSpPr/>
            <p:nvPr/>
          </p:nvSpPr>
          <p:spPr>
            <a:xfrm>
              <a:off x="1230840" y="2338560"/>
              <a:ext cx="14396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First Choice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" name="Group 71"/>
          <p:cNvGrpSpPr/>
          <p:nvPr/>
        </p:nvGrpSpPr>
        <p:grpSpPr>
          <a:xfrm>
            <a:off x="3389760" y="2192760"/>
            <a:ext cx="2068200" cy="3201480"/>
            <a:chOff x="3389760" y="2192760"/>
            <a:chExt cx="2068200" cy="3201480"/>
          </a:xfrm>
        </p:grpSpPr>
        <p:grpSp>
          <p:nvGrpSpPr>
            <p:cNvPr id="192" name="Group 70"/>
            <p:cNvGrpSpPr/>
            <p:nvPr/>
          </p:nvGrpSpPr>
          <p:grpSpPr>
            <a:xfrm>
              <a:off x="3389760" y="2192760"/>
              <a:ext cx="2068200" cy="1423440"/>
              <a:chOff x="3389760" y="2192760"/>
              <a:chExt cx="2068200" cy="1423440"/>
            </a:xfrm>
          </p:grpSpPr>
          <p:grpSp>
            <p:nvGrpSpPr>
              <p:cNvPr id="193" name="Group 66"/>
              <p:cNvGrpSpPr/>
              <p:nvPr/>
            </p:nvGrpSpPr>
            <p:grpSpPr>
              <a:xfrm>
                <a:off x="3599280" y="2854440"/>
                <a:ext cx="1357200" cy="761760"/>
                <a:chOff x="3599280" y="2854440"/>
                <a:chExt cx="1357200" cy="761760"/>
              </a:xfrm>
            </p:grpSpPr>
            <p:sp>
              <p:nvSpPr>
                <p:cNvPr id="194" name="Freeform 56"/>
                <p:cNvSpPr/>
                <p:nvPr/>
              </p:nvSpPr>
              <p:spPr>
                <a:xfrm>
                  <a:off x="3604320" y="2854440"/>
                  <a:ext cx="1352160" cy="323640"/>
                </a:xfrm>
                <a:custGeom>
                  <a:avLst/>
                  <a:gdLst>
                    <a:gd name="textAreaLeft" fmla="*/ 0 w 1352160"/>
                    <a:gd name="textAreaRight" fmla="*/ 1352520 w 1352160"/>
                    <a:gd name="textAreaTop" fmla="*/ 0 h 323640"/>
                    <a:gd name="textAreaBottom" fmla="*/ 324000 h 323640"/>
                  </a:gdLst>
                  <a:ahLst/>
                  <a:rect l="textAreaLeft" t="textAreaTop" r="textAreaRight" b="textAreaBottom"/>
                  <a:pathLst>
                    <a:path w="852" h="204">
                      <a:moveTo>
                        <a:pt x="0" y="204"/>
                      </a:moveTo>
                      <a:lnTo>
                        <a:pt x="852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195" name="Freeform 57"/>
                <p:cNvSpPr/>
                <p:nvPr/>
              </p:nvSpPr>
              <p:spPr>
                <a:xfrm>
                  <a:off x="3599280" y="3183120"/>
                  <a:ext cx="1337760" cy="433080"/>
                </a:xfrm>
                <a:custGeom>
                  <a:avLst/>
                  <a:gdLst>
                    <a:gd name="textAreaLeft" fmla="*/ 0 w 1337760"/>
                    <a:gd name="textAreaRight" fmla="*/ 1338120 w 1337760"/>
                    <a:gd name="textAreaTop" fmla="*/ 0 h 433080"/>
                    <a:gd name="textAreaBottom" fmla="*/ 433440 h 433080"/>
                  </a:gdLst>
                  <a:ahLst/>
                  <a:rect l="textAreaLeft" t="textAreaTop" r="textAreaRight" b="textAreaBottom"/>
                  <a:pathLst>
                    <a:path w="843" h="273">
                      <a:moveTo>
                        <a:pt x="0" y="0"/>
                      </a:moveTo>
                      <a:lnTo>
                        <a:pt x="843" y="27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96" name="Text Box 58"/>
              <p:cNvSpPr/>
              <p:nvPr/>
            </p:nvSpPr>
            <p:spPr>
              <a:xfrm>
                <a:off x="3389760" y="2192760"/>
                <a:ext cx="20682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  <a:tabLst>
                    <a:tab algn="l" pos="0"/>
                  </a:tabLst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Calibri"/>
                  </a:rPr>
                  <a:t>Second Choice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97" name="Group 67"/>
            <p:cNvGrpSpPr/>
            <p:nvPr/>
          </p:nvGrpSpPr>
          <p:grpSpPr>
            <a:xfrm>
              <a:off x="3548520" y="4632480"/>
              <a:ext cx="1356840" cy="761760"/>
              <a:chOff x="3548520" y="4632480"/>
              <a:chExt cx="1356840" cy="761760"/>
            </a:xfrm>
          </p:grpSpPr>
          <p:sp>
            <p:nvSpPr>
              <p:cNvPr id="198" name="Freeform 59"/>
              <p:cNvSpPr/>
              <p:nvPr/>
            </p:nvSpPr>
            <p:spPr>
              <a:xfrm>
                <a:off x="3553200" y="4632480"/>
                <a:ext cx="1352160" cy="323640"/>
              </a:xfrm>
              <a:custGeom>
                <a:avLst/>
                <a:gdLst>
                  <a:gd name="textAreaLeft" fmla="*/ 0 w 1352160"/>
                  <a:gd name="textAreaRight" fmla="*/ 1352520 w 1352160"/>
                  <a:gd name="textAreaTop" fmla="*/ 0 h 323640"/>
                  <a:gd name="textAreaBottom" fmla="*/ 324000 h 323640"/>
                </a:gdLst>
                <a:ahLst/>
                <a:rect l="textAreaLeft" t="textAreaTop" r="textAreaRight" b="textAreaBottom"/>
                <a:pathLst>
                  <a:path w="852" h="204">
                    <a:moveTo>
                      <a:pt x="0" y="204"/>
                    </a:moveTo>
                    <a:lnTo>
                      <a:pt x="85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99" name="Freeform 60"/>
              <p:cNvSpPr/>
              <p:nvPr/>
            </p:nvSpPr>
            <p:spPr>
              <a:xfrm>
                <a:off x="3548520" y="4961160"/>
                <a:ext cx="1337760" cy="433080"/>
              </a:xfrm>
              <a:custGeom>
                <a:avLst/>
                <a:gdLst>
                  <a:gd name="textAreaLeft" fmla="*/ 0 w 1337760"/>
                  <a:gd name="textAreaRight" fmla="*/ 1338120 w 1337760"/>
                  <a:gd name="textAreaTop" fmla="*/ 0 h 433080"/>
                  <a:gd name="textAreaBottom" fmla="*/ 433440 h 433080"/>
                </a:gdLst>
                <a:ahLst/>
                <a:rect l="textAreaLeft" t="textAreaTop" r="textAreaRight" b="textAreaBottom"/>
                <a:pathLst>
                  <a:path w="843" h="273">
                    <a:moveTo>
                      <a:pt x="0" y="0"/>
                    </a:moveTo>
                    <a:lnTo>
                      <a:pt x="843" y="27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graphicFrame>
        <p:nvGraphicFramePr>
          <p:cNvPr id="200" name="Object 65"/>
          <p:cNvGraphicFramePr/>
          <p:nvPr/>
        </p:nvGraphicFramePr>
        <p:xfrm>
          <a:off x="1896120" y="4554720"/>
          <a:ext cx="312480" cy="539280"/>
        </p:xfrm>
        <a:graphic>
          <a:graphicData uri="http://schemas.openxmlformats.org/presentationml/2006/ole">
            <p:oleObj progId="Equation.DSMT4" r:id="rId1" spid="">
              <p:embed/>
            </p:oleObj>
          </a:graphicData>
        </a:graphic>
      </p:graphicFrame>
      <p:sp>
        <p:nvSpPr>
          <p:cNvPr id="201" name="Text Box 68"/>
          <p:cNvSpPr/>
          <p:nvPr/>
        </p:nvSpPr>
        <p:spPr>
          <a:xfrm>
            <a:off x="5023440" y="263880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rgbClr val="ff0000"/>
                </a:solidFill>
                <a:latin typeface="Calibri"/>
              </a:rPr>
              <a:t>red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Box 69"/>
          <p:cNvSpPr/>
          <p:nvPr/>
        </p:nvSpPr>
        <p:spPr>
          <a:xfrm>
            <a:off x="4985280" y="346248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rgbClr val="3333ff"/>
                </a:solidFill>
                <a:latin typeface="Calibri"/>
              </a:rPr>
              <a:t>blue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Box 72"/>
          <p:cNvSpPr/>
          <p:nvPr/>
        </p:nvSpPr>
        <p:spPr>
          <a:xfrm>
            <a:off x="4915440" y="443412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rgbClr val="ff0000"/>
                </a:solidFill>
                <a:latin typeface="Calibri"/>
              </a:rPr>
              <a:t>red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Box 73"/>
          <p:cNvSpPr/>
          <p:nvPr/>
        </p:nvSpPr>
        <p:spPr>
          <a:xfrm>
            <a:off x="4877280" y="5251680"/>
            <a:ext cx="7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000" spc="-1" strike="noStrike">
                <a:solidFill>
                  <a:srgbClr val="3333ff"/>
                </a:solidFill>
                <a:latin typeface="Calibri"/>
              </a:rPr>
              <a:t>blue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5" name="Object 75"/>
          <p:cNvGraphicFramePr/>
          <p:nvPr/>
        </p:nvGraphicFramePr>
        <p:xfrm>
          <a:off x="1883160" y="3090960"/>
          <a:ext cx="312480" cy="537840"/>
        </p:xfrm>
        <a:graphic>
          <a:graphicData uri="http://schemas.openxmlformats.org/presentationml/2006/ole">
            <p:oleObj progId="Equation.DSMT4" r:id="rId2" spid="">
              <p:embed/>
            </p:oleObj>
          </a:graphicData>
        </a:graphic>
      </p:graphicFrame>
      <p:grpSp>
        <p:nvGrpSpPr>
          <p:cNvPr id="206" name="Group 81"/>
          <p:cNvGrpSpPr/>
          <p:nvPr/>
        </p:nvGrpSpPr>
        <p:grpSpPr>
          <a:xfrm>
            <a:off x="1325880" y="2853000"/>
            <a:ext cx="3625560" cy="1280880"/>
            <a:chOff x="1325880" y="2853000"/>
            <a:chExt cx="3625560" cy="1280880"/>
          </a:xfrm>
        </p:grpSpPr>
        <p:sp>
          <p:nvSpPr>
            <p:cNvPr id="207" name="Line 79"/>
            <p:cNvSpPr/>
            <p:nvPr/>
          </p:nvSpPr>
          <p:spPr>
            <a:xfrm flipV="1">
              <a:off x="1325880" y="3205080"/>
              <a:ext cx="1755720" cy="928800"/>
            </a:xfrm>
            <a:prstGeom prst="line">
              <a:avLst/>
            </a:prstGeom>
            <a:ln w="2857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08" name="Freeform 80"/>
            <p:cNvSpPr/>
            <p:nvPr/>
          </p:nvSpPr>
          <p:spPr>
            <a:xfrm>
              <a:off x="3605760" y="2853000"/>
              <a:ext cx="1345680" cy="321840"/>
            </a:xfrm>
            <a:custGeom>
              <a:avLst/>
              <a:gdLst>
                <a:gd name="textAreaLeft" fmla="*/ 0 w 1345680"/>
                <a:gd name="textAreaRight" fmla="*/ 1346040 w 1345680"/>
                <a:gd name="textAreaTop" fmla="*/ 0 h 321840"/>
                <a:gd name="textAreaBottom" fmla="*/ 322200 h 321840"/>
              </a:gdLst>
              <a:ahLst/>
              <a:rect l="textAreaLeft" t="textAreaTop" r="textAreaRight" b="textAreaBottom"/>
              <a:pathLst>
                <a:path w="848" h="203">
                  <a:moveTo>
                    <a:pt x="0" y="203"/>
                  </a:moveTo>
                  <a:lnTo>
                    <a:pt x="848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09" name="Group 85"/>
          <p:cNvGrpSpPr/>
          <p:nvPr/>
        </p:nvGrpSpPr>
        <p:grpSpPr>
          <a:xfrm>
            <a:off x="1325880" y="3186360"/>
            <a:ext cx="3616200" cy="947520"/>
            <a:chOff x="1325880" y="3186360"/>
            <a:chExt cx="3616200" cy="947520"/>
          </a:xfrm>
        </p:grpSpPr>
        <p:sp>
          <p:nvSpPr>
            <p:cNvPr id="210" name="Line 82"/>
            <p:cNvSpPr/>
            <p:nvPr/>
          </p:nvSpPr>
          <p:spPr>
            <a:xfrm flipV="1">
              <a:off x="1325880" y="3205080"/>
              <a:ext cx="1755720" cy="928800"/>
            </a:xfrm>
            <a:prstGeom prst="line">
              <a:avLst/>
            </a:prstGeom>
            <a:ln w="2857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11" name="Line 83"/>
            <p:cNvSpPr/>
            <p:nvPr/>
          </p:nvSpPr>
          <p:spPr>
            <a:xfrm>
              <a:off x="3613680" y="3186360"/>
              <a:ext cx="1328400" cy="428400"/>
            </a:xfrm>
            <a:prstGeom prst="line">
              <a:avLst/>
            </a:prstGeom>
            <a:ln w="28575">
              <a:solidFill>
                <a:srgbClr val="3333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12" name="Group 88"/>
          <p:cNvGrpSpPr/>
          <p:nvPr/>
        </p:nvGrpSpPr>
        <p:grpSpPr>
          <a:xfrm>
            <a:off x="1349640" y="4146480"/>
            <a:ext cx="3556080" cy="812880"/>
            <a:chOff x="1349640" y="4146480"/>
            <a:chExt cx="3556080" cy="812880"/>
          </a:xfrm>
        </p:grpSpPr>
        <p:sp>
          <p:nvSpPr>
            <p:cNvPr id="213" name="Line 86"/>
            <p:cNvSpPr/>
            <p:nvPr/>
          </p:nvSpPr>
          <p:spPr>
            <a:xfrm>
              <a:off x="1349640" y="4146480"/>
              <a:ext cx="1727280" cy="812880"/>
            </a:xfrm>
            <a:prstGeom prst="line">
              <a:avLst/>
            </a:prstGeom>
            <a:ln w="28575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14" name="Line 87"/>
            <p:cNvSpPr/>
            <p:nvPr/>
          </p:nvSpPr>
          <p:spPr>
            <a:xfrm flipV="1">
              <a:off x="3565800" y="4629240"/>
              <a:ext cx="1339920" cy="330120"/>
            </a:xfrm>
            <a:prstGeom prst="line">
              <a:avLst/>
            </a:prstGeom>
            <a:ln w="28575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15" name="Group 93"/>
          <p:cNvGrpSpPr/>
          <p:nvPr/>
        </p:nvGrpSpPr>
        <p:grpSpPr>
          <a:xfrm>
            <a:off x="1349640" y="4146480"/>
            <a:ext cx="3556080" cy="1251000"/>
            <a:chOff x="1349640" y="4146480"/>
            <a:chExt cx="3556080" cy="1251000"/>
          </a:xfrm>
        </p:grpSpPr>
        <p:sp>
          <p:nvSpPr>
            <p:cNvPr id="216" name="Line 91"/>
            <p:cNvSpPr/>
            <p:nvPr/>
          </p:nvSpPr>
          <p:spPr>
            <a:xfrm>
              <a:off x="1349640" y="4146480"/>
              <a:ext cx="1727280" cy="812880"/>
            </a:xfrm>
            <a:prstGeom prst="line">
              <a:avLst/>
            </a:prstGeom>
            <a:ln w="28575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217" name="Line 92"/>
            <p:cNvSpPr/>
            <p:nvPr/>
          </p:nvSpPr>
          <p:spPr>
            <a:xfrm>
              <a:off x="3565800" y="4959360"/>
              <a:ext cx="1339920" cy="438120"/>
            </a:xfrm>
            <a:prstGeom prst="line">
              <a:avLst/>
            </a:prstGeom>
            <a:ln w="28575">
              <a:solidFill>
                <a:srgbClr val="3333ff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aphicFrame>
        <p:nvGraphicFramePr>
          <p:cNvPr id="218" name="Object 95"/>
          <p:cNvGraphicFramePr/>
          <p:nvPr/>
        </p:nvGraphicFramePr>
        <p:xfrm>
          <a:off x="3956760" y="2568960"/>
          <a:ext cx="283680" cy="490320"/>
        </p:xfrm>
        <a:graphic>
          <a:graphicData uri="http://schemas.openxmlformats.org/presentationml/2006/ole">
            <p:oleObj progId="Equation.DSMT4" r:id="rId3" spid="">
              <p:embed/>
            </p:oleObj>
          </a:graphicData>
        </a:graphic>
      </p:graphicFrame>
      <p:graphicFrame>
        <p:nvGraphicFramePr>
          <p:cNvPr id="219" name="Object 96"/>
          <p:cNvGraphicFramePr/>
          <p:nvPr/>
        </p:nvGraphicFramePr>
        <p:xfrm>
          <a:off x="3953520" y="3384720"/>
          <a:ext cx="285480" cy="493200"/>
        </p:xfrm>
        <a:graphic>
          <a:graphicData uri="http://schemas.openxmlformats.org/presentationml/2006/ole">
            <p:oleObj progId="Equation.DSMT4" r:id="rId4" spid="">
              <p:embed/>
            </p:oleObj>
          </a:graphicData>
        </a:graphic>
      </p:graphicFrame>
      <p:graphicFrame>
        <p:nvGraphicFramePr>
          <p:cNvPr id="220" name="Object 97"/>
          <p:cNvGraphicFramePr/>
          <p:nvPr/>
        </p:nvGraphicFramePr>
        <p:xfrm>
          <a:off x="3986640" y="4253040"/>
          <a:ext cx="285480" cy="493200"/>
        </p:xfrm>
        <a:graphic>
          <a:graphicData uri="http://schemas.openxmlformats.org/presentationml/2006/ole">
            <p:oleObj progId="Equation.DSMT4" r:id="rId5" spid="">
              <p:embed/>
            </p:oleObj>
          </a:graphicData>
        </a:graphic>
      </p:graphicFrame>
      <p:graphicFrame>
        <p:nvGraphicFramePr>
          <p:cNvPr id="221" name="Object 98"/>
          <p:cNvGraphicFramePr/>
          <p:nvPr/>
        </p:nvGraphicFramePr>
        <p:xfrm>
          <a:off x="3956760" y="5167440"/>
          <a:ext cx="285480" cy="493200"/>
        </p:xfrm>
        <a:graphic>
          <a:graphicData uri="http://schemas.openxmlformats.org/presentationml/2006/ole">
            <p:oleObj progId="Equation.DSMT4" r:id="rId6" spid="">
              <p:embed/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7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8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9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0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1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2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3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4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5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6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7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8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9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0" name="audi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2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3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4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5"/>
          <p:cNvSpPr/>
          <p:nvPr/>
        </p:nvSpPr>
        <p:spPr>
          <a:xfrm>
            <a:off x="137160" y="1836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6"/>
          <p:cNvSpPr/>
          <p:nvPr/>
        </p:nvSpPr>
        <p:spPr>
          <a:xfrm>
            <a:off x="137160" y="183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37"/>
          <p:cNvSpPr/>
          <p:nvPr/>
        </p:nvSpPr>
        <p:spPr>
          <a:xfrm>
            <a:off x="896040" y="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WITH REPLACEMENT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8"/>
          <p:cNvSpPr/>
          <p:nvPr/>
        </p:nvSpPr>
        <p:spPr>
          <a:xfrm>
            <a:off x="896040" y="27432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Probabilities Stay the SAME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9"/>
          <p:cNvSpPr/>
          <p:nvPr/>
        </p:nvSpPr>
        <p:spPr>
          <a:xfrm>
            <a:off x="137160" y="8776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0"/>
          <p:cNvSpPr/>
          <p:nvPr/>
        </p:nvSpPr>
        <p:spPr>
          <a:xfrm>
            <a:off x="457200" y="8776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Bag: 3 red, 7 blue (10). Take one, PUT IT BACK, take another.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Both sets of branches are identical.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50"/>
          <p:cNvSpPr/>
          <p:nvPr/>
        </p:nvSpPr>
        <p:spPr>
          <a:xfrm>
            <a:off x="3822120" y="121608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4" name="Group 21"/>
          <p:cNvGrpSpPr/>
          <p:nvPr/>
        </p:nvGrpSpPr>
        <p:grpSpPr>
          <a:xfrm>
            <a:off x="7553160" y="5925600"/>
            <a:ext cx="1193760" cy="899640"/>
            <a:chOff x="7553160" y="5925600"/>
            <a:chExt cx="1193760" cy="899640"/>
          </a:xfrm>
        </p:grpSpPr>
        <p:grpSp>
          <p:nvGrpSpPr>
            <p:cNvPr id="265" name="Group 22"/>
            <p:cNvGrpSpPr/>
            <p:nvPr/>
          </p:nvGrpSpPr>
          <p:grpSpPr>
            <a:xfrm>
              <a:off x="7553160" y="6369840"/>
              <a:ext cx="500760" cy="453960"/>
              <a:chOff x="7553160" y="6369840"/>
              <a:chExt cx="500760" cy="453960"/>
            </a:xfrm>
          </p:grpSpPr>
          <p:pic>
            <p:nvPicPr>
              <p:cNvPr id="266" name="Picture 23" descr="Money Bag 05"/>
              <p:cNvPicPr/>
              <p:nvPr/>
            </p:nvPicPr>
            <p:blipFill>
              <a:blip r:embed="rId1"/>
              <a:stretch/>
            </p:blipFill>
            <p:spPr>
              <a:xfrm>
                <a:off x="7553160" y="6369840"/>
                <a:ext cx="500760" cy="4539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67" name="AutoShape 24"/>
              <p:cNvSpPr/>
              <p:nvPr/>
            </p:nvSpPr>
            <p:spPr>
              <a:xfrm>
                <a:off x="7690680" y="653220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68" name="AutoShape 25"/>
              <p:cNvSpPr/>
              <p:nvPr/>
            </p:nvSpPr>
            <p:spPr>
              <a:xfrm>
                <a:off x="7817400" y="665892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69" name="AutoShape 26"/>
              <p:cNvSpPr/>
              <p:nvPr/>
            </p:nvSpPr>
            <p:spPr>
              <a:xfrm>
                <a:off x="7782120" y="657900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0" name="AutoShape 27"/>
              <p:cNvSpPr/>
              <p:nvPr/>
            </p:nvSpPr>
            <p:spPr>
              <a:xfrm>
                <a:off x="7710120" y="672804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1" name="AutoShape 28"/>
              <p:cNvSpPr/>
              <p:nvPr/>
            </p:nvSpPr>
            <p:spPr>
              <a:xfrm>
                <a:off x="7822080" y="648468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2" name="AutoShape 29"/>
              <p:cNvSpPr/>
              <p:nvPr/>
            </p:nvSpPr>
            <p:spPr>
              <a:xfrm>
                <a:off x="7887600" y="659736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3" name="AutoShape 30"/>
              <p:cNvSpPr/>
              <p:nvPr/>
            </p:nvSpPr>
            <p:spPr>
              <a:xfrm>
                <a:off x="7611120" y="669924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4" name="AutoShape 31"/>
              <p:cNvSpPr/>
              <p:nvPr/>
            </p:nvSpPr>
            <p:spPr>
              <a:xfrm>
                <a:off x="7908120" y="671580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5" name="AutoShape 32"/>
              <p:cNvSpPr/>
              <p:nvPr/>
            </p:nvSpPr>
            <p:spPr>
              <a:xfrm>
                <a:off x="7802640" y="674208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76" name="AutoShape 33"/>
              <p:cNvSpPr/>
              <p:nvPr/>
            </p:nvSpPr>
            <p:spPr>
              <a:xfrm>
                <a:off x="7700040" y="6625440"/>
                <a:ext cx="59400" cy="59400"/>
              </a:xfrm>
              <a:prstGeom prst="cube">
                <a:avLst>
                  <a:gd name="adj" fmla="val 25000"/>
                </a:avLst>
              </a:prstGeom>
              <a:solidFill>
                <a:srgbClr val="3333ff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0" bIns="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pic>
          <p:nvPicPr>
            <p:cNvPr id="277" name="Picture 34" descr="Boy - Happy"/>
            <p:cNvPicPr/>
            <p:nvPr/>
          </p:nvPicPr>
          <p:blipFill>
            <a:blip r:embed="rId2"/>
            <a:stretch/>
          </p:blipFill>
          <p:spPr>
            <a:xfrm>
              <a:off x="8004600" y="5925600"/>
              <a:ext cx="742320" cy="89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78" name="Group 158"/>
          <p:cNvGrpSpPr/>
          <p:nvPr/>
        </p:nvGrpSpPr>
        <p:grpSpPr>
          <a:xfrm>
            <a:off x="438120" y="1951560"/>
            <a:ext cx="8076960" cy="4573800"/>
            <a:chOff x="438120" y="1951560"/>
            <a:chExt cx="8076960" cy="4573800"/>
          </a:xfrm>
        </p:grpSpPr>
        <p:sp>
          <p:nvSpPr>
            <p:cNvPr id="279" name="Rectangle 157"/>
            <p:cNvSpPr/>
            <p:nvPr/>
          </p:nvSpPr>
          <p:spPr>
            <a:xfrm>
              <a:off x="7981920" y="1951560"/>
              <a:ext cx="533160" cy="3371400"/>
            </a:xfrm>
            <a:prstGeom prst="rect">
              <a:avLst/>
            </a:prstGeom>
            <a:solidFill>
              <a:srgbClr val="ecc5b2">
                <a:alpha val="48000"/>
              </a:srgbClr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280" name="Group 156"/>
            <p:cNvGrpSpPr/>
            <p:nvPr/>
          </p:nvGrpSpPr>
          <p:grpSpPr>
            <a:xfrm>
              <a:off x="438120" y="2021400"/>
              <a:ext cx="3371760" cy="4503960"/>
              <a:chOff x="438120" y="2021400"/>
              <a:chExt cx="3371760" cy="4503960"/>
            </a:xfrm>
          </p:grpSpPr>
          <p:sp>
            <p:nvSpPr>
              <p:cNvPr id="281" name="Rectangle 154"/>
              <p:cNvSpPr/>
              <p:nvPr/>
            </p:nvSpPr>
            <p:spPr>
              <a:xfrm>
                <a:off x="3238560" y="3742200"/>
                <a:ext cx="571320" cy="685440"/>
              </a:xfrm>
              <a:prstGeom prst="rect">
                <a:avLst/>
              </a:prstGeom>
              <a:solidFill>
                <a:srgbClr val="ffccff">
                  <a:alpha val="46000"/>
                </a:srgbClr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82" name="Rectangle 155"/>
              <p:cNvSpPr/>
              <p:nvPr/>
            </p:nvSpPr>
            <p:spPr>
              <a:xfrm>
                <a:off x="3225960" y="4529520"/>
                <a:ext cx="571320" cy="685440"/>
              </a:xfrm>
              <a:prstGeom prst="rect">
                <a:avLst/>
              </a:prstGeom>
              <a:solidFill>
                <a:srgbClr val="ffccff">
                  <a:alpha val="46000"/>
                </a:srgbClr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83" name="Rectangle 152"/>
              <p:cNvSpPr/>
              <p:nvPr/>
            </p:nvSpPr>
            <p:spPr>
              <a:xfrm>
                <a:off x="3213000" y="2021400"/>
                <a:ext cx="571320" cy="685440"/>
              </a:xfrm>
              <a:prstGeom prst="rect">
                <a:avLst/>
              </a:prstGeom>
              <a:solidFill>
                <a:srgbClr val="ffffcc">
                  <a:alpha val="46000"/>
                </a:srgbClr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84" name="Rectangle 153"/>
              <p:cNvSpPr/>
              <p:nvPr/>
            </p:nvSpPr>
            <p:spPr>
              <a:xfrm>
                <a:off x="3162240" y="2808720"/>
                <a:ext cx="571320" cy="685440"/>
              </a:xfrm>
              <a:prstGeom prst="rect">
                <a:avLst/>
              </a:prstGeom>
              <a:solidFill>
                <a:srgbClr val="ffffcc">
                  <a:alpha val="46000"/>
                </a:srgbClr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85" name="Rectangle 151"/>
              <p:cNvSpPr/>
              <p:nvPr/>
            </p:nvSpPr>
            <p:spPr>
              <a:xfrm>
                <a:off x="1149480" y="3996000"/>
                <a:ext cx="571320" cy="685440"/>
              </a:xfrm>
              <a:prstGeom prst="rect">
                <a:avLst/>
              </a:prstGeom>
              <a:solidFill>
                <a:srgbClr val="bbe0e3">
                  <a:alpha val="46000"/>
                </a:srgbClr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86" name="Rectangle 150"/>
              <p:cNvSpPr/>
              <p:nvPr/>
            </p:nvSpPr>
            <p:spPr>
              <a:xfrm>
                <a:off x="1143000" y="2503800"/>
                <a:ext cx="571320" cy="685440"/>
              </a:xfrm>
              <a:prstGeom prst="rect">
                <a:avLst/>
              </a:prstGeom>
              <a:solidFill>
                <a:srgbClr val="bbe0e3">
                  <a:alpha val="46000"/>
                </a:srgbClr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87" name="Text Box 96"/>
              <p:cNvSpPr/>
              <p:nvPr/>
            </p:nvSpPr>
            <p:spPr>
              <a:xfrm>
                <a:off x="438120" y="4789800"/>
                <a:ext cx="1866600" cy="1735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Calibri"/>
                  </a:rPr>
                  <a:t>The probabilities for each event are shown along the arm of each branch and they </a:t>
                </a:r>
                <a:r>
                  <a:rPr b="0" lang="en-GB" sz="1800" spc="-1" strike="noStrike">
                    <a:solidFill>
                      <a:srgbClr val="3333ff"/>
                    </a:solidFill>
                    <a:latin typeface="Calibri"/>
                  </a:rPr>
                  <a:t>sum to 1.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88" name="Group 145"/>
          <p:cNvGrpSpPr/>
          <p:nvPr/>
        </p:nvGrpSpPr>
        <p:grpSpPr>
          <a:xfrm>
            <a:off x="627120" y="1678320"/>
            <a:ext cx="7919640" cy="3530160"/>
            <a:chOff x="627120" y="1678320"/>
            <a:chExt cx="7919640" cy="3530160"/>
          </a:xfrm>
        </p:grpSpPr>
        <p:sp>
          <p:nvSpPr>
            <p:cNvPr id="289" name="Text Box 102"/>
            <p:cNvSpPr/>
            <p:nvPr/>
          </p:nvSpPr>
          <p:spPr>
            <a:xfrm>
              <a:off x="2460600" y="2478600"/>
              <a:ext cx="718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ff0000"/>
                  </a:solidFill>
                  <a:latin typeface="Calibri"/>
                </a:rPr>
                <a:t>red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0" name="Text Box 103"/>
            <p:cNvSpPr/>
            <p:nvPr/>
          </p:nvSpPr>
          <p:spPr>
            <a:xfrm>
              <a:off x="2403360" y="4359600"/>
              <a:ext cx="718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3333ff"/>
                  </a:solidFill>
                  <a:latin typeface="Calibri"/>
                </a:rPr>
                <a:t>blue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91" name="Group 104"/>
            <p:cNvGrpSpPr/>
            <p:nvPr/>
          </p:nvGrpSpPr>
          <p:grpSpPr>
            <a:xfrm>
              <a:off x="627120" y="1851480"/>
              <a:ext cx="1834560" cy="2617560"/>
              <a:chOff x="627120" y="1851480"/>
              <a:chExt cx="1834560" cy="2617560"/>
            </a:xfrm>
          </p:grpSpPr>
          <p:grpSp>
            <p:nvGrpSpPr>
              <p:cNvPr id="292" name="Group 105"/>
              <p:cNvGrpSpPr/>
              <p:nvPr/>
            </p:nvGrpSpPr>
            <p:grpSpPr>
              <a:xfrm>
                <a:off x="728640" y="2721240"/>
                <a:ext cx="1733040" cy="1747800"/>
                <a:chOff x="728640" y="2721240"/>
                <a:chExt cx="1733040" cy="1747800"/>
              </a:xfrm>
            </p:grpSpPr>
            <p:sp>
              <p:nvSpPr>
                <p:cNvPr id="293" name="Line 106"/>
                <p:cNvSpPr/>
                <p:nvPr/>
              </p:nvSpPr>
              <p:spPr>
                <a:xfrm flipV="1">
                  <a:off x="728640" y="2721240"/>
                  <a:ext cx="1728720" cy="936720"/>
                </a:xfrm>
                <a:prstGeom prst="line">
                  <a:avLst/>
                </a:prstGeom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4" name="Freeform 107"/>
                <p:cNvSpPr/>
                <p:nvPr/>
              </p:nvSpPr>
              <p:spPr>
                <a:xfrm>
                  <a:off x="728640" y="3656520"/>
                  <a:ext cx="1733040" cy="812520"/>
                </a:xfrm>
                <a:custGeom>
                  <a:avLst/>
                  <a:gdLst>
                    <a:gd name="textAreaLeft" fmla="*/ 0 w 1733040"/>
                    <a:gd name="textAreaRight" fmla="*/ 1733400 w 1733040"/>
                    <a:gd name="textAreaTop" fmla="*/ 0 h 812520"/>
                    <a:gd name="textAreaBottom" fmla="*/ 812880 h 812520"/>
                  </a:gdLst>
                  <a:ahLst/>
                  <a:rect l="textAreaLeft" t="textAreaTop" r="textAreaRight" b="textAreaBottom"/>
                  <a:pathLst>
                    <a:path w="1092" h="512">
                      <a:moveTo>
                        <a:pt x="0" y="0"/>
                      </a:moveTo>
                      <a:lnTo>
                        <a:pt x="1092" y="512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295" name="Text Box 108"/>
              <p:cNvSpPr/>
              <p:nvPr/>
            </p:nvSpPr>
            <p:spPr>
              <a:xfrm>
                <a:off x="627120" y="1851480"/>
                <a:ext cx="1439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chemeClr val="dk1"/>
                    </a:solidFill>
                    <a:latin typeface="Calibri"/>
                  </a:rPr>
                  <a:t>First Choice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96" name="Group 109"/>
            <p:cNvGrpSpPr/>
            <p:nvPr/>
          </p:nvGrpSpPr>
          <p:grpSpPr>
            <a:xfrm>
              <a:off x="2786040" y="1678320"/>
              <a:ext cx="2068200" cy="3228840"/>
              <a:chOff x="2786040" y="1678320"/>
              <a:chExt cx="2068200" cy="3228840"/>
            </a:xfrm>
          </p:grpSpPr>
          <p:grpSp>
            <p:nvGrpSpPr>
              <p:cNvPr id="297" name="Group 110"/>
              <p:cNvGrpSpPr/>
              <p:nvPr/>
            </p:nvGrpSpPr>
            <p:grpSpPr>
              <a:xfrm>
                <a:off x="2786040" y="1678320"/>
                <a:ext cx="2068200" cy="1450800"/>
                <a:chOff x="2786040" y="1678320"/>
                <a:chExt cx="2068200" cy="1450800"/>
              </a:xfrm>
            </p:grpSpPr>
            <p:grpSp>
              <p:nvGrpSpPr>
                <p:cNvPr id="298" name="Group 111"/>
                <p:cNvGrpSpPr/>
                <p:nvPr/>
              </p:nvGrpSpPr>
              <p:grpSpPr>
                <a:xfrm>
                  <a:off x="2995560" y="2367360"/>
                  <a:ext cx="1356840" cy="761760"/>
                  <a:chOff x="2995560" y="2367360"/>
                  <a:chExt cx="1356840" cy="761760"/>
                </a:xfrm>
              </p:grpSpPr>
              <p:sp>
                <p:nvSpPr>
                  <p:cNvPr id="299" name="Freeform 112"/>
                  <p:cNvSpPr/>
                  <p:nvPr/>
                </p:nvSpPr>
                <p:spPr>
                  <a:xfrm>
                    <a:off x="3000240" y="2367360"/>
                    <a:ext cx="1352160" cy="323640"/>
                  </a:xfrm>
                  <a:custGeom>
                    <a:avLst/>
                    <a:gdLst>
                      <a:gd name="textAreaLeft" fmla="*/ 0 w 1352160"/>
                      <a:gd name="textAreaRight" fmla="*/ 1352520 w 1352160"/>
                      <a:gd name="textAreaTop" fmla="*/ 0 h 323640"/>
                      <a:gd name="textAreaBottom" fmla="*/ 324000 h 323640"/>
                    </a:gdLst>
                    <a:ahLst/>
                    <a:rect l="textAreaLeft" t="textAreaTop" r="textAreaRight" b="textAreaBottom"/>
                    <a:pathLst>
                      <a:path w="852" h="204">
                        <a:moveTo>
                          <a:pt x="0" y="204"/>
                        </a:moveTo>
                        <a:lnTo>
                          <a:pt x="852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GB" sz="1800" spc="-1" strike="noStrike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300" name="Freeform 113"/>
                  <p:cNvSpPr/>
                  <p:nvPr/>
                </p:nvSpPr>
                <p:spPr>
                  <a:xfrm>
                    <a:off x="2995560" y="2696040"/>
                    <a:ext cx="1337760" cy="433080"/>
                  </a:xfrm>
                  <a:custGeom>
                    <a:avLst/>
                    <a:gdLst>
                      <a:gd name="textAreaLeft" fmla="*/ 0 w 1337760"/>
                      <a:gd name="textAreaRight" fmla="*/ 1338120 w 1337760"/>
                      <a:gd name="textAreaTop" fmla="*/ 0 h 433080"/>
                      <a:gd name="textAreaBottom" fmla="*/ 433440 h 433080"/>
                    </a:gdLst>
                    <a:ahLst/>
                    <a:rect l="textAreaLeft" t="textAreaTop" r="textAreaRight" b="textAreaBottom"/>
                    <a:pathLst>
                      <a:path w="843" h="273">
                        <a:moveTo>
                          <a:pt x="0" y="0"/>
                        </a:moveTo>
                        <a:lnTo>
                          <a:pt x="843" y="273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GB" sz="1800" spc="-1" strike="noStrike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301" name="Text Box 114"/>
                <p:cNvSpPr/>
                <p:nvPr/>
              </p:nvSpPr>
              <p:spPr>
                <a:xfrm>
                  <a:off x="2786040" y="1678320"/>
                  <a:ext cx="206820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chemeClr val="dk1"/>
                      </a:solidFill>
                      <a:latin typeface="Calibri"/>
                    </a:rPr>
                    <a:t>Second Choice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302" name="Group 115"/>
              <p:cNvGrpSpPr/>
              <p:nvPr/>
            </p:nvGrpSpPr>
            <p:grpSpPr>
              <a:xfrm>
                <a:off x="2944800" y="4145400"/>
                <a:ext cx="1356840" cy="761760"/>
                <a:chOff x="2944800" y="4145400"/>
                <a:chExt cx="1356840" cy="761760"/>
              </a:xfrm>
            </p:grpSpPr>
            <p:sp>
              <p:nvSpPr>
                <p:cNvPr id="303" name="Freeform 116"/>
                <p:cNvSpPr/>
                <p:nvPr/>
              </p:nvSpPr>
              <p:spPr>
                <a:xfrm>
                  <a:off x="2949480" y="4145400"/>
                  <a:ext cx="1352160" cy="323640"/>
                </a:xfrm>
                <a:custGeom>
                  <a:avLst/>
                  <a:gdLst>
                    <a:gd name="textAreaLeft" fmla="*/ 0 w 1352160"/>
                    <a:gd name="textAreaRight" fmla="*/ 1352520 w 1352160"/>
                    <a:gd name="textAreaTop" fmla="*/ 0 h 323640"/>
                    <a:gd name="textAreaBottom" fmla="*/ 324000 h 323640"/>
                  </a:gdLst>
                  <a:ahLst/>
                  <a:rect l="textAreaLeft" t="textAreaTop" r="textAreaRight" b="textAreaBottom"/>
                  <a:pathLst>
                    <a:path w="852" h="204">
                      <a:moveTo>
                        <a:pt x="0" y="204"/>
                      </a:moveTo>
                      <a:lnTo>
                        <a:pt x="852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4" name="Freeform 117"/>
                <p:cNvSpPr/>
                <p:nvPr/>
              </p:nvSpPr>
              <p:spPr>
                <a:xfrm>
                  <a:off x="2944800" y="4474080"/>
                  <a:ext cx="1337760" cy="433080"/>
                </a:xfrm>
                <a:custGeom>
                  <a:avLst/>
                  <a:gdLst>
                    <a:gd name="textAreaLeft" fmla="*/ 0 w 1337760"/>
                    <a:gd name="textAreaRight" fmla="*/ 1338120 w 1337760"/>
                    <a:gd name="textAreaTop" fmla="*/ 0 h 433080"/>
                    <a:gd name="textAreaBottom" fmla="*/ 433440 h 433080"/>
                  </a:gdLst>
                  <a:ahLst/>
                  <a:rect l="textAreaLeft" t="textAreaTop" r="textAreaRight" b="textAreaBottom"/>
                  <a:pathLst>
                    <a:path w="843" h="273">
                      <a:moveTo>
                        <a:pt x="0" y="0"/>
                      </a:moveTo>
                      <a:lnTo>
                        <a:pt x="843" y="27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</p:grpSp>
        </p:grpSp>
        <p:graphicFrame>
          <p:nvGraphicFramePr>
            <p:cNvPr id="305" name="Object 118"/>
            <p:cNvGraphicFramePr/>
            <p:nvPr/>
          </p:nvGraphicFramePr>
          <p:xfrm>
            <a:off x="5121360" y="2056320"/>
            <a:ext cx="3396960" cy="623520"/>
          </p:xfrm>
          <a:graphic>
            <a:graphicData uri="http://schemas.openxmlformats.org/presentationml/2006/ole">
              <p:oleObj progId="Equation.DSMT4" r:id="rId3" spid="">
                <p:embed/>
              </p:oleObj>
            </a:graphicData>
          </a:graphic>
        </p:graphicFrame>
        <p:graphicFrame>
          <p:nvGraphicFramePr>
            <p:cNvPr id="306" name="Object 119"/>
            <p:cNvGraphicFramePr/>
            <p:nvPr/>
          </p:nvGraphicFramePr>
          <p:xfrm>
            <a:off x="1292400" y="4067640"/>
            <a:ext cx="312480" cy="539280"/>
          </p:xfrm>
          <a:graphic>
            <a:graphicData uri="http://schemas.openxmlformats.org/presentationml/2006/ole">
              <p:oleObj progId="Equation.DSMT4" r:id="rId4" spid="">
                <p:embed/>
              </p:oleObj>
            </a:graphicData>
          </a:graphic>
        </p:graphicFrame>
        <p:sp>
          <p:nvSpPr>
            <p:cNvPr id="307" name="Text Box 120"/>
            <p:cNvSpPr/>
            <p:nvPr/>
          </p:nvSpPr>
          <p:spPr>
            <a:xfrm>
              <a:off x="4419720" y="2151360"/>
              <a:ext cx="718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ff0000"/>
                  </a:solidFill>
                  <a:latin typeface="Calibri"/>
                </a:rPr>
                <a:t>red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" name="Text Box 121"/>
            <p:cNvSpPr/>
            <p:nvPr/>
          </p:nvSpPr>
          <p:spPr>
            <a:xfrm>
              <a:off x="4381560" y="2975400"/>
              <a:ext cx="718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3333ff"/>
                  </a:solidFill>
                  <a:latin typeface="Calibri"/>
                </a:rPr>
                <a:t>blue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Text Box 122"/>
            <p:cNvSpPr/>
            <p:nvPr/>
          </p:nvSpPr>
          <p:spPr>
            <a:xfrm>
              <a:off x="4311720" y="3947040"/>
              <a:ext cx="718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ff0000"/>
                  </a:solidFill>
                  <a:latin typeface="Calibri"/>
                </a:rPr>
                <a:t>red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Text Box 123"/>
            <p:cNvSpPr/>
            <p:nvPr/>
          </p:nvSpPr>
          <p:spPr>
            <a:xfrm>
              <a:off x="4273560" y="4764600"/>
              <a:ext cx="718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3333ff"/>
                  </a:solidFill>
                  <a:latin typeface="Calibri"/>
                </a:rPr>
                <a:t>blue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311" name="Object 124"/>
            <p:cNvGraphicFramePr/>
            <p:nvPr/>
          </p:nvGraphicFramePr>
          <p:xfrm>
            <a:off x="1279440" y="2603880"/>
            <a:ext cx="312480" cy="537840"/>
          </p:xfrm>
          <a:graphic>
            <a:graphicData uri="http://schemas.openxmlformats.org/presentationml/2006/ole">
              <p:oleObj progId="Equation.DSMT4" r:id="rId5" spid="">
                <p:embed/>
              </p:oleObj>
            </a:graphicData>
          </a:graphic>
        </p:graphicFrame>
        <p:graphicFrame>
          <p:nvGraphicFramePr>
            <p:cNvPr id="312" name="Object 125"/>
            <p:cNvGraphicFramePr/>
            <p:nvPr/>
          </p:nvGraphicFramePr>
          <p:xfrm>
            <a:off x="5068800" y="2843640"/>
            <a:ext cx="3477960" cy="623520"/>
          </p:xfrm>
          <a:graphic>
            <a:graphicData uri="http://schemas.openxmlformats.org/presentationml/2006/ole">
              <p:oleObj progId="Equation.DSMT4" r:id="rId6" spid="">
                <p:embed/>
              </p:oleObj>
            </a:graphicData>
          </a:graphic>
        </p:graphicFrame>
        <p:graphicFrame>
          <p:nvGraphicFramePr>
            <p:cNvPr id="313" name="Object 135"/>
            <p:cNvGraphicFramePr/>
            <p:nvPr/>
          </p:nvGraphicFramePr>
          <p:xfrm>
            <a:off x="5037120" y="3764520"/>
            <a:ext cx="3477960" cy="623520"/>
          </p:xfrm>
          <a:graphic>
            <a:graphicData uri="http://schemas.openxmlformats.org/presentationml/2006/ole">
              <p:oleObj progId="Equation.DSMT4" r:id="rId7" spid="">
                <p:embed/>
              </p:oleObj>
            </a:graphicData>
          </a:graphic>
        </p:graphicFrame>
        <p:graphicFrame>
          <p:nvGraphicFramePr>
            <p:cNvPr id="314" name="Object 139"/>
            <p:cNvGraphicFramePr/>
            <p:nvPr/>
          </p:nvGraphicFramePr>
          <p:xfrm>
            <a:off x="4946760" y="4584960"/>
            <a:ext cx="3558960" cy="623520"/>
          </p:xfrm>
          <a:graphic>
            <a:graphicData uri="http://schemas.openxmlformats.org/presentationml/2006/ole">
              <p:oleObj progId="Equation.DSMT4" r:id="rId8" spid="">
                <p:embed/>
              </p:oleObj>
            </a:graphicData>
          </a:graphic>
        </p:graphicFrame>
        <p:graphicFrame>
          <p:nvGraphicFramePr>
            <p:cNvPr id="315" name="Object 140"/>
            <p:cNvGraphicFramePr/>
            <p:nvPr/>
          </p:nvGraphicFramePr>
          <p:xfrm>
            <a:off x="3352680" y="2081520"/>
            <a:ext cx="283680" cy="490320"/>
          </p:xfrm>
          <a:graphic>
            <a:graphicData uri="http://schemas.openxmlformats.org/presentationml/2006/ole">
              <p:oleObj progId="Equation.DSMT4" r:id="rId9" spid="">
                <p:embed/>
              </p:oleObj>
            </a:graphicData>
          </a:graphic>
        </p:graphicFrame>
        <p:graphicFrame>
          <p:nvGraphicFramePr>
            <p:cNvPr id="316" name="Object 141"/>
            <p:cNvGraphicFramePr/>
            <p:nvPr/>
          </p:nvGraphicFramePr>
          <p:xfrm>
            <a:off x="3349800" y="2897640"/>
            <a:ext cx="285480" cy="493200"/>
          </p:xfrm>
          <a:graphic>
            <a:graphicData uri="http://schemas.openxmlformats.org/presentationml/2006/ole">
              <p:oleObj progId="Equation.DSMT4" r:id="rId10" spid="">
                <p:embed/>
              </p:oleObj>
            </a:graphicData>
          </a:graphic>
        </p:graphicFrame>
        <p:graphicFrame>
          <p:nvGraphicFramePr>
            <p:cNvPr id="317" name="Object 142"/>
            <p:cNvGraphicFramePr/>
            <p:nvPr/>
          </p:nvGraphicFramePr>
          <p:xfrm>
            <a:off x="3382920" y="3765960"/>
            <a:ext cx="285480" cy="493200"/>
          </p:xfrm>
          <a:graphic>
            <a:graphicData uri="http://schemas.openxmlformats.org/presentationml/2006/ole">
              <p:oleObj progId="Equation.DSMT4" r:id="rId11" spid="">
                <p:embed/>
              </p:oleObj>
            </a:graphicData>
          </a:graphic>
        </p:graphicFrame>
        <p:graphicFrame>
          <p:nvGraphicFramePr>
            <p:cNvPr id="318" name="Object 143"/>
            <p:cNvGraphicFramePr/>
            <p:nvPr/>
          </p:nvGraphicFramePr>
          <p:xfrm>
            <a:off x="3352680" y="4680360"/>
            <a:ext cx="285480" cy="493200"/>
          </p:xfrm>
          <a:graphic>
            <a:graphicData uri="http://schemas.openxmlformats.org/presentationml/2006/ole">
              <p:oleObj progId="Equation.DSMT4" r:id="rId12" spid="">
                <p:embed/>
              </p:oleObj>
            </a:graphicData>
          </a:graphic>
        </p:graphicFrame>
      </p:grpSp>
      <p:grpSp>
        <p:nvGrpSpPr>
          <p:cNvPr id="319" name="Group 148"/>
          <p:cNvGrpSpPr/>
          <p:nvPr/>
        </p:nvGrpSpPr>
        <p:grpSpPr>
          <a:xfrm>
            <a:off x="2438280" y="4827960"/>
            <a:ext cx="2133360" cy="2044080"/>
            <a:chOff x="2438280" y="4827960"/>
            <a:chExt cx="2133360" cy="2044080"/>
          </a:xfrm>
        </p:grpSpPr>
        <p:sp>
          <p:nvSpPr>
            <p:cNvPr id="320" name="Text Box 79"/>
            <p:cNvSpPr/>
            <p:nvPr/>
          </p:nvSpPr>
          <p:spPr>
            <a:xfrm>
              <a:off x="2438280" y="5685120"/>
              <a:ext cx="213336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Ends of first and second level branches show the different outcomes.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" name="Line 146"/>
            <p:cNvSpPr/>
            <p:nvPr/>
          </p:nvSpPr>
          <p:spPr>
            <a:xfrm flipH="1" flipV="1">
              <a:off x="2781000" y="4827960"/>
              <a:ext cx="419400" cy="857160"/>
            </a:xfrm>
            <a:prstGeom prst="line">
              <a:avLst/>
            </a:prstGeom>
            <a:ln w="571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322" name="Line 147"/>
            <p:cNvSpPr/>
            <p:nvPr/>
          </p:nvSpPr>
          <p:spPr>
            <a:xfrm flipV="1">
              <a:off x="3524040" y="5132520"/>
              <a:ext cx="876240" cy="571680"/>
            </a:xfrm>
            <a:prstGeom prst="line">
              <a:avLst/>
            </a:prstGeom>
            <a:ln w="571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23" name="Group 161"/>
          <p:cNvGrpSpPr/>
          <p:nvPr/>
        </p:nvGrpSpPr>
        <p:grpSpPr>
          <a:xfrm>
            <a:off x="5353200" y="5234760"/>
            <a:ext cx="2095200" cy="1503360"/>
            <a:chOff x="5353200" y="5234760"/>
            <a:chExt cx="2095200" cy="1503360"/>
          </a:xfrm>
        </p:grpSpPr>
        <p:sp>
          <p:nvSpPr>
            <p:cNvPr id="324" name="Text Box 159"/>
            <p:cNvSpPr/>
            <p:nvPr/>
          </p:nvSpPr>
          <p:spPr>
            <a:xfrm>
              <a:off x="5353200" y="5825520"/>
              <a:ext cx="20952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Probabilities are multiplied along each arm.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Line 160"/>
            <p:cNvSpPr/>
            <p:nvPr/>
          </p:nvSpPr>
          <p:spPr>
            <a:xfrm flipV="1">
              <a:off x="6476760" y="5234760"/>
              <a:ext cx="838440" cy="628560"/>
            </a:xfrm>
            <a:prstGeom prst="line">
              <a:avLst/>
            </a:prstGeom>
            <a:ln w="5715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26" name="Shape 60"/>
          <p:cNvSpPr/>
          <p:nvPr/>
        </p:nvSpPr>
        <p:spPr>
          <a:xfrm>
            <a:off x="8747280" y="2194560"/>
            <a:ext cx="31579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64"/>
          <p:cNvSpPr/>
          <p:nvPr/>
        </p:nvSpPr>
        <p:spPr>
          <a:xfrm>
            <a:off x="8779680" y="3142080"/>
            <a:ext cx="2977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WITH replacement → the bag resets → the second-choice probabilities are the SAME as the first.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03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3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8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4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5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35"/>
          <p:cNvSpPr/>
          <p:nvPr/>
        </p:nvSpPr>
        <p:spPr>
          <a:xfrm>
            <a:off x="137160" y="5472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36"/>
          <p:cNvSpPr/>
          <p:nvPr/>
        </p:nvSpPr>
        <p:spPr>
          <a:xfrm>
            <a:off x="137160" y="547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37"/>
          <p:cNvSpPr/>
          <p:nvPr/>
        </p:nvSpPr>
        <p:spPr>
          <a:xfrm>
            <a:off x="896040" y="3672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WITHOUT REPLACEMENT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38"/>
          <p:cNvSpPr/>
          <p:nvPr/>
        </p:nvSpPr>
        <p:spPr>
          <a:xfrm>
            <a:off x="896040" y="31104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Second Probabilities CHANGE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50"/>
          <p:cNvSpPr/>
          <p:nvPr/>
        </p:nvSpPr>
        <p:spPr>
          <a:xfrm>
            <a:off x="3822120" y="1252800"/>
            <a:ext cx="63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60"/>
          <p:cNvSpPr/>
          <p:nvPr/>
        </p:nvSpPr>
        <p:spPr>
          <a:xfrm>
            <a:off x="9469080" y="1403280"/>
            <a:ext cx="2570040" cy="4233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64"/>
          <p:cNvSpPr/>
          <p:nvPr/>
        </p:nvSpPr>
        <p:spPr>
          <a:xfrm>
            <a:off x="9912240" y="3191400"/>
            <a:ext cx="199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WITHOUT replacement → both the count and the total drop by 1 → second probabilities change.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0" name="Group 91"/>
          <p:cNvGrpSpPr/>
          <p:nvPr/>
        </p:nvGrpSpPr>
        <p:grpSpPr>
          <a:xfrm>
            <a:off x="480600" y="1403280"/>
            <a:ext cx="8448480" cy="2039400"/>
            <a:chOff x="480600" y="1403280"/>
            <a:chExt cx="8448480" cy="2039400"/>
          </a:xfrm>
        </p:grpSpPr>
        <p:sp>
          <p:nvSpPr>
            <p:cNvPr id="371" name="Text Box 13"/>
            <p:cNvSpPr/>
            <p:nvPr/>
          </p:nvSpPr>
          <p:spPr>
            <a:xfrm>
              <a:off x="480600" y="1403280"/>
              <a:ext cx="8370360" cy="146124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c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Rebecca has nine coloured beads in a bag. Four of the beads are black</a:t>
              </a:r>
              <a:r>
                <a:rPr b="0" lang="en-GB" sz="1800" spc="-1" strike="noStrike">
                  <a:solidFill>
                    <a:srgbClr val="ff0000"/>
                  </a:solidFill>
                  <a:latin typeface="Calibri"/>
                </a:rPr>
                <a:t> </a:t>
              </a: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and the rest are </a:t>
              </a:r>
              <a:r>
                <a:rPr b="1" lang="en-GB" sz="1800" spc="-1" strike="noStrike">
                  <a:solidFill>
                    <a:schemeClr val="accent3">
                      <a:lumMod val="75000"/>
                    </a:schemeClr>
                  </a:solidFill>
                  <a:latin typeface="Calibri"/>
                </a:rPr>
                <a:t>green</a:t>
              </a: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. She removes a bead at random from the bag and notes the colour before replacing it. She then chooses a second bead. </a:t>
              </a:r>
              <a:r>
                <a:rPr b="0" lang="en-GB" sz="1800" spc="-1" strike="noStrike">
                  <a:solidFill>
                    <a:srgbClr val="3333ff"/>
                  </a:solidFill>
                  <a:latin typeface="Calibri"/>
                </a:rPr>
                <a:t>(a)</a:t>
              </a: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 Draw a tree diagram showing all possible outcomes.  </a:t>
              </a:r>
              <a:r>
                <a:rPr b="0" lang="en-GB" sz="1800" spc="-1" strike="noStrike">
                  <a:solidFill>
                    <a:srgbClr val="3333ff"/>
                  </a:solidFill>
                  <a:latin typeface="Calibri"/>
                </a:rPr>
                <a:t>(b)</a:t>
              </a: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 Calculate the probability that Rebecca chooses: </a:t>
              </a:r>
              <a:r>
                <a:rPr b="0" lang="en-GB" sz="1800" spc="-1" strike="noStrike">
                  <a:solidFill>
                    <a:srgbClr val="3333ff"/>
                  </a:solidFill>
                  <a:latin typeface="Calibri"/>
                </a:rPr>
                <a:t>(i)</a:t>
              </a: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 2 green beads  </a:t>
              </a:r>
              <a:r>
                <a:rPr b="0" lang="en-GB" sz="1800" spc="-1" strike="noStrike">
                  <a:solidFill>
                    <a:srgbClr val="3333ff"/>
                  </a:solidFill>
                  <a:latin typeface="Calibri"/>
                </a:rPr>
                <a:t>(ii</a:t>
              </a:r>
              <a:r>
                <a:rPr b="0" lang="en-GB" sz="1800" spc="-1" strike="noStrike">
                  <a:solidFill>
                    <a:srgbClr val="000000"/>
                  </a:solidFill>
                  <a:latin typeface="Calibri"/>
                </a:rPr>
                <a:t>) A black followed  by a green bead.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72" name="Group 81"/>
            <p:cNvGrpSpPr/>
            <p:nvPr/>
          </p:nvGrpSpPr>
          <p:grpSpPr>
            <a:xfrm>
              <a:off x="7669080" y="2519280"/>
              <a:ext cx="1260000" cy="923400"/>
              <a:chOff x="7669080" y="2519280"/>
              <a:chExt cx="1260000" cy="923400"/>
            </a:xfrm>
          </p:grpSpPr>
          <p:pic>
            <p:nvPicPr>
              <p:cNvPr id="373" name="Picture 16" descr="Money Bag 05"/>
              <p:cNvPicPr/>
              <p:nvPr/>
            </p:nvPicPr>
            <p:blipFill>
              <a:blip r:embed="rId1"/>
              <a:stretch/>
            </p:blipFill>
            <p:spPr>
              <a:xfrm>
                <a:off x="7669080" y="2952720"/>
                <a:ext cx="482400" cy="453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74" name="Picture 71" descr="Girl Beading Necklace"/>
              <p:cNvPicPr/>
              <p:nvPr/>
            </p:nvPicPr>
            <p:blipFill>
              <a:blip r:embed="rId2"/>
              <a:stretch/>
            </p:blipFill>
            <p:spPr>
              <a:xfrm>
                <a:off x="8156160" y="2519280"/>
                <a:ext cx="772920" cy="9234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75" name="Oval 72"/>
              <p:cNvSpPr/>
              <p:nvPr/>
            </p:nvSpPr>
            <p:spPr>
              <a:xfrm>
                <a:off x="7783200" y="3160440"/>
                <a:ext cx="42480" cy="424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76" name="Oval 73"/>
              <p:cNvSpPr/>
              <p:nvPr/>
            </p:nvSpPr>
            <p:spPr>
              <a:xfrm>
                <a:off x="8008560" y="3281040"/>
                <a:ext cx="42480" cy="424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77" name="Oval 74"/>
              <p:cNvSpPr/>
              <p:nvPr/>
            </p:nvSpPr>
            <p:spPr>
              <a:xfrm>
                <a:off x="7881480" y="3235320"/>
                <a:ext cx="42480" cy="424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78" name="Oval 75"/>
              <p:cNvSpPr/>
              <p:nvPr/>
            </p:nvSpPr>
            <p:spPr>
              <a:xfrm>
                <a:off x="7921440" y="3098520"/>
                <a:ext cx="42480" cy="4248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79" name="Oval 76"/>
              <p:cNvSpPr/>
              <p:nvPr/>
            </p:nvSpPr>
            <p:spPr>
              <a:xfrm>
                <a:off x="7800840" y="3287520"/>
                <a:ext cx="42480" cy="424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563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80" name="Oval 77"/>
              <p:cNvSpPr/>
              <p:nvPr/>
            </p:nvSpPr>
            <p:spPr>
              <a:xfrm>
                <a:off x="7849800" y="3155760"/>
                <a:ext cx="42480" cy="424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563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81" name="Oval 78"/>
              <p:cNvSpPr/>
              <p:nvPr/>
            </p:nvSpPr>
            <p:spPr>
              <a:xfrm>
                <a:off x="7913520" y="3319200"/>
                <a:ext cx="42480" cy="424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563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82" name="Oval 79"/>
              <p:cNvSpPr/>
              <p:nvPr/>
            </p:nvSpPr>
            <p:spPr>
              <a:xfrm>
                <a:off x="7972200" y="3182760"/>
                <a:ext cx="42480" cy="424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563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83" name="Oval 80"/>
              <p:cNvSpPr/>
              <p:nvPr/>
            </p:nvSpPr>
            <p:spPr>
              <a:xfrm>
                <a:off x="7713360" y="3328920"/>
                <a:ext cx="42480" cy="4248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rgbClr val="0563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14760" bIns="-147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grpSp>
        <p:nvGrpSpPr>
          <p:cNvPr id="384" name="Group 80"/>
          <p:cNvGrpSpPr/>
          <p:nvPr/>
        </p:nvGrpSpPr>
        <p:grpSpPr>
          <a:xfrm>
            <a:off x="201600" y="3420720"/>
            <a:ext cx="2705040" cy="2903040"/>
            <a:chOff x="201600" y="3420720"/>
            <a:chExt cx="2705040" cy="2903040"/>
          </a:xfrm>
        </p:grpSpPr>
        <p:sp>
          <p:nvSpPr>
            <p:cNvPr id="385" name="Text Box 5"/>
            <p:cNvSpPr/>
            <p:nvPr/>
          </p:nvSpPr>
          <p:spPr>
            <a:xfrm>
              <a:off x="1978200" y="4047840"/>
              <a:ext cx="9284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black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" name="Text Box 6"/>
            <p:cNvSpPr/>
            <p:nvPr/>
          </p:nvSpPr>
          <p:spPr>
            <a:xfrm>
              <a:off x="1978200" y="5929200"/>
              <a:ext cx="9284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1" lang="en-GB" sz="2000" spc="-1" strike="noStrike">
                  <a:solidFill>
                    <a:schemeClr val="accent3">
                      <a:lumMod val="75000"/>
                    </a:schemeClr>
                  </a:solidFill>
                  <a:latin typeface="Calibri"/>
                </a:rPr>
                <a:t>green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87" name="Group 7"/>
            <p:cNvGrpSpPr/>
            <p:nvPr/>
          </p:nvGrpSpPr>
          <p:grpSpPr>
            <a:xfrm>
              <a:off x="201600" y="3420720"/>
              <a:ext cx="1834560" cy="2617560"/>
              <a:chOff x="201600" y="3420720"/>
              <a:chExt cx="1834560" cy="2617560"/>
            </a:xfrm>
          </p:grpSpPr>
          <p:grpSp>
            <p:nvGrpSpPr>
              <p:cNvPr id="388" name="Group 8"/>
              <p:cNvGrpSpPr/>
              <p:nvPr/>
            </p:nvGrpSpPr>
            <p:grpSpPr>
              <a:xfrm>
                <a:off x="303120" y="4290480"/>
                <a:ext cx="1733040" cy="1747800"/>
                <a:chOff x="303120" y="4290480"/>
                <a:chExt cx="1733040" cy="1747800"/>
              </a:xfrm>
            </p:grpSpPr>
            <p:sp>
              <p:nvSpPr>
                <p:cNvPr id="389" name="Line 9"/>
                <p:cNvSpPr/>
                <p:nvPr/>
              </p:nvSpPr>
              <p:spPr>
                <a:xfrm flipV="1">
                  <a:off x="303120" y="4290480"/>
                  <a:ext cx="1728720" cy="936720"/>
                </a:xfrm>
                <a:prstGeom prst="line">
                  <a:avLst/>
                </a:prstGeom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0" name="Freeform 10"/>
                <p:cNvSpPr/>
                <p:nvPr/>
              </p:nvSpPr>
              <p:spPr>
                <a:xfrm>
                  <a:off x="303120" y="5225760"/>
                  <a:ext cx="1733040" cy="812520"/>
                </a:xfrm>
                <a:custGeom>
                  <a:avLst/>
                  <a:gdLst>
                    <a:gd name="textAreaLeft" fmla="*/ 0 w 1733040"/>
                    <a:gd name="textAreaRight" fmla="*/ 1733400 w 1733040"/>
                    <a:gd name="textAreaTop" fmla="*/ 0 h 812520"/>
                    <a:gd name="textAreaBottom" fmla="*/ 812880 h 812520"/>
                  </a:gdLst>
                  <a:ahLst/>
                  <a:rect l="textAreaLeft" t="textAreaTop" r="textAreaRight" b="textAreaBottom"/>
                  <a:pathLst>
                    <a:path w="1092" h="512">
                      <a:moveTo>
                        <a:pt x="0" y="0"/>
                      </a:moveTo>
                      <a:lnTo>
                        <a:pt x="1092" y="512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391" name="Text Box 11"/>
              <p:cNvSpPr/>
              <p:nvPr/>
            </p:nvSpPr>
            <p:spPr>
              <a:xfrm>
                <a:off x="201600" y="3420720"/>
                <a:ext cx="1439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chemeClr val="dk1"/>
                    </a:solidFill>
                    <a:latin typeface="Calibri"/>
                  </a:rPr>
                  <a:t>First Choice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aphicFrame>
        <p:nvGraphicFramePr>
          <p:cNvPr id="392" name="Object 38"/>
          <p:cNvGraphicFramePr/>
          <p:nvPr/>
        </p:nvGraphicFramePr>
        <p:xfrm>
          <a:off x="909720" y="5636880"/>
          <a:ext cx="226800" cy="539280"/>
        </p:xfrm>
        <a:graphic>
          <a:graphicData uri="http://schemas.openxmlformats.org/presentationml/2006/ole">
            <p:oleObj progId="Equation.DSMT4" r:id="rId3" spid="">
              <p:embed/>
            </p:oleObj>
          </a:graphicData>
        </a:graphic>
      </p:graphicFrame>
      <p:grpSp>
        <p:nvGrpSpPr>
          <p:cNvPr id="393" name="Group 89"/>
          <p:cNvGrpSpPr/>
          <p:nvPr/>
        </p:nvGrpSpPr>
        <p:grpSpPr>
          <a:xfrm>
            <a:off x="2576520" y="3141360"/>
            <a:ext cx="2606400" cy="3546000"/>
            <a:chOff x="2576520" y="3141360"/>
            <a:chExt cx="2606400" cy="3546000"/>
          </a:xfrm>
        </p:grpSpPr>
        <p:grpSp>
          <p:nvGrpSpPr>
            <p:cNvPr id="394" name="Group 28"/>
            <p:cNvGrpSpPr/>
            <p:nvPr/>
          </p:nvGrpSpPr>
          <p:grpSpPr>
            <a:xfrm>
              <a:off x="2576520" y="3141360"/>
              <a:ext cx="2068200" cy="3294000"/>
              <a:chOff x="2576520" y="3141360"/>
              <a:chExt cx="2068200" cy="3294000"/>
            </a:xfrm>
          </p:grpSpPr>
          <p:grpSp>
            <p:nvGrpSpPr>
              <p:cNvPr id="395" name="Group 29"/>
              <p:cNvGrpSpPr/>
              <p:nvPr/>
            </p:nvGrpSpPr>
            <p:grpSpPr>
              <a:xfrm>
                <a:off x="2576520" y="3141360"/>
                <a:ext cx="2068200" cy="1515960"/>
                <a:chOff x="2576520" y="3141360"/>
                <a:chExt cx="2068200" cy="1515960"/>
              </a:xfrm>
            </p:grpSpPr>
            <p:grpSp>
              <p:nvGrpSpPr>
                <p:cNvPr id="396" name="Group 30"/>
                <p:cNvGrpSpPr/>
                <p:nvPr/>
              </p:nvGrpSpPr>
              <p:grpSpPr>
                <a:xfrm>
                  <a:off x="2786040" y="3895560"/>
                  <a:ext cx="1356840" cy="761760"/>
                  <a:chOff x="2786040" y="3895560"/>
                  <a:chExt cx="1356840" cy="761760"/>
                </a:xfrm>
              </p:grpSpPr>
              <p:sp>
                <p:nvSpPr>
                  <p:cNvPr id="397" name="Freeform 31"/>
                  <p:cNvSpPr/>
                  <p:nvPr/>
                </p:nvSpPr>
                <p:spPr>
                  <a:xfrm>
                    <a:off x="2790720" y="3895560"/>
                    <a:ext cx="1352160" cy="323640"/>
                  </a:xfrm>
                  <a:custGeom>
                    <a:avLst/>
                    <a:gdLst>
                      <a:gd name="textAreaLeft" fmla="*/ 0 w 1352160"/>
                      <a:gd name="textAreaRight" fmla="*/ 1352520 w 1352160"/>
                      <a:gd name="textAreaTop" fmla="*/ 0 h 323640"/>
                      <a:gd name="textAreaBottom" fmla="*/ 324000 h 323640"/>
                    </a:gdLst>
                    <a:ahLst/>
                    <a:rect l="textAreaLeft" t="textAreaTop" r="textAreaRight" b="textAreaBottom"/>
                    <a:pathLst>
                      <a:path w="852" h="204">
                        <a:moveTo>
                          <a:pt x="0" y="204"/>
                        </a:moveTo>
                        <a:lnTo>
                          <a:pt x="852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GB" sz="1800" spc="-1" strike="noStrike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398" name="Freeform 32"/>
                  <p:cNvSpPr/>
                  <p:nvPr/>
                </p:nvSpPr>
                <p:spPr>
                  <a:xfrm>
                    <a:off x="2786040" y="4224240"/>
                    <a:ext cx="1337760" cy="433080"/>
                  </a:xfrm>
                  <a:custGeom>
                    <a:avLst/>
                    <a:gdLst>
                      <a:gd name="textAreaLeft" fmla="*/ 0 w 1337760"/>
                      <a:gd name="textAreaRight" fmla="*/ 1338120 w 1337760"/>
                      <a:gd name="textAreaTop" fmla="*/ 0 h 433080"/>
                      <a:gd name="textAreaBottom" fmla="*/ 433440 h 433080"/>
                    </a:gdLst>
                    <a:ahLst/>
                    <a:rect l="textAreaLeft" t="textAreaTop" r="textAreaRight" b="textAreaBottom"/>
                    <a:pathLst>
                      <a:path w="843" h="273">
                        <a:moveTo>
                          <a:pt x="0" y="0"/>
                        </a:moveTo>
                        <a:lnTo>
                          <a:pt x="843" y="273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GB" sz="1800" spc="-1" strike="noStrike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399" name="Text Box 33"/>
                <p:cNvSpPr/>
                <p:nvPr/>
              </p:nvSpPr>
              <p:spPr>
                <a:xfrm>
                  <a:off x="2576520" y="3141360"/>
                  <a:ext cx="206820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chemeClr val="dk1"/>
                      </a:solidFill>
                      <a:latin typeface="Calibri"/>
                    </a:rPr>
                    <a:t>Second Choice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grpSp>
            <p:nvGrpSpPr>
              <p:cNvPr id="400" name="Group 34"/>
              <p:cNvGrpSpPr/>
              <p:nvPr/>
            </p:nvGrpSpPr>
            <p:grpSpPr>
              <a:xfrm>
                <a:off x="2735280" y="5673600"/>
                <a:ext cx="1356840" cy="761760"/>
                <a:chOff x="2735280" y="5673600"/>
                <a:chExt cx="1356840" cy="761760"/>
              </a:xfrm>
            </p:grpSpPr>
            <p:sp>
              <p:nvSpPr>
                <p:cNvPr id="401" name="Freeform 35"/>
                <p:cNvSpPr/>
                <p:nvPr/>
              </p:nvSpPr>
              <p:spPr>
                <a:xfrm>
                  <a:off x="2739960" y="5673600"/>
                  <a:ext cx="1352160" cy="323640"/>
                </a:xfrm>
                <a:custGeom>
                  <a:avLst/>
                  <a:gdLst>
                    <a:gd name="textAreaLeft" fmla="*/ 0 w 1352160"/>
                    <a:gd name="textAreaRight" fmla="*/ 1352520 w 1352160"/>
                    <a:gd name="textAreaTop" fmla="*/ 0 h 323640"/>
                    <a:gd name="textAreaBottom" fmla="*/ 324000 h 323640"/>
                  </a:gdLst>
                  <a:ahLst/>
                  <a:rect l="textAreaLeft" t="textAreaTop" r="textAreaRight" b="textAreaBottom"/>
                  <a:pathLst>
                    <a:path w="852" h="204">
                      <a:moveTo>
                        <a:pt x="0" y="204"/>
                      </a:moveTo>
                      <a:lnTo>
                        <a:pt x="852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2" name="Freeform 36"/>
                <p:cNvSpPr/>
                <p:nvPr/>
              </p:nvSpPr>
              <p:spPr>
                <a:xfrm>
                  <a:off x="2735280" y="6002280"/>
                  <a:ext cx="1337760" cy="433080"/>
                </a:xfrm>
                <a:custGeom>
                  <a:avLst/>
                  <a:gdLst>
                    <a:gd name="textAreaLeft" fmla="*/ 0 w 1337760"/>
                    <a:gd name="textAreaRight" fmla="*/ 1338120 w 1337760"/>
                    <a:gd name="textAreaTop" fmla="*/ 0 h 433080"/>
                    <a:gd name="textAreaBottom" fmla="*/ 433440 h 433080"/>
                  </a:gdLst>
                  <a:ahLst/>
                  <a:rect l="textAreaLeft" t="textAreaTop" r="textAreaRight" b="textAreaBottom"/>
                  <a:pathLst>
                    <a:path w="843" h="273">
                      <a:moveTo>
                        <a:pt x="0" y="0"/>
                      </a:moveTo>
                      <a:lnTo>
                        <a:pt x="843" y="27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</p:grpSp>
        </p:grpSp>
        <p:sp>
          <p:nvSpPr>
            <p:cNvPr id="403" name="Text Box 39"/>
            <p:cNvSpPr/>
            <p:nvPr/>
          </p:nvSpPr>
          <p:spPr>
            <a:xfrm>
              <a:off x="4133880" y="3679560"/>
              <a:ext cx="8712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black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4" name="Text Box 40"/>
            <p:cNvSpPr/>
            <p:nvPr/>
          </p:nvSpPr>
          <p:spPr>
            <a:xfrm>
              <a:off x="4172040" y="4503600"/>
              <a:ext cx="100440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1" lang="en-GB" sz="2000" spc="-1" strike="noStrike">
                  <a:solidFill>
                    <a:schemeClr val="accent3">
                      <a:lumMod val="75000"/>
                    </a:schemeClr>
                  </a:solidFill>
                  <a:latin typeface="Calibri"/>
                </a:rPr>
                <a:t>green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Text Box 41"/>
            <p:cNvSpPr/>
            <p:nvPr/>
          </p:nvSpPr>
          <p:spPr>
            <a:xfrm>
              <a:off x="4102200" y="5475240"/>
              <a:ext cx="9284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0" lang="en-GB" sz="2000" spc="-1" strike="noStrike">
                  <a:solidFill>
                    <a:srgbClr val="000000"/>
                  </a:solidFill>
                  <a:latin typeface="Calibri"/>
                </a:rPr>
                <a:t>black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6" name="Text Box 42"/>
            <p:cNvSpPr/>
            <p:nvPr/>
          </p:nvSpPr>
          <p:spPr>
            <a:xfrm>
              <a:off x="4064040" y="6292800"/>
              <a:ext cx="111888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1" lang="en-GB" sz="2000" spc="-1" strike="noStrike">
                  <a:solidFill>
                    <a:schemeClr val="accent3">
                      <a:lumMod val="75000"/>
                    </a:schemeClr>
                  </a:solidFill>
                  <a:latin typeface="Calibri"/>
                </a:rPr>
                <a:t>green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407" name="Object 43"/>
          <p:cNvGraphicFramePr/>
          <p:nvPr/>
        </p:nvGraphicFramePr>
        <p:xfrm>
          <a:off x="896760" y="4173480"/>
          <a:ext cx="225000" cy="537840"/>
        </p:xfrm>
        <a:graphic>
          <a:graphicData uri="http://schemas.openxmlformats.org/presentationml/2006/ole">
            <p:oleObj progId="Equation.DSMT4" r:id="rId4" spid="">
              <p:embed/>
            </p:oleObj>
          </a:graphicData>
        </a:graphic>
      </p:graphicFrame>
      <p:graphicFrame>
        <p:nvGraphicFramePr>
          <p:cNvPr id="408" name="Object 44"/>
          <p:cNvGraphicFramePr/>
          <p:nvPr/>
        </p:nvGraphicFramePr>
        <p:xfrm>
          <a:off x="5038560" y="4410000"/>
          <a:ext cx="3538080" cy="623520"/>
        </p:xfrm>
        <a:graphic>
          <a:graphicData uri="http://schemas.openxmlformats.org/presentationml/2006/ole">
            <p:oleObj progId="Equation.DSMT4" r:id="rId5" spid="">
              <p:embed/>
            </p:oleObj>
          </a:graphicData>
        </a:graphic>
      </p:graphicFrame>
      <p:graphicFrame>
        <p:nvGraphicFramePr>
          <p:cNvPr id="409" name="Object 58"/>
          <p:cNvGraphicFramePr/>
          <p:nvPr/>
        </p:nvGraphicFramePr>
        <p:xfrm>
          <a:off x="4956120" y="6189480"/>
          <a:ext cx="3579480" cy="623520"/>
        </p:xfrm>
        <a:graphic>
          <a:graphicData uri="http://schemas.openxmlformats.org/presentationml/2006/ole">
            <p:oleObj progId="Equation.DSMT4" r:id="rId6" spid="">
              <p:embed/>
            </p:oleObj>
          </a:graphicData>
        </a:graphic>
      </p:graphicFrame>
      <p:graphicFrame>
        <p:nvGraphicFramePr>
          <p:cNvPr id="410" name="Object 59"/>
          <p:cNvGraphicFramePr/>
          <p:nvPr/>
        </p:nvGraphicFramePr>
        <p:xfrm>
          <a:off x="3182760" y="3609720"/>
          <a:ext cx="204480" cy="490320"/>
        </p:xfrm>
        <a:graphic>
          <a:graphicData uri="http://schemas.openxmlformats.org/presentationml/2006/ole">
            <p:oleObj progId="Equation.DSMT4" r:id="rId7" spid="">
              <p:embed/>
            </p:oleObj>
          </a:graphicData>
        </a:graphic>
      </p:graphicFrame>
      <p:graphicFrame>
        <p:nvGraphicFramePr>
          <p:cNvPr id="411" name="Object 60"/>
          <p:cNvGraphicFramePr/>
          <p:nvPr/>
        </p:nvGraphicFramePr>
        <p:xfrm>
          <a:off x="3179880" y="4425840"/>
          <a:ext cx="205920" cy="493200"/>
        </p:xfrm>
        <a:graphic>
          <a:graphicData uri="http://schemas.openxmlformats.org/presentationml/2006/ole">
            <p:oleObj progId="Equation.DSMT4" r:id="rId8" spid="">
              <p:embed/>
            </p:oleObj>
          </a:graphicData>
        </a:graphic>
      </p:graphicFrame>
      <p:graphicFrame>
        <p:nvGraphicFramePr>
          <p:cNvPr id="412" name="Object 61"/>
          <p:cNvGraphicFramePr/>
          <p:nvPr/>
        </p:nvGraphicFramePr>
        <p:xfrm>
          <a:off x="3213000" y="5294160"/>
          <a:ext cx="205920" cy="493200"/>
        </p:xfrm>
        <a:graphic>
          <a:graphicData uri="http://schemas.openxmlformats.org/presentationml/2006/ole">
            <p:oleObj progId="Equation.DSMT4" r:id="rId9" spid="">
              <p:embed/>
            </p:oleObj>
          </a:graphicData>
        </a:graphic>
      </p:graphicFrame>
      <p:graphicFrame>
        <p:nvGraphicFramePr>
          <p:cNvPr id="413" name="Object 62"/>
          <p:cNvGraphicFramePr/>
          <p:nvPr/>
        </p:nvGraphicFramePr>
        <p:xfrm>
          <a:off x="3182760" y="6208560"/>
          <a:ext cx="205920" cy="493200"/>
        </p:xfrm>
        <a:graphic>
          <a:graphicData uri="http://schemas.openxmlformats.org/presentationml/2006/ole">
            <p:oleObj progId="Equation.DSMT4" r:id="rId10" spid="">
              <p:embed/>
            </p:oleObj>
          </a:graphicData>
        </a:graphic>
      </p:graphicFrame>
      <p:cxnSp>
        <p:nvCxnSpPr>
          <p:cNvPr id="414" name="Straight Connector 110"/>
          <p:cNvCxnSpPr>
            <a:stCxn id="390" idx="0"/>
            <a:endCxn id="390" idx="1"/>
          </p:cNvCxnSpPr>
          <p:nvPr/>
        </p:nvCxnSpPr>
        <p:spPr>
          <a:xfrm>
            <a:off x="303120" y="5225760"/>
            <a:ext cx="1733760" cy="813240"/>
          </a:xfrm>
          <a:prstGeom prst="straightConnector1">
            <a:avLst/>
          </a:prstGeom>
          <a:ln w="76200">
            <a:solidFill>
              <a:srgbClr val="70ad47"/>
            </a:solidFill>
          </a:ln>
        </p:spPr>
      </p:cxnSp>
      <p:cxnSp>
        <p:nvCxnSpPr>
          <p:cNvPr id="415" name="Straight Connector 111"/>
          <p:cNvCxnSpPr>
            <a:endCxn id="402" idx="1"/>
          </p:cNvCxnSpPr>
          <p:nvPr/>
        </p:nvCxnSpPr>
        <p:spPr>
          <a:xfrm>
            <a:off x="2734920" y="5997240"/>
            <a:ext cx="1338840" cy="438480"/>
          </a:xfrm>
          <a:prstGeom prst="straightConnector1">
            <a:avLst/>
          </a:prstGeom>
          <a:ln w="76200">
            <a:solidFill>
              <a:srgbClr val="70ad47"/>
            </a:solidFill>
          </a:ln>
        </p:spPr>
      </p:cxnSp>
      <p:sp>
        <p:nvSpPr>
          <p:cNvPr id="416" name="Oval 112"/>
          <p:cNvSpPr/>
          <p:nvPr/>
        </p:nvSpPr>
        <p:spPr>
          <a:xfrm>
            <a:off x="1869480" y="5805360"/>
            <a:ext cx="954720" cy="561600"/>
          </a:xfrm>
          <a:prstGeom prst="ellipse">
            <a:avLst/>
          </a:prstGeom>
          <a:noFill/>
          <a:ln w="76200"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Oval 113"/>
          <p:cNvSpPr/>
          <p:nvPr/>
        </p:nvSpPr>
        <p:spPr>
          <a:xfrm>
            <a:off x="3924000" y="6238800"/>
            <a:ext cx="954720" cy="561600"/>
          </a:xfrm>
          <a:prstGeom prst="ellipse">
            <a:avLst/>
          </a:prstGeom>
          <a:noFill/>
          <a:ln w="76200"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Rectangle 114"/>
          <p:cNvSpPr/>
          <p:nvPr/>
        </p:nvSpPr>
        <p:spPr>
          <a:xfrm>
            <a:off x="8151480" y="6086160"/>
            <a:ext cx="390960" cy="771480"/>
          </a:xfrm>
          <a:prstGeom prst="rect">
            <a:avLst/>
          </a:prstGeom>
          <a:solidFill>
            <a:srgbClr val="ff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19" name="Straight Connector 115"/>
          <p:cNvCxnSpPr/>
          <p:nvPr/>
        </p:nvCxnSpPr>
        <p:spPr>
          <a:xfrm flipV="1">
            <a:off x="303120" y="4290480"/>
            <a:ext cx="1733760" cy="951480"/>
          </a:xfrm>
          <a:prstGeom prst="straightConnector1">
            <a:avLst/>
          </a:prstGeom>
          <a:ln w="76200">
            <a:solidFill>
              <a:srgbClr val="ffc000"/>
            </a:solidFill>
          </a:ln>
        </p:spPr>
      </p:cxnSp>
      <p:cxnSp>
        <p:nvCxnSpPr>
          <p:cNvPr id="420" name="Straight Connector 116"/>
          <p:cNvCxnSpPr>
            <a:endCxn id="398" idx="1"/>
          </p:cNvCxnSpPr>
          <p:nvPr/>
        </p:nvCxnSpPr>
        <p:spPr>
          <a:xfrm>
            <a:off x="2807640" y="4244040"/>
            <a:ext cx="1316880" cy="413640"/>
          </a:xfrm>
          <a:prstGeom prst="straightConnector1">
            <a:avLst/>
          </a:prstGeom>
          <a:ln w="76200">
            <a:solidFill>
              <a:srgbClr val="ffc000"/>
            </a:solidFill>
          </a:ln>
        </p:spPr>
      </p:cxnSp>
      <p:sp>
        <p:nvSpPr>
          <p:cNvPr id="421" name="Oval 117"/>
          <p:cNvSpPr/>
          <p:nvPr/>
        </p:nvSpPr>
        <p:spPr>
          <a:xfrm>
            <a:off x="1860120" y="3965400"/>
            <a:ext cx="954720" cy="56160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2" name="Oval 118"/>
          <p:cNvSpPr/>
          <p:nvPr/>
        </p:nvSpPr>
        <p:spPr>
          <a:xfrm>
            <a:off x="4064040" y="4453920"/>
            <a:ext cx="954720" cy="56160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3" name="Rectangle 119"/>
          <p:cNvSpPr/>
          <p:nvPr/>
        </p:nvSpPr>
        <p:spPr>
          <a:xfrm>
            <a:off x="8160840" y="4271760"/>
            <a:ext cx="390960" cy="771480"/>
          </a:xfrm>
          <a:prstGeom prst="rect">
            <a:avLst/>
          </a:prstGeom>
          <a:solidFill>
            <a:srgbClr val="ff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4" dur="indefinite" restart="never" nodeType="tmRoot">
          <p:childTnLst>
            <p:seq>
              <p:cTn id="115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71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96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31"/>
          <p:cNvSpPr/>
          <p:nvPr/>
        </p:nvSpPr>
        <p:spPr>
          <a:xfrm>
            <a:off x="2880" y="5874480"/>
            <a:ext cx="121917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33"/>
          <p:cNvSpPr/>
          <p:nvPr/>
        </p:nvSpPr>
        <p:spPr>
          <a:xfrm>
            <a:off x="467280" y="6234120"/>
            <a:ext cx="1219176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35"/>
          <p:cNvSpPr/>
          <p:nvPr/>
        </p:nvSpPr>
        <p:spPr>
          <a:xfrm>
            <a:off x="82440" y="1836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36"/>
          <p:cNvSpPr/>
          <p:nvPr/>
        </p:nvSpPr>
        <p:spPr>
          <a:xfrm>
            <a:off x="82440" y="183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37"/>
          <p:cNvSpPr/>
          <p:nvPr/>
        </p:nvSpPr>
        <p:spPr>
          <a:xfrm>
            <a:off x="841320" y="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COMBINING BRANCHES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38"/>
          <p:cNvSpPr/>
          <p:nvPr/>
        </p:nvSpPr>
        <p:spPr>
          <a:xfrm>
            <a:off x="650160" y="25992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‘</a:t>
            </a: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Same Color’ — Add the Branches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40"/>
          <p:cNvSpPr/>
          <p:nvPr/>
        </p:nvSpPr>
        <p:spPr>
          <a:xfrm>
            <a:off x="8829000" y="1033560"/>
            <a:ext cx="3362400" cy="2490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41"/>
          <p:cNvSpPr/>
          <p:nvPr/>
        </p:nvSpPr>
        <p:spPr>
          <a:xfrm>
            <a:off x="8925480" y="12434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42"/>
          <p:cNvSpPr/>
          <p:nvPr/>
        </p:nvSpPr>
        <p:spPr>
          <a:xfrm>
            <a:off x="8829000" y="197532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Multiply ALONG each branch you want.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‘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Same color’ can happen two ways — find both.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 those branch probabilities (‘or’).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Check: all end-probabilities add to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43"/>
          <p:cNvSpPr/>
          <p:nvPr/>
        </p:nvSpPr>
        <p:spPr>
          <a:xfrm>
            <a:off x="567000" y="65106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‘</a:t>
            </a: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At least one’ is often quickest as 1 − P(none).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56"/>
          <p:cNvSpPr/>
          <p:nvPr/>
        </p:nvSpPr>
        <p:spPr>
          <a:xfrm>
            <a:off x="4851720" y="6001920"/>
            <a:ext cx="6886080" cy="49536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57"/>
          <p:cNvSpPr/>
          <p:nvPr/>
        </p:nvSpPr>
        <p:spPr>
          <a:xfrm>
            <a:off x="3123720" y="6121800"/>
            <a:ext cx="105152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P(Same color) = P(R,R) + P(B,B) + P(G,G)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ontent Placeholder 2"/>
          <p:cNvSpPr/>
          <p:nvPr/>
        </p:nvSpPr>
        <p:spPr>
          <a:xfrm>
            <a:off x="46800" y="713880"/>
            <a:ext cx="8229240" cy="22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</a:rPr>
              <a:t>A bag contains 5 blue counters, 3 red counters and 2 green counters. If I take out one counter, without replacement, then another, what is the probability that they will be the same color?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0" name="Straight Connector 60"/>
          <p:cNvCxnSpPr/>
          <p:nvPr/>
        </p:nvCxnSpPr>
        <p:spPr>
          <a:xfrm flipV="1">
            <a:off x="1755360" y="3369240"/>
            <a:ext cx="936360" cy="1008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1" name="Straight Connector 61"/>
          <p:cNvCxnSpPr/>
          <p:nvPr/>
        </p:nvCxnSpPr>
        <p:spPr>
          <a:xfrm>
            <a:off x="1755360" y="4377240"/>
            <a:ext cx="936360" cy="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2" name="Straight Connector 62"/>
          <p:cNvCxnSpPr/>
          <p:nvPr/>
        </p:nvCxnSpPr>
        <p:spPr>
          <a:xfrm>
            <a:off x="1755360" y="4377240"/>
            <a:ext cx="864360" cy="1008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3" name="Straight Connector 63"/>
          <p:cNvCxnSpPr/>
          <p:nvPr/>
        </p:nvCxnSpPr>
        <p:spPr>
          <a:xfrm flipV="1">
            <a:off x="3339360" y="2660040"/>
            <a:ext cx="936720" cy="432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4" name="Straight Connector 64"/>
          <p:cNvCxnSpPr/>
          <p:nvPr/>
        </p:nvCxnSpPr>
        <p:spPr>
          <a:xfrm>
            <a:off x="3339360" y="3092040"/>
            <a:ext cx="936720" cy="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5" name="Straight Connector 65"/>
          <p:cNvCxnSpPr/>
          <p:nvPr/>
        </p:nvCxnSpPr>
        <p:spPr>
          <a:xfrm>
            <a:off x="3339360" y="3092040"/>
            <a:ext cx="936720" cy="432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6" name="Straight Connector 66"/>
          <p:cNvCxnSpPr/>
          <p:nvPr/>
        </p:nvCxnSpPr>
        <p:spPr>
          <a:xfrm flipV="1">
            <a:off x="3339360" y="5241240"/>
            <a:ext cx="936720" cy="432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7" name="Straight Connector 67"/>
          <p:cNvCxnSpPr/>
          <p:nvPr/>
        </p:nvCxnSpPr>
        <p:spPr>
          <a:xfrm>
            <a:off x="3339360" y="5673240"/>
            <a:ext cx="936720" cy="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8" name="Straight Connector 68"/>
          <p:cNvCxnSpPr/>
          <p:nvPr/>
        </p:nvCxnSpPr>
        <p:spPr>
          <a:xfrm>
            <a:off x="3339360" y="5673240"/>
            <a:ext cx="936720" cy="43272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79" name="Straight Connector 69"/>
          <p:cNvCxnSpPr/>
          <p:nvPr/>
        </p:nvCxnSpPr>
        <p:spPr>
          <a:xfrm flipV="1">
            <a:off x="3339360" y="3945240"/>
            <a:ext cx="936720" cy="432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80" name="Straight Connector 70"/>
          <p:cNvCxnSpPr/>
          <p:nvPr/>
        </p:nvCxnSpPr>
        <p:spPr>
          <a:xfrm>
            <a:off x="3339360" y="4377240"/>
            <a:ext cx="936720" cy="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481" name="Straight Connector 71"/>
          <p:cNvCxnSpPr/>
          <p:nvPr/>
        </p:nvCxnSpPr>
        <p:spPr>
          <a:xfrm>
            <a:off x="3339360" y="4377240"/>
            <a:ext cx="936720" cy="43236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sp>
        <p:nvSpPr>
          <p:cNvPr id="482" name="TextBox 72"/>
          <p:cNvSpPr/>
          <p:nvPr/>
        </p:nvSpPr>
        <p:spPr>
          <a:xfrm>
            <a:off x="2907720" y="2937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73"/>
          <p:cNvSpPr/>
          <p:nvPr/>
        </p:nvSpPr>
        <p:spPr>
          <a:xfrm>
            <a:off x="4419720" y="246636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74"/>
          <p:cNvSpPr/>
          <p:nvPr/>
        </p:nvSpPr>
        <p:spPr>
          <a:xfrm>
            <a:off x="4419720" y="376056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75"/>
          <p:cNvSpPr/>
          <p:nvPr/>
        </p:nvSpPr>
        <p:spPr>
          <a:xfrm>
            <a:off x="4419720" y="5016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76"/>
          <p:cNvSpPr/>
          <p:nvPr/>
        </p:nvSpPr>
        <p:spPr>
          <a:xfrm>
            <a:off x="2907720" y="4161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77"/>
          <p:cNvSpPr/>
          <p:nvPr/>
        </p:nvSpPr>
        <p:spPr>
          <a:xfrm>
            <a:off x="2907720" y="5448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78"/>
          <p:cNvSpPr/>
          <p:nvPr/>
        </p:nvSpPr>
        <p:spPr>
          <a:xfrm>
            <a:off x="4419720" y="290772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79"/>
          <p:cNvSpPr/>
          <p:nvPr/>
        </p:nvSpPr>
        <p:spPr>
          <a:xfrm>
            <a:off x="4419720" y="4161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80"/>
          <p:cNvSpPr/>
          <p:nvPr/>
        </p:nvSpPr>
        <p:spPr>
          <a:xfrm>
            <a:off x="4419720" y="5448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81"/>
          <p:cNvSpPr/>
          <p:nvPr/>
        </p:nvSpPr>
        <p:spPr>
          <a:xfrm>
            <a:off x="4419720" y="333036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82"/>
          <p:cNvSpPr/>
          <p:nvPr/>
        </p:nvSpPr>
        <p:spPr>
          <a:xfrm>
            <a:off x="4419720" y="459360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83"/>
          <p:cNvSpPr/>
          <p:nvPr/>
        </p:nvSpPr>
        <p:spPr>
          <a:xfrm>
            <a:off x="4419720" y="58802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84"/>
          <p:cNvSpPr/>
          <p:nvPr/>
        </p:nvSpPr>
        <p:spPr>
          <a:xfrm>
            <a:off x="2547360" y="2937240"/>
            <a:ext cx="575640" cy="442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Box 85"/>
          <p:cNvSpPr/>
          <p:nvPr/>
        </p:nvSpPr>
        <p:spPr>
          <a:xfrm>
            <a:off x="2547360" y="5362560"/>
            <a:ext cx="575640" cy="454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Box 86"/>
          <p:cNvSpPr/>
          <p:nvPr/>
        </p:nvSpPr>
        <p:spPr>
          <a:xfrm>
            <a:off x="2547360" y="4138200"/>
            <a:ext cx="575640" cy="4546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87"/>
          <p:cNvSpPr/>
          <p:nvPr/>
        </p:nvSpPr>
        <p:spPr>
          <a:xfrm>
            <a:off x="4131720" y="2433240"/>
            <a:ext cx="575640" cy="4546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88"/>
          <p:cNvSpPr/>
          <p:nvPr/>
        </p:nvSpPr>
        <p:spPr>
          <a:xfrm>
            <a:off x="4131720" y="2853000"/>
            <a:ext cx="575640" cy="4546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89"/>
          <p:cNvSpPr/>
          <p:nvPr/>
        </p:nvSpPr>
        <p:spPr>
          <a:xfrm>
            <a:off x="4131720" y="3285000"/>
            <a:ext cx="575640" cy="4546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90"/>
          <p:cNvSpPr/>
          <p:nvPr/>
        </p:nvSpPr>
        <p:spPr>
          <a:xfrm>
            <a:off x="4131720" y="3729240"/>
            <a:ext cx="575640" cy="4546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91"/>
          <p:cNvSpPr/>
          <p:nvPr/>
        </p:nvSpPr>
        <p:spPr>
          <a:xfrm>
            <a:off x="4131720" y="5889600"/>
            <a:ext cx="575640" cy="45468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92"/>
          <p:cNvSpPr/>
          <p:nvPr/>
        </p:nvSpPr>
        <p:spPr>
          <a:xfrm>
            <a:off x="4131720" y="5434560"/>
            <a:ext cx="575640" cy="45468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Box 93"/>
          <p:cNvSpPr/>
          <p:nvPr/>
        </p:nvSpPr>
        <p:spPr>
          <a:xfrm>
            <a:off x="4131720" y="5002200"/>
            <a:ext cx="575640" cy="45468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Box 94"/>
          <p:cNvSpPr/>
          <p:nvPr/>
        </p:nvSpPr>
        <p:spPr>
          <a:xfrm>
            <a:off x="4131720" y="4570200"/>
            <a:ext cx="575640" cy="4546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95"/>
          <p:cNvSpPr/>
          <p:nvPr/>
        </p:nvSpPr>
        <p:spPr>
          <a:xfrm>
            <a:off x="4131720" y="4138200"/>
            <a:ext cx="575640" cy="4546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96"/>
          <p:cNvSpPr/>
          <p:nvPr/>
        </p:nvSpPr>
        <p:spPr>
          <a:xfrm>
            <a:off x="99360" y="3825000"/>
            <a:ext cx="15836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We have </a:t>
            </a:r>
            <a:r>
              <a:rPr b="1" lang="en-GB" sz="1800" spc="-1" strike="noStrike">
                <a:solidFill>
                  <a:srgbClr val="ff0000"/>
                </a:solidFill>
                <a:latin typeface="Calibri"/>
              </a:rPr>
              <a:t>3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 options so need </a:t>
            </a:r>
            <a:r>
              <a:rPr b="1" lang="en-GB" sz="1800" spc="-1" strike="noStrike">
                <a:solidFill>
                  <a:srgbClr val="ff0000"/>
                </a:solidFill>
                <a:latin typeface="Calibri"/>
              </a:rPr>
              <a:t>3</a:t>
            </a: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 “branches”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97"/>
          <p:cNvSpPr/>
          <p:nvPr/>
        </p:nvSpPr>
        <p:spPr>
          <a:xfrm>
            <a:off x="6372360" y="3092400"/>
            <a:ext cx="20160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70c0"/>
                </a:solidFill>
                <a:latin typeface="Calibri"/>
              </a:rPr>
              <a:t>The probabilities of the second pick change depending upon what the first pick was.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98"/>
          <p:cNvSpPr/>
          <p:nvPr/>
        </p:nvSpPr>
        <p:spPr>
          <a:xfrm>
            <a:off x="7219080" y="3677760"/>
            <a:ext cx="5318280" cy="1953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99"/>
          <p:cNvSpPr/>
          <p:nvPr/>
        </p:nvSpPr>
        <p:spPr>
          <a:xfrm>
            <a:off x="10838160" y="5200920"/>
            <a:ext cx="1511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Don’t simplify until the end!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100"/>
          <p:cNvSpPr/>
          <p:nvPr/>
        </p:nvSpPr>
        <p:spPr>
          <a:xfrm>
            <a:off x="387360" y="2433240"/>
            <a:ext cx="1439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rgbClr val="4f6228"/>
                </a:solidFill>
                <a:latin typeface="Calibri"/>
              </a:rPr>
              <a:t>Put on the probabilities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8" dur="indefinite" restart="never" nodeType="tmRoot">
          <p:childTnLst>
            <p:seq>
              <p:cTn id="199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4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8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1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18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2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22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2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26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1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5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9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3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8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1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4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7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0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3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6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9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2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76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000"/>
                            </p:stCondLst>
                            <p:childTnLst>
                              <p:par>
                                <p:cTn id="27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80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00"/>
                            </p:stCondLst>
                            <p:childTnLst>
                              <p:par>
                                <p:cTn id="28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84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000"/>
                            </p:stCondLst>
                            <p:childTnLst>
                              <p:par>
                                <p:cTn id="28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88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500"/>
                            </p:stCondLst>
                            <p:childTnLst>
                              <p:par>
                                <p:cTn id="290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92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000"/>
                            </p:stCondLst>
                            <p:childTnLst>
                              <p:par>
                                <p:cTn id="29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96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3500"/>
                            </p:stCondLst>
                            <p:childTnLst>
                              <p:par>
                                <p:cTn id="29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00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4000"/>
                            </p:stCondLst>
                            <p:childTnLst>
                              <p:par>
                                <p:cTn id="30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04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4500"/>
                            </p:stCondLst>
                            <p:childTnLst>
                              <p:par>
                                <p:cTn id="30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08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3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8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00"/>
                            </p:stCondLst>
                            <p:childTnLst>
                              <p:par>
                                <p:cTn id="32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2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1000"/>
                            </p:stCondLst>
                            <p:childTnLst>
                              <p:par>
                                <p:cTn id="32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6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1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5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3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9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44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500"/>
                            </p:stCondLst>
                            <p:childTnLst>
                              <p:par>
                                <p:cTn id="34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48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000"/>
                            </p:stCondLst>
                            <p:childTnLst>
                              <p:par>
                                <p:cTn id="35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52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7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8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500"/>
                            </p:stCondLst>
                            <p:childTnLst>
                              <p:par>
                                <p:cTn id="361" nodeType="afterEffect" fill="hold" presetClass="entr" presetID="5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3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4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Draw the tree, multiply along the branches, then add the ones you need.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Probability on every branch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Multiply ALONG (and)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Add DOWN (or)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Not replaced → second probs change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39"/>
          <p:cNvSpPr/>
          <p:nvPr/>
        </p:nvSpPr>
        <p:spPr>
          <a:xfrm>
            <a:off x="3243240" y="1408320"/>
            <a:ext cx="57052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3" name="Image 0" descr="/tmp/work/tdq/q-12.png"/>
          <p:cNvPicPr/>
          <p:nvPr/>
        </p:nvPicPr>
        <p:blipFill>
          <a:blip r:embed="rId1"/>
          <a:stretch/>
        </p:blipFill>
        <p:spPr>
          <a:xfrm>
            <a:off x="3316320" y="1481400"/>
            <a:ext cx="55587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39"/>
          <p:cNvSpPr/>
          <p:nvPr/>
        </p:nvSpPr>
        <p:spPr>
          <a:xfrm>
            <a:off x="3673440" y="1408320"/>
            <a:ext cx="48445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4" name="Image 0" descr="/tmp/work/tdq/q-13.png"/>
          <p:cNvPicPr/>
          <p:nvPr/>
        </p:nvPicPr>
        <p:blipFill>
          <a:blip r:embed="rId1"/>
          <a:stretch/>
        </p:blipFill>
        <p:spPr>
          <a:xfrm>
            <a:off x="3746520" y="1481400"/>
            <a:ext cx="46980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39"/>
          <p:cNvSpPr/>
          <p:nvPr/>
        </p:nvSpPr>
        <p:spPr>
          <a:xfrm>
            <a:off x="1587960" y="1408320"/>
            <a:ext cx="9015480" cy="326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5" name="Image 0" descr="/tmp/work/tdq/q-14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311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9"/>
          <p:cNvSpPr/>
          <p:nvPr/>
        </p:nvSpPr>
        <p:spPr>
          <a:xfrm>
            <a:off x="1587960" y="1408320"/>
            <a:ext cx="9015480" cy="243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6" name="Image 0" descr="/tmp/work/tdq/q-15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228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9"/>
          <p:cNvSpPr/>
          <p:nvPr/>
        </p:nvSpPr>
        <p:spPr>
          <a:xfrm>
            <a:off x="1587960" y="1408320"/>
            <a:ext cx="9015480" cy="354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7" name="Image 0" descr="/tmp/work/tdq/q-16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339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39"/>
          <p:cNvSpPr/>
          <p:nvPr/>
        </p:nvSpPr>
        <p:spPr>
          <a:xfrm>
            <a:off x="3531240" y="1408320"/>
            <a:ext cx="51292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8" name="Image 0" descr="/tmp/work/tdq/q-17.png"/>
          <p:cNvPicPr/>
          <p:nvPr/>
        </p:nvPicPr>
        <p:blipFill>
          <a:blip r:embed="rId1"/>
          <a:stretch/>
        </p:blipFill>
        <p:spPr>
          <a:xfrm>
            <a:off x="3604320" y="1481400"/>
            <a:ext cx="49827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39"/>
          <p:cNvSpPr/>
          <p:nvPr/>
        </p:nvSpPr>
        <p:spPr>
          <a:xfrm>
            <a:off x="1587960" y="1408320"/>
            <a:ext cx="9015480" cy="259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9" name="Image 0" descr="/tmp/work/tdq/q-18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244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tree diagram shows events happening one after another, with a probability on each branch.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Multiply ALONG the branches (‘and’); add the results going DOWN (‘or’).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Each pair of branches adds up to 1.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WITH replacement: the second-choice probabilities are the same as the first.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WITHOUT replacement: the count and the total both drop, so the second probabilities change.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multiply along for ‘and’, add down for ‘or’ — and check for replacement.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  <Words>919</Words>
  <Paragraphs>176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2026-07-17T13:24:32Z</dcterms:created>
  <dc:creator>Zahra Sheikh Ali</dc:creator>
  <dc:description/>
  <dc:language>en-US</dc:language>
  <cp:lastModifiedBy>zahraa sheik ali</cp:lastModifiedBy>
  <dcterms:modified xsi:type="dcterms:W3CDTF">2026-08-06T17:18:21Z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Custom</vt:lpwstr>
  </property>
  <property fmtid="{D5CDD505-2E9C-101B-9397-08002B2CF9AE}" pid="4" name="Slides">
    <vt:r8>15</vt:r8>
  </property>
</Properties>
</file>