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wmf" ContentType="image/x-wmf"/>
  <Default Extension="rels" ContentType="application/vnd.openxmlformats-package.relationships+xml"/>
  <Default Extension="xml" ContentType="application/xml"/>
  <Default Extension="wav" ContentType="audio/wav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-946" y="-341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rawings/_rels/vmlDrawing1.v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image" Target="../media/image1.wmf"/></Relationships>
</file>

<file path=ppt/drawings/_rels/vmlDrawing2.vml.rels><?xml version="1.0" encoding="UTF-8" standalone="yes"?>
<Relationships xmlns="http://schemas.openxmlformats.org/package/2006/relationships"><Relationship Id="rId3" Type="http://schemas.openxmlformats.org/officeDocument/2006/relationships/image" Target="../media/image2.wmf"/><Relationship Id="rId2" Type="http://schemas.openxmlformats.org/officeDocument/2006/relationships/image" Target="../media/image1.wmf"/><Relationship Id="rId1" Type="http://schemas.openxmlformats.org/officeDocument/2006/relationships/image" Target="../media/image3.wmf"/><Relationship Id="rId6" Type="http://schemas.openxmlformats.org/officeDocument/2006/relationships/image" Target="../media/image6.wmf"/><Relationship Id="rId5" Type="http://schemas.openxmlformats.org/officeDocument/2006/relationships/image" Target="../media/image5.wmf"/><Relationship Id="rId4" Type="http://schemas.openxmlformats.org/officeDocument/2006/relationships/image" Target="../media/image4.wmf"/></Relationships>
</file>

<file path=ppt/drawings/_rels/vmlDrawing3.v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2" Type="http://schemas.openxmlformats.org/officeDocument/2006/relationships/image" Target="../media/image10.wmf"/><Relationship Id="rId1" Type="http://schemas.openxmlformats.org/officeDocument/2006/relationships/image" Target="../media/image9.wmf"/><Relationship Id="rId4" Type="http://schemas.openxmlformats.org/officeDocument/2006/relationships/image" Target="../media/image12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73463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.bin"/><Relationship Id="rId13" Type="http://schemas.openxmlformats.org/officeDocument/2006/relationships/oleObject" Target="../embeddings/oleObject6.bin"/><Relationship Id="rId3" Type="http://schemas.openxmlformats.org/officeDocument/2006/relationships/notesSlide" Target="../notesSlides/notesSlide3.xml"/><Relationship Id="rId7" Type="http://schemas.openxmlformats.org/officeDocument/2006/relationships/image" Target="../media/image1.wmf"/><Relationship Id="rId12" Type="http://schemas.openxmlformats.org/officeDocument/2006/relationships/oleObject" Target="../embeddings/oleObject5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Relationship Id="rId6" Type="http://schemas.openxmlformats.org/officeDocument/2006/relationships/oleObject" Target="../embeddings/oleObject1.bin"/><Relationship Id="rId11" Type="http://schemas.openxmlformats.org/officeDocument/2006/relationships/oleObject" Target="../embeddings/oleObject4.bin"/><Relationship Id="rId5" Type="http://schemas.openxmlformats.org/officeDocument/2006/relationships/audio" Target="../media/audio2.wav"/><Relationship Id="rId10" Type="http://schemas.openxmlformats.org/officeDocument/2006/relationships/oleObject" Target="../embeddings/oleObject3.bin"/><Relationship Id="rId4" Type="http://schemas.openxmlformats.org/officeDocument/2006/relationships/audio" Target="../media/audio1.wav"/><Relationship Id="rId9" Type="http://schemas.openxmlformats.org/officeDocument/2006/relationships/image" Target="../media/image2.wmf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wmf"/><Relationship Id="rId13" Type="http://schemas.openxmlformats.org/officeDocument/2006/relationships/oleObject" Target="../embeddings/oleObject10.bin"/><Relationship Id="rId18" Type="http://schemas.openxmlformats.org/officeDocument/2006/relationships/image" Target="../media/image6.wmf"/><Relationship Id="rId3" Type="http://schemas.openxmlformats.org/officeDocument/2006/relationships/notesSlide" Target="../notesSlides/notesSlide4.xml"/><Relationship Id="rId21" Type="http://schemas.openxmlformats.org/officeDocument/2006/relationships/oleObject" Target="../embeddings/oleObject15.bin"/><Relationship Id="rId7" Type="http://schemas.openxmlformats.org/officeDocument/2006/relationships/oleObject" Target="../embeddings/oleObject7.bin"/><Relationship Id="rId12" Type="http://schemas.openxmlformats.org/officeDocument/2006/relationships/image" Target="../media/image2.wmf"/><Relationship Id="rId17" Type="http://schemas.openxmlformats.org/officeDocument/2006/relationships/oleObject" Target="../embeddings/oleObject12.bin"/><Relationship Id="rId2" Type="http://schemas.openxmlformats.org/officeDocument/2006/relationships/slideLayout" Target="../slideLayouts/slideLayout1.xml"/><Relationship Id="rId16" Type="http://schemas.openxmlformats.org/officeDocument/2006/relationships/image" Target="../media/image5.wmf"/><Relationship Id="rId20" Type="http://schemas.openxmlformats.org/officeDocument/2006/relationships/oleObject" Target="../embeddings/oleObject14.bin"/><Relationship Id="rId1" Type="http://schemas.openxmlformats.org/officeDocument/2006/relationships/vmlDrawing" Target="../drawings/vmlDrawing2.vml"/><Relationship Id="rId6" Type="http://schemas.openxmlformats.org/officeDocument/2006/relationships/image" Target="../media/image8.wmf"/><Relationship Id="rId11" Type="http://schemas.openxmlformats.org/officeDocument/2006/relationships/oleObject" Target="../embeddings/oleObject9.bin"/><Relationship Id="rId5" Type="http://schemas.openxmlformats.org/officeDocument/2006/relationships/image" Target="../media/image7.wmf"/><Relationship Id="rId15" Type="http://schemas.openxmlformats.org/officeDocument/2006/relationships/oleObject" Target="../embeddings/oleObject11.bin"/><Relationship Id="rId10" Type="http://schemas.openxmlformats.org/officeDocument/2006/relationships/image" Target="../media/image1.wmf"/><Relationship Id="rId19" Type="http://schemas.openxmlformats.org/officeDocument/2006/relationships/oleObject" Target="../embeddings/oleObject13.bin"/><Relationship Id="rId4" Type="http://schemas.openxmlformats.org/officeDocument/2006/relationships/audio" Target="../media/audio1.wav"/><Relationship Id="rId9" Type="http://schemas.openxmlformats.org/officeDocument/2006/relationships/oleObject" Target="../embeddings/oleObject8.bin"/><Relationship Id="rId14" Type="http://schemas.openxmlformats.org/officeDocument/2006/relationships/image" Target="../media/image4.wmf"/><Relationship Id="rId22" Type="http://schemas.openxmlformats.org/officeDocument/2006/relationships/oleObject" Target="../embeddings/oleObject16.bin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8.bin"/><Relationship Id="rId13" Type="http://schemas.openxmlformats.org/officeDocument/2006/relationships/image" Target="../media/image12.wmf"/><Relationship Id="rId3" Type="http://schemas.openxmlformats.org/officeDocument/2006/relationships/notesSlide" Target="../notesSlides/notesSlide5.xml"/><Relationship Id="rId7" Type="http://schemas.openxmlformats.org/officeDocument/2006/relationships/image" Target="../media/image9.wmf"/><Relationship Id="rId12" Type="http://schemas.openxmlformats.org/officeDocument/2006/relationships/oleObject" Target="../embeddings/oleObject20.bin"/><Relationship Id="rId17" Type="http://schemas.openxmlformats.org/officeDocument/2006/relationships/oleObject" Target="../embeddings/oleObject24.bin"/><Relationship Id="rId2" Type="http://schemas.openxmlformats.org/officeDocument/2006/relationships/slideLayout" Target="../slideLayouts/slideLayout1.xml"/><Relationship Id="rId16" Type="http://schemas.openxmlformats.org/officeDocument/2006/relationships/oleObject" Target="../embeddings/oleObject23.bin"/><Relationship Id="rId1" Type="http://schemas.openxmlformats.org/officeDocument/2006/relationships/vmlDrawing" Target="../drawings/vmlDrawing3.vml"/><Relationship Id="rId6" Type="http://schemas.openxmlformats.org/officeDocument/2006/relationships/oleObject" Target="../embeddings/oleObject17.bin"/><Relationship Id="rId11" Type="http://schemas.openxmlformats.org/officeDocument/2006/relationships/image" Target="../media/image11.wmf"/><Relationship Id="rId5" Type="http://schemas.openxmlformats.org/officeDocument/2006/relationships/image" Target="../media/image13.wmf"/><Relationship Id="rId15" Type="http://schemas.openxmlformats.org/officeDocument/2006/relationships/oleObject" Target="../embeddings/oleObject22.bin"/><Relationship Id="rId10" Type="http://schemas.openxmlformats.org/officeDocument/2006/relationships/oleObject" Target="../embeddings/oleObject19.bin"/><Relationship Id="rId4" Type="http://schemas.openxmlformats.org/officeDocument/2006/relationships/image" Target="../media/image7.wmf"/><Relationship Id="rId9" Type="http://schemas.openxmlformats.org/officeDocument/2006/relationships/image" Target="../media/image10.wmf"/><Relationship Id="rId14" Type="http://schemas.openxmlformats.org/officeDocument/2006/relationships/oleObject" Target="../embeddings/oleObject21.bin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24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12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74152" y="1627632"/>
            <a:ext cx="128016" cy="128016"/>
          </a:xfrm>
          <a:prstGeom prst="ellipse">
            <a:avLst/>
          </a:prstGeom>
          <a:solidFill>
            <a:srgbClr val="1C2A22"/>
          </a:solidFill>
          <a:ln/>
        </p:spPr>
      </p:sp>
      <p:sp>
        <p:nvSpPr>
          <p:cNvPr id="38" name="Shape 36"/>
          <p:cNvSpPr/>
          <p:nvPr/>
        </p:nvSpPr>
        <p:spPr>
          <a:xfrm>
            <a:off x="8183880" y="1691640"/>
            <a:ext cx="1463040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503920" y="8549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183880" y="1691640"/>
            <a:ext cx="1463040" cy="105156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503920" y="190652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9692640" y="493776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9692640" y="2596896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0149840" y="640080"/>
            <a:ext cx="1371600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424160" y="457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11567160" y="-7315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10149840" y="640080"/>
            <a:ext cx="1371600" cy="566928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0424160" y="61264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11567160" y="106070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10149840" y="2743200"/>
            <a:ext cx="1371600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0424160" y="21488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11567160" y="202996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10149840" y="2743200"/>
            <a:ext cx="1371600" cy="566928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0424160" y="27157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11567160" y="316382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777240" y="6400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623D"/>
          </a:solidFill>
          <a:ln/>
        </p:spPr>
      </p:sp>
      <p:sp>
        <p:nvSpPr>
          <p:cNvPr id="57" name="Text 55"/>
          <p:cNvSpPr/>
          <p:nvPr/>
        </p:nvSpPr>
        <p:spPr>
          <a:xfrm>
            <a:off x="777240" y="640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2160" dirty="0"/>
          </a:p>
        </p:txBody>
      </p:sp>
      <p:sp>
        <p:nvSpPr>
          <p:cNvPr id="58" name="Text 56"/>
          <p:cNvSpPr/>
          <p:nvPr/>
        </p:nvSpPr>
        <p:spPr>
          <a:xfrm>
            <a:off x="1600200" y="60350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Zπ  MATHS HUB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1600200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D2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Edexcel IGCSE (9–1) · Higher Tier</a:t>
            </a:r>
            <a:endParaRPr lang="en-US" sz="1150" dirty="0"/>
          </a:p>
        </p:txBody>
      </p:sp>
      <p:sp>
        <p:nvSpPr>
          <p:cNvPr id="60" name="Text 58"/>
          <p:cNvSpPr/>
          <p:nvPr/>
        </p:nvSpPr>
        <p:spPr>
          <a:xfrm>
            <a:off x="777240" y="224028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Tree Diagrams</a:t>
            </a:r>
            <a:endParaRPr lang="en-US" sz="3800" dirty="0"/>
          </a:p>
        </p:txBody>
      </p:sp>
      <p:sp>
        <p:nvSpPr>
          <p:cNvPr id="61" name="Text 59"/>
          <p:cNvSpPr/>
          <p:nvPr/>
        </p:nvSpPr>
        <p:spPr>
          <a:xfrm>
            <a:off x="804672" y="331012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Sequential Events · With &amp; Without Replacement · Multiply Along, Add Down</a:t>
            </a:r>
            <a:endParaRPr lang="en-US" sz="1600" dirty="0"/>
          </a:p>
        </p:txBody>
      </p:sp>
      <p:sp>
        <p:nvSpPr>
          <p:cNvPr id="62" name="Shape 60"/>
          <p:cNvSpPr/>
          <p:nvPr/>
        </p:nvSpPr>
        <p:spPr>
          <a:xfrm>
            <a:off x="777240" y="4297680"/>
            <a:ext cx="6766560" cy="1691640"/>
          </a:xfrm>
          <a:prstGeom prst="roundRect">
            <a:avLst>
              <a:gd name="adj" fmla="val 324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1097280" y="4498848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Zahra Sheikh Ali</a:t>
            </a:r>
            <a:endParaRPr lang="en-US" sz="2200" dirty="0"/>
          </a:p>
        </p:txBody>
      </p:sp>
      <p:sp>
        <p:nvSpPr>
          <p:cNvPr id="64" name="Text 62"/>
          <p:cNvSpPr/>
          <p:nvPr/>
        </p:nvSpPr>
        <p:spPr>
          <a:xfrm>
            <a:off x="1097280" y="4956048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C9D2C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IGCSE Mathematics Teacher  ·  M.Sc. Differential Geometry &amp; Geometric Control</a:t>
            </a:r>
            <a:endParaRPr lang="en-US" sz="1250" dirty="0"/>
          </a:p>
        </p:txBody>
      </p:sp>
      <p:sp>
        <p:nvSpPr>
          <p:cNvPr id="65" name="Text 63"/>
          <p:cNvSpPr/>
          <p:nvPr/>
        </p:nvSpPr>
        <p:spPr>
          <a:xfrm>
            <a:off x="1097280" y="5394960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☎  66613748      ✉  zahraa.sheikhali@outlook.com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OVERVIEW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Event After Another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81328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8132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tree diagram maps out two (or more) events happening in sequence.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branch carries a probability; you multiply along branches and add the results.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22960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46" name="Text 44"/>
          <p:cNvSpPr/>
          <p:nvPr/>
        </p:nvSpPr>
        <p:spPr>
          <a:xfrm>
            <a:off x="1435608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tree diagram shows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4343400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599432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4599432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50" name="Text 48"/>
          <p:cNvSpPr/>
          <p:nvPr/>
        </p:nvSpPr>
        <p:spPr>
          <a:xfrm>
            <a:off x="5212080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Multiply along, add down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8119872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375904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375904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54" name="Text 52"/>
          <p:cNvSpPr/>
          <p:nvPr/>
        </p:nvSpPr>
        <p:spPr>
          <a:xfrm>
            <a:off x="8988552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replacement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566928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822960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7" name="Text 55"/>
          <p:cNvSpPr/>
          <p:nvPr/>
        </p:nvSpPr>
        <p:spPr>
          <a:xfrm>
            <a:off x="822960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58" name="Text 56"/>
          <p:cNvSpPr/>
          <p:nvPr/>
        </p:nvSpPr>
        <p:spPr>
          <a:xfrm>
            <a:off x="1435608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Without replacement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4343400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4599432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1" name="Text 59"/>
          <p:cNvSpPr/>
          <p:nvPr/>
        </p:nvSpPr>
        <p:spPr>
          <a:xfrm>
            <a:off x="4599432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62" name="Text 60"/>
          <p:cNvSpPr/>
          <p:nvPr/>
        </p:nvSpPr>
        <p:spPr>
          <a:xfrm>
            <a:off x="5212080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Combining branches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8119872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8375904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5" name="Text 63"/>
          <p:cNvSpPr/>
          <p:nvPr/>
        </p:nvSpPr>
        <p:spPr>
          <a:xfrm>
            <a:off x="8375904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66" name="Text 64"/>
          <p:cNvSpPr/>
          <p:nvPr/>
        </p:nvSpPr>
        <p:spPr>
          <a:xfrm>
            <a:off x="8988552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Past-paper questions</a:t>
            </a:r>
            <a:endParaRPr lang="en-US" sz="1300" dirty="0"/>
          </a:p>
        </p:txBody>
      </p:sp>
      <p:sp>
        <p:nvSpPr>
          <p:cNvPr id="67" name="Text 65"/>
          <p:cNvSpPr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words:  </a:t>
            </a:r>
            <a:r>
              <a:rPr lang="en-US" sz="13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 diagram · branch · outcome · with / without replacement · multiply along · add down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IDEA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Tree Diagram Works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8016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8016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event branches, then each branch splits for the second event.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probability on every branch.</a:t>
            </a:r>
            <a:endParaRPr lang="en-US" sz="1350" dirty="0"/>
          </a:p>
        </p:txBody>
      </p:sp>
      <p:sp>
        <p:nvSpPr>
          <p:cNvPr id="62" name="Shape 60"/>
          <p:cNvSpPr/>
          <p:nvPr/>
        </p:nvSpPr>
        <p:spPr>
          <a:xfrm>
            <a:off x="6766560" y="2194560"/>
            <a:ext cx="4864608" cy="3291840"/>
          </a:xfrm>
          <a:prstGeom prst="roundRect">
            <a:avLst>
              <a:gd name="adj" fmla="val 166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7132320" y="2432304"/>
            <a:ext cx="4133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golden rules</a:t>
            </a:r>
            <a:endParaRPr lang="en-US" sz="1700" dirty="0"/>
          </a:p>
        </p:txBody>
      </p:sp>
      <p:sp>
        <p:nvSpPr>
          <p:cNvPr id="64" name="Text 62"/>
          <p:cNvSpPr/>
          <p:nvPr/>
        </p:nvSpPr>
        <p:spPr>
          <a:xfrm>
            <a:off x="7086600" y="2926080"/>
            <a:ext cx="4343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 MULTIPLY along the branches</a:t>
            </a:r>
            <a:endParaRPr lang="en-US" sz="135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  (‘and’ — first AND second).</a:t>
            </a:r>
            <a:endParaRPr lang="en-US" sz="13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 ADD the branch results going DOWN</a:t>
            </a:r>
            <a:endParaRPr lang="en-US" sz="135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  (‘or’ — this way OR that way).</a:t>
            </a:r>
            <a:endParaRPr lang="en-US" sz="1350" dirty="0"/>
          </a:p>
          <a:p>
            <a:pPr marL="0" indent="0">
              <a:buNone/>
            </a:pPr>
            <a:r>
              <a:rPr lang="en-US" sz="125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PAIR of branches adds up to 1.</a:t>
            </a:r>
            <a:endParaRPr lang="en-US" sz="1350" dirty="0"/>
          </a:p>
        </p:txBody>
      </p:sp>
      <p:sp>
        <p:nvSpPr>
          <p:cNvPr id="65" name="Shape 63"/>
          <p:cNvSpPr/>
          <p:nvPr/>
        </p:nvSpPr>
        <p:spPr>
          <a:xfrm>
            <a:off x="566928" y="5669280"/>
            <a:ext cx="11064240" cy="640080"/>
          </a:xfrm>
          <a:prstGeom prst="roundRect">
            <a:avLst>
              <a:gd name="adj" fmla="val 8571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6" name="Text 64"/>
          <p:cNvSpPr/>
          <p:nvPr/>
        </p:nvSpPr>
        <p:spPr>
          <a:xfrm>
            <a:off x="841248" y="56692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Multiply ALONG (×) for ‘and’;  add DOWN (+) for ‘or’.</a:t>
            </a:r>
            <a:endParaRPr lang="en-US" sz="2300" dirty="0"/>
          </a:p>
        </p:txBody>
      </p:sp>
      <p:sp>
        <p:nvSpPr>
          <p:cNvPr id="105" name="Text Box 25"/>
          <p:cNvSpPr txBox="1">
            <a:spLocks noChangeArrowheads="1"/>
          </p:cNvSpPr>
          <p:nvPr/>
        </p:nvSpPr>
        <p:spPr bwMode="auto">
          <a:xfrm>
            <a:off x="3064420" y="2965701"/>
            <a:ext cx="719138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en-US" sz="2000" b="0" i="0" u="none" strike="noStrike" kern="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</a:rPr>
              <a:t>red</a:t>
            </a:r>
          </a:p>
        </p:txBody>
      </p:sp>
      <p:sp>
        <p:nvSpPr>
          <p:cNvPr id="106" name="Text Box 26"/>
          <p:cNvSpPr txBox="1">
            <a:spLocks noChangeArrowheads="1"/>
          </p:cNvSpPr>
          <p:nvPr/>
        </p:nvSpPr>
        <p:spPr bwMode="auto">
          <a:xfrm>
            <a:off x="3007270" y="4846889"/>
            <a:ext cx="719138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en-US" sz="2000" b="0" i="0" u="none" strike="noStrike" kern="0" cap="none" spc="0" normalizeH="0" baseline="0" noProof="0">
                <a:ln>
                  <a:noFill/>
                </a:ln>
                <a:solidFill>
                  <a:srgbClr val="3333FF"/>
                </a:solidFill>
                <a:effectLst/>
                <a:uLnTx/>
                <a:uFillTx/>
              </a:rPr>
              <a:t>blue</a:t>
            </a:r>
          </a:p>
        </p:txBody>
      </p:sp>
      <p:grpSp>
        <p:nvGrpSpPr>
          <p:cNvPr id="107" name="Group 61"/>
          <p:cNvGrpSpPr>
            <a:grpSpLocks/>
          </p:cNvGrpSpPr>
          <p:nvPr/>
        </p:nvGrpSpPr>
        <p:grpSpPr bwMode="auto">
          <a:xfrm>
            <a:off x="1230858" y="2338639"/>
            <a:ext cx="1835150" cy="2617787"/>
            <a:chOff x="2009" y="2231"/>
            <a:chExt cx="1156" cy="1649"/>
          </a:xfrm>
        </p:grpSpPr>
        <p:grpSp>
          <p:nvGrpSpPr>
            <p:cNvPr id="108" name="Group 24"/>
            <p:cNvGrpSpPr>
              <a:grpSpLocks/>
            </p:cNvGrpSpPr>
            <p:nvPr/>
          </p:nvGrpSpPr>
          <p:grpSpPr bwMode="auto">
            <a:xfrm>
              <a:off x="2073" y="2779"/>
              <a:ext cx="1092" cy="1101"/>
              <a:chOff x="1565" y="2614"/>
              <a:chExt cx="1092" cy="1101"/>
            </a:xfrm>
          </p:grpSpPr>
          <p:sp>
            <p:nvSpPr>
              <p:cNvPr id="110" name="Line 8"/>
              <p:cNvSpPr>
                <a:spLocks noChangeShapeType="1"/>
              </p:cNvSpPr>
              <p:nvPr/>
            </p:nvSpPr>
            <p:spPr bwMode="auto">
              <a:xfrm flipV="1">
                <a:off x="1565" y="2614"/>
                <a:ext cx="1089" cy="590"/>
              </a:xfrm>
              <a:prstGeom prst="line">
                <a:avLst/>
              </a:prstGeom>
              <a:noFill/>
              <a:ln w="9525">
                <a:solidFill>
                  <a:sysClr val="windowText" lastClr="00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11" name="Freeform 110"/>
              <p:cNvSpPr>
                <a:spLocks/>
              </p:cNvSpPr>
              <p:nvPr/>
            </p:nvSpPr>
            <p:spPr bwMode="auto">
              <a:xfrm>
                <a:off x="1565" y="3203"/>
                <a:ext cx="1092" cy="512"/>
              </a:xfrm>
              <a:custGeom>
                <a:avLst/>
                <a:gdLst>
                  <a:gd name="T0" fmla="*/ 0 w 1092"/>
                  <a:gd name="T1" fmla="*/ 0 h 512"/>
                  <a:gd name="T2" fmla="*/ 1092 w 1092"/>
                  <a:gd name="T3" fmla="*/ 512 h 5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</a:cxnLst>
                <a:rect l="0" t="0" r="r" b="b"/>
                <a:pathLst>
                  <a:path w="1092" h="512">
                    <a:moveTo>
                      <a:pt x="0" y="0"/>
                    </a:moveTo>
                    <a:lnTo>
                      <a:pt x="1092" y="512"/>
                    </a:lnTo>
                  </a:path>
                </a:pathLst>
              </a:custGeom>
              <a:noFill/>
              <a:ln w="9525">
                <a:solidFill>
                  <a:sysClr val="windowText" lastClr="000000"/>
                </a:solidFill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</p:grpSp>
        <p:sp>
          <p:nvSpPr>
            <p:cNvPr id="109" name="Text Box 27"/>
            <p:cNvSpPr txBox="1">
              <a:spLocks noChangeArrowheads="1"/>
            </p:cNvSpPr>
            <p:nvPr/>
          </p:nvSpPr>
          <p:spPr bwMode="auto">
            <a:xfrm>
              <a:off x="2009" y="2231"/>
              <a:ext cx="907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marL="0" marR="0" lvl="0" indent="0" defTabSz="914400" eaLnBrk="1" fontAlgn="base" latinLnBrk="0" hangingPunct="1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rPr>
                <a:t>First Choice</a:t>
              </a:r>
            </a:p>
          </p:txBody>
        </p:sp>
      </p:grpSp>
      <p:grpSp>
        <p:nvGrpSpPr>
          <p:cNvPr id="112" name="Group 71"/>
          <p:cNvGrpSpPr>
            <a:grpSpLocks/>
          </p:cNvGrpSpPr>
          <p:nvPr/>
        </p:nvGrpSpPr>
        <p:grpSpPr bwMode="auto">
          <a:xfrm>
            <a:off x="3389858" y="2192589"/>
            <a:ext cx="2068512" cy="3201987"/>
            <a:chOff x="3369" y="2139"/>
            <a:chExt cx="1303" cy="2017"/>
          </a:xfrm>
        </p:grpSpPr>
        <p:grpSp>
          <p:nvGrpSpPr>
            <p:cNvPr id="113" name="Group 70"/>
            <p:cNvGrpSpPr>
              <a:grpSpLocks/>
            </p:cNvGrpSpPr>
            <p:nvPr/>
          </p:nvGrpSpPr>
          <p:grpSpPr bwMode="auto">
            <a:xfrm>
              <a:off x="3369" y="2139"/>
              <a:ext cx="1303" cy="897"/>
              <a:chOff x="3369" y="2139"/>
              <a:chExt cx="1303" cy="897"/>
            </a:xfrm>
          </p:grpSpPr>
          <p:grpSp>
            <p:nvGrpSpPr>
              <p:cNvPr id="117" name="Group 66"/>
              <p:cNvGrpSpPr>
                <a:grpSpLocks/>
              </p:cNvGrpSpPr>
              <p:nvPr/>
            </p:nvGrpSpPr>
            <p:grpSpPr bwMode="auto">
              <a:xfrm>
                <a:off x="3501" y="2556"/>
                <a:ext cx="855" cy="480"/>
                <a:chOff x="3501" y="2556"/>
                <a:chExt cx="855" cy="480"/>
              </a:xfrm>
            </p:grpSpPr>
            <p:sp>
              <p:nvSpPr>
                <p:cNvPr id="119" name="Freeform 56"/>
                <p:cNvSpPr>
                  <a:spLocks/>
                </p:cNvSpPr>
                <p:nvPr/>
              </p:nvSpPr>
              <p:spPr bwMode="auto">
                <a:xfrm>
                  <a:off x="3504" y="2556"/>
                  <a:ext cx="852" cy="204"/>
                </a:xfrm>
                <a:custGeom>
                  <a:avLst/>
                  <a:gdLst>
                    <a:gd name="T0" fmla="*/ 0 w 852"/>
                    <a:gd name="T1" fmla="*/ 204 h 204"/>
                    <a:gd name="T2" fmla="*/ 852 w 852"/>
                    <a:gd name="T3" fmla="*/ 0 h 20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</a:cxnLst>
                  <a:rect l="0" t="0" r="r" b="b"/>
                  <a:pathLst>
                    <a:path w="852" h="204">
                      <a:moveTo>
                        <a:pt x="0" y="204"/>
                      </a:moveTo>
                      <a:lnTo>
                        <a:pt x="852" y="0"/>
                      </a:lnTo>
                    </a:path>
                  </a:pathLst>
                </a:custGeom>
                <a:noFill/>
                <a:ln w="9525">
                  <a:solidFill>
                    <a:sysClr val="windowText" lastClr="000000"/>
                  </a:solidFill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defTabSz="91440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endParaRPr>
                </a:p>
              </p:txBody>
            </p:sp>
            <p:sp>
              <p:nvSpPr>
                <p:cNvPr id="120" name="Freeform 57"/>
                <p:cNvSpPr>
                  <a:spLocks/>
                </p:cNvSpPr>
                <p:nvPr/>
              </p:nvSpPr>
              <p:spPr bwMode="auto">
                <a:xfrm>
                  <a:off x="3501" y="2763"/>
                  <a:ext cx="843" cy="273"/>
                </a:xfrm>
                <a:custGeom>
                  <a:avLst/>
                  <a:gdLst>
                    <a:gd name="T0" fmla="*/ 0 w 843"/>
                    <a:gd name="T1" fmla="*/ 0 h 273"/>
                    <a:gd name="T2" fmla="*/ 843 w 843"/>
                    <a:gd name="T3" fmla="*/ 273 h 27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</a:cxnLst>
                  <a:rect l="0" t="0" r="r" b="b"/>
                  <a:pathLst>
                    <a:path w="843" h="273">
                      <a:moveTo>
                        <a:pt x="0" y="0"/>
                      </a:moveTo>
                      <a:lnTo>
                        <a:pt x="843" y="273"/>
                      </a:lnTo>
                    </a:path>
                  </a:pathLst>
                </a:custGeom>
                <a:noFill/>
                <a:ln w="9525">
                  <a:solidFill>
                    <a:sysClr val="windowText" lastClr="000000"/>
                  </a:solidFill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defTabSz="91440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endParaRPr>
                </a:p>
              </p:txBody>
            </p:sp>
          </p:grpSp>
          <p:sp>
            <p:nvSpPr>
              <p:cNvPr id="118" name="Text Box 58"/>
              <p:cNvSpPr txBox="1">
                <a:spLocks noChangeArrowheads="1"/>
              </p:cNvSpPr>
              <p:nvPr/>
            </p:nvSpPr>
            <p:spPr bwMode="auto">
              <a:xfrm>
                <a:off x="3369" y="2139"/>
                <a:ext cx="1303" cy="2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/>
              <a:p>
                <a:pPr marL="0" marR="0" lvl="0" indent="0" defTabSz="914400" eaLnBrk="1" fontAlgn="base" latinLnBrk="0" hangingPunct="1">
                  <a:lnSpc>
                    <a:spcPct val="100000"/>
                  </a:lnSpc>
                  <a:spcBef>
                    <a:spcPct val="5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alt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</a:rPr>
                  <a:t>Second Choice</a:t>
                </a:r>
              </a:p>
            </p:txBody>
          </p:sp>
        </p:grpSp>
        <p:grpSp>
          <p:nvGrpSpPr>
            <p:cNvPr id="114" name="Group 67"/>
            <p:cNvGrpSpPr>
              <a:grpSpLocks/>
            </p:cNvGrpSpPr>
            <p:nvPr/>
          </p:nvGrpSpPr>
          <p:grpSpPr bwMode="auto">
            <a:xfrm>
              <a:off x="3469" y="3676"/>
              <a:ext cx="855" cy="480"/>
              <a:chOff x="3469" y="3676"/>
              <a:chExt cx="855" cy="480"/>
            </a:xfrm>
          </p:grpSpPr>
          <p:sp>
            <p:nvSpPr>
              <p:cNvPr id="115" name="Freeform 59"/>
              <p:cNvSpPr>
                <a:spLocks/>
              </p:cNvSpPr>
              <p:nvPr/>
            </p:nvSpPr>
            <p:spPr bwMode="auto">
              <a:xfrm>
                <a:off x="3472" y="3676"/>
                <a:ext cx="852" cy="204"/>
              </a:xfrm>
              <a:custGeom>
                <a:avLst/>
                <a:gdLst>
                  <a:gd name="T0" fmla="*/ 0 w 852"/>
                  <a:gd name="T1" fmla="*/ 204 h 204"/>
                  <a:gd name="T2" fmla="*/ 852 w 852"/>
                  <a:gd name="T3" fmla="*/ 0 h 2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</a:cxnLst>
                <a:rect l="0" t="0" r="r" b="b"/>
                <a:pathLst>
                  <a:path w="852" h="204">
                    <a:moveTo>
                      <a:pt x="0" y="204"/>
                    </a:moveTo>
                    <a:lnTo>
                      <a:pt x="852" y="0"/>
                    </a:lnTo>
                  </a:path>
                </a:pathLst>
              </a:custGeom>
              <a:noFill/>
              <a:ln w="9525">
                <a:solidFill>
                  <a:sysClr val="windowText" lastClr="000000"/>
                </a:solidFill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16" name="Freeform 60"/>
              <p:cNvSpPr>
                <a:spLocks/>
              </p:cNvSpPr>
              <p:nvPr/>
            </p:nvSpPr>
            <p:spPr bwMode="auto">
              <a:xfrm>
                <a:off x="3469" y="3883"/>
                <a:ext cx="843" cy="273"/>
              </a:xfrm>
              <a:custGeom>
                <a:avLst/>
                <a:gdLst>
                  <a:gd name="T0" fmla="*/ 0 w 843"/>
                  <a:gd name="T1" fmla="*/ 0 h 273"/>
                  <a:gd name="T2" fmla="*/ 843 w 843"/>
                  <a:gd name="T3" fmla="*/ 273 h 2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</a:cxnLst>
                <a:rect l="0" t="0" r="r" b="b"/>
                <a:pathLst>
                  <a:path w="843" h="273">
                    <a:moveTo>
                      <a:pt x="0" y="0"/>
                    </a:moveTo>
                    <a:lnTo>
                      <a:pt x="843" y="273"/>
                    </a:lnTo>
                  </a:path>
                </a:pathLst>
              </a:custGeom>
              <a:noFill/>
              <a:ln w="9525">
                <a:solidFill>
                  <a:sysClr val="windowText" lastClr="000000"/>
                </a:solidFill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</p:grpSp>
      </p:grpSp>
      <p:graphicFrame>
        <p:nvGraphicFramePr>
          <p:cNvPr id="121" name="Object 6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57999151"/>
              </p:ext>
            </p:extLst>
          </p:nvPr>
        </p:nvGraphicFramePr>
        <p:xfrm>
          <a:off x="1896020" y="4554789"/>
          <a:ext cx="312738" cy="539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2" name="Equation" r:id="rId6" imgW="228600" imgH="393480" progId="Equation.DSMT4">
                  <p:embed/>
                </p:oleObj>
              </mc:Choice>
              <mc:Fallback>
                <p:oleObj name="Equation" r:id="rId6" imgW="228600" imgH="39348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96020" y="4554789"/>
                        <a:ext cx="312738" cy="539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2" name="Text Box 68"/>
          <p:cNvSpPr txBox="1">
            <a:spLocks noChangeArrowheads="1"/>
          </p:cNvSpPr>
          <p:nvPr/>
        </p:nvSpPr>
        <p:spPr bwMode="auto">
          <a:xfrm>
            <a:off x="5023395" y="2638676"/>
            <a:ext cx="719138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en-US" sz="2000" b="0" i="0" u="none" strike="noStrike" kern="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</a:rPr>
              <a:t>red</a:t>
            </a:r>
          </a:p>
        </p:txBody>
      </p:sp>
      <p:sp>
        <p:nvSpPr>
          <p:cNvPr id="123" name="Text Box 69"/>
          <p:cNvSpPr txBox="1">
            <a:spLocks noChangeArrowheads="1"/>
          </p:cNvSpPr>
          <p:nvPr/>
        </p:nvSpPr>
        <p:spPr bwMode="auto">
          <a:xfrm>
            <a:off x="4985295" y="3462589"/>
            <a:ext cx="719138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en-US" sz="2000" b="0" i="0" u="none" strike="noStrike" kern="0" cap="none" spc="0" normalizeH="0" baseline="0" noProof="0">
                <a:ln>
                  <a:noFill/>
                </a:ln>
                <a:solidFill>
                  <a:srgbClr val="3333FF"/>
                </a:solidFill>
                <a:effectLst/>
                <a:uLnTx/>
                <a:uFillTx/>
              </a:rPr>
              <a:t>blue</a:t>
            </a:r>
          </a:p>
        </p:txBody>
      </p:sp>
      <p:sp>
        <p:nvSpPr>
          <p:cNvPr id="124" name="Text Box 72"/>
          <p:cNvSpPr txBox="1">
            <a:spLocks noChangeArrowheads="1"/>
          </p:cNvSpPr>
          <p:nvPr/>
        </p:nvSpPr>
        <p:spPr bwMode="auto">
          <a:xfrm>
            <a:off x="4915445" y="4434139"/>
            <a:ext cx="719138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en-US" sz="2000" b="0" i="0" u="none" strike="noStrike" kern="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</a:rPr>
              <a:t>red</a:t>
            </a:r>
          </a:p>
        </p:txBody>
      </p:sp>
      <p:sp>
        <p:nvSpPr>
          <p:cNvPr id="125" name="Text Box 73"/>
          <p:cNvSpPr txBox="1">
            <a:spLocks noChangeArrowheads="1"/>
          </p:cNvSpPr>
          <p:nvPr/>
        </p:nvSpPr>
        <p:spPr bwMode="auto">
          <a:xfrm>
            <a:off x="4877345" y="5251701"/>
            <a:ext cx="719138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en-US" sz="2000" b="0" i="0" u="none" strike="noStrike" kern="0" cap="none" spc="0" normalizeH="0" baseline="0" noProof="0">
                <a:ln>
                  <a:noFill/>
                </a:ln>
                <a:solidFill>
                  <a:srgbClr val="3333FF"/>
                </a:solidFill>
                <a:effectLst/>
                <a:uLnTx/>
                <a:uFillTx/>
              </a:rPr>
              <a:t>blue</a:t>
            </a:r>
          </a:p>
        </p:txBody>
      </p:sp>
      <p:graphicFrame>
        <p:nvGraphicFramePr>
          <p:cNvPr id="126" name="Object 7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2940366"/>
              </p:ext>
            </p:extLst>
          </p:nvPr>
        </p:nvGraphicFramePr>
        <p:xfrm>
          <a:off x="1883320" y="3091114"/>
          <a:ext cx="312738" cy="5381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3" name="Equation" r:id="rId8" imgW="228600" imgH="393480" progId="Equation.DSMT4">
                  <p:embed/>
                </p:oleObj>
              </mc:Choice>
              <mc:Fallback>
                <p:oleObj name="Equation" r:id="rId8" imgW="228600" imgH="39348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83320" y="3091114"/>
                        <a:ext cx="312738" cy="5381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27" name="Group 81"/>
          <p:cNvGrpSpPr>
            <a:grpSpLocks/>
          </p:cNvGrpSpPr>
          <p:nvPr/>
        </p:nvGrpSpPr>
        <p:grpSpPr bwMode="auto">
          <a:xfrm>
            <a:off x="1326108" y="2852989"/>
            <a:ext cx="3625850" cy="1281112"/>
            <a:chOff x="329" y="2457"/>
            <a:chExt cx="2284" cy="807"/>
          </a:xfrm>
        </p:grpSpPr>
        <p:sp>
          <p:nvSpPr>
            <p:cNvPr id="128" name="Line 79"/>
            <p:cNvSpPr>
              <a:spLocks noChangeShapeType="1"/>
            </p:cNvSpPr>
            <p:nvPr/>
          </p:nvSpPr>
          <p:spPr bwMode="auto">
            <a:xfrm flipV="1">
              <a:off x="329" y="2679"/>
              <a:ext cx="1106" cy="58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129" name="Freeform 80"/>
            <p:cNvSpPr>
              <a:spLocks/>
            </p:cNvSpPr>
            <p:nvPr/>
          </p:nvSpPr>
          <p:spPr bwMode="auto">
            <a:xfrm>
              <a:off x="1765" y="2457"/>
              <a:ext cx="848" cy="203"/>
            </a:xfrm>
            <a:custGeom>
              <a:avLst/>
              <a:gdLst>
                <a:gd name="T0" fmla="*/ 0 w 848"/>
                <a:gd name="T1" fmla="*/ 203 h 203"/>
                <a:gd name="T2" fmla="*/ 848 w 848"/>
                <a:gd name="T3" fmla="*/ 0 h 2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848" h="203">
                  <a:moveTo>
                    <a:pt x="0" y="203"/>
                  </a:moveTo>
                  <a:lnTo>
                    <a:pt x="848" y="0"/>
                  </a:lnTo>
                </a:path>
              </a:pathLst>
            </a:custGeom>
            <a:noFill/>
            <a:ln w="28575" cmpd="sng">
              <a:solidFill>
                <a:srgbClr val="FF0000"/>
              </a:solidFill>
              <a:round/>
              <a:headEnd type="non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</p:grpSp>
      <p:grpSp>
        <p:nvGrpSpPr>
          <p:cNvPr id="130" name="Group 85"/>
          <p:cNvGrpSpPr>
            <a:grpSpLocks/>
          </p:cNvGrpSpPr>
          <p:nvPr/>
        </p:nvGrpSpPr>
        <p:grpSpPr bwMode="auto">
          <a:xfrm>
            <a:off x="1326108" y="3186364"/>
            <a:ext cx="3616325" cy="947737"/>
            <a:chOff x="329" y="2667"/>
            <a:chExt cx="2278" cy="597"/>
          </a:xfrm>
        </p:grpSpPr>
        <p:sp>
          <p:nvSpPr>
            <p:cNvPr id="131" name="Line 82"/>
            <p:cNvSpPr>
              <a:spLocks noChangeShapeType="1"/>
            </p:cNvSpPr>
            <p:nvPr/>
          </p:nvSpPr>
          <p:spPr bwMode="auto">
            <a:xfrm flipV="1">
              <a:off x="329" y="2679"/>
              <a:ext cx="1106" cy="58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132" name="Line 83"/>
            <p:cNvSpPr>
              <a:spLocks noChangeShapeType="1"/>
            </p:cNvSpPr>
            <p:nvPr/>
          </p:nvSpPr>
          <p:spPr bwMode="auto">
            <a:xfrm>
              <a:off x="1770" y="2667"/>
              <a:ext cx="837" cy="270"/>
            </a:xfrm>
            <a:prstGeom prst="line">
              <a:avLst/>
            </a:prstGeom>
            <a:noFill/>
            <a:ln w="28575">
              <a:solidFill>
                <a:srgbClr val="3333FF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</p:grpSp>
      <p:grpSp>
        <p:nvGrpSpPr>
          <p:cNvPr id="133" name="Group 88"/>
          <p:cNvGrpSpPr>
            <a:grpSpLocks/>
          </p:cNvGrpSpPr>
          <p:nvPr/>
        </p:nvGrpSpPr>
        <p:grpSpPr bwMode="auto">
          <a:xfrm>
            <a:off x="1349920" y="4146801"/>
            <a:ext cx="3556000" cy="812800"/>
            <a:chOff x="344" y="3272"/>
            <a:chExt cx="2240" cy="512"/>
          </a:xfrm>
        </p:grpSpPr>
        <p:sp>
          <p:nvSpPr>
            <p:cNvPr id="134" name="Line 86"/>
            <p:cNvSpPr>
              <a:spLocks noChangeShapeType="1"/>
            </p:cNvSpPr>
            <p:nvPr/>
          </p:nvSpPr>
          <p:spPr bwMode="auto">
            <a:xfrm>
              <a:off x="344" y="3272"/>
              <a:ext cx="1088" cy="512"/>
            </a:xfrm>
            <a:prstGeom prst="line">
              <a:avLst/>
            </a:prstGeom>
            <a:noFill/>
            <a:ln w="28575">
              <a:solidFill>
                <a:srgbClr val="3333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135" name="Line 87"/>
            <p:cNvSpPr>
              <a:spLocks noChangeShapeType="1"/>
            </p:cNvSpPr>
            <p:nvPr/>
          </p:nvSpPr>
          <p:spPr bwMode="auto">
            <a:xfrm flipV="1">
              <a:off x="1740" y="3576"/>
              <a:ext cx="844" cy="20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</p:grpSp>
      <p:grpSp>
        <p:nvGrpSpPr>
          <p:cNvPr id="136" name="Group 93"/>
          <p:cNvGrpSpPr>
            <a:grpSpLocks/>
          </p:cNvGrpSpPr>
          <p:nvPr/>
        </p:nvGrpSpPr>
        <p:grpSpPr bwMode="auto">
          <a:xfrm>
            <a:off x="1349920" y="4146801"/>
            <a:ext cx="3556000" cy="1250950"/>
            <a:chOff x="344" y="3272"/>
            <a:chExt cx="2240" cy="788"/>
          </a:xfrm>
        </p:grpSpPr>
        <p:sp>
          <p:nvSpPr>
            <p:cNvPr id="137" name="Line 91"/>
            <p:cNvSpPr>
              <a:spLocks noChangeShapeType="1"/>
            </p:cNvSpPr>
            <p:nvPr/>
          </p:nvSpPr>
          <p:spPr bwMode="auto">
            <a:xfrm>
              <a:off x="344" y="3272"/>
              <a:ext cx="1088" cy="512"/>
            </a:xfrm>
            <a:prstGeom prst="line">
              <a:avLst/>
            </a:prstGeom>
            <a:noFill/>
            <a:ln w="28575">
              <a:solidFill>
                <a:srgbClr val="3333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138" name="Line 92"/>
            <p:cNvSpPr>
              <a:spLocks noChangeShapeType="1"/>
            </p:cNvSpPr>
            <p:nvPr/>
          </p:nvSpPr>
          <p:spPr bwMode="auto">
            <a:xfrm>
              <a:off x="1740" y="3784"/>
              <a:ext cx="844" cy="276"/>
            </a:xfrm>
            <a:prstGeom prst="line">
              <a:avLst/>
            </a:prstGeom>
            <a:noFill/>
            <a:ln w="28575">
              <a:solidFill>
                <a:srgbClr val="3333FF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</p:grpSp>
      <p:graphicFrame>
        <p:nvGraphicFramePr>
          <p:cNvPr id="139" name="Object 9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81878289"/>
              </p:ext>
            </p:extLst>
          </p:nvPr>
        </p:nvGraphicFramePr>
        <p:xfrm>
          <a:off x="3956595" y="2568826"/>
          <a:ext cx="284163" cy="490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4" name="Equation" r:id="rId10" imgW="228600" imgH="393480" progId="Equation.DSMT4">
                  <p:embed/>
                </p:oleObj>
              </mc:Choice>
              <mc:Fallback>
                <p:oleObj name="Equation" r:id="rId10" imgW="228600" imgH="39348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56595" y="2568826"/>
                        <a:ext cx="284163" cy="4905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0" name="Object 9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71225663"/>
              </p:ext>
            </p:extLst>
          </p:nvPr>
        </p:nvGraphicFramePr>
        <p:xfrm>
          <a:off x="3953420" y="3384801"/>
          <a:ext cx="285750" cy="4937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5" name="Equation" r:id="rId11" imgW="228600" imgH="393480" progId="Equation.DSMT4">
                  <p:embed/>
                </p:oleObj>
              </mc:Choice>
              <mc:Fallback>
                <p:oleObj name="Equation" r:id="rId11" imgW="228600" imgH="39348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53420" y="3384801"/>
                        <a:ext cx="285750" cy="4937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1" name="Object 9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56866701"/>
              </p:ext>
            </p:extLst>
          </p:nvPr>
        </p:nvGraphicFramePr>
        <p:xfrm>
          <a:off x="3986758" y="4253164"/>
          <a:ext cx="285750" cy="493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6" name="Equation" r:id="rId12" imgW="228600" imgH="393480" progId="Equation.DSMT4">
                  <p:embed/>
                </p:oleObj>
              </mc:Choice>
              <mc:Fallback>
                <p:oleObj name="Equation" r:id="rId12" imgW="228600" imgH="39348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86758" y="4253164"/>
                        <a:ext cx="285750" cy="4937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2" name="Object 9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70466902"/>
              </p:ext>
            </p:extLst>
          </p:nvPr>
        </p:nvGraphicFramePr>
        <p:xfrm>
          <a:off x="3956595" y="5167564"/>
          <a:ext cx="285750" cy="493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7" name="Equation" r:id="rId13" imgW="228600" imgH="393480" progId="Equation.DSMT4">
                  <p:embed/>
                </p:oleObj>
              </mc:Choice>
              <mc:Fallback>
                <p:oleObj name="Equation" r:id="rId13" imgW="228600" imgH="39348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56595" y="5167564"/>
                        <a:ext cx="285750" cy="4937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whoosh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chime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chime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chime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chime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whoosh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chime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chime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chime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chime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5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chime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2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chime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7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chime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2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chime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whoosh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whoosh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whoosh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9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whoosh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5" grpId="0"/>
      <p:bldP spid="106" grpId="0"/>
      <p:bldP spid="122" grpId="0"/>
      <p:bldP spid="123" grpId="0"/>
      <p:bldP spid="124" grpId="0"/>
      <p:bldP spid="12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37160" y="182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137160" y="182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896112" y="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REPLACEMENT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896112" y="27432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Probabilities Stay the SAME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37160" y="877824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57200" y="8778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Bag: 3 red, 7 blue (10). Take one, PUT IT BACK, take another.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sets of branches are identical.</a:t>
            </a:r>
            <a:endParaRPr lang="en-US" sz="1350" dirty="0"/>
          </a:p>
        </p:txBody>
      </p:sp>
      <p:sp>
        <p:nvSpPr>
          <p:cNvPr id="52" name="Text 50"/>
          <p:cNvSpPr/>
          <p:nvPr/>
        </p:nvSpPr>
        <p:spPr>
          <a:xfrm>
            <a:off x="3822192" y="121615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1200" dirty="0"/>
          </a:p>
        </p:txBody>
      </p:sp>
      <p:grpSp>
        <p:nvGrpSpPr>
          <p:cNvPr id="67" name="Group 21"/>
          <p:cNvGrpSpPr>
            <a:grpSpLocks/>
          </p:cNvGrpSpPr>
          <p:nvPr/>
        </p:nvGrpSpPr>
        <p:grpSpPr bwMode="auto">
          <a:xfrm>
            <a:off x="7553325" y="5925517"/>
            <a:ext cx="1193800" cy="900112"/>
            <a:chOff x="3831" y="3270"/>
            <a:chExt cx="836" cy="630"/>
          </a:xfrm>
        </p:grpSpPr>
        <p:grpSp>
          <p:nvGrpSpPr>
            <p:cNvPr id="68" name="Group 22"/>
            <p:cNvGrpSpPr>
              <a:grpSpLocks/>
            </p:cNvGrpSpPr>
            <p:nvPr/>
          </p:nvGrpSpPr>
          <p:grpSpPr bwMode="auto">
            <a:xfrm>
              <a:off x="3831" y="3581"/>
              <a:ext cx="351" cy="318"/>
              <a:chOff x="703" y="2704"/>
              <a:chExt cx="537" cy="487"/>
            </a:xfrm>
          </p:grpSpPr>
          <p:pic>
            <p:nvPicPr>
              <p:cNvPr id="70" name="Picture 23" descr="Money Bag 05"/>
              <p:cNvPicPr>
                <a:picLocks noChangeAspect="1" noChangeArrowheads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03" y="2704"/>
                <a:ext cx="537" cy="48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1" name="AutoShape 24"/>
              <p:cNvSpPr>
                <a:spLocks noChangeArrowheads="1"/>
              </p:cNvSpPr>
              <p:nvPr/>
            </p:nvSpPr>
            <p:spPr bwMode="auto">
              <a:xfrm>
                <a:off x="850" y="2878"/>
                <a:ext cx="64" cy="64"/>
              </a:xfrm>
              <a:prstGeom prst="cube">
                <a:avLst>
                  <a:gd name="adj" fmla="val 25000"/>
                </a:avLst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GB">
                  <a:solidFill>
                    <a:srgbClr val="000000"/>
                  </a:solidFill>
                </a:endParaRPr>
              </a:p>
            </p:txBody>
          </p:sp>
          <p:sp>
            <p:nvSpPr>
              <p:cNvPr id="72" name="AutoShape 25"/>
              <p:cNvSpPr>
                <a:spLocks noChangeArrowheads="1"/>
              </p:cNvSpPr>
              <p:nvPr/>
            </p:nvSpPr>
            <p:spPr bwMode="auto">
              <a:xfrm>
                <a:off x="986" y="3014"/>
                <a:ext cx="64" cy="64"/>
              </a:xfrm>
              <a:prstGeom prst="cube">
                <a:avLst>
                  <a:gd name="adj" fmla="val 25000"/>
                </a:avLst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GB">
                  <a:solidFill>
                    <a:srgbClr val="000000"/>
                  </a:solidFill>
                </a:endParaRPr>
              </a:p>
            </p:txBody>
          </p:sp>
          <p:sp>
            <p:nvSpPr>
              <p:cNvPr id="73" name="AutoShape 26"/>
              <p:cNvSpPr>
                <a:spLocks noChangeArrowheads="1"/>
              </p:cNvSpPr>
              <p:nvPr/>
            </p:nvSpPr>
            <p:spPr bwMode="auto">
              <a:xfrm>
                <a:off x="948" y="2928"/>
                <a:ext cx="64" cy="64"/>
              </a:xfrm>
              <a:prstGeom prst="cube">
                <a:avLst>
                  <a:gd name="adj" fmla="val 25000"/>
                </a:avLst>
              </a:prstGeom>
              <a:solidFill>
                <a:srgbClr val="3333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GB">
                  <a:solidFill>
                    <a:srgbClr val="000000"/>
                  </a:solidFill>
                </a:endParaRPr>
              </a:p>
            </p:txBody>
          </p:sp>
          <p:sp>
            <p:nvSpPr>
              <p:cNvPr id="74" name="AutoShape 27"/>
              <p:cNvSpPr>
                <a:spLocks noChangeArrowheads="1"/>
              </p:cNvSpPr>
              <p:nvPr/>
            </p:nvSpPr>
            <p:spPr bwMode="auto">
              <a:xfrm>
                <a:off x="871" y="3088"/>
                <a:ext cx="64" cy="64"/>
              </a:xfrm>
              <a:prstGeom prst="cube">
                <a:avLst>
                  <a:gd name="adj" fmla="val 25000"/>
                </a:avLst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GB">
                  <a:solidFill>
                    <a:srgbClr val="000000"/>
                  </a:solidFill>
                </a:endParaRPr>
              </a:p>
            </p:txBody>
          </p:sp>
          <p:sp>
            <p:nvSpPr>
              <p:cNvPr id="75" name="AutoShape 28"/>
              <p:cNvSpPr>
                <a:spLocks noChangeArrowheads="1"/>
              </p:cNvSpPr>
              <p:nvPr/>
            </p:nvSpPr>
            <p:spPr bwMode="auto">
              <a:xfrm>
                <a:off x="991" y="2827"/>
                <a:ext cx="64" cy="64"/>
              </a:xfrm>
              <a:prstGeom prst="cube">
                <a:avLst>
                  <a:gd name="adj" fmla="val 25000"/>
                </a:avLst>
              </a:prstGeom>
              <a:solidFill>
                <a:srgbClr val="3333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GB">
                  <a:solidFill>
                    <a:srgbClr val="000000"/>
                  </a:solidFill>
                </a:endParaRPr>
              </a:p>
            </p:txBody>
          </p:sp>
          <p:sp>
            <p:nvSpPr>
              <p:cNvPr id="76" name="AutoShape 29"/>
              <p:cNvSpPr>
                <a:spLocks noChangeArrowheads="1"/>
              </p:cNvSpPr>
              <p:nvPr/>
            </p:nvSpPr>
            <p:spPr bwMode="auto">
              <a:xfrm>
                <a:off x="1061" y="2948"/>
                <a:ext cx="64" cy="64"/>
              </a:xfrm>
              <a:prstGeom prst="cube">
                <a:avLst>
                  <a:gd name="adj" fmla="val 25000"/>
                </a:avLst>
              </a:prstGeom>
              <a:solidFill>
                <a:srgbClr val="3333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GB">
                  <a:solidFill>
                    <a:srgbClr val="000000"/>
                  </a:solidFill>
                </a:endParaRPr>
              </a:p>
            </p:txBody>
          </p:sp>
          <p:sp>
            <p:nvSpPr>
              <p:cNvPr id="77" name="AutoShape 30"/>
              <p:cNvSpPr>
                <a:spLocks noChangeArrowheads="1"/>
              </p:cNvSpPr>
              <p:nvPr/>
            </p:nvSpPr>
            <p:spPr bwMode="auto">
              <a:xfrm>
                <a:off x="765" y="3057"/>
                <a:ext cx="64" cy="64"/>
              </a:xfrm>
              <a:prstGeom prst="cube">
                <a:avLst>
                  <a:gd name="adj" fmla="val 25000"/>
                </a:avLst>
              </a:prstGeom>
              <a:solidFill>
                <a:srgbClr val="3333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GB">
                  <a:solidFill>
                    <a:srgbClr val="000000"/>
                  </a:solidFill>
                </a:endParaRPr>
              </a:p>
            </p:txBody>
          </p:sp>
          <p:sp>
            <p:nvSpPr>
              <p:cNvPr id="78" name="AutoShape 31"/>
              <p:cNvSpPr>
                <a:spLocks noChangeArrowheads="1"/>
              </p:cNvSpPr>
              <p:nvPr/>
            </p:nvSpPr>
            <p:spPr bwMode="auto">
              <a:xfrm>
                <a:off x="1083" y="3075"/>
                <a:ext cx="64" cy="64"/>
              </a:xfrm>
              <a:prstGeom prst="cube">
                <a:avLst>
                  <a:gd name="adj" fmla="val 25000"/>
                </a:avLst>
              </a:prstGeom>
              <a:solidFill>
                <a:srgbClr val="3333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GB">
                  <a:solidFill>
                    <a:srgbClr val="000000"/>
                  </a:solidFill>
                </a:endParaRPr>
              </a:p>
            </p:txBody>
          </p:sp>
          <p:sp>
            <p:nvSpPr>
              <p:cNvPr id="79" name="AutoShape 32"/>
              <p:cNvSpPr>
                <a:spLocks noChangeArrowheads="1"/>
              </p:cNvSpPr>
              <p:nvPr/>
            </p:nvSpPr>
            <p:spPr bwMode="auto">
              <a:xfrm>
                <a:off x="970" y="3103"/>
                <a:ext cx="64" cy="64"/>
              </a:xfrm>
              <a:prstGeom prst="cube">
                <a:avLst>
                  <a:gd name="adj" fmla="val 25000"/>
                </a:avLst>
              </a:prstGeom>
              <a:solidFill>
                <a:srgbClr val="3333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GB">
                  <a:solidFill>
                    <a:srgbClr val="000000"/>
                  </a:solidFill>
                </a:endParaRPr>
              </a:p>
            </p:txBody>
          </p:sp>
          <p:sp>
            <p:nvSpPr>
              <p:cNvPr id="80" name="AutoShape 33"/>
              <p:cNvSpPr>
                <a:spLocks noChangeArrowheads="1"/>
              </p:cNvSpPr>
              <p:nvPr/>
            </p:nvSpPr>
            <p:spPr bwMode="auto">
              <a:xfrm>
                <a:off x="860" y="2978"/>
                <a:ext cx="64" cy="64"/>
              </a:xfrm>
              <a:prstGeom prst="cube">
                <a:avLst>
                  <a:gd name="adj" fmla="val 25000"/>
                </a:avLst>
              </a:prstGeom>
              <a:solidFill>
                <a:srgbClr val="3333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GB">
                  <a:solidFill>
                    <a:srgbClr val="000000"/>
                  </a:solidFill>
                </a:endParaRPr>
              </a:p>
            </p:txBody>
          </p:sp>
        </p:grpSp>
        <p:pic>
          <p:nvPicPr>
            <p:cNvPr id="69" name="Picture 34" descr="Boy - Happy"/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47" y="3270"/>
              <a:ext cx="520" cy="63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1" name="Group 158"/>
          <p:cNvGrpSpPr>
            <a:grpSpLocks/>
          </p:cNvGrpSpPr>
          <p:nvPr/>
        </p:nvGrpSpPr>
        <p:grpSpPr bwMode="auto">
          <a:xfrm>
            <a:off x="438150" y="1951435"/>
            <a:ext cx="8077200" cy="4592638"/>
            <a:chOff x="276" y="912"/>
            <a:chExt cx="5088" cy="2893"/>
          </a:xfrm>
        </p:grpSpPr>
        <p:sp>
          <p:nvSpPr>
            <p:cNvPr id="82" name="Rectangle 157"/>
            <p:cNvSpPr>
              <a:spLocks noChangeArrowheads="1"/>
            </p:cNvSpPr>
            <p:nvPr/>
          </p:nvSpPr>
          <p:spPr bwMode="auto">
            <a:xfrm>
              <a:off x="5028" y="912"/>
              <a:ext cx="336" cy="2124"/>
            </a:xfrm>
            <a:prstGeom prst="rect">
              <a:avLst/>
            </a:prstGeom>
            <a:solidFill>
              <a:srgbClr val="ECC5B2">
                <a:alpha val="48000"/>
              </a:srgb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en-GB">
                <a:solidFill>
                  <a:srgbClr val="000000"/>
                </a:solidFill>
              </a:endParaRPr>
            </a:p>
          </p:txBody>
        </p:sp>
        <p:grpSp>
          <p:nvGrpSpPr>
            <p:cNvPr id="83" name="Group 156"/>
            <p:cNvGrpSpPr>
              <a:grpSpLocks/>
            </p:cNvGrpSpPr>
            <p:nvPr/>
          </p:nvGrpSpPr>
          <p:grpSpPr bwMode="auto">
            <a:xfrm>
              <a:off x="276" y="956"/>
              <a:ext cx="2124" cy="2849"/>
              <a:chOff x="276" y="956"/>
              <a:chExt cx="2124" cy="2849"/>
            </a:xfrm>
          </p:grpSpPr>
          <p:sp>
            <p:nvSpPr>
              <p:cNvPr id="84" name="Rectangle 154"/>
              <p:cNvSpPr>
                <a:spLocks noChangeArrowheads="1"/>
              </p:cNvSpPr>
              <p:nvPr/>
            </p:nvSpPr>
            <p:spPr bwMode="auto">
              <a:xfrm>
                <a:off x="2040" y="2040"/>
                <a:ext cx="360" cy="432"/>
              </a:xfrm>
              <a:prstGeom prst="rect">
                <a:avLst/>
              </a:prstGeom>
              <a:solidFill>
                <a:srgbClr val="FFCCFF">
                  <a:alpha val="46001"/>
                </a:srgb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GB">
                  <a:solidFill>
                    <a:srgbClr val="000000"/>
                  </a:solidFill>
                </a:endParaRPr>
              </a:p>
            </p:txBody>
          </p:sp>
          <p:sp>
            <p:nvSpPr>
              <p:cNvPr id="85" name="Rectangle 155"/>
              <p:cNvSpPr>
                <a:spLocks noChangeArrowheads="1"/>
              </p:cNvSpPr>
              <p:nvPr/>
            </p:nvSpPr>
            <p:spPr bwMode="auto">
              <a:xfrm>
                <a:off x="2032" y="2536"/>
                <a:ext cx="360" cy="432"/>
              </a:xfrm>
              <a:prstGeom prst="rect">
                <a:avLst/>
              </a:prstGeom>
              <a:solidFill>
                <a:srgbClr val="FFCCFF">
                  <a:alpha val="46001"/>
                </a:srgb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GB">
                  <a:solidFill>
                    <a:srgbClr val="000000"/>
                  </a:solidFill>
                </a:endParaRPr>
              </a:p>
            </p:txBody>
          </p:sp>
          <p:sp>
            <p:nvSpPr>
              <p:cNvPr id="86" name="Rectangle 152"/>
              <p:cNvSpPr>
                <a:spLocks noChangeArrowheads="1"/>
              </p:cNvSpPr>
              <p:nvPr/>
            </p:nvSpPr>
            <p:spPr bwMode="auto">
              <a:xfrm>
                <a:off x="2024" y="956"/>
                <a:ext cx="360" cy="432"/>
              </a:xfrm>
              <a:prstGeom prst="rect">
                <a:avLst/>
              </a:prstGeom>
              <a:solidFill>
                <a:srgbClr val="FFFFCC">
                  <a:alpha val="46001"/>
                </a:srgb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GB">
                  <a:solidFill>
                    <a:srgbClr val="000000"/>
                  </a:solidFill>
                </a:endParaRPr>
              </a:p>
            </p:txBody>
          </p:sp>
          <p:sp>
            <p:nvSpPr>
              <p:cNvPr id="87" name="Rectangle 153"/>
              <p:cNvSpPr>
                <a:spLocks noChangeArrowheads="1"/>
              </p:cNvSpPr>
              <p:nvPr/>
            </p:nvSpPr>
            <p:spPr bwMode="auto">
              <a:xfrm>
                <a:off x="1992" y="1452"/>
                <a:ext cx="360" cy="432"/>
              </a:xfrm>
              <a:prstGeom prst="rect">
                <a:avLst/>
              </a:prstGeom>
              <a:solidFill>
                <a:srgbClr val="FFFFCC">
                  <a:alpha val="46001"/>
                </a:srgb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GB">
                  <a:solidFill>
                    <a:srgbClr val="000000"/>
                  </a:solidFill>
                </a:endParaRPr>
              </a:p>
            </p:txBody>
          </p:sp>
          <p:sp>
            <p:nvSpPr>
              <p:cNvPr id="88" name="Rectangle 151"/>
              <p:cNvSpPr>
                <a:spLocks noChangeArrowheads="1"/>
              </p:cNvSpPr>
              <p:nvPr/>
            </p:nvSpPr>
            <p:spPr bwMode="auto">
              <a:xfrm>
                <a:off x="724" y="2200"/>
                <a:ext cx="360" cy="432"/>
              </a:xfrm>
              <a:prstGeom prst="rect">
                <a:avLst/>
              </a:prstGeom>
              <a:solidFill>
                <a:srgbClr val="BBE0E3">
                  <a:alpha val="46001"/>
                </a:srgb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GB">
                  <a:solidFill>
                    <a:srgbClr val="000000"/>
                  </a:solidFill>
                </a:endParaRPr>
              </a:p>
            </p:txBody>
          </p:sp>
          <p:sp>
            <p:nvSpPr>
              <p:cNvPr id="89" name="Rectangle 150"/>
              <p:cNvSpPr>
                <a:spLocks noChangeArrowheads="1"/>
              </p:cNvSpPr>
              <p:nvPr/>
            </p:nvSpPr>
            <p:spPr bwMode="auto">
              <a:xfrm>
                <a:off x="720" y="1260"/>
                <a:ext cx="360" cy="432"/>
              </a:xfrm>
              <a:prstGeom prst="rect">
                <a:avLst/>
              </a:prstGeom>
              <a:solidFill>
                <a:srgbClr val="BBE0E3">
                  <a:alpha val="46001"/>
                </a:srgb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GB">
                  <a:solidFill>
                    <a:srgbClr val="000000"/>
                  </a:solidFill>
                </a:endParaRPr>
              </a:p>
            </p:txBody>
          </p:sp>
          <p:sp>
            <p:nvSpPr>
              <p:cNvPr id="90" name="Text Box 96"/>
              <p:cNvSpPr txBox="1">
                <a:spLocks noChangeArrowheads="1"/>
              </p:cNvSpPr>
              <p:nvPr/>
            </p:nvSpPr>
            <p:spPr bwMode="auto">
              <a:xfrm>
                <a:off x="276" y="2700"/>
                <a:ext cx="1176" cy="110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/>
              <a:p>
                <a:pPr algn="ctr" fontAlgn="base">
                  <a:spcBef>
                    <a:spcPct val="50000"/>
                  </a:spcBef>
                  <a:spcAft>
                    <a:spcPct val="0"/>
                  </a:spcAft>
                </a:pPr>
                <a:r>
                  <a:rPr lang="en-GB" altLang="en-US" dirty="0">
                    <a:solidFill>
                      <a:srgbClr val="000000"/>
                    </a:solidFill>
                  </a:rPr>
                  <a:t>The probabilities for each event are shown along the arm of each branch and they </a:t>
                </a:r>
                <a:r>
                  <a:rPr lang="en-GB" altLang="en-US" dirty="0">
                    <a:solidFill>
                      <a:srgbClr val="3333FF"/>
                    </a:solidFill>
                  </a:rPr>
                  <a:t>sum to 1.</a:t>
                </a:r>
              </a:p>
            </p:txBody>
          </p:sp>
        </p:grpSp>
      </p:grpSp>
      <p:grpSp>
        <p:nvGrpSpPr>
          <p:cNvPr id="91" name="Group 145"/>
          <p:cNvGrpSpPr>
            <a:grpSpLocks/>
          </p:cNvGrpSpPr>
          <p:nvPr/>
        </p:nvGrpSpPr>
        <p:grpSpPr bwMode="auto">
          <a:xfrm>
            <a:off x="627063" y="1678384"/>
            <a:ext cx="7920037" cy="3530598"/>
            <a:chOff x="395" y="740"/>
            <a:chExt cx="4989" cy="2224"/>
          </a:xfrm>
        </p:grpSpPr>
        <p:sp>
          <p:nvSpPr>
            <p:cNvPr id="92" name="Text Box 102"/>
            <p:cNvSpPr txBox="1">
              <a:spLocks noChangeArrowheads="1"/>
            </p:cNvSpPr>
            <p:nvPr/>
          </p:nvSpPr>
          <p:spPr bwMode="auto">
            <a:xfrm>
              <a:off x="1550" y="1244"/>
              <a:ext cx="453" cy="2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</a:pPr>
              <a:r>
                <a:rPr lang="en-GB" altLang="en-US" sz="2000">
                  <a:solidFill>
                    <a:srgbClr val="FF0000"/>
                  </a:solidFill>
                </a:rPr>
                <a:t>red</a:t>
              </a:r>
            </a:p>
          </p:txBody>
        </p:sp>
        <p:sp>
          <p:nvSpPr>
            <p:cNvPr id="93" name="Text Box 103"/>
            <p:cNvSpPr txBox="1">
              <a:spLocks noChangeArrowheads="1"/>
            </p:cNvSpPr>
            <p:nvPr/>
          </p:nvSpPr>
          <p:spPr bwMode="auto">
            <a:xfrm>
              <a:off x="1514" y="2429"/>
              <a:ext cx="453" cy="2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</a:pPr>
              <a:r>
                <a:rPr lang="en-GB" altLang="en-US" sz="2000">
                  <a:solidFill>
                    <a:srgbClr val="3333FF"/>
                  </a:solidFill>
                </a:rPr>
                <a:t>blue</a:t>
              </a:r>
            </a:p>
          </p:txBody>
        </p:sp>
        <p:grpSp>
          <p:nvGrpSpPr>
            <p:cNvPr id="94" name="Group 104"/>
            <p:cNvGrpSpPr>
              <a:grpSpLocks/>
            </p:cNvGrpSpPr>
            <p:nvPr/>
          </p:nvGrpSpPr>
          <p:grpSpPr bwMode="auto">
            <a:xfrm>
              <a:off x="395" y="849"/>
              <a:ext cx="1156" cy="1649"/>
              <a:chOff x="2009" y="2231"/>
              <a:chExt cx="1156" cy="1649"/>
            </a:xfrm>
          </p:grpSpPr>
          <p:grpSp>
            <p:nvGrpSpPr>
              <p:cNvPr id="118" name="Group 105"/>
              <p:cNvGrpSpPr>
                <a:grpSpLocks/>
              </p:cNvGrpSpPr>
              <p:nvPr/>
            </p:nvGrpSpPr>
            <p:grpSpPr bwMode="auto">
              <a:xfrm>
                <a:off x="2073" y="2779"/>
                <a:ext cx="1092" cy="1101"/>
                <a:chOff x="1565" y="2614"/>
                <a:chExt cx="1092" cy="1101"/>
              </a:xfrm>
            </p:grpSpPr>
            <p:sp>
              <p:nvSpPr>
                <p:cNvPr id="120" name="Line 106"/>
                <p:cNvSpPr>
                  <a:spLocks noChangeShapeType="1"/>
                </p:cNvSpPr>
                <p:nvPr/>
              </p:nvSpPr>
              <p:spPr bwMode="auto">
                <a:xfrm flipV="1">
                  <a:off x="1565" y="2614"/>
                  <a:ext cx="1089" cy="59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GB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21" name="Freeform 107"/>
                <p:cNvSpPr>
                  <a:spLocks/>
                </p:cNvSpPr>
                <p:nvPr/>
              </p:nvSpPr>
              <p:spPr bwMode="auto">
                <a:xfrm>
                  <a:off x="1565" y="3203"/>
                  <a:ext cx="1092" cy="512"/>
                </a:xfrm>
                <a:custGeom>
                  <a:avLst/>
                  <a:gdLst>
                    <a:gd name="T0" fmla="*/ 0 w 1092"/>
                    <a:gd name="T1" fmla="*/ 0 h 512"/>
                    <a:gd name="T2" fmla="*/ 1092 w 1092"/>
                    <a:gd name="T3" fmla="*/ 512 h 5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</a:cxnLst>
                  <a:rect l="0" t="0" r="r" b="b"/>
                  <a:pathLst>
                    <a:path w="1092" h="512">
                      <a:moveTo>
                        <a:pt x="0" y="0"/>
                      </a:moveTo>
                      <a:lnTo>
                        <a:pt x="1092" y="512"/>
                      </a:lnTo>
                    </a:path>
                  </a:pathLst>
                </a:custGeom>
                <a:noFill/>
                <a:ln w="9525">
                  <a:solidFill>
                    <a:schemeClr val="tx1"/>
                  </a:solidFill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GB">
                    <a:solidFill>
                      <a:srgbClr val="000000"/>
                    </a:solidFill>
                  </a:endParaRPr>
                </a:p>
              </p:txBody>
            </p:sp>
          </p:grpSp>
          <p:sp>
            <p:nvSpPr>
              <p:cNvPr id="119" name="Text Box 108"/>
              <p:cNvSpPr txBox="1">
                <a:spLocks noChangeArrowheads="1"/>
              </p:cNvSpPr>
              <p:nvPr/>
            </p:nvSpPr>
            <p:spPr bwMode="auto">
              <a:xfrm>
                <a:off x="2009" y="2231"/>
                <a:ext cx="907" cy="2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/>
              <a:p>
                <a:pPr fontAlgn="base">
                  <a:spcBef>
                    <a:spcPct val="50000"/>
                  </a:spcBef>
                  <a:spcAft>
                    <a:spcPct val="0"/>
                  </a:spcAft>
                </a:pPr>
                <a:r>
                  <a:rPr lang="en-GB" altLang="en-US" dirty="0"/>
                  <a:t>First Choice</a:t>
                </a:r>
              </a:p>
            </p:txBody>
          </p:sp>
        </p:grpSp>
        <p:grpSp>
          <p:nvGrpSpPr>
            <p:cNvPr id="95" name="Group 109"/>
            <p:cNvGrpSpPr>
              <a:grpSpLocks/>
            </p:cNvGrpSpPr>
            <p:nvPr/>
          </p:nvGrpSpPr>
          <p:grpSpPr bwMode="auto">
            <a:xfrm>
              <a:off x="1755" y="740"/>
              <a:ext cx="1303" cy="2034"/>
              <a:chOff x="3369" y="2122"/>
              <a:chExt cx="1303" cy="2034"/>
            </a:xfrm>
          </p:grpSpPr>
          <p:grpSp>
            <p:nvGrpSpPr>
              <p:cNvPr id="110" name="Group 110"/>
              <p:cNvGrpSpPr>
                <a:grpSpLocks/>
              </p:cNvGrpSpPr>
              <p:nvPr/>
            </p:nvGrpSpPr>
            <p:grpSpPr bwMode="auto">
              <a:xfrm>
                <a:off x="3369" y="2122"/>
                <a:ext cx="1303" cy="914"/>
                <a:chOff x="3369" y="2122"/>
                <a:chExt cx="1303" cy="914"/>
              </a:xfrm>
            </p:grpSpPr>
            <p:grpSp>
              <p:nvGrpSpPr>
                <p:cNvPr id="114" name="Group 111"/>
                <p:cNvGrpSpPr>
                  <a:grpSpLocks/>
                </p:cNvGrpSpPr>
                <p:nvPr/>
              </p:nvGrpSpPr>
              <p:grpSpPr bwMode="auto">
                <a:xfrm>
                  <a:off x="3501" y="2556"/>
                  <a:ext cx="855" cy="480"/>
                  <a:chOff x="3501" y="2556"/>
                  <a:chExt cx="855" cy="480"/>
                </a:xfrm>
              </p:grpSpPr>
              <p:sp>
                <p:nvSpPr>
                  <p:cNvPr id="116" name="Freeform 112"/>
                  <p:cNvSpPr>
                    <a:spLocks/>
                  </p:cNvSpPr>
                  <p:nvPr/>
                </p:nvSpPr>
                <p:spPr bwMode="auto">
                  <a:xfrm>
                    <a:off x="3504" y="2556"/>
                    <a:ext cx="852" cy="204"/>
                  </a:xfrm>
                  <a:custGeom>
                    <a:avLst/>
                    <a:gdLst>
                      <a:gd name="T0" fmla="*/ 0 w 852"/>
                      <a:gd name="T1" fmla="*/ 204 h 204"/>
                      <a:gd name="T2" fmla="*/ 852 w 852"/>
                      <a:gd name="T3" fmla="*/ 0 h 20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</a:cxnLst>
                    <a:rect l="0" t="0" r="r" b="b"/>
                    <a:pathLst>
                      <a:path w="852" h="204">
                        <a:moveTo>
                          <a:pt x="0" y="204"/>
                        </a:moveTo>
                        <a:lnTo>
                          <a:pt x="852" y="0"/>
                        </a:lnTo>
                      </a:path>
                    </a:pathLst>
                  </a:custGeom>
                  <a:noFill/>
                  <a:ln w="9525">
                    <a:solidFill>
                      <a:schemeClr val="tx1"/>
                    </a:solidFill>
                    <a:round/>
                    <a:headEnd type="none" w="med" len="med"/>
                    <a:tailEnd type="none" w="med" len="med"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pPr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GB">
                      <a:solidFill>
                        <a:srgbClr val="000000"/>
                      </a:solidFill>
                    </a:endParaRPr>
                  </a:p>
                </p:txBody>
              </p:sp>
              <p:sp>
                <p:nvSpPr>
                  <p:cNvPr id="117" name="Freeform 113"/>
                  <p:cNvSpPr>
                    <a:spLocks/>
                  </p:cNvSpPr>
                  <p:nvPr/>
                </p:nvSpPr>
                <p:spPr bwMode="auto">
                  <a:xfrm>
                    <a:off x="3501" y="2763"/>
                    <a:ext cx="843" cy="273"/>
                  </a:xfrm>
                  <a:custGeom>
                    <a:avLst/>
                    <a:gdLst>
                      <a:gd name="T0" fmla="*/ 0 w 843"/>
                      <a:gd name="T1" fmla="*/ 0 h 273"/>
                      <a:gd name="T2" fmla="*/ 843 w 843"/>
                      <a:gd name="T3" fmla="*/ 273 h 27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</a:cxnLst>
                    <a:rect l="0" t="0" r="r" b="b"/>
                    <a:pathLst>
                      <a:path w="843" h="273">
                        <a:moveTo>
                          <a:pt x="0" y="0"/>
                        </a:moveTo>
                        <a:lnTo>
                          <a:pt x="843" y="273"/>
                        </a:lnTo>
                      </a:path>
                    </a:pathLst>
                  </a:custGeom>
                  <a:noFill/>
                  <a:ln w="9525">
                    <a:solidFill>
                      <a:schemeClr val="tx1"/>
                    </a:solidFill>
                    <a:round/>
                    <a:headEnd type="none" w="med" len="med"/>
                    <a:tailEnd type="none" w="med" len="med"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pPr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GB">
                      <a:solidFill>
                        <a:srgbClr val="000000"/>
                      </a:solidFill>
                    </a:endParaRPr>
                  </a:p>
                </p:txBody>
              </p:sp>
            </p:grpSp>
            <p:sp>
              <p:nvSpPr>
                <p:cNvPr id="115" name="Text Box 114"/>
                <p:cNvSpPr txBox="1">
                  <a:spLocks noChangeArrowheads="1"/>
                </p:cNvSpPr>
                <p:nvPr/>
              </p:nvSpPr>
              <p:spPr bwMode="auto">
                <a:xfrm>
                  <a:off x="3369" y="2122"/>
                  <a:ext cx="1303" cy="231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/>
                <a:p>
                  <a:pPr fontAlgn="base">
                    <a:spcBef>
                      <a:spcPct val="50000"/>
                    </a:spcBef>
                    <a:spcAft>
                      <a:spcPct val="0"/>
                    </a:spcAft>
                  </a:pPr>
                  <a:r>
                    <a:rPr lang="en-GB" altLang="en-US" dirty="0"/>
                    <a:t>Second Choice</a:t>
                  </a:r>
                </a:p>
              </p:txBody>
            </p:sp>
          </p:grpSp>
          <p:grpSp>
            <p:nvGrpSpPr>
              <p:cNvPr id="111" name="Group 115"/>
              <p:cNvGrpSpPr>
                <a:grpSpLocks/>
              </p:cNvGrpSpPr>
              <p:nvPr/>
            </p:nvGrpSpPr>
            <p:grpSpPr bwMode="auto">
              <a:xfrm>
                <a:off x="3469" y="3676"/>
                <a:ext cx="855" cy="480"/>
                <a:chOff x="3469" y="3676"/>
                <a:chExt cx="855" cy="480"/>
              </a:xfrm>
            </p:grpSpPr>
            <p:sp>
              <p:nvSpPr>
                <p:cNvPr id="112" name="Freeform 116"/>
                <p:cNvSpPr>
                  <a:spLocks/>
                </p:cNvSpPr>
                <p:nvPr/>
              </p:nvSpPr>
              <p:spPr bwMode="auto">
                <a:xfrm>
                  <a:off x="3472" y="3676"/>
                  <a:ext cx="852" cy="204"/>
                </a:xfrm>
                <a:custGeom>
                  <a:avLst/>
                  <a:gdLst>
                    <a:gd name="T0" fmla="*/ 0 w 852"/>
                    <a:gd name="T1" fmla="*/ 204 h 204"/>
                    <a:gd name="T2" fmla="*/ 852 w 852"/>
                    <a:gd name="T3" fmla="*/ 0 h 20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</a:cxnLst>
                  <a:rect l="0" t="0" r="r" b="b"/>
                  <a:pathLst>
                    <a:path w="852" h="204">
                      <a:moveTo>
                        <a:pt x="0" y="204"/>
                      </a:moveTo>
                      <a:lnTo>
                        <a:pt x="852" y="0"/>
                      </a:lnTo>
                    </a:path>
                  </a:pathLst>
                </a:custGeom>
                <a:noFill/>
                <a:ln w="9525">
                  <a:solidFill>
                    <a:schemeClr val="tx1"/>
                  </a:solidFill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GB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13" name="Freeform 117"/>
                <p:cNvSpPr>
                  <a:spLocks/>
                </p:cNvSpPr>
                <p:nvPr/>
              </p:nvSpPr>
              <p:spPr bwMode="auto">
                <a:xfrm>
                  <a:off x="3469" y="3883"/>
                  <a:ext cx="843" cy="273"/>
                </a:xfrm>
                <a:custGeom>
                  <a:avLst/>
                  <a:gdLst>
                    <a:gd name="T0" fmla="*/ 0 w 843"/>
                    <a:gd name="T1" fmla="*/ 0 h 273"/>
                    <a:gd name="T2" fmla="*/ 843 w 843"/>
                    <a:gd name="T3" fmla="*/ 273 h 27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</a:cxnLst>
                  <a:rect l="0" t="0" r="r" b="b"/>
                  <a:pathLst>
                    <a:path w="843" h="273">
                      <a:moveTo>
                        <a:pt x="0" y="0"/>
                      </a:moveTo>
                      <a:lnTo>
                        <a:pt x="843" y="273"/>
                      </a:lnTo>
                    </a:path>
                  </a:pathLst>
                </a:custGeom>
                <a:noFill/>
                <a:ln w="9525">
                  <a:solidFill>
                    <a:schemeClr val="tx1"/>
                  </a:solidFill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GB">
                    <a:solidFill>
                      <a:srgbClr val="000000"/>
                    </a:solidFill>
                  </a:endParaRPr>
                </a:p>
              </p:txBody>
            </p:sp>
          </p:grpSp>
        </p:grpSp>
        <p:graphicFrame>
          <p:nvGraphicFramePr>
            <p:cNvPr id="96" name="Object 118"/>
            <p:cNvGraphicFramePr>
              <a:graphicFrameLocks noChangeAspect="1"/>
            </p:cNvGraphicFramePr>
            <p:nvPr/>
          </p:nvGraphicFramePr>
          <p:xfrm>
            <a:off x="3226" y="978"/>
            <a:ext cx="2140" cy="39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060" name="Equation" r:id="rId7" imgW="2145960" imgH="393480" progId="Equation.DSMT4">
                    <p:embed/>
                  </p:oleObj>
                </mc:Choice>
                <mc:Fallback>
                  <p:oleObj name="Equation" r:id="rId7" imgW="2145960" imgH="393480" progId="Equation.DSMT4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226" y="978"/>
                          <a:ext cx="2140" cy="39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97" name="Object 119"/>
            <p:cNvGraphicFramePr>
              <a:graphicFrameLocks noChangeAspect="1"/>
            </p:cNvGraphicFramePr>
            <p:nvPr/>
          </p:nvGraphicFramePr>
          <p:xfrm>
            <a:off x="814" y="2245"/>
            <a:ext cx="197" cy="34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061" name="Equation" r:id="rId9" imgW="228600" imgH="393480" progId="Equation.DSMT4">
                    <p:embed/>
                  </p:oleObj>
                </mc:Choice>
                <mc:Fallback>
                  <p:oleObj name="Equation" r:id="rId9" imgW="228600" imgH="393480" progId="Equation.DSMT4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14" y="2245"/>
                          <a:ext cx="197" cy="34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8" name="Text Box 120"/>
            <p:cNvSpPr txBox="1">
              <a:spLocks noChangeArrowheads="1"/>
            </p:cNvSpPr>
            <p:nvPr/>
          </p:nvSpPr>
          <p:spPr bwMode="auto">
            <a:xfrm>
              <a:off x="2784" y="1038"/>
              <a:ext cx="453" cy="2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</a:pPr>
              <a:r>
                <a:rPr lang="en-GB" altLang="en-US" sz="2000">
                  <a:solidFill>
                    <a:srgbClr val="FF0000"/>
                  </a:solidFill>
                </a:rPr>
                <a:t>red</a:t>
              </a:r>
            </a:p>
          </p:txBody>
        </p:sp>
        <p:sp>
          <p:nvSpPr>
            <p:cNvPr id="99" name="Text Box 121"/>
            <p:cNvSpPr txBox="1">
              <a:spLocks noChangeArrowheads="1"/>
            </p:cNvSpPr>
            <p:nvPr/>
          </p:nvSpPr>
          <p:spPr bwMode="auto">
            <a:xfrm>
              <a:off x="2760" y="1557"/>
              <a:ext cx="453" cy="2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</a:pPr>
              <a:r>
                <a:rPr lang="en-GB" altLang="en-US" sz="2000">
                  <a:solidFill>
                    <a:srgbClr val="3333FF"/>
                  </a:solidFill>
                </a:rPr>
                <a:t>blue</a:t>
              </a:r>
            </a:p>
          </p:txBody>
        </p:sp>
        <p:sp>
          <p:nvSpPr>
            <p:cNvPr id="100" name="Text Box 122"/>
            <p:cNvSpPr txBox="1">
              <a:spLocks noChangeArrowheads="1"/>
            </p:cNvSpPr>
            <p:nvPr/>
          </p:nvSpPr>
          <p:spPr bwMode="auto">
            <a:xfrm>
              <a:off x="2716" y="2169"/>
              <a:ext cx="453" cy="2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</a:pPr>
              <a:r>
                <a:rPr lang="en-GB" altLang="en-US" sz="2000">
                  <a:solidFill>
                    <a:srgbClr val="FF0000"/>
                  </a:solidFill>
                </a:rPr>
                <a:t>red</a:t>
              </a:r>
            </a:p>
          </p:txBody>
        </p:sp>
        <p:sp>
          <p:nvSpPr>
            <p:cNvPr id="101" name="Text Box 123"/>
            <p:cNvSpPr txBox="1">
              <a:spLocks noChangeArrowheads="1"/>
            </p:cNvSpPr>
            <p:nvPr/>
          </p:nvSpPr>
          <p:spPr bwMode="auto">
            <a:xfrm>
              <a:off x="2692" y="2684"/>
              <a:ext cx="453" cy="2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</a:pPr>
              <a:r>
                <a:rPr lang="en-GB" altLang="en-US" sz="2000">
                  <a:solidFill>
                    <a:srgbClr val="3333FF"/>
                  </a:solidFill>
                </a:rPr>
                <a:t>blue</a:t>
              </a:r>
            </a:p>
          </p:txBody>
        </p:sp>
        <p:graphicFrame>
          <p:nvGraphicFramePr>
            <p:cNvPr id="102" name="Object 124"/>
            <p:cNvGraphicFramePr>
              <a:graphicFrameLocks noChangeAspect="1"/>
            </p:cNvGraphicFramePr>
            <p:nvPr/>
          </p:nvGraphicFramePr>
          <p:xfrm>
            <a:off x="806" y="1323"/>
            <a:ext cx="197" cy="33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062" name="Equation" r:id="rId11" imgW="228600" imgH="393480" progId="Equation.DSMT4">
                    <p:embed/>
                  </p:oleObj>
                </mc:Choice>
                <mc:Fallback>
                  <p:oleObj name="Equation" r:id="rId11" imgW="228600" imgH="393480" progId="Equation.DSMT4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06" y="1323"/>
                          <a:ext cx="197" cy="33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03" name="Object 125"/>
            <p:cNvGraphicFramePr>
              <a:graphicFrameLocks noChangeAspect="1"/>
            </p:cNvGraphicFramePr>
            <p:nvPr/>
          </p:nvGraphicFramePr>
          <p:xfrm>
            <a:off x="3193" y="1474"/>
            <a:ext cx="2191" cy="39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063" name="Equation" r:id="rId13" imgW="2197080" imgH="393480" progId="Equation.DSMT4">
                    <p:embed/>
                  </p:oleObj>
                </mc:Choice>
                <mc:Fallback>
                  <p:oleObj name="Equation" r:id="rId13" imgW="2197080" imgH="393480" progId="Equation.DSMT4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193" y="1474"/>
                          <a:ext cx="2191" cy="39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04" name="Object 135"/>
            <p:cNvGraphicFramePr>
              <a:graphicFrameLocks noChangeAspect="1"/>
            </p:cNvGraphicFramePr>
            <p:nvPr/>
          </p:nvGraphicFramePr>
          <p:xfrm>
            <a:off x="3173" y="2054"/>
            <a:ext cx="2191" cy="39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064" name="Equation" r:id="rId15" imgW="2197080" imgH="393480" progId="Equation.DSMT4">
                    <p:embed/>
                  </p:oleObj>
                </mc:Choice>
                <mc:Fallback>
                  <p:oleObj name="Equation" r:id="rId15" imgW="2197080" imgH="393480" progId="Equation.DSMT4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173" y="2054"/>
                          <a:ext cx="2191" cy="39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05" name="Object 139"/>
            <p:cNvGraphicFramePr>
              <a:graphicFrameLocks noChangeAspect="1"/>
            </p:cNvGraphicFramePr>
            <p:nvPr/>
          </p:nvGraphicFramePr>
          <p:xfrm>
            <a:off x="3116" y="2571"/>
            <a:ext cx="2242" cy="39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065" name="Equation" r:id="rId17" imgW="2247840" imgH="393480" progId="Equation.DSMT4">
                    <p:embed/>
                  </p:oleObj>
                </mc:Choice>
                <mc:Fallback>
                  <p:oleObj name="Equation" r:id="rId17" imgW="2247840" imgH="393480" progId="Equation.DSMT4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116" y="2571"/>
                          <a:ext cx="2242" cy="39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06" name="Object 140"/>
            <p:cNvGraphicFramePr>
              <a:graphicFrameLocks noChangeAspect="1"/>
            </p:cNvGraphicFramePr>
            <p:nvPr/>
          </p:nvGraphicFramePr>
          <p:xfrm>
            <a:off x="2112" y="994"/>
            <a:ext cx="179" cy="30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066" name="Equation" r:id="rId19" imgW="228600" imgH="393480" progId="Equation.DSMT4">
                    <p:embed/>
                  </p:oleObj>
                </mc:Choice>
                <mc:Fallback>
                  <p:oleObj name="Equation" r:id="rId19" imgW="228600" imgH="393480" progId="Equation.DSMT4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112" y="994"/>
                          <a:ext cx="179" cy="30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07" name="Object 141"/>
            <p:cNvGraphicFramePr>
              <a:graphicFrameLocks noChangeAspect="1"/>
            </p:cNvGraphicFramePr>
            <p:nvPr/>
          </p:nvGraphicFramePr>
          <p:xfrm>
            <a:off x="2110" y="1508"/>
            <a:ext cx="180" cy="31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067" name="Equation" r:id="rId20" imgW="228600" imgH="393480" progId="Equation.DSMT4">
                    <p:embed/>
                  </p:oleObj>
                </mc:Choice>
                <mc:Fallback>
                  <p:oleObj name="Equation" r:id="rId20" imgW="228600" imgH="393480" progId="Equation.DSMT4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110" y="1508"/>
                          <a:ext cx="180" cy="31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08" name="Object 142"/>
            <p:cNvGraphicFramePr>
              <a:graphicFrameLocks noChangeAspect="1"/>
            </p:cNvGraphicFramePr>
            <p:nvPr/>
          </p:nvGraphicFramePr>
          <p:xfrm>
            <a:off x="2131" y="2055"/>
            <a:ext cx="180" cy="31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068" name="Equation" r:id="rId21" imgW="228600" imgH="393480" progId="Equation.DSMT4">
                    <p:embed/>
                  </p:oleObj>
                </mc:Choice>
                <mc:Fallback>
                  <p:oleObj name="Equation" r:id="rId21" imgW="228600" imgH="393480" progId="Equation.DSMT4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131" y="2055"/>
                          <a:ext cx="180" cy="31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09" name="Object 143"/>
            <p:cNvGraphicFramePr>
              <a:graphicFrameLocks noChangeAspect="1"/>
            </p:cNvGraphicFramePr>
            <p:nvPr/>
          </p:nvGraphicFramePr>
          <p:xfrm>
            <a:off x="2112" y="2631"/>
            <a:ext cx="180" cy="31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069" name="Equation" r:id="rId22" imgW="228600" imgH="393480" progId="Equation.DSMT4">
                    <p:embed/>
                  </p:oleObj>
                </mc:Choice>
                <mc:Fallback>
                  <p:oleObj name="Equation" r:id="rId22" imgW="228600" imgH="393480" progId="Equation.DSMT4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112" y="2631"/>
                          <a:ext cx="180" cy="31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122" name="Group 148"/>
          <p:cNvGrpSpPr>
            <a:grpSpLocks/>
          </p:cNvGrpSpPr>
          <p:nvPr/>
        </p:nvGrpSpPr>
        <p:grpSpPr bwMode="auto">
          <a:xfrm>
            <a:off x="2438400" y="4827984"/>
            <a:ext cx="2133600" cy="2057400"/>
            <a:chOff x="1536" y="2724"/>
            <a:chExt cx="1344" cy="1296"/>
          </a:xfrm>
        </p:grpSpPr>
        <p:sp>
          <p:nvSpPr>
            <p:cNvPr id="123" name="Text Box 79"/>
            <p:cNvSpPr txBox="1">
              <a:spLocks noChangeArrowheads="1"/>
            </p:cNvSpPr>
            <p:nvPr/>
          </p:nvSpPr>
          <p:spPr bwMode="auto">
            <a:xfrm>
              <a:off x="1536" y="3264"/>
              <a:ext cx="1344" cy="75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algn="ctr" fontAlgn="base">
                <a:spcBef>
                  <a:spcPct val="50000"/>
                </a:spcBef>
                <a:spcAft>
                  <a:spcPct val="0"/>
                </a:spcAft>
              </a:pPr>
              <a:r>
                <a:rPr lang="en-GB" altLang="en-US" dirty="0">
                  <a:solidFill>
                    <a:srgbClr val="000000"/>
                  </a:solidFill>
                </a:rPr>
                <a:t>Ends of first and second level branches show the different outcomes.</a:t>
              </a:r>
            </a:p>
          </p:txBody>
        </p:sp>
        <p:sp>
          <p:nvSpPr>
            <p:cNvPr id="124" name="Line 146"/>
            <p:cNvSpPr>
              <a:spLocks noChangeShapeType="1"/>
            </p:cNvSpPr>
            <p:nvPr/>
          </p:nvSpPr>
          <p:spPr bwMode="auto">
            <a:xfrm flipH="1" flipV="1">
              <a:off x="1752" y="2724"/>
              <a:ext cx="264" cy="540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en-GB">
                <a:solidFill>
                  <a:srgbClr val="000000"/>
                </a:solidFill>
              </a:endParaRPr>
            </a:p>
          </p:txBody>
        </p:sp>
        <p:sp>
          <p:nvSpPr>
            <p:cNvPr id="125" name="Line 147"/>
            <p:cNvSpPr>
              <a:spLocks noChangeShapeType="1"/>
            </p:cNvSpPr>
            <p:nvPr/>
          </p:nvSpPr>
          <p:spPr bwMode="auto">
            <a:xfrm flipV="1">
              <a:off x="2220" y="2916"/>
              <a:ext cx="552" cy="360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en-GB">
                <a:solidFill>
                  <a:srgbClr val="000000"/>
                </a:solidFill>
              </a:endParaRPr>
            </a:p>
          </p:txBody>
        </p:sp>
      </p:grpSp>
      <p:grpSp>
        <p:nvGrpSpPr>
          <p:cNvPr id="126" name="Group 161"/>
          <p:cNvGrpSpPr>
            <a:grpSpLocks/>
          </p:cNvGrpSpPr>
          <p:nvPr/>
        </p:nvGrpSpPr>
        <p:grpSpPr bwMode="auto">
          <a:xfrm>
            <a:off x="5353050" y="5234830"/>
            <a:ext cx="2095500" cy="1506538"/>
            <a:chOff x="3372" y="2952"/>
            <a:chExt cx="1320" cy="949"/>
          </a:xfrm>
        </p:grpSpPr>
        <p:sp>
          <p:nvSpPr>
            <p:cNvPr id="127" name="Text Box 159"/>
            <p:cNvSpPr txBox="1">
              <a:spLocks noChangeArrowheads="1"/>
            </p:cNvSpPr>
            <p:nvPr/>
          </p:nvSpPr>
          <p:spPr bwMode="auto">
            <a:xfrm>
              <a:off x="3372" y="3324"/>
              <a:ext cx="1320" cy="5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algn="ctr" fontAlgn="base">
                <a:spcBef>
                  <a:spcPct val="50000"/>
                </a:spcBef>
                <a:spcAft>
                  <a:spcPct val="0"/>
                </a:spcAft>
              </a:pPr>
              <a:r>
                <a:rPr lang="en-GB" altLang="en-US" dirty="0">
                  <a:solidFill>
                    <a:srgbClr val="000000"/>
                  </a:solidFill>
                </a:rPr>
                <a:t>Probabilities are multiplied along each arm.</a:t>
              </a:r>
            </a:p>
          </p:txBody>
        </p:sp>
        <p:sp>
          <p:nvSpPr>
            <p:cNvPr id="128" name="Line 160"/>
            <p:cNvSpPr>
              <a:spLocks noChangeShapeType="1"/>
            </p:cNvSpPr>
            <p:nvPr/>
          </p:nvSpPr>
          <p:spPr bwMode="auto">
            <a:xfrm flipV="1">
              <a:off x="4080" y="2952"/>
              <a:ext cx="528" cy="39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en-GB">
                <a:solidFill>
                  <a:srgbClr val="000000"/>
                </a:solidFill>
              </a:endParaRPr>
            </a:p>
          </p:txBody>
        </p:sp>
      </p:grpSp>
      <p:sp>
        <p:nvSpPr>
          <p:cNvPr id="129" name="Shape 60"/>
          <p:cNvSpPr/>
          <p:nvPr/>
        </p:nvSpPr>
        <p:spPr>
          <a:xfrm>
            <a:off x="8747126" y="2194560"/>
            <a:ext cx="3158362" cy="3108960"/>
          </a:xfrm>
          <a:prstGeom prst="roundRect">
            <a:avLst>
              <a:gd name="adj" fmla="val 1765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0" name="Text 64"/>
          <p:cNvSpPr/>
          <p:nvPr/>
        </p:nvSpPr>
        <p:spPr>
          <a:xfrm>
            <a:off x="8779638" y="3142058"/>
            <a:ext cx="29775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replacement → the bag resets → the second-choice probabilities are the SAME as the first.</a:t>
            </a:r>
            <a:endParaRPr lang="en-US" sz="23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whoosh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whoosh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whoosh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37160" y="5486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137160" y="548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896112" y="3657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REPLACEMENT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896112" y="31089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Second Probabilities CHANGE</a:t>
            </a:r>
            <a:endParaRPr lang="en-US" sz="2700" dirty="0"/>
          </a:p>
        </p:txBody>
      </p:sp>
      <p:sp>
        <p:nvSpPr>
          <p:cNvPr id="52" name="Text 50"/>
          <p:cNvSpPr/>
          <p:nvPr/>
        </p:nvSpPr>
        <p:spPr>
          <a:xfrm>
            <a:off x="3822192" y="125272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9469120" y="1403177"/>
            <a:ext cx="2570480" cy="4233859"/>
          </a:xfrm>
          <a:prstGeom prst="roundRect">
            <a:avLst>
              <a:gd name="adj" fmla="val 1765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6" name="Text 64"/>
          <p:cNvSpPr/>
          <p:nvPr/>
        </p:nvSpPr>
        <p:spPr>
          <a:xfrm>
            <a:off x="9912096" y="3191256"/>
            <a:ext cx="1993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WITHOUT replacement → both the count and the total drop by 1 → second probabilities change.</a:t>
            </a:r>
            <a:endParaRPr lang="en-US" sz="2300" dirty="0"/>
          </a:p>
        </p:txBody>
      </p:sp>
      <p:grpSp>
        <p:nvGrpSpPr>
          <p:cNvPr id="67" name="Group 91"/>
          <p:cNvGrpSpPr>
            <a:grpSpLocks/>
          </p:cNvGrpSpPr>
          <p:nvPr/>
        </p:nvGrpSpPr>
        <p:grpSpPr bwMode="auto">
          <a:xfrm>
            <a:off x="480704" y="1403177"/>
            <a:ext cx="8448675" cy="2039938"/>
            <a:chOff x="293" y="609"/>
            <a:chExt cx="5322" cy="1285"/>
          </a:xfrm>
        </p:grpSpPr>
        <p:sp>
          <p:nvSpPr>
            <p:cNvPr id="68" name="Text Box 13" descr="Parchment"/>
            <p:cNvSpPr txBox="1">
              <a:spLocks noChangeArrowheads="1"/>
            </p:cNvSpPr>
            <p:nvPr/>
          </p:nvSpPr>
          <p:spPr bwMode="auto">
            <a:xfrm>
              <a:off x="293" y="609"/>
              <a:ext cx="5273" cy="931"/>
            </a:xfrm>
            <a:prstGeom prst="rect">
              <a:avLst/>
            </a:prstGeom>
            <a:ln>
              <a:headEnd/>
              <a:tailEnd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</a:pPr>
              <a:r>
                <a:rPr lang="en-GB" altLang="en-US" dirty="0" smtClean="0">
                  <a:solidFill>
                    <a:srgbClr val="000000"/>
                  </a:solidFill>
                </a:rPr>
                <a:t>Rebecca </a:t>
              </a:r>
              <a:r>
                <a:rPr lang="en-GB" altLang="en-US" dirty="0">
                  <a:solidFill>
                    <a:srgbClr val="000000"/>
                  </a:solidFill>
                </a:rPr>
                <a:t>has nine coloured beads in a bag. Four of the beads are black</a:t>
              </a:r>
              <a:r>
                <a:rPr lang="en-GB" altLang="en-US" dirty="0">
                  <a:solidFill>
                    <a:srgbClr val="FF0000"/>
                  </a:solidFill>
                </a:rPr>
                <a:t> </a:t>
              </a:r>
              <a:r>
                <a:rPr lang="en-GB" altLang="en-US" dirty="0">
                  <a:solidFill>
                    <a:srgbClr val="000000"/>
                  </a:solidFill>
                </a:rPr>
                <a:t>and the rest are </a:t>
              </a:r>
              <a:r>
                <a:rPr lang="en-GB" altLang="en-US" b="1" dirty="0">
                  <a:solidFill>
                    <a:schemeClr val="accent3">
                      <a:lumMod val="75000"/>
                    </a:schemeClr>
                  </a:solidFill>
                </a:rPr>
                <a:t>green</a:t>
              </a:r>
              <a:r>
                <a:rPr lang="en-GB" altLang="en-US" dirty="0">
                  <a:solidFill>
                    <a:srgbClr val="000000"/>
                  </a:solidFill>
                </a:rPr>
                <a:t>. She removes a bead at random from the bag and notes the colour before replacing it. She then chooses a second bead. </a:t>
              </a:r>
              <a:r>
                <a:rPr lang="en-GB" altLang="en-US" dirty="0">
                  <a:solidFill>
                    <a:srgbClr val="3333FF"/>
                  </a:solidFill>
                </a:rPr>
                <a:t>(a)</a:t>
              </a:r>
              <a:r>
                <a:rPr lang="en-GB" altLang="en-US" dirty="0">
                  <a:solidFill>
                    <a:srgbClr val="000000"/>
                  </a:solidFill>
                </a:rPr>
                <a:t> Draw a tree diagram showing all possible outcomes.  </a:t>
              </a:r>
              <a:r>
                <a:rPr lang="en-GB" altLang="en-US" dirty="0">
                  <a:solidFill>
                    <a:srgbClr val="3333FF"/>
                  </a:solidFill>
                </a:rPr>
                <a:t>(b)</a:t>
              </a:r>
              <a:r>
                <a:rPr lang="en-GB" altLang="en-US" dirty="0">
                  <a:solidFill>
                    <a:srgbClr val="000000"/>
                  </a:solidFill>
                </a:rPr>
                <a:t> Calculate the probability that Rebecca chooses: </a:t>
              </a:r>
              <a:r>
                <a:rPr lang="en-GB" altLang="en-US" dirty="0">
                  <a:solidFill>
                    <a:srgbClr val="3333FF"/>
                  </a:solidFill>
                </a:rPr>
                <a:t>(</a:t>
              </a:r>
              <a:r>
                <a:rPr lang="en-GB" altLang="en-US" dirty="0" err="1">
                  <a:solidFill>
                    <a:srgbClr val="3333FF"/>
                  </a:solidFill>
                </a:rPr>
                <a:t>i</a:t>
              </a:r>
              <a:r>
                <a:rPr lang="en-GB" altLang="en-US" dirty="0">
                  <a:solidFill>
                    <a:srgbClr val="3333FF"/>
                  </a:solidFill>
                </a:rPr>
                <a:t>)</a:t>
              </a:r>
              <a:r>
                <a:rPr lang="en-GB" altLang="en-US" dirty="0">
                  <a:solidFill>
                    <a:srgbClr val="000000"/>
                  </a:solidFill>
                </a:rPr>
                <a:t> 2 green beads  </a:t>
              </a:r>
              <a:r>
                <a:rPr lang="en-GB" altLang="en-US" dirty="0">
                  <a:solidFill>
                    <a:srgbClr val="3333FF"/>
                  </a:solidFill>
                </a:rPr>
                <a:t>(ii</a:t>
              </a:r>
              <a:r>
                <a:rPr lang="en-GB" altLang="en-US" dirty="0">
                  <a:solidFill>
                    <a:srgbClr val="000000"/>
                  </a:solidFill>
                </a:rPr>
                <a:t>) A black followed  by a green bead. </a:t>
              </a:r>
              <a:endParaRPr lang="en-GB" altLang="en-US" dirty="0">
                <a:solidFill>
                  <a:srgbClr val="0099FF"/>
                </a:solidFill>
              </a:endParaRPr>
            </a:p>
          </p:txBody>
        </p:sp>
        <p:grpSp>
          <p:nvGrpSpPr>
            <p:cNvPr id="69" name="Group 81"/>
            <p:cNvGrpSpPr>
              <a:grpSpLocks/>
            </p:cNvGrpSpPr>
            <p:nvPr/>
          </p:nvGrpSpPr>
          <p:grpSpPr bwMode="auto">
            <a:xfrm>
              <a:off x="4821" y="1312"/>
              <a:ext cx="794" cy="582"/>
              <a:chOff x="4449" y="1408"/>
              <a:chExt cx="794" cy="582"/>
            </a:xfrm>
          </p:grpSpPr>
          <p:pic>
            <p:nvPicPr>
              <p:cNvPr id="70" name="Picture 16" descr="Money Bag 05"/>
              <p:cNvPicPr>
                <a:picLocks noChangeAspect="1" noChangeArrowheads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449" y="1681"/>
                <a:ext cx="304" cy="28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1" name="Picture 71" descr="Girl Beading Necklace"/>
              <p:cNvPicPr>
                <a:picLocks noChangeAspect="1" noChangeArrowheads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756" y="1408"/>
                <a:ext cx="487" cy="58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2" name="Oval 72"/>
              <p:cNvSpPr>
                <a:spLocks noChangeArrowheads="1"/>
              </p:cNvSpPr>
              <p:nvPr/>
            </p:nvSpPr>
            <p:spPr bwMode="auto">
              <a:xfrm>
                <a:off x="4521" y="1812"/>
                <a:ext cx="27" cy="27"/>
              </a:xfrm>
              <a:prstGeom prst="ellipse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algn="ctr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>
                  <a:solidFill>
                    <a:srgbClr val="000000"/>
                  </a:solidFill>
                </a:endParaRPr>
              </a:p>
            </p:txBody>
          </p:sp>
          <p:sp>
            <p:nvSpPr>
              <p:cNvPr id="73" name="Oval 73"/>
              <p:cNvSpPr>
                <a:spLocks noChangeArrowheads="1"/>
              </p:cNvSpPr>
              <p:nvPr/>
            </p:nvSpPr>
            <p:spPr bwMode="auto">
              <a:xfrm>
                <a:off x="4663" y="1888"/>
                <a:ext cx="27" cy="27"/>
              </a:xfrm>
              <a:prstGeom prst="ellipse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algn="ctr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>
                  <a:solidFill>
                    <a:srgbClr val="000000"/>
                  </a:solidFill>
                </a:endParaRPr>
              </a:p>
            </p:txBody>
          </p:sp>
          <p:sp>
            <p:nvSpPr>
              <p:cNvPr id="74" name="Oval 74"/>
              <p:cNvSpPr>
                <a:spLocks noChangeArrowheads="1"/>
              </p:cNvSpPr>
              <p:nvPr/>
            </p:nvSpPr>
            <p:spPr bwMode="auto">
              <a:xfrm>
                <a:off x="4583" y="1859"/>
                <a:ext cx="27" cy="27"/>
              </a:xfrm>
              <a:prstGeom prst="ellipse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algn="ctr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>
                  <a:solidFill>
                    <a:srgbClr val="000000"/>
                  </a:solidFill>
                </a:endParaRPr>
              </a:p>
            </p:txBody>
          </p:sp>
          <p:sp>
            <p:nvSpPr>
              <p:cNvPr id="75" name="Oval 75"/>
              <p:cNvSpPr>
                <a:spLocks noChangeArrowheads="1"/>
              </p:cNvSpPr>
              <p:nvPr/>
            </p:nvSpPr>
            <p:spPr bwMode="auto">
              <a:xfrm>
                <a:off x="4608" y="1773"/>
                <a:ext cx="27" cy="27"/>
              </a:xfrm>
              <a:prstGeom prst="ellipse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algn="ctr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>
                  <a:solidFill>
                    <a:srgbClr val="000000"/>
                  </a:solidFill>
                </a:endParaRPr>
              </a:p>
            </p:txBody>
          </p:sp>
          <p:sp>
            <p:nvSpPr>
              <p:cNvPr id="76" name="Oval 76"/>
              <p:cNvSpPr>
                <a:spLocks noChangeArrowheads="1"/>
              </p:cNvSpPr>
              <p:nvPr/>
            </p:nvSpPr>
            <p:spPr bwMode="auto">
              <a:xfrm>
                <a:off x="4532" y="1892"/>
                <a:ext cx="27" cy="27"/>
              </a:xfrm>
              <a:prstGeom prst="ellipse">
                <a:avLst/>
              </a:prstGeom>
              <a:solidFill>
                <a:schemeClr val="hlink"/>
              </a:solidFill>
              <a:ln w="9525">
                <a:solidFill>
                  <a:schemeClr val="hlink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algn="ctr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>
                  <a:solidFill>
                    <a:srgbClr val="000000"/>
                  </a:solidFill>
                </a:endParaRPr>
              </a:p>
            </p:txBody>
          </p:sp>
          <p:sp>
            <p:nvSpPr>
              <p:cNvPr id="77" name="Oval 77"/>
              <p:cNvSpPr>
                <a:spLocks noChangeArrowheads="1"/>
              </p:cNvSpPr>
              <p:nvPr/>
            </p:nvSpPr>
            <p:spPr bwMode="auto">
              <a:xfrm>
                <a:off x="4563" y="1809"/>
                <a:ext cx="27" cy="27"/>
              </a:xfrm>
              <a:prstGeom prst="ellipse">
                <a:avLst/>
              </a:prstGeom>
              <a:solidFill>
                <a:schemeClr val="hlink"/>
              </a:solidFill>
              <a:ln w="9525">
                <a:solidFill>
                  <a:schemeClr val="hlink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algn="ctr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>
                  <a:solidFill>
                    <a:srgbClr val="000000"/>
                  </a:solidFill>
                </a:endParaRPr>
              </a:p>
            </p:txBody>
          </p:sp>
          <p:sp>
            <p:nvSpPr>
              <p:cNvPr id="78" name="Oval 78"/>
              <p:cNvSpPr>
                <a:spLocks noChangeArrowheads="1"/>
              </p:cNvSpPr>
              <p:nvPr/>
            </p:nvSpPr>
            <p:spPr bwMode="auto">
              <a:xfrm>
                <a:off x="4603" y="1912"/>
                <a:ext cx="27" cy="27"/>
              </a:xfrm>
              <a:prstGeom prst="ellipse">
                <a:avLst/>
              </a:prstGeom>
              <a:solidFill>
                <a:schemeClr val="hlink"/>
              </a:solidFill>
              <a:ln w="9525">
                <a:solidFill>
                  <a:schemeClr val="hlink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algn="ctr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>
                  <a:solidFill>
                    <a:srgbClr val="000000"/>
                  </a:solidFill>
                </a:endParaRPr>
              </a:p>
            </p:txBody>
          </p:sp>
          <p:sp>
            <p:nvSpPr>
              <p:cNvPr id="79" name="Oval 79"/>
              <p:cNvSpPr>
                <a:spLocks noChangeArrowheads="1"/>
              </p:cNvSpPr>
              <p:nvPr/>
            </p:nvSpPr>
            <p:spPr bwMode="auto">
              <a:xfrm>
                <a:off x="4640" y="1826"/>
                <a:ext cx="27" cy="27"/>
              </a:xfrm>
              <a:prstGeom prst="ellipse">
                <a:avLst/>
              </a:prstGeom>
              <a:solidFill>
                <a:schemeClr val="hlink"/>
              </a:solidFill>
              <a:ln w="9525">
                <a:solidFill>
                  <a:schemeClr val="hlink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algn="ctr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>
                  <a:solidFill>
                    <a:srgbClr val="000000"/>
                  </a:solidFill>
                </a:endParaRPr>
              </a:p>
            </p:txBody>
          </p:sp>
          <p:sp>
            <p:nvSpPr>
              <p:cNvPr id="80" name="Oval 80"/>
              <p:cNvSpPr>
                <a:spLocks noChangeArrowheads="1"/>
              </p:cNvSpPr>
              <p:nvPr/>
            </p:nvSpPr>
            <p:spPr bwMode="auto">
              <a:xfrm>
                <a:off x="4477" y="1918"/>
                <a:ext cx="27" cy="27"/>
              </a:xfrm>
              <a:prstGeom prst="ellipse">
                <a:avLst/>
              </a:prstGeom>
              <a:solidFill>
                <a:schemeClr val="hlink"/>
              </a:solidFill>
              <a:ln w="9525">
                <a:solidFill>
                  <a:schemeClr val="hlink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algn="ctr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>
                  <a:solidFill>
                    <a:srgbClr val="000000"/>
                  </a:solidFill>
                </a:endParaRPr>
              </a:p>
            </p:txBody>
          </p:sp>
        </p:grpSp>
      </p:grpSp>
      <p:grpSp>
        <p:nvGrpSpPr>
          <p:cNvPr id="81" name="Group 80"/>
          <p:cNvGrpSpPr/>
          <p:nvPr/>
        </p:nvGrpSpPr>
        <p:grpSpPr>
          <a:xfrm>
            <a:off x="201613" y="3420888"/>
            <a:ext cx="2705099" cy="2905124"/>
            <a:chOff x="201613" y="3420888"/>
            <a:chExt cx="2705099" cy="2905124"/>
          </a:xfrm>
        </p:grpSpPr>
        <p:sp>
          <p:nvSpPr>
            <p:cNvPr id="82" name="Text Box 5"/>
            <p:cNvSpPr txBox="1">
              <a:spLocks noChangeArrowheads="1"/>
            </p:cNvSpPr>
            <p:nvPr/>
          </p:nvSpPr>
          <p:spPr bwMode="auto">
            <a:xfrm>
              <a:off x="1978025" y="4047950"/>
              <a:ext cx="928687" cy="3968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</a:pPr>
              <a:r>
                <a:rPr lang="en-GB" altLang="en-US" sz="2000" dirty="0">
                  <a:solidFill>
                    <a:srgbClr val="000000"/>
                  </a:solidFill>
                </a:rPr>
                <a:t>black</a:t>
              </a:r>
            </a:p>
          </p:txBody>
        </p:sp>
        <p:sp>
          <p:nvSpPr>
            <p:cNvPr id="83" name="Text Box 6"/>
            <p:cNvSpPr txBox="1">
              <a:spLocks noChangeArrowheads="1"/>
            </p:cNvSpPr>
            <p:nvPr/>
          </p:nvSpPr>
          <p:spPr bwMode="auto">
            <a:xfrm>
              <a:off x="1978025" y="5929137"/>
              <a:ext cx="928687" cy="3968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</a:pPr>
              <a:r>
                <a:rPr lang="en-GB" altLang="en-US" sz="2000" b="1" dirty="0">
                  <a:solidFill>
                    <a:schemeClr val="accent3">
                      <a:lumMod val="75000"/>
                    </a:schemeClr>
                  </a:solidFill>
                </a:rPr>
                <a:t>green</a:t>
              </a:r>
            </a:p>
          </p:txBody>
        </p:sp>
        <p:grpSp>
          <p:nvGrpSpPr>
            <p:cNvPr id="84" name="Group 7"/>
            <p:cNvGrpSpPr>
              <a:grpSpLocks/>
            </p:cNvGrpSpPr>
            <p:nvPr/>
          </p:nvGrpSpPr>
          <p:grpSpPr bwMode="auto">
            <a:xfrm>
              <a:off x="201613" y="3420888"/>
              <a:ext cx="1835150" cy="2617786"/>
              <a:chOff x="2009" y="2231"/>
              <a:chExt cx="1156" cy="1649"/>
            </a:xfrm>
          </p:grpSpPr>
          <p:grpSp>
            <p:nvGrpSpPr>
              <p:cNvPr id="85" name="Group 8"/>
              <p:cNvGrpSpPr>
                <a:grpSpLocks/>
              </p:cNvGrpSpPr>
              <p:nvPr/>
            </p:nvGrpSpPr>
            <p:grpSpPr bwMode="auto">
              <a:xfrm>
                <a:off x="2073" y="2779"/>
                <a:ext cx="1092" cy="1101"/>
                <a:chOff x="1565" y="2614"/>
                <a:chExt cx="1092" cy="1101"/>
              </a:xfrm>
            </p:grpSpPr>
            <p:sp>
              <p:nvSpPr>
                <p:cNvPr id="87" name="Line 9"/>
                <p:cNvSpPr>
                  <a:spLocks noChangeShapeType="1"/>
                </p:cNvSpPr>
                <p:nvPr/>
              </p:nvSpPr>
              <p:spPr bwMode="auto">
                <a:xfrm flipV="1">
                  <a:off x="1565" y="2614"/>
                  <a:ext cx="1089" cy="59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GB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88" name="Freeform 10"/>
                <p:cNvSpPr>
                  <a:spLocks/>
                </p:cNvSpPr>
                <p:nvPr/>
              </p:nvSpPr>
              <p:spPr bwMode="auto">
                <a:xfrm>
                  <a:off x="1565" y="3203"/>
                  <a:ext cx="1092" cy="512"/>
                </a:xfrm>
                <a:custGeom>
                  <a:avLst/>
                  <a:gdLst>
                    <a:gd name="T0" fmla="*/ 0 w 1092"/>
                    <a:gd name="T1" fmla="*/ 0 h 512"/>
                    <a:gd name="T2" fmla="*/ 1092 w 1092"/>
                    <a:gd name="T3" fmla="*/ 512 h 5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</a:cxnLst>
                  <a:rect l="0" t="0" r="r" b="b"/>
                  <a:pathLst>
                    <a:path w="1092" h="512">
                      <a:moveTo>
                        <a:pt x="0" y="0"/>
                      </a:moveTo>
                      <a:lnTo>
                        <a:pt x="1092" y="512"/>
                      </a:lnTo>
                    </a:path>
                  </a:pathLst>
                </a:custGeom>
                <a:noFill/>
                <a:ln w="9525">
                  <a:solidFill>
                    <a:schemeClr val="tx1"/>
                  </a:solidFill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GB">
                    <a:solidFill>
                      <a:srgbClr val="000000"/>
                    </a:solidFill>
                  </a:endParaRPr>
                </a:p>
              </p:txBody>
            </p:sp>
          </p:grpSp>
          <p:sp>
            <p:nvSpPr>
              <p:cNvPr id="86" name="Text Box 11"/>
              <p:cNvSpPr txBox="1">
                <a:spLocks noChangeArrowheads="1"/>
              </p:cNvSpPr>
              <p:nvPr/>
            </p:nvSpPr>
            <p:spPr bwMode="auto">
              <a:xfrm>
                <a:off x="2009" y="2231"/>
                <a:ext cx="907" cy="2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/>
              <a:p>
                <a:pPr fontAlgn="base">
                  <a:spcBef>
                    <a:spcPct val="50000"/>
                  </a:spcBef>
                  <a:spcAft>
                    <a:spcPct val="0"/>
                  </a:spcAft>
                </a:pPr>
                <a:r>
                  <a:rPr lang="en-GB" altLang="en-US" dirty="0"/>
                  <a:t>First Choice</a:t>
                </a:r>
              </a:p>
            </p:txBody>
          </p:sp>
        </p:grpSp>
      </p:grpSp>
      <p:graphicFrame>
        <p:nvGraphicFramePr>
          <p:cNvPr id="89" name="Object 38"/>
          <p:cNvGraphicFramePr>
            <a:graphicFrameLocks noChangeAspect="1"/>
          </p:cNvGraphicFramePr>
          <p:nvPr/>
        </p:nvGraphicFramePr>
        <p:xfrm>
          <a:off x="909638" y="5637037"/>
          <a:ext cx="227012" cy="539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82" name="Equation" r:id="rId6" imgW="164880" imgH="393480" progId="Equation.DSMT4">
                  <p:embed/>
                </p:oleObj>
              </mc:Choice>
              <mc:Fallback>
                <p:oleObj name="Equation" r:id="rId6" imgW="164880" imgH="39348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09638" y="5637037"/>
                        <a:ext cx="227012" cy="539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90" name="Group 89"/>
          <p:cNvGrpSpPr/>
          <p:nvPr/>
        </p:nvGrpSpPr>
        <p:grpSpPr>
          <a:xfrm>
            <a:off x="2576513" y="3141488"/>
            <a:ext cx="2606674" cy="3548061"/>
            <a:chOff x="2576513" y="3141488"/>
            <a:chExt cx="2606674" cy="3548061"/>
          </a:xfrm>
        </p:grpSpPr>
        <p:grpSp>
          <p:nvGrpSpPr>
            <p:cNvPr id="91" name="Group 28"/>
            <p:cNvGrpSpPr>
              <a:grpSpLocks/>
            </p:cNvGrpSpPr>
            <p:nvPr/>
          </p:nvGrpSpPr>
          <p:grpSpPr bwMode="auto">
            <a:xfrm>
              <a:off x="2576513" y="3141488"/>
              <a:ext cx="2068512" cy="3294061"/>
              <a:chOff x="3369" y="2081"/>
              <a:chExt cx="1303" cy="2075"/>
            </a:xfrm>
          </p:grpSpPr>
          <p:grpSp>
            <p:nvGrpSpPr>
              <p:cNvPr id="96" name="Group 29"/>
              <p:cNvGrpSpPr>
                <a:grpSpLocks/>
              </p:cNvGrpSpPr>
              <p:nvPr/>
            </p:nvGrpSpPr>
            <p:grpSpPr bwMode="auto">
              <a:xfrm>
                <a:off x="3369" y="2081"/>
                <a:ext cx="1303" cy="955"/>
                <a:chOff x="3369" y="2081"/>
                <a:chExt cx="1303" cy="955"/>
              </a:xfrm>
            </p:grpSpPr>
            <p:grpSp>
              <p:nvGrpSpPr>
                <p:cNvPr id="100" name="Group 30"/>
                <p:cNvGrpSpPr>
                  <a:grpSpLocks/>
                </p:cNvGrpSpPr>
                <p:nvPr/>
              </p:nvGrpSpPr>
              <p:grpSpPr bwMode="auto">
                <a:xfrm>
                  <a:off x="3501" y="2556"/>
                  <a:ext cx="855" cy="480"/>
                  <a:chOff x="3501" y="2556"/>
                  <a:chExt cx="855" cy="480"/>
                </a:xfrm>
              </p:grpSpPr>
              <p:sp>
                <p:nvSpPr>
                  <p:cNvPr id="102" name="Freeform 31"/>
                  <p:cNvSpPr>
                    <a:spLocks/>
                  </p:cNvSpPr>
                  <p:nvPr/>
                </p:nvSpPr>
                <p:spPr bwMode="auto">
                  <a:xfrm>
                    <a:off x="3504" y="2556"/>
                    <a:ext cx="852" cy="204"/>
                  </a:xfrm>
                  <a:custGeom>
                    <a:avLst/>
                    <a:gdLst>
                      <a:gd name="T0" fmla="*/ 0 w 852"/>
                      <a:gd name="T1" fmla="*/ 204 h 204"/>
                      <a:gd name="T2" fmla="*/ 852 w 852"/>
                      <a:gd name="T3" fmla="*/ 0 h 20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</a:cxnLst>
                    <a:rect l="0" t="0" r="r" b="b"/>
                    <a:pathLst>
                      <a:path w="852" h="204">
                        <a:moveTo>
                          <a:pt x="0" y="204"/>
                        </a:moveTo>
                        <a:lnTo>
                          <a:pt x="852" y="0"/>
                        </a:lnTo>
                      </a:path>
                    </a:pathLst>
                  </a:custGeom>
                  <a:noFill/>
                  <a:ln w="9525">
                    <a:solidFill>
                      <a:schemeClr val="tx1"/>
                    </a:solidFill>
                    <a:round/>
                    <a:headEnd type="none" w="med" len="med"/>
                    <a:tailEnd type="none" w="med" len="med"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pPr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GB">
                      <a:solidFill>
                        <a:srgbClr val="000000"/>
                      </a:solidFill>
                    </a:endParaRPr>
                  </a:p>
                </p:txBody>
              </p:sp>
              <p:sp>
                <p:nvSpPr>
                  <p:cNvPr id="103" name="Freeform 32"/>
                  <p:cNvSpPr>
                    <a:spLocks/>
                  </p:cNvSpPr>
                  <p:nvPr/>
                </p:nvSpPr>
                <p:spPr bwMode="auto">
                  <a:xfrm>
                    <a:off x="3501" y="2763"/>
                    <a:ext cx="843" cy="273"/>
                  </a:xfrm>
                  <a:custGeom>
                    <a:avLst/>
                    <a:gdLst>
                      <a:gd name="T0" fmla="*/ 0 w 843"/>
                      <a:gd name="T1" fmla="*/ 0 h 273"/>
                      <a:gd name="T2" fmla="*/ 843 w 843"/>
                      <a:gd name="T3" fmla="*/ 273 h 27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</a:cxnLst>
                    <a:rect l="0" t="0" r="r" b="b"/>
                    <a:pathLst>
                      <a:path w="843" h="273">
                        <a:moveTo>
                          <a:pt x="0" y="0"/>
                        </a:moveTo>
                        <a:lnTo>
                          <a:pt x="843" y="273"/>
                        </a:lnTo>
                      </a:path>
                    </a:pathLst>
                  </a:custGeom>
                  <a:noFill/>
                  <a:ln w="9525">
                    <a:solidFill>
                      <a:schemeClr val="tx1"/>
                    </a:solidFill>
                    <a:round/>
                    <a:headEnd type="none" w="med" len="med"/>
                    <a:tailEnd type="none" w="med" len="med"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pPr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GB">
                      <a:solidFill>
                        <a:srgbClr val="000000"/>
                      </a:solidFill>
                    </a:endParaRPr>
                  </a:p>
                </p:txBody>
              </p:sp>
            </p:grpSp>
            <p:sp>
              <p:nvSpPr>
                <p:cNvPr id="101" name="Text Box 33"/>
                <p:cNvSpPr txBox="1">
                  <a:spLocks noChangeArrowheads="1"/>
                </p:cNvSpPr>
                <p:nvPr/>
              </p:nvSpPr>
              <p:spPr bwMode="auto">
                <a:xfrm>
                  <a:off x="3369" y="2081"/>
                  <a:ext cx="1303" cy="231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/>
                <a:p>
                  <a:pPr fontAlgn="base">
                    <a:spcBef>
                      <a:spcPct val="50000"/>
                    </a:spcBef>
                    <a:spcAft>
                      <a:spcPct val="0"/>
                    </a:spcAft>
                  </a:pPr>
                  <a:r>
                    <a:rPr lang="en-GB" altLang="en-US" dirty="0"/>
                    <a:t>Second Choice</a:t>
                  </a:r>
                </a:p>
              </p:txBody>
            </p:sp>
          </p:grpSp>
          <p:grpSp>
            <p:nvGrpSpPr>
              <p:cNvPr id="97" name="Group 34"/>
              <p:cNvGrpSpPr>
                <a:grpSpLocks/>
              </p:cNvGrpSpPr>
              <p:nvPr/>
            </p:nvGrpSpPr>
            <p:grpSpPr bwMode="auto">
              <a:xfrm>
                <a:off x="3469" y="3676"/>
                <a:ext cx="855" cy="480"/>
                <a:chOff x="3469" y="3676"/>
                <a:chExt cx="855" cy="480"/>
              </a:xfrm>
            </p:grpSpPr>
            <p:sp>
              <p:nvSpPr>
                <p:cNvPr id="98" name="Freeform 35"/>
                <p:cNvSpPr>
                  <a:spLocks/>
                </p:cNvSpPr>
                <p:nvPr/>
              </p:nvSpPr>
              <p:spPr bwMode="auto">
                <a:xfrm>
                  <a:off x="3472" y="3676"/>
                  <a:ext cx="852" cy="204"/>
                </a:xfrm>
                <a:custGeom>
                  <a:avLst/>
                  <a:gdLst>
                    <a:gd name="T0" fmla="*/ 0 w 852"/>
                    <a:gd name="T1" fmla="*/ 204 h 204"/>
                    <a:gd name="T2" fmla="*/ 852 w 852"/>
                    <a:gd name="T3" fmla="*/ 0 h 20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</a:cxnLst>
                  <a:rect l="0" t="0" r="r" b="b"/>
                  <a:pathLst>
                    <a:path w="852" h="204">
                      <a:moveTo>
                        <a:pt x="0" y="204"/>
                      </a:moveTo>
                      <a:lnTo>
                        <a:pt x="852" y="0"/>
                      </a:lnTo>
                    </a:path>
                  </a:pathLst>
                </a:custGeom>
                <a:noFill/>
                <a:ln w="9525">
                  <a:solidFill>
                    <a:schemeClr val="tx1"/>
                  </a:solidFill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GB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99" name="Freeform 36"/>
                <p:cNvSpPr>
                  <a:spLocks/>
                </p:cNvSpPr>
                <p:nvPr/>
              </p:nvSpPr>
              <p:spPr bwMode="auto">
                <a:xfrm>
                  <a:off x="3469" y="3883"/>
                  <a:ext cx="843" cy="273"/>
                </a:xfrm>
                <a:custGeom>
                  <a:avLst/>
                  <a:gdLst>
                    <a:gd name="T0" fmla="*/ 0 w 843"/>
                    <a:gd name="T1" fmla="*/ 0 h 273"/>
                    <a:gd name="T2" fmla="*/ 843 w 843"/>
                    <a:gd name="T3" fmla="*/ 273 h 27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</a:cxnLst>
                  <a:rect l="0" t="0" r="r" b="b"/>
                  <a:pathLst>
                    <a:path w="843" h="273">
                      <a:moveTo>
                        <a:pt x="0" y="0"/>
                      </a:moveTo>
                      <a:lnTo>
                        <a:pt x="843" y="273"/>
                      </a:lnTo>
                    </a:path>
                  </a:pathLst>
                </a:custGeom>
                <a:noFill/>
                <a:ln w="9525">
                  <a:solidFill>
                    <a:schemeClr val="tx1"/>
                  </a:solidFill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GB">
                    <a:solidFill>
                      <a:srgbClr val="000000"/>
                    </a:solidFill>
                  </a:endParaRPr>
                </a:p>
              </p:txBody>
            </p:sp>
          </p:grpSp>
        </p:grpSp>
        <p:sp>
          <p:nvSpPr>
            <p:cNvPr id="92" name="Text Box 39"/>
            <p:cNvSpPr txBox="1">
              <a:spLocks noChangeArrowheads="1"/>
            </p:cNvSpPr>
            <p:nvPr/>
          </p:nvSpPr>
          <p:spPr bwMode="auto">
            <a:xfrm>
              <a:off x="4133850" y="3679650"/>
              <a:ext cx="871537" cy="3968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</a:pPr>
              <a:r>
                <a:rPr lang="en-GB" altLang="en-US" sz="2000">
                  <a:solidFill>
                    <a:srgbClr val="000000"/>
                  </a:solidFill>
                </a:rPr>
                <a:t>black</a:t>
              </a:r>
            </a:p>
          </p:txBody>
        </p:sp>
        <p:sp>
          <p:nvSpPr>
            <p:cNvPr id="93" name="Text Box 40"/>
            <p:cNvSpPr txBox="1">
              <a:spLocks noChangeArrowheads="1"/>
            </p:cNvSpPr>
            <p:nvPr/>
          </p:nvSpPr>
          <p:spPr bwMode="auto">
            <a:xfrm>
              <a:off x="4171950" y="4503562"/>
              <a:ext cx="1004887" cy="3968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</a:pPr>
              <a:r>
                <a:rPr lang="en-GB" altLang="en-US" sz="2000" b="1" dirty="0">
                  <a:solidFill>
                    <a:schemeClr val="accent3">
                      <a:lumMod val="75000"/>
                    </a:schemeClr>
                  </a:solidFill>
                </a:rPr>
                <a:t>green</a:t>
              </a:r>
            </a:p>
          </p:txBody>
        </p:sp>
        <p:sp>
          <p:nvSpPr>
            <p:cNvPr id="94" name="Text Box 41"/>
            <p:cNvSpPr txBox="1">
              <a:spLocks noChangeArrowheads="1"/>
            </p:cNvSpPr>
            <p:nvPr/>
          </p:nvSpPr>
          <p:spPr bwMode="auto">
            <a:xfrm>
              <a:off x="4102100" y="5475112"/>
              <a:ext cx="928687" cy="3968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</a:pPr>
              <a:r>
                <a:rPr lang="en-GB" altLang="en-US" sz="2000">
                  <a:solidFill>
                    <a:srgbClr val="000000"/>
                  </a:solidFill>
                </a:rPr>
                <a:t>black</a:t>
              </a:r>
            </a:p>
          </p:txBody>
        </p:sp>
        <p:sp>
          <p:nvSpPr>
            <p:cNvPr id="95" name="Text Box 42"/>
            <p:cNvSpPr txBox="1">
              <a:spLocks noChangeArrowheads="1"/>
            </p:cNvSpPr>
            <p:nvPr/>
          </p:nvSpPr>
          <p:spPr bwMode="auto">
            <a:xfrm>
              <a:off x="4064000" y="6292674"/>
              <a:ext cx="1119187" cy="3968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</a:pPr>
              <a:r>
                <a:rPr lang="en-GB" altLang="en-US" sz="2000" b="1" dirty="0">
                  <a:solidFill>
                    <a:schemeClr val="accent3">
                      <a:lumMod val="75000"/>
                    </a:schemeClr>
                  </a:solidFill>
                </a:rPr>
                <a:t>green</a:t>
              </a:r>
            </a:p>
          </p:txBody>
        </p:sp>
      </p:grpSp>
      <p:graphicFrame>
        <p:nvGraphicFramePr>
          <p:cNvPr id="104" name="Object 43"/>
          <p:cNvGraphicFramePr>
            <a:graphicFrameLocks noChangeAspect="1"/>
          </p:cNvGraphicFramePr>
          <p:nvPr/>
        </p:nvGraphicFramePr>
        <p:xfrm>
          <a:off x="896938" y="4173363"/>
          <a:ext cx="225425" cy="5381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83" name="Equation" r:id="rId8" imgW="164880" imgH="393480" progId="Equation.DSMT4">
                  <p:embed/>
                </p:oleObj>
              </mc:Choice>
              <mc:Fallback>
                <p:oleObj name="Equation" r:id="rId8" imgW="164880" imgH="39348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96938" y="4173363"/>
                        <a:ext cx="225425" cy="5381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5" name="Object 44"/>
          <p:cNvGraphicFramePr>
            <a:graphicFrameLocks noChangeAspect="1"/>
          </p:cNvGraphicFramePr>
          <p:nvPr/>
        </p:nvGraphicFramePr>
        <p:xfrm>
          <a:off x="5038725" y="4409900"/>
          <a:ext cx="3538537" cy="6238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84" name="Equation" r:id="rId10" imgW="2234880" imgH="393480" progId="Equation.DSMT4">
                  <p:embed/>
                </p:oleObj>
              </mc:Choice>
              <mc:Fallback>
                <p:oleObj name="Equation" r:id="rId10" imgW="2234880" imgH="39348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38725" y="4409900"/>
                        <a:ext cx="3538537" cy="6238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6" name="Object 58"/>
          <p:cNvGraphicFramePr>
            <a:graphicFrameLocks noChangeAspect="1"/>
          </p:cNvGraphicFramePr>
          <p:nvPr/>
        </p:nvGraphicFramePr>
        <p:xfrm>
          <a:off x="4956175" y="6189487"/>
          <a:ext cx="3579812" cy="6238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85" name="Equation" r:id="rId12" imgW="2260440" imgH="393480" progId="Equation.DSMT4">
                  <p:embed/>
                </p:oleObj>
              </mc:Choice>
              <mc:Fallback>
                <p:oleObj name="Equation" r:id="rId12" imgW="2260440" imgH="39348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56175" y="6189487"/>
                        <a:ext cx="3579812" cy="6238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7" name="Object 59"/>
          <p:cNvGraphicFramePr>
            <a:graphicFrameLocks noChangeAspect="1"/>
          </p:cNvGraphicFramePr>
          <p:nvPr/>
        </p:nvGraphicFramePr>
        <p:xfrm>
          <a:off x="3182938" y="3609800"/>
          <a:ext cx="204787" cy="490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86" name="Equation" r:id="rId14" imgW="164880" imgH="393480" progId="Equation.DSMT4">
                  <p:embed/>
                </p:oleObj>
              </mc:Choice>
              <mc:Fallback>
                <p:oleObj name="Equation" r:id="rId14" imgW="164880" imgH="39348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82938" y="3609800"/>
                        <a:ext cx="204787" cy="4905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8" name="Object 60"/>
          <p:cNvGraphicFramePr>
            <a:graphicFrameLocks noChangeAspect="1"/>
          </p:cNvGraphicFramePr>
          <p:nvPr/>
        </p:nvGraphicFramePr>
        <p:xfrm>
          <a:off x="3179763" y="4425775"/>
          <a:ext cx="206375" cy="493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87" name="Equation" r:id="rId15" imgW="164880" imgH="393480" progId="Equation.DSMT4">
                  <p:embed/>
                </p:oleObj>
              </mc:Choice>
              <mc:Fallback>
                <p:oleObj name="Equation" r:id="rId15" imgW="164880" imgH="39348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79763" y="4425775"/>
                        <a:ext cx="206375" cy="4937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9" name="Object 61"/>
          <p:cNvGraphicFramePr>
            <a:graphicFrameLocks noChangeAspect="1"/>
          </p:cNvGraphicFramePr>
          <p:nvPr/>
        </p:nvGraphicFramePr>
        <p:xfrm>
          <a:off x="3213100" y="5294137"/>
          <a:ext cx="206375" cy="493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88" name="Equation" r:id="rId16" imgW="164880" imgH="393480" progId="Equation.DSMT4">
                  <p:embed/>
                </p:oleObj>
              </mc:Choice>
              <mc:Fallback>
                <p:oleObj name="Equation" r:id="rId16" imgW="164880" imgH="39348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13100" y="5294137"/>
                        <a:ext cx="206375" cy="4937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" name="Object 62"/>
          <p:cNvGraphicFramePr>
            <a:graphicFrameLocks noChangeAspect="1"/>
          </p:cNvGraphicFramePr>
          <p:nvPr/>
        </p:nvGraphicFramePr>
        <p:xfrm>
          <a:off x="3182938" y="6208537"/>
          <a:ext cx="206375" cy="493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89" name="Equation" r:id="rId17" imgW="164880" imgH="393480" progId="Equation.DSMT4">
                  <p:embed/>
                </p:oleObj>
              </mc:Choice>
              <mc:Fallback>
                <p:oleObj name="Equation" r:id="rId17" imgW="164880" imgH="39348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82938" y="6208537"/>
                        <a:ext cx="206375" cy="4937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11" name="Straight Connector 110"/>
          <p:cNvCxnSpPr>
            <a:stCxn id="88" idx="0"/>
            <a:endCxn id="88" idx="1"/>
          </p:cNvCxnSpPr>
          <p:nvPr/>
        </p:nvCxnSpPr>
        <p:spPr>
          <a:xfrm>
            <a:off x="303213" y="5225875"/>
            <a:ext cx="1733550" cy="812799"/>
          </a:xfrm>
          <a:prstGeom prst="line">
            <a:avLst/>
          </a:prstGeom>
          <a:ln w="762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/>
          <p:cNvCxnSpPr>
            <a:endCxn id="99" idx="1"/>
          </p:cNvCxnSpPr>
          <p:nvPr/>
        </p:nvCxnSpPr>
        <p:spPr>
          <a:xfrm>
            <a:off x="2735263" y="5997399"/>
            <a:ext cx="1338262" cy="438151"/>
          </a:xfrm>
          <a:prstGeom prst="line">
            <a:avLst/>
          </a:prstGeom>
          <a:ln w="762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Oval 112"/>
          <p:cNvSpPr/>
          <p:nvPr/>
        </p:nvSpPr>
        <p:spPr>
          <a:xfrm>
            <a:off x="1869315" y="5805264"/>
            <a:ext cx="955129" cy="561975"/>
          </a:xfrm>
          <a:prstGeom prst="ellipse">
            <a:avLst/>
          </a:prstGeom>
          <a:noFill/>
          <a:ln w="762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4" name="Oval 113"/>
          <p:cNvSpPr/>
          <p:nvPr/>
        </p:nvSpPr>
        <p:spPr>
          <a:xfrm>
            <a:off x="3923928" y="6238651"/>
            <a:ext cx="955129" cy="561975"/>
          </a:xfrm>
          <a:prstGeom prst="ellipse">
            <a:avLst/>
          </a:prstGeom>
          <a:noFill/>
          <a:ln w="762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5" name="Rectangle 114"/>
          <p:cNvSpPr/>
          <p:nvPr/>
        </p:nvSpPr>
        <p:spPr>
          <a:xfrm>
            <a:off x="8151504" y="6086251"/>
            <a:ext cx="391319" cy="771749"/>
          </a:xfrm>
          <a:prstGeom prst="rect">
            <a:avLst/>
          </a:prstGeom>
          <a:solidFill>
            <a:srgbClr val="FFA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16" name="Straight Connector 115"/>
          <p:cNvCxnSpPr/>
          <p:nvPr/>
        </p:nvCxnSpPr>
        <p:spPr>
          <a:xfrm flipV="1">
            <a:off x="303213" y="4290838"/>
            <a:ext cx="1733550" cy="950912"/>
          </a:xfrm>
          <a:prstGeom prst="line">
            <a:avLst/>
          </a:prstGeom>
          <a:ln w="762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/>
          <p:cNvCxnSpPr>
            <a:endCxn id="103" idx="1"/>
          </p:cNvCxnSpPr>
          <p:nvPr/>
        </p:nvCxnSpPr>
        <p:spPr>
          <a:xfrm>
            <a:off x="2807878" y="4244114"/>
            <a:ext cx="1316447" cy="413437"/>
          </a:xfrm>
          <a:prstGeom prst="line">
            <a:avLst/>
          </a:prstGeom>
          <a:ln w="762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Oval 117"/>
          <p:cNvSpPr/>
          <p:nvPr/>
        </p:nvSpPr>
        <p:spPr>
          <a:xfrm>
            <a:off x="1860251" y="3965399"/>
            <a:ext cx="955129" cy="561975"/>
          </a:xfrm>
          <a:prstGeom prst="ellipse">
            <a:avLst/>
          </a:prstGeom>
          <a:noFill/>
          <a:ln w="76200">
            <a:solidFill>
              <a:schemeClr val="accent4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9" name="Oval 118"/>
          <p:cNvSpPr/>
          <p:nvPr/>
        </p:nvSpPr>
        <p:spPr>
          <a:xfrm>
            <a:off x="4064000" y="4453831"/>
            <a:ext cx="955129" cy="561975"/>
          </a:xfrm>
          <a:prstGeom prst="ellipse">
            <a:avLst/>
          </a:prstGeom>
          <a:noFill/>
          <a:ln w="76200">
            <a:solidFill>
              <a:schemeClr val="accent4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0" name="Rectangle 119"/>
          <p:cNvSpPr/>
          <p:nvPr/>
        </p:nvSpPr>
        <p:spPr>
          <a:xfrm>
            <a:off x="8160759" y="4271676"/>
            <a:ext cx="391319" cy="771749"/>
          </a:xfrm>
          <a:prstGeom prst="rect">
            <a:avLst/>
          </a:prstGeom>
          <a:solidFill>
            <a:srgbClr val="FFA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3" grpId="0" animBg="1"/>
      <p:bldP spid="114" grpId="0" animBg="1"/>
      <p:bldP spid="115" grpId="0" animBg="1"/>
      <p:bldP spid="118" grpId="0" animBg="1"/>
      <p:bldP spid="119" grpId="0" animBg="1"/>
      <p:bldP spid="1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00" y="58745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7360" y="623417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296" y="182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82296" y="182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841248" y="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COMBINING BRANCHES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650240" y="26009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 smtClean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‘Same Color’ </a:t>
            </a: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 Add the Branches</a:t>
            </a:r>
            <a:endParaRPr lang="en-US" sz="2700" dirty="0"/>
          </a:p>
        </p:txBody>
      </p:sp>
      <p:sp>
        <p:nvSpPr>
          <p:cNvPr id="42" name="Shape 40"/>
          <p:cNvSpPr/>
          <p:nvPr/>
        </p:nvSpPr>
        <p:spPr>
          <a:xfrm>
            <a:off x="8829040" y="1033639"/>
            <a:ext cx="3362655" cy="2490638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8925560" y="124358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829040" y="1975481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ALONG each branch you want.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 smtClean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‘Same color’ </a:t>
            </a: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happen two ways — find both.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those branch probabilities (‘or’).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all </a:t>
            </a:r>
            <a:r>
              <a:rPr lang="en-US" sz="1350" dirty="0" smtClean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end-probabilities </a:t>
            </a: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1.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566928" y="65105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‘At least one’ is often quickest as 1 − P(none).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4851788" y="6001762"/>
            <a:ext cx="6886496" cy="495722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3123596" y="6121908"/>
            <a:ext cx="10515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300" b="1" dirty="0" smtClean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P(Same color) </a:t>
            </a: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</a:t>
            </a:r>
            <a:r>
              <a:rPr lang="en-US" sz="2300" b="1" dirty="0" smtClean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P(R,R) </a:t>
            </a: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 </a:t>
            </a: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P(B,B) + </a:t>
            </a:r>
            <a:r>
              <a:rPr lang="en-US" sz="2300" b="1" dirty="0" smtClean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P(G,G)</a:t>
            </a:r>
            <a:endParaRPr lang="en-US" sz="2300" dirty="0"/>
          </a:p>
          <a:p>
            <a:pPr marL="0" indent="0" algn="ctr">
              <a:buNone/>
            </a:pPr>
            <a:endParaRPr lang="en-US" sz="2300" dirty="0"/>
          </a:p>
        </p:txBody>
      </p:sp>
      <p:sp>
        <p:nvSpPr>
          <p:cNvPr id="60" name="Content Placeholder 2"/>
          <p:cNvSpPr txBox="1">
            <a:spLocks/>
          </p:cNvSpPr>
          <p:nvPr/>
        </p:nvSpPr>
        <p:spPr>
          <a:xfrm>
            <a:off x="46748" y="713851"/>
            <a:ext cx="8229600" cy="2260848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itchFamily="34" charset="0"/>
              <a:buNone/>
            </a:pPr>
            <a:r>
              <a:rPr lang="en-GB" sz="2800" dirty="0"/>
              <a:t>A bag contains 5 blue counters, 3 red counters and 2 green counters. If I take out one counter, without replacement, then another, what is the probability that they will be the same </a:t>
            </a:r>
            <a:r>
              <a:rPr lang="en-GB" sz="2800" dirty="0" err="1" smtClean="0"/>
              <a:t>color</a:t>
            </a:r>
            <a:r>
              <a:rPr lang="en-GB" sz="2800" dirty="0"/>
              <a:t>?</a:t>
            </a:r>
          </a:p>
        </p:txBody>
      </p:sp>
      <p:cxnSp>
        <p:nvCxnSpPr>
          <p:cNvPr id="61" name="Straight Connector 60"/>
          <p:cNvCxnSpPr/>
          <p:nvPr/>
        </p:nvCxnSpPr>
        <p:spPr>
          <a:xfrm flipV="1">
            <a:off x="1755444" y="3369303"/>
            <a:ext cx="936104" cy="100811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1755444" y="4377415"/>
            <a:ext cx="936104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>
            <a:off x="1755444" y="4377415"/>
            <a:ext cx="864096" cy="100811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V="1">
            <a:off x="3339620" y="2660181"/>
            <a:ext cx="936104" cy="432048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>
            <a:off x="3339620" y="3092229"/>
            <a:ext cx="936104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>
            <a:off x="3339620" y="3092229"/>
            <a:ext cx="936104" cy="432048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/>
          <p:cNvCxnSpPr/>
          <p:nvPr/>
        </p:nvCxnSpPr>
        <p:spPr>
          <a:xfrm flipV="1">
            <a:off x="3339620" y="5241511"/>
            <a:ext cx="936104" cy="432048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/>
          <p:cNvCxnSpPr/>
          <p:nvPr/>
        </p:nvCxnSpPr>
        <p:spPr>
          <a:xfrm>
            <a:off x="3339620" y="5673559"/>
            <a:ext cx="936104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/>
          <p:nvPr/>
        </p:nvCxnSpPr>
        <p:spPr>
          <a:xfrm>
            <a:off x="3339620" y="5673559"/>
            <a:ext cx="936104" cy="432048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/>
          <p:nvPr/>
        </p:nvCxnSpPr>
        <p:spPr>
          <a:xfrm flipV="1">
            <a:off x="3339620" y="3945367"/>
            <a:ext cx="936104" cy="432048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/>
          <p:nvPr/>
        </p:nvCxnSpPr>
        <p:spPr>
          <a:xfrm>
            <a:off x="3339620" y="4377415"/>
            <a:ext cx="936104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/>
          <p:nvPr/>
        </p:nvCxnSpPr>
        <p:spPr>
          <a:xfrm>
            <a:off x="3339620" y="4377415"/>
            <a:ext cx="936104" cy="432048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2907572" y="2937255"/>
            <a:ext cx="432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prstClr val="black"/>
                </a:solidFill>
              </a:rPr>
              <a:t>B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419740" y="2466223"/>
            <a:ext cx="432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prstClr val="black"/>
                </a:solidFill>
              </a:rPr>
              <a:t>B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419740" y="3760701"/>
            <a:ext cx="432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prstClr val="black"/>
                </a:solidFill>
              </a:rPr>
              <a:t>B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419740" y="5016195"/>
            <a:ext cx="432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prstClr val="black"/>
                </a:solidFill>
              </a:rPr>
              <a:t>B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907572" y="4161391"/>
            <a:ext cx="432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prstClr val="black"/>
                </a:solidFill>
              </a:rPr>
              <a:t>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907572" y="5448243"/>
            <a:ext cx="432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prstClr val="black"/>
                </a:solidFill>
              </a:rPr>
              <a:t>G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419740" y="2907563"/>
            <a:ext cx="432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prstClr val="black"/>
                </a:solidFill>
              </a:rPr>
              <a:t>R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419740" y="4161391"/>
            <a:ext cx="432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prstClr val="black"/>
                </a:solidFill>
              </a:rPr>
              <a:t>R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419740" y="5448243"/>
            <a:ext cx="432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prstClr val="black"/>
                </a:solidFill>
              </a:rPr>
              <a:t>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419740" y="3330319"/>
            <a:ext cx="432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prstClr val="black"/>
                </a:solidFill>
              </a:rPr>
              <a:t>G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419740" y="4593439"/>
            <a:ext cx="432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prstClr val="black"/>
                </a:solidFill>
              </a:rPr>
              <a:t>G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419740" y="5880291"/>
            <a:ext cx="432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prstClr val="black"/>
                </a:solidFill>
              </a:rPr>
              <a:t>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5" name="TextBox 84"/>
              <p:cNvSpPr txBox="1"/>
              <p:nvPr/>
            </p:nvSpPr>
            <p:spPr>
              <a:xfrm>
                <a:off x="2547532" y="2937255"/>
                <a:ext cx="576064" cy="44300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20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</m:ctrlPr>
                        </m:fPr>
                        <m:num>
                          <m:r>
                            <a:rPr lang="en-GB" sz="120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5</m:t>
                          </m:r>
                        </m:num>
                        <m:den>
                          <m:r>
                            <a:rPr lang="en-GB" sz="120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1200" dirty="0">
                  <a:solidFill>
                    <a:prstClr val="black"/>
                  </a:solidFill>
                </a:endParaRPr>
              </a:p>
            </p:txBody>
          </p:sp>
        </mc:Choice>
        <mc:Fallback>
          <p:sp>
            <p:nvSpPr>
              <p:cNvPr id="85" name="TextBox 8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7532" y="2937255"/>
                <a:ext cx="576064" cy="443006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6" name="TextBox 85"/>
              <p:cNvSpPr txBox="1"/>
              <p:nvPr/>
            </p:nvSpPr>
            <p:spPr>
              <a:xfrm>
                <a:off x="2547532" y="5362386"/>
                <a:ext cx="576064" cy="4551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20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</m:ctrlPr>
                        </m:fPr>
                        <m:num>
                          <m:r>
                            <a:rPr lang="en-GB" sz="120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2</m:t>
                          </m:r>
                        </m:num>
                        <m:den>
                          <m:r>
                            <a:rPr lang="en-GB" sz="120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1200" dirty="0">
                  <a:solidFill>
                    <a:prstClr val="black"/>
                  </a:solidFill>
                </a:endParaRPr>
              </a:p>
            </p:txBody>
          </p:sp>
        </mc:Choice>
        <mc:Fallback>
          <p:sp>
            <p:nvSpPr>
              <p:cNvPr id="86" name="TextBox 8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7532" y="5362386"/>
                <a:ext cx="576064" cy="455189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7" name="TextBox 86"/>
              <p:cNvSpPr txBox="1"/>
              <p:nvPr/>
            </p:nvSpPr>
            <p:spPr>
              <a:xfrm>
                <a:off x="2547532" y="4138250"/>
                <a:ext cx="576064" cy="4551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20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</m:ctrlPr>
                        </m:fPr>
                        <m:num>
                          <m:r>
                            <a:rPr lang="en-GB" sz="120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3</m:t>
                          </m:r>
                        </m:num>
                        <m:den>
                          <m:r>
                            <a:rPr lang="en-GB" sz="120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1200" dirty="0">
                  <a:solidFill>
                    <a:prstClr val="black"/>
                  </a:solidFill>
                </a:endParaRPr>
              </a:p>
            </p:txBody>
          </p:sp>
        </mc:Choice>
        <mc:Fallback>
          <p:sp>
            <p:nvSpPr>
              <p:cNvPr id="87" name="TextBox 8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7532" y="4138250"/>
                <a:ext cx="576064" cy="455189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8" name="TextBox 87"/>
              <p:cNvSpPr txBox="1"/>
              <p:nvPr/>
            </p:nvSpPr>
            <p:spPr>
              <a:xfrm>
                <a:off x="4131708" y="2433199"/>
                <a:ext cx="576064" cy="4551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20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</m:ctrlPr>
                        </m:fPr>
                        <m:num>
                          <m:r>
                            <a:rPr lang="en-GB" sz="120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4</m:t>
                          </m:r>
                        </m:num>
                        <m:den>
                          <m:r>
                            <a:rPr lang="en-GB" sz="120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en-GB" sz="1200" dirty="0">
                  <a:solidFill>
                    <a:prstClr val="black"/>
                  </a:solidFill>
                </a:endParaRPr>
              </a:p>
            </p:txBody>
          </p:sp>
        </mc:Choice>
        <mc:Fallback>
          <p:sp>
            <p:nvSpPr>
              <p:cNvPr id="88" name="TextBox 8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1708" y="2433199"/>
                <a:ext cx="576064" cy="455189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9" name="TextBox 88"/>
              <p:cNvSpPr txBox="1"/>
              <p:nvPr/>
            </p:nvSpPr>
            <p:spPr>
              <a:xfrm>
                <a:off x="4131708" y="2853064"/>
                <a:ext cx="576064" cy="4551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20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</m:ctrlPr>
                        </m:fPr>
                        <m:num>
                          <m:r>
                            <a:rPr lang="en-GB" sz="120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3</m:t>
                          </m:r>
                        </m:num>
                        <m:den>
                          <m:r>
                            <a:rPr lang="en-GB" sz="120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en-GB" sz="1200" dirty="0">
                  <a:solidFill>
                    <a:prstClr val="black"/>
                  </a:solidFill>
                </a:endParaRPr>
              </a:p>
            </p:txBody>
          </p:sp>
        </mc:Choice>
        <mc:Fallback>
          <p:sp>
            <p:nvSpPr>
              <p:cNvPr id="89" name="TextBox 8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1708" y="2853064"/>
                <a:ext cx="576064" cy="455189"/>
              </a:xfrm>
              <a:prstGeom prst="rect">
                <a:avLst/>
              </a:prstGeom>
              <a:blipFill rotWithShape="1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0" name="TextBox 89"/>
              <p:cNvSpPr txBox="1"/>
              <p:nvPr/>
            </p:nvSpPr>
            <p:spPr>
              <a:xfrm>
                <a:off x="4131708" y="3285112"/>
                <a:ext cx="576064" cy="4551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20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</m:ctrlPr>
                        </m:fPr>
                        <m:num>
                          <m:r>
                            <a:rPr lang="en-GB" sz="120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2</m:t>
                          </m:r>
                        </m:num>
                        <m:den>
                          <m:r>
                            <a:rPr lang="en-GB" sz="120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en-GB" sz="1200" dirty="0">
                  <a:solidFill>
                    <a:prstClr val="black"/>
                  </a:solidFill>
                </a:endParaRPr>
              </a:p>
            </p:txBody>
          </p:sp>
        </mc:Choice>
        <mc:Fallback>
          <p:sp>
            <p:nvSpPr>
              <p:cNvPr id="90" name="TextBox 8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1708" y="3285112"/>
                <a:ext cx="576064" cy="455189"/>
              </a:xfrm>
              <a:prstGeom prst="rect">
                <a:avLst/>
              </a:prstGeom>
              <a:blipFill rotWithShape="1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1" name="TextBox 90"/>
              <p:cNvSpPr txBox="1"/>
              <p:nvPr/>
            </p:nvSpPr>
            <p:spPr>
              <a:xfrm>
                <a:off x="4131708" y="3729343"/>
                <a:ext cx="576064" cy="4551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20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</m:ctrlPr>
                        </m:fPr>
                        <m:num>
                          <m:r>
                            <a:rPr lang="en-GB" sz="120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5</m:t>
                          </m:r>
                        </m:num>
                        <m:den>
                          <m:r>
                            <a:rPr lang="en-GB" sz="120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en-GB" sz="1200" dirty="0">
                  <a:solidFill>
                    <a:prstClr val="black"/>
                  </a:solidFill>
                </a:endParaRPr>
              </a:p>
            </p:txBody>
          </p:sp>
        </mc:Choice>
        <mc:Fallback>
          <p:sp>
            <p:nvSpPr>
              <p:cNvPr id="91" name="TextBox 9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1708" y="3729343"/>
                <a:ext cx="576064" cy="455189"/>
              </a:xfrm>
              <a:prstGeom prst="rect">
                <a:avLst/>
              </a:prstGeom>
              <a:blipFill rotWithShape="1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2" name="TextBox 91"/>
              <p:cNvSpPr txBox="1"/>
              <p:nvPr/>
            </p:nvSpPr>
            <p:spPr>
              <a:xfrm>
                <a:off x="4131708" y="5889583"/>
                <a:ext cx="576064" cy="4551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20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</m:ctrlPr>
                        </m:fPr>
                        <m:num>
                          <m:r>
                            <a:rPr lang="en-GB" sz="120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1</m:t>
                          </m:r>
                        </m:num>
                        <m:den>
                          <m:r>
                            <a:rPr lang="en-GB" sz="120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en-GB" sz="1200" dirty="0">
                  <a:solidFill>
                    <a:prstClr val="black"/>
                  </a:solidFill>
                </a:endParaRPr>
              </a:p>
            </p:txBody>
          </p:sp>
        </mc:Choice>
        <mc:Fallback>
          <p:sp>
            <p:nvSpPr>
              <p:cNvPr id="92" name="TextBox 9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1708" y="5889583"/>
                <a:ext cx="576064" cy="455189"/>
              </a:xfrm>
              <a:prstGeom prst="rect">
                <a:avLst/>
              </a:prstGeom>
              <a:blipFill rotWithShape="1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3" name="TextBox 92"/>
              <p:cNvSpPr txBox="1"/>
              <p:nvPr/>
            </p:nvSpPr>
            <p:spPr>
              <a:xfrm>
                <a:off x="4131708" y="5434394"/>
                <a:ext cx="576064" cy="4551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20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</m:ctrlPr>
                        </m:fPr>
                        <m:num>
                          <m:r>
                            <a:rPr lang="en-GB" sz="120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3</m:t>
                          </m:r>
                        </m:num>
                        <m:den>
                          <m:r>
                            <a:rPr lang="en-GB" sz="120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en-GB" sz="1200" dirty="0">
                  <a:solidFill>
                    <a:prstClr val="black"/>
                  </a:solidFill>
                </a:endParaRPr>
              </a:p>
            </p:txBody>
          </p:sp>
        </mc:Choice>
        <mc:Fallback>
          <p:sp>
            <p:nvSpPr>
              <p:cNvPr id="93" name="TextBox 9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1708" y="5434394"/>
                <a:ext cx="576064" cy="455189"/>
              </a:xfrm>
              <a:prstGeom prst="rect">
                <a:avLst/>
              </a:prstGeom>
              <a:blipFill rotWithShape="1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4" name="TextBox 93"/>
              <p:cNvSpPr txBox="1"/>
              <p:nvPr/>
            </p:nvSpPr>
            <p:spPr>
              <a:xfrm>
                <a:off x="4131708" y="5002346"/>
                <a:ext cx="576064" cy="4551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20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</m:ctrlPr>
                        </m:fPr>
                        <m:num>
                          <m:r>
                            <a:rPr lang="en-GB" sz="120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5</m:t>
                          </m:r>
                        </m:num>
                        <m:den>
                          <m:r>
                            <a:rPr lang="en-GB" sz="120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en-GB" sz="1200" dirty="0">
                  <a:solidFill>
                    <a:prstClr val="black"/>
                  </a:solidFill>
                </a:endParaRPr>
              </a:p>
            </p:txBody>
          </p:sp>
        </mc:Choice>
        <mc:Fallback>
          <p:sp>
            <p:nvSpPr>
              <p:cNvPr id="94" name="TextBox 9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1708" y="5002346"/>
                <a:ext cx="576064" cy="455189"/>
              </a:xfrm>
              <a:prstGeom prst="rect">
                <a:avLst/>
              </a:prstGeom>
              <a:blipFill rotWithShape="1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5" name="TextBox 94"/>
              <p:cNvSpPr txBox="1"/>
              <p:nvPr/>
            </p:nvSpPr>
            <p:spPr>
              <a:xfrm>
                <a:off x="4131708" y="4570298"/>
                <a:ext cx="576064" cy="4551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20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</m:ctrlPr>
                        </m:fPr>
                        <m:num>
                          <m:r>
                            <a:rPr lang="en-GB" sz="120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2</m:t>
                          </m:r>
                        </m:num>
                        <m:den>
                          <m:r>
                            <a:rPr lang="en-GB" sz="120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en-GB" sz="1200" dirty="0">
                  <a:solidFill>
                    <a:prstClr val="black"/>
                  </a:solidFill>
                </a:endParaRPr>
              </a:p>
            </p:txBody>
          </p:sp>
        </mc:Choice>
        <mc:Fallback>
          <p:sp>
            <p:nvSpPr>
              <p:cNvPr id="95" name="TextBox 9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1708" y="4570298"/>
                <a:ext cx="576064" cy="455189"/>
              </a:xfrm>
              <a:prstGeom prst="rect">
                <a:avLst/>
              </a:prstGeom>
              <a:blipFill rotWithShape="1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6" name="TextBox 95"/>
              <p:cNvSpPr txBox="1"/>
              <p:nvPr/>
            </p:nvSpPr>
            <p:spPr>
              <a:xfrm>
                <a:off x="4131708" y="4138250"/>
                <a:ext cx="576064" cy="4551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20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</m:ctrlPr>
                        </m:fPr>
                        <m:num>
                          <m:r>
                            <a:rPr lang="en-GB" sz="120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2</m:t>
                          </m:r>
                        </m:num>
                        <m:den>
                          <m:r>
                            <a:rPr lang="en-GB" sz="120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en-GB" sz="1200" dirty="0">
                  <a:solidFill>
                    <a:prstClr val="black"/>
                  </a:solidFill>
                </a:endParaRPr>
              </a:p>
            </p:txBody>
          </p:sp>
        </mc:Choice>
        <mc:Fallback>
          <p:sp>
            <p:nvSpPr>
              <p:cNvPr id="96" name="TextBox 9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1708" y="4138250"/>
                <a:ext cx="576064" cy="455189"/>
              </a:xfrm>
              <a:prstGeom prst="rect">
                <a:avLst/>
              </a:prstGeom>
              <a:blipFill rotWithShape="1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7" name="TextBox 96"/>
          <p:cNvSpPr txBox="1"/>
          <p:nvPr/>
        </p:nvSpPr>
        <p:spPr>
          <a:xfrm>
            <a:off x="99260" y="3825158"/>
            <a:ext cx="158417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prstClr val="black"/>
                </a:solidFill>
              </a:rPr>
              <a:t>We have </a:t>
            </a:r>
            <a:r>
              <a:rPr lang="en-GB" b="1" dirty="0">
                <a:solidFill>
                  <a:srgbClr val="FF0000"/>
                </a:solidFill>
              </a:rPr>
              <a:t>3</a:t>
            </a:r>
            <a:r>
              <a:rPr lang="en-GB" dirty="0">
                <a:solidFill>
                  <a:prstClr val="black"/>
                </a:solidFill>
              </a:rPr>
              <a:t> options so need </a:t>
            </a:r>
            <a:r>
              <a:rPr lang="en-GB" b="1" dirty="0">
                <a:solidFill>
                  <a:srgbClr val="FF0000"/>
                </a:solidFill>
              </a:rPr>
              <a:t>3</a:t>
            </a:r>
            <a:r>
              <a:rPr lang="en-GB" dirty="0">
                <a:solidFill>
                  <a:prstClr val="black"/>
                </a:solidFill>
              </a:rPr>
              <a:t> “branches”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72200" y="3092229"/>
            <a:ext cx="201622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srgbClr val="0070C0"/>
                </a:solidFill>
              </a:rPr>
              <a:t>The probabilities of the second pick change depending upon what the first pick was.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9" name="TextBox 98"/>
              <p:cNvSpPr txBox="1"/>
              <p:nvPr/>
            </p:nvSpPr>
            <p:spPr>
              <a:xfrm>
                <a:off x="7218928" y="3677688"/>
                <a:ext cx="5318512" cy="19536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b="1" u="sng" dirty="0">
                    <a:solidFill>
                      <a:srgbClr val="FF0000"/>
                    </a:solidFill>
                  </a:rPr>
                  <a:t>Answer:</a:t>
                </a:r>
              </a:p>
              <a:p>
                <a:pPr algn="ctr"/>
                <a:r>
                  <a:rPr lang="en-GB" dirty="0">
                    <a:solidFill>
                      <a:srgbClr val="FF0000"/>
                    </a:solidFill>
                  </a:rPr>
                  <a:t>Blue, Blue: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</m:ctrlPr>
                      </m:fPr>
                      <m:num>
                        <m:r>
                          <a:rPr lang="en-GB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5</m:t>
                        </m:r>
                      </m:num>
                      <m:den>
                        <m:r>
                          <a:rPr lang="en-GB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solidFill>
                          <a:srgbClr val="FF0000"/>
                        </a:solidFill>
                        <a:latin typeface="Cambria Math"/>
                        <a:ea typeface="Cambria Math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solidFill>
                              <a:srgbClr val="FF0000"/>
                            </a:solidFill>
                            <a:latin typeface="Cambria Math"/>
                            <a:ea typeface="Cambria Math"/>
                          </a:rPr>
                        </m:ctrlPr>
                      </m:fPr>
                      <m:num>
                        <m:r>
                          <a:rPr lang="en-GB" i="1" smtClean="0">
                            <a:solidFill>
                              <a:srgbClr val="FF0000"/>
                            </a:solidFill>
                            <a:latin typeface="Cambria Math"/>
                            <a:ea typeface="Cambria Math"/>
                          </a:rPr>
                          <m:t>4</m:t>
                        </m:r>
                      </m:num>
                      <m:den>
                        <m:r>
                          <a:rPr lang="en-GB" i="1" smtClean="0">
                            <a:solidFill>
                              <a:srgbClr val="FF0000"/>
                            </a:solidFill>
                            <a:latin typeface="Cambria Math"/>
                            <a:ea typeface="Cambria Math"/>
                          </a:rPr>
                          <m:t>9</m:t>
                        </m:r>
                      </m:den>
                    </m:f>
                    <m:r>
                      <a:rPr lang="en-GB" i="1" smtClean="0">
                        <a:solidFill>
                          <a:srgbClr val="FF0000"/>
                        </a:solidFill>
                        <a:latin typeface="Cambria Math"/>
                        <a:ea typeface="Cambria Math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solidFill>
                              <a:srgbClr val="FF0000"/>
                            </a:solidFill>
                            <a:latin typeface="Cambria Math"/>
                            <a:ea typeface="Cambria Math"/>
                          </a:rPr>
                        </m:ctrlPr>
                      </m:fPr>
                      <m:num>
                        <m:r>
                          <a:rPr lang="en-GB" i="1" smtClean="0">
                            <a:solidFill>
                              <a:srgbClr val="FF0000"/>
                            </a:solidFill>
                            <a:latin typeface="Cambria Math"/>
                            <a:ea typeface="Cambria Math"/>
                          </a:rPr>
                          <m:t>20</m:t>
                        </m:r>
                      </m:num>
                      <m:den>
                        <m:r>
                          <a:rPr lang="en-GB" i="1" smtClean="0">
                            <a:solidFill>
                              <a:srgbClr val="FF0000"/>
                            </a:solidFill>
                            <a:latin typeface="Cambria Math"/>
                            <a:ea typeface="Cambria Math"/>
                          </a:rPr>
                          <m:t>90</m:t>
                        </m:r>
                      </m:den>
                    </m:f>
                  </m:oMath>
                </a14:m>
                <a:endParaRPr lang="en-GB" dirty="0">
                  <a:solidFill>
                    <a:srgbClr val="FF0000"/>
                  </a:solidFill>
                </a:endParaRPr>
              </a:p>
              <a:p>
                <a:pPr algn="ctr"/>
                <a:r>
                  <a:rPr lang="en-GB" dirty="0">
                    <a:solidFill>
                      <a:srgbClr val="FF0000"/>
                    </a:solidFill>
                  </a:rPr>
                  <a:t>Red, Red: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</m:ctrlPr>
                      </m:fPr>
                      <m:num>
                        <m:r>
                          <a:rPr lang="en-GB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3</m:t>
                        </m:r>
                      </m:num>
                      <m:den>
                        <m:r>
                          <a:rPr lang="en-GB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solidFill>
                          <a:srgbClr val="FF0000"/>
                        </a:solidFill>
                        <a:latin typeface="Cambria Math"/>
                        <a:ea typeface="Cambria Math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solidFill>
                              <a:srgbClr val="FF0000"/>
                            </a:solidFill>
                            <a:latin typeface="Cambria Math"/>
                            <a:ea typeface="Cambria Math"/>
                          </a:rPr>
                        </m:ctrlPr>
                      </m:fPr>
                      <m:num>
                        <m:r>
                          <a:rPr lang="en-GB" i="1" smtClean="0">
                            <a:solidFill>
                              <a:srgbClr val="FF0000"/>
                            </a:solidFill>
                            <a:latin typeface="Cambria Math"/>
                            <a:ea typeface="Cambria Math"/>
                          </a:rPr>
                          <m:t>2</m:t>
                        </m:r>
                      </m:num>
                      <m:den>
                        <m:r>
                          <a:rPr lang="en-GB" i="1" smtClean="0">
                            <a:solidFill>
                              <a:srgbClr val="FF0000"/>
                            </a:solidFill>
                            <a:latin typeface="Cambria Math"/>
                            <a:ea typeface="Cambria Math"/>
                          </a:rPr>
                          <m:t>9</m:t>
                        </m:r>
                      </m:den>
                    </m:f>
                    <m:r>
                      <a:rPr lang="en-GB" i="1" smtClean="0">
                        <a:solidFill>
                          <a:srgbClr val="FF0000"/>
                        </a:solidFill>
                        <a:latin typeface="Cambria Math"/>
                        <a:ea typeface="Cambria Math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solidFill>
                              <a:srgbClr val="FF0000"/>
                            </a:solidFill>
                            <a:latin typeface="Cambria Math"/>
                            <a:ea typeface="Cambria Math"/>
                          </a:rPr>
                        </m:ctrlPr>
                      </m:fPr>
                      <m:num>
                        <m:r>
                          <a:rPr lang="en-GB" i="1" smtClean="0">
                            <a:solidFill>
                              <a:srgbClr val="FF0000"/>
                            </a:solidFill>
                            <a:latin typeface="Cambria Math"/>
                            <a:ea typeface="Cambria Math"/>
                          </a:rPr>
                          <m:t>6</m:t>
                        </m:r>
                      </m:num>
                      <m:den>
                        <m:r>
                          <a:rPr lang="en-GB" i="1" smtClean="0">
                            <a:solidFill>
                              <a:srgbClr val="FF0000"/>
                            </a:solidFill>
                            <a:latin typeface="Cambria Math"/>
                            <a:ea typeface="Cambria Math"/>
                          </a:rPr>
                          <m:t>90</m:t>
                        </m:r>
                      </m:den>
                    </m:f>
                  </m:oMath>
                </a14:m>
                <a:endParaRPr lang="en-GB" dirty="0">
                  <a:solidFill>
                    <a:srgbClr val="FF0000"/>
                  </a:solidFill>
                </a:endParaRPr>
              </a:p>
              <a:p>
                <a:pPr algn="ctr"/>
                <a:r>
                  <a:rPr lang="en-GB" dirty="0">
                    <a:solidFill>
                      <a:srgbClr val="FF0000"/>
                    </a:solidFill>
                  </a:rPr>
                  <a:t>Green, Green: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</m:ctrlPr>
                      </m:fPr>
                      <m:num>
                        <m:r>
                          <a:rPr lang="en-GB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2</m:t>
                        </m:r>
                      </m:num>
                      <m:den>
                        <m:r>
                          <a:rPr lang="en-GB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solidFill>
                          <a:srgbClr val="FF0000"/>
                        </a:solidFill>
                        <a:latin typeface="Cambria Math"/>
                        <a:ea typeface="Cambria Math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solidFill>
                              <a:srgbClr val="FF0000"/>
                            </a:solidFill>
                            <a:latin typeface="Cambria Math"/>
                            <a:ea typeface="Cambria Math"/>
                          </a:rPr>
                        </m:ctrlPr>
                      </m:fPr>
                      <m:num>
                        <m:r>
                          <a:rPr lang="en-GB" i="1" smtClean="0">
                            <a:solidFill>
                              <a:srgbClr val="FF0000"/>
                            </a:solidFill>
                            <a:latin typeface="Cambria Math"/>
                            <a:ea typeface="Cambria Math"/>
                          </a:rPr>
                          <m:t>1</m:t>
                        </m:r>
                      </m:num>
                      <m:den>
                        <m:r>
                          <a:rPr lang="en-GB" i="1" smtClean="0">
                            <a:solidFill>
                              <a:srgbClr val="FF0000"/>
                            </a:solidFill>
                            <a:latin typeface="Cambria Math"/>
                            <a:ea typeface="Cambria Math"/>
                          </a:rPr>
                          <m:t>9</m:t>
                        </m:r>
                      </m:den>
                    </m:f>
                    <m:r>
                      <a:rPr lang="en-GB" i="1" smtClean="0">
                        <a:solidFill>
                          <a:srgbClr val="FF0000"/>
                        </a:solidFill>
                        <a:latin typeface="Cambria Math"/>
                        <a:ea typeface="Cambria Math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solidFill>
                              <a:srgbClr val="FF0000"/>
                            </a:solidFill>
                            <a:latin typeface="Cambria Math"/>
                            <a:ea typeface="Cambria Math"/>
                          </a:rPr>
                        </m:ctrlPr>
                      </m:fPr>
                      <m:num>
                        <m:r>
                          <a:rPr lang="en-GB" i="1" smtClean="0">
                            <a:solidFill>
                              <a:srgbClr val="FF0000"/>
                            </a:solidFill>
                            <a:latin typeface="Cambria Math"/>
                            <a:ea typeface="Cambria Math"/>
                          </a:rPr>
                          <m:t>2</m:t>
                        </m:r>
                      </m:num>
                      <m:den>
                        <m:r>
                          <a:rPr lang="en-GB" i="1" smtClean="0">
                            <a:solidFill>
                              <a:srgbClr val="FF0000"/>
                            </a:solidFill>
                            <a:latin typeface="Cambria Math"/>
                            <a:ea typeface="Cambria Math"/>
                          </a:rPr>
                          <m:t>90</m:t>
                        </m:r>
                      </m:den>
                    </m:f>
                  </m:oMath>
                </a14:m>
                <a:endParaRPr lang="en-GB" dirty="0">
                  <a:solidFill>
                    <a:srgbClr val="FF0000"/>
                  </a:solidFill>
                </a:endParaRPr>
              </a:p>
              <a:p>
                <a:pPr algn="ctr"/>
                <a:r>
                  <a:rPr lang="en-GB" b="1" dirty="0" smtClean="0">
                    <a:solidFill>
                      <a:srgbClr val="FF0000"/>
                    </a:solidFill>
                  </a:rPr>
                  <a:t>Total</a:t>
                </a:r>
                <a:r>
                  <a:rPr lang="en-GB" b="1" dirty="0">
                    <a:solidFill>
                      <a:srgbClr val="FF0000"/>
                    </a:solidFill>
                  </a:rPr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b="1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</m:ctrlPr>
                      </m:fPr>
                      <m:num>
                        <m:r>
                          <a:rPr lang="en-GB" b="1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𝟐𝟖</m:t>
                        </m:r>
                      </m:num>
                      <m:den>
                        <m:r>
                          <a:rPr lang="en-GB" b="1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𝟗𝟎</m:t>
                        </m:r>
                      </m:den>
                    </m:f>
                    <m:r>
                      <a:rPr lang="en-GB" b="1" i="1" smtClean="0">
                        <a:solidFill>
                          <a:srgbClr val="FF0000"/>
                        </a:solidFill>
                        <a:latin typeface="Cambria Math"/>
                      </a:rPr>
                      <m:t>=</m:t>
                    </m:r>
                    <m:f>
                      <m:fPr>
                        <m:ctrlPr>
                          <a:rPr lang="en-GB" b="1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</m:ctrlPr>
                      </m:fPr>
                      <m:num>
                        <m:r>
                          <a:rPr lang="en-GB" b="1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𝟏𝟒</m:t>
                        </m:r>
                      </m:num>
                      <m:den>
                        <m:r>
                          <a:rPr lang="en-GB" b="1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𝟒𝟓</m:t>
                        </m:r>
                      </m:den>
                    </m:f>
                  </m:oMath>
                </a14:m>
                <a:endParaRPr lang="en-GB" b="1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99" name="TextBox 9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8928" y="3677688"/>
                <a:ext cx="5318512" cy="1953676"/>
              </a:xfrm>
              <a:prstGeom prst="rect">
                <a:avLst/>
              </a:prstGeom>
              <a:blipFill rotWithShape="1">
                <a:blip r:embed="rId13"/>
                <a:stretch>
                  <a:fillRect t="-1558" b="-9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0" name="TextBox 99"/>
          <p:cNvSpPr txBox="1"/>
          <p:nvPr/>
        </p:nvSpPr>
        <p:spPr>
          <a:xfrm>
            <a:off x="10838184" y="5200861"/>
            <a:ext cx="15121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prstClr val="black"/>
                </a:solidFill>
              </a:rPr>
              <a:t>Don’t simplify until the end!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87292" y="2433199"/>
            <a:ext cx="14401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srgbClr val="9BBB59">
                    <a:lumMod val="50000"/>
                  </a:srgbClr>
                </a:solidFill>
              </a:rPr>
              <a:t>Put on the probabilities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500"/>
                            </p:stCondLst>
                            <p:childTnLst>
                              <p:par>
                                <p:cTn id="7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9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000"/>
                            </p:stCondLst>
                            <p:childTnLst>
                              <p:par>
                                <p:cTn id="8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3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1500"/>
                            </p:stCondLst>
                            <p:childTnLst>
                              <p:par>
                                <p:cTn id="8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7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2000"/>
                            </p:stCondLst>
                            <p:childTnLst>
                              <p:par>
                                <p:cTn id="8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1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2500"/>
                            </p:stCondLst>
                            <p:childTnLst>
                              <p:par>
                                <p:cTn id="9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5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3000"/>
                            </p:stCondLst>
                            <p:childTnLst>
                              <p:par>
                                <p:cTn id="9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9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3500"/>
                            </p:stCondLst>
                            <p:childTnLst>
                              <p:par>
                                <p:cTn id="10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3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4000"/>
                            </p:stCondLst>
                            <p:childTnLst>
                              <p:par>
                                <p:cTn id="10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7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" fill="hold">
                            <p:stCondLst>
                              <p:cond delay="4500"/>
                            </p:stCondLst>
                            <p:childTnLst>
                              <p:par>
                                <p:cTn id="10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1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indefinite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6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1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500"/>
                            </p:stCondLst>
                            <p:childTnLst>
                              <p:par>
                                <p:cTn id="1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5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6" fill="hold">
                            <p:stCondLst>
                              <p:cond delay="1000"/>
                            </p:stCondLst>
                            <p:childTnLst>
                              <p:par>
                                <p:cTn id="1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9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0" fill="hold">
                      <p:stCondLst>
                        <p:cond delay="indefinite"/>
                      </p:stCondLst>
                      <p:childTnLst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4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5" fill="hold">
                            <p:stCondLst>
                              <p:cond delay="500"/>
                            </p:stCondLst>
                            <p:childTnLst>
                              <p:par>
                                <p:cTn id="1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8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" fill="hold">
                            <p:stCondLst>
                              <p:cond delay="1000"/>
                            </p:stCondLst>
                            <p:childTnLst>
                              <p:par>
                                <p:cTn id="1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2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7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8" fill="hold">
                            <p:stCondLst>
                              <p:cond delay="500"/>
                            </p:stCondLst>
                            <p:childTnLst>
                              <p:par>
                                <p:cTn id="1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1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1000"/>
                            </p:stCondLst>
                            <p:childTnLst>
                              <p:par>
                                <p:cTn id="1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5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6" fill="hold">
                      <p:stCondLst>
                        <p:cond delay="indefinite"/>
                      </p:stCondLst>
                      <p:childTnLst>
                        <p:par>
                          <p:cTn id="157" fill="hold">
                            <p:stCondLst>
                              <p:cond delay="0"/>
                            </p:stCondLst>
                            <p:childTnLst>
                              <p:par>
                                <p:cTn id="15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0" dur="5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1" dur="5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3" fill="hold">
                            <p:stCondLst>
                              <p:cond delay="500"/>
                            </p:stCondLst>
                            <p:childTnLst>
                              <p:par>
                                <p:cTn id="164" presetID="53" presetClass="entr" presetSubtype="16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6" dur="5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7" dur="5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/>
      <p:bldP spid="74" grpId="0"/>
      <p:bldP spid="75" grpId="0"/>
      <p:bldP spid="76" grpId="0"/>
      <p:bldP spid="77" grpId="0"/>
      <p:bldP spid="78" grpId="0"/>
      <p:bldP spid="79" grpId="0"/>
      <p:bldP spid="80" grpId="0"/>
      <p:bldP spid="81" grpId="0"/>
      <p:bldP spid="82" grpId="0"/>
      <p:bldP spid="83" grpId="0"/>
      <p:bldP spid="84" grpId="0"/>
      <p:bldP spid="85" grpId="0"/>
      <p:bldP spid="86" grpId="0"/>
      <p:bldP spid="87" grpId="0"/>
      <p:bldP spid="88" grpId="0"/>
      <p:bldP spid="89" grpId="0"/>
      <p:bldP spid="90" grpId="0"/>
      <p:bldP spid="91" grpId="0"/>
      <p:bldP spid="92" grpId="0"/>
      <p:bldP spid="93" grpId="0"/>
      <p:bldP spid="94" grpId="0"/>
      <p:bldP spid="95" grpId="0"/>
      <p:bldP spid="96" grpId="0"/>
      <p:bldP spid="97" grpId="0"/>
      <p:bldP spid="98" grpId="0"/>
      <p:bldP spid="99" grpId="0"/>
      <p:bldP spid="100" grpId="0"/>
      <p:bldP spid="10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69164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Past-Paper Questions</a:t>
            </a:r>
            <a:endParaRPr lang="en-US" sz="4400" dirty="0"/>
          </a:p>
        </p:txBody>
      </p:sp>
      <p:sp>
        <p:nvSpPr>
          <p:cNvPr id="41" name="Text 39"/>
          <p:cNvSpPr/>
          <p:nvPr/>
        </p:nvSpPr>
        <p:spPr>
          <a:xfrm>
            <a:off x="804672" y="26974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Draw the tree, multiply along the branches, then add the ones you need.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868680" y="3611880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3" name="Text 41"/>
          <p:cNvSpPr/>
          <p:nvPr/>
        </p:nvSpPr>
        <p:spPr>
          <a:xfrm>
            <a:off x="868680" y="36118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1554480" y="3611880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Probability on every branch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868680" y="4325112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6" name="Text 44"/>
          <p:cNvSpPr/>
          <p:nvPr/>
        </p:nvSpPr>
        <p:spPr>
          <a:xfrm>
            <a:off x="868680" y="43251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1554480" y="4325112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Multiply ALONG (and)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868680" y="5038344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50383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1554480" y="5038344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DOWN (or)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868680" y="5751576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2" name="Text 50"/>
          <p:cNvSpPr/>
          <p:nvPr/>
        </p:nvSpPr>
        <p:spPr>
          <a:xfrm>
            <a:off x="868680" y="57515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1554480" y="5751576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replaced → second probs change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3243082" y="1408176"/>
            <a:ext cx="5705531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tdq/q-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6234" y="1481328"/>
            <a:ext cx="5559227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2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3673448" y="1408176"/>
            <a:ext cx="4844800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tdq/q-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6600" y="1481328"/>
            <a:ext cx="4698496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3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587856" y="1408176"/>
            <a:ext cx="9015984" cy="3265069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tdq/q-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008" y="1481328"/>
            <a:ext cx="8869680" cy="311876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4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587856" y="1408176"/>
            <a:ext cx="9015984" cy="2433593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tdq/q-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008" y="1481328"/>
            <a:ext cx="8869680" cy="228728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5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587856" y="1408176"/>
            <a:ext cx="9015984" cy="3541907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tdq/q-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008" y="1481328"/>
            <a:ext cx="8869680" cy="339560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6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3531080" y="1408176"/>
            <a:ext cx="5129536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tdq/q-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4232" y="1481328"/>
            <a:ext cx="4983232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7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587856" y="1408176"/>
            <a:ext cx="9015984" cy="25944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tdq/q-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008" y="1481328"/>
            <a:ext cx="8869680" cy="244810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3716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3800" dirty="0"/>
          </a:p>
        </p:txBody>
      </p:sp>
      <p:sp>
        <p:nvSpPr>
          <p:cNvPr id="41" name="Shape 39"/>
          <p:cNvSpPr/>
          <p:nvPr/>
        </p:nvSpPr>
        <p:spPr>
          <a:xfrm>
            <a:off x="868680" y="2368296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2" name="Text 40"/>
          <p:cNvSpPr/>
          <p:nvPr/>
        </p:nvSpPr>
        <p:spPr>
          <a:xfrm>
            <a:off x="1234440" y="233172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tree diagram shows events happening one after another, with a probability on each branch.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868680" y="2935224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4" name="Text 42"/>
          <p:cNvSpPr/>
          <p:nvPr/>
        </p:nvSpPr>
        <p:spPr>
          <a:xfrm>
            <a:off x="1234440" y="289864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ALONG the branches (‘and’); add the results going DOWN (‘or’).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868680" y="3502152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6" name="Text 44"/>
          <p:cNvSpPr/>
          <p:nvPr/>
        </p:nvSpPr>
        <p:spPr>
          <a:xfrm>
            <a:off x="1234440" y="3465576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pair of branches adds up to 1.</a:t>
            </a:r>
            <a:endParaRPr lang="en-US" sz="1500" dirty="0"/>
          </a:p>
        </p:txBody>
      </p:sp>
      <p:sp>
        <p:nvSpPr>
          <p:cNvPr id="47" name="Shape 45"/>
          <p:cNvSpPr/>
          <p:nvPr/>
        </p:nvSpPr>
        <p:spPr>
          <a:xfrm>
            <a:off x="868680" y="4069080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8" name="Text 46"/>
          <p:cNvSpPr/>
          <p:nvPr/>
        </p:nvSpPr>
        <p:spPr>
          <a:xfrm>
            <a:off x="1234440" y="40325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replacement: the second-choice probabilities are the same as the first.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868680" y="4636008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50" name="Text 48"/>
          <p:cNvSpPr/>
          <p:nvPr/>
        </p:nvSpPr>
        <p:spPr>
          <a:xfrm>
            <a:off x="1234440" y="45994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replacement: the count and the total both drop, so the second probabilities change.</a:t>
            </a:r>
            <a:endParaRPr lang="en-US" sz="1500" dirty="0"/>
          </a:p>
        </p:txBody>
      </p:sp>
      <p:sp>
        <p:nvSpPr>
          <p:cNvPr id="51" name="Shape 49"/>
          <p:cNvSpPr/>
          <p:nvPr/>
        </p:nvSpPr>
        <p:spPr>
          <a:xfrm>
            <a:off x="777240" y="5440680"/>
            <a:ext cx="10607040" cy="86868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777240" y="54406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Golden rule:  </a:t>
            </a:r>
            <a:r>
              <a:rPr lang="en-US" sz="17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multiply along for ‘and’, add down for ‘or’ — and check for replacement.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919</Words>
  <Application>Microsoft Office PowerPoint</Application>
  <PresentationFormat>Custom</PresentationFormat>
  <Paragraphs>176</Paragraphs>
  <Slides>15</Slides>
  <Notes>15</Notes>
  <HiddenSlides>0</HiddenSlides>
  <MMClips>0</MMClips>
  <ScaleCrop>false</ScaleCrop>
  <HeadingPairs>
    <vt:vector size="6" baseType="variant"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7" baseType="lpstr">
      <vt:lpstr>Office Theme</vt:lpstr>
      <vt:lpstr>Equation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Zahra Sheikh Ali</dc:creator>
  <cp:lastModifiedBy>zahraa sheik ali</cp:lastModifiedBy>
  <cp:revision>3</cp:revision>
  <dcterms:created xsi:type="dcterms:W3CDTF">2026-07-17T13:24:32Z</dcterms:created>
  <dcterms:modified xsi:type="dcterms:W3CDTF">2026-08-06T17:18:21Z</dcterms:modified>
</cp:coreProperties>
</file>