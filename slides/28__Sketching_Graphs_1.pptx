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-96" y="-3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2647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69680" y="2468880"/>
            <a:ext cx="2468880" cy="0"/>
          </a:xfrm>
          <a:prstGeom prst="line">
            <a:avLst/>
          </a:prstGeom>
          <a:noFill/>
          <a:ln w="20320">
            <a:solidFill>
              <a:srgbClr val="334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869680" y="914400"/>
            <a:ext cx="0" cy="1554480"/>
          </a:xfrm>
          <a:prstGeom prst="line">
            <a:avLst/>
          </a:prstGeom>
          <a:noFill/>
          <a:ln w="20320">
            <a:solidFill>
              <a:srgbClr val="3346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52560" y="2286000"/>
            <a:ext cx="2103120" cy="0"/>
          </a:xfrm>
          <a:prstGeom prst="line">
            <a:avLst/>
          </a:prstGeom>
          <a:noFill/>
          <a:ln w="38100">
            <a:solidFill>
              <a:srgbClr val="E0AC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88552" y="2221992"/>
            <a:ext cx="128016" cy="128016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1" name="Shape 39"/>
          <p:cNvSpPr/>
          <p:nvPr/>
        </p:nvSpPr>
        <p:spPr>
          <a:xfrm>
            <a:off x="10040112" y="1627632"/>
            <a:ext cx="128016" cy="128016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Shape 40"/>
          <p:cNvSpPr/>
          <p:nvPr/>
        </p:nvSpPr>
        <p:spPr>
          <a:xfrm>
            <a:off x="11091672" y="1033272"/>
            <a:ext cx="128016" cy="128016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3" name="Shape 41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5" name="Text 43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a Straight Line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Values · Gradient (Rise over Run) · Using the Intercepts · Horizontal &amp; Vertical Lines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Draw a Straight Line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equation like y = 2x + 1 can be drawn as a straight line.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three methods — a table of values, the gradient (rise over run), or the two intercepts. All give the same line.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equations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&amp; vertical lines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1 · table of values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2 · rise over run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3 · the intercepts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table of values · substitute · plot · gradient · rise · run · intercept · y = mx + c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EQUATIONS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Graph is a Straight Line?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equation has x and y to the power 1 only — its graph is always a straight line.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02828" y="1911096"/>
            <a:ext cx="4955864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4" name="Image 0" descr="/tmp/work/dlg/d-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124" y="1993392"/>
            <a:ext cx="4791272" cy="40416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6263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841248" y="62636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x², no 1/x, no curves — a linear equation always gives a STRAIGHT line.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LINES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a number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has the SAME x-coordinate.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them and you get a vertical line.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371600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10512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49424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88336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27248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66160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05072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43984" y="2377440"/>
            <a:ext cx="0" cy="3511296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371600" y="5888736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71600" y="5449824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371600" y="5010912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371600" y="4572000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371600" y="4133088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71600" y="3694176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371600" y="3255264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371600" y="2816352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371600" y="2377440"/>
            <a:ext cx="3072384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71600" y="4133088"/>
            <a:ext cx="3072384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688336" y="2377440"/>
            <a:ext cx="0" cy="3511296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70432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609344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048256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926080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364992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3803904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4242816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2212848" y="576986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2212848" y="533095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2212848" y="48920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2212848" y="445312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2212848" y="357530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2212848" y="313639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2212848" y="269748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212848" y="225856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4480560" y="4014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2761488" y="21396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3566160" y="2377440"/>
            <a:ext cx="0" cy="3511296"/>
          </a:xfrm>
          <a:prstGeom prst="line">
            <a:avLst/>
          </a:prstGeom>
          <a:noFill/>
          <a:ln w="38100">
            <a:solidFill>
              <a:srgbClr val="C84F2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83864" y="2734056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483864" y="361188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83864" y="4928616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83864" y="405079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483864" y="5367528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694176" y="2553005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309360" y="2011680"/>
            <a:ext cx="5321808" cy="4023360"/>
          </a:xfrm>
          <a:prstGeom prst="roundRect">
            <a:avLst>
              <a:gd name="adj" fmla="val 136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6675120" y="224942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points show</a:t>
            </a:r>
            <a:endParaRPr lang="en-US" sz="1700" dirty="0"/>
          </a:p>
        </p:txBody>
      </p:sp>
      <p:sp>
        <p:nvSpPr>
          <p:cNvPr id="89" name="Text 87"/>
          <p:cNvSpPr/>
          <p:nvPr/>
        </p:nvSpPr>
        <p:spPr>
          <a:xfrm>
            <a:off x="6629400" y="274320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3),  (2, 1),  (2, −2),  (2, 0),  (2, −3)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x-coordinate is ALWAYS 2.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line is  x = 2.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vertical, and it crosses the x-axis at 2.</a:t>
            </a:r>
            <a:endParaRPr lang="en-US" sz="140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Gradient: the run is 0, and you cannot divide by 0 — so the gradient is UNDEFINED.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566928" y="6199632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1" name="Text 89"/>
          <p:cNvSpPr/>
          <p:nvPr/>
        </p:nvSpPr>
        <p:spPr>
          <a:xfrm>
            <a:off x="841248" y="61996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a number is always a VERTICAL line through that number on the x-axis.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LINES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a number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has the SAME y-coordinate.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them and you get a horizontal line.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371600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10512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49424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88336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27248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66160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05072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43984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82896" y="2377440"/>
            <a:ext cx="0" cy="307238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71600" y="5449824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371600" y="5010912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371600" y="4572000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371600" y="4133088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71600" y="3694176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371600" y="3255264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371600" y="2816352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371600" y="2377440"/>
            <a:ext cx="3511296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71600" y="4133088"/>
            <a:ext cx="3511296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27248" y="2377440"/>
            <a:ext cx="0" cy="3072384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70432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609344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048256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487168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364992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3803904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4242816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681728" y="417880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2651760" y="533095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2651760" y="48920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2651760" y="445312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2651760" y="357530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2651760" y="313639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2651760" y="269748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651760" y="225856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4919472" y="4014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3200400" y="21396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371600" y="3694176"/>
            <a:ext cx="3511296" cy="0"/>
          </a:xfrm>
          <a:prstGeom prst="line">
            <a:avLst/>
          </a:prstGeom>
          <a:noFill/>
          <a:ln w="38100">
            <a:solidFill>
              <a:srgbClr val="C84F2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44952" y="361188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361688" y="361188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167128" y="361188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83864" y="361188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728216" y="361188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80637" y="331012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1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309360" y="2011680"/>
            <a:ext cx="5321808" cy="4023360"/>
          </a:xfrm>
          <a:prstGeom prst="roundRect">
            <a:avLst>
              <a:gd name="adj" fmla="val 136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6675120" y="224942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points show</a:t>
            </a:r>
            <a:endParaRPr lang="en-US" sz="1700" dirty="0"/>
          </a:p>
        </p:txBody>
      </p:sp>
      <p:sp>
        <p:nvSpPr>
          <p:cNvPr id="89" name="Text 87"/>
          <p:cNvSpPr/>
          <p:nvPr/>
        </p:nvSpPr>
        <p:spPr>
          <a:xfrm>
            <a:off x="6629400" y="274320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1),  (3, 1),  (−2, 1),  (1, 1),  (−3, 1)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y-coordinate is ALWAYS 1.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line is  y = 1.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horizontal, and it crosses the y-axis at 1.</a:t>
            </a:r>
            <a:endParaRPr lang="en-US" sz="140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Gradient: there is no rise at all, so the gradient is 0.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566928" y="6199632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1" name="Text 89"/>
          <p:cNvSpPr/>
          <p:nvPr/>
        </p:nvSpPr>
        <p:spPr>
          <a:xfrm>
            <a:off x="841248" y="61996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a number is always a HORIZONTAL line through that number on the y-axis.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 POINT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Point Lie on the Line?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x-value into the equation.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the y-value, the point is on the line.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2514600" cy="475488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58368" y="21488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00400" y="2148840"/>
            <a:ext cx="2331720" cy="475488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3291840" y="21488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0" y="2148840"/>
            <a:ext cx="2514600" cy="475488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8" name="Text 46"/>
          <p:cNvSpPr/>
          <p:nvPr/>
        </p:nvSpPr>
        <p:spPr>
          <a:xfrm>
            <a:off x="5760720" y="21488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x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321040" y="2148840"/>
            <a:ext cx="3291840" cy="475488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50" name="Text 48"/>
          <p:cNvSpPr/>
          <p:nvPr/>
        </p:nvSpPr>
        <p:spPr>
          <a:xfrm>
            <a:off x="8412480" y="214884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66928" y="2624328"/>
            <a:ext cx="251460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4944" y="2624328"/>
            <a:ext cx="2258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2x − 6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3200400" y="2624328"/>
            <a:ext cx="233172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28416" y="2624328"/>
            <a:ext cx="2075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(3, 0)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0" y="2624328"/>
            <a:ext cx="251460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2624328"/>
            <a:ext cx="2258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2(3) − 6 = 0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321040" y="2624328"/>
            <a:ext cx="329184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49056" y="2624328"/>
            <a:ext cx="3035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= 0  ✓   lies on the line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566928" y="3410712"/>
            <a:ext cx="2514600" cy="74980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" y="3410712"/>
            <a:ext cx="2258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3x + 2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3200400" y="3410712"/>
            <a:ext cx="2331720" cy="74980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28416" y="3410712"/>
            <a:ext cx="2075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(4, 11)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5669280" y="3410712"/>
            <a:ext cx="2514600" cy="74980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97296" y="3410712"/>
            <a:ext cx="2258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3(4) + 2 = 14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8321040" y="3410712"/>
            <a:ext cx="3291840" cy="74980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49056" y="3410712"/>
            <a:ext cx="3035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≠ 11  ✗   does NOT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566928" y="4197096"/>
            <a:ext cx="251460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" y="4197096"/>
            <a:ext cx="2258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4x − 5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3200400" y="4197096"/>
            <a:ext cx="233172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328416" y="4197096"/>
            <a:ext cx="2075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(2, 3)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5669280" y="4197096"/>
            <a:ext cx="251460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97296" y="4197096"/>
            <a:ext cx="2258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4(2) − 5 = 3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8321040" y="4197096"/>
            <a:ext cx="3291840" cy="74980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449056" y="4197096"/>
            <a:ext cx="3035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= 3  ✓   lies on the line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566928" y="52578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841248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the x-value in. If the answer matches the y-value, the point is on the line.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METHODS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Ways to Draw the Same Line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give exactly the same straight line — choose whichever suits the question.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14400" y="251460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914400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600200" y="23134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VALUES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600200" y="271576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several x-values, work out y, plot the points.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589520" y="21488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works — and it is what exam papers usually ask for.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66928" y="34747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14400" y="38404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1" name="Text 49"/>
          <p:cNvSpPr/>
          <p:nvPr/>
        </p:nvSpPr>
        <p:spPr>
          <a:xfrm>
            <a:off x="9144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600200" y="36393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OVER RUN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600200" y="404164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 c on the y-axis, then step out the gradient to a second point.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589520" y="347472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when the equation is already y = mx + c.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66928" y="480060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914400" y="516636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600200" y="49651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INTERCEPTS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600200" y="53675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x = 0 to get one point, y = 0 to get the other, then join.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7589520" y="48006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the equation looks like ax + by = c.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method needs at least TWO points — a third is a useful check.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TABLE OF VALUES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x to Find 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some easy x-values, put each one into the equation, and work out y.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y = 2x + 1.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852160" cy="3794760"/>
          </a:xfrm>
          <a:prstGeom prst="roundRect">
            <a:avLst>
              <a:gd name="adj" fmla="val 1446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2494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working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60120" y="27889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0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214884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2(0) + 1 = 1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60120" y="35661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148840" y="35661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2(1) + 1 = 3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60120" y="4343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2148840" y="43434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2(2) + 1 = 5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960120" y="51663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substitute the WHOLE x-value, including any minus sign.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675120" y="2011680"/>
            <a:ext cx="4956048" cy="3794760"/>
          </a:xfrm>
          <a:prstGeom prst="roundRect">
            <a:avLst>
              <a:gd name="adj" fmla="val 1446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040880" y="2249424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completed table</a:t>
            </a:r>
            <a:endParaRPr lang="en-US" sz="1700" dirty="0"/>
          </a:p>
        </p:txBody>
      </p:sp>
      <p:sp>
        <p:nvSpPr>
          <p:cNvPr id="54" name="Shape 52"/>
          <p:cNvSpPr/>
          <p:nvPr/>
        </p:nvSpPr>
        <p:spPr>
          <a:xfrm>
            <a:off x="7086600" y="2880360"/>
            <a:ext cx="777240" cy="566928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86600" y="28803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7863840" y="2880360"/>
            <a:ext cx="1143000" cy="56692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63840" y="288036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9006840" y="2880360"/>
            <a:ext cx="1143000" cy="56692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006840" y="288036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10149840" y="2880360"/>
            <a:ext cx="1143000" cy="56692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149840" y="288036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62" name="Shape 60"/>
          <p:cNvSpPr/>
          <p:nvPr/>
        </p:nvSpPr>
        <p:spPr>
          <a:xfrm>
            <a:off x="7086600" y="3447288"/>
            <a:ext cx="777240" cy="566928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86600" y="344728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700" dirty="0"/>
          </a:p>
        </p:txBody>
      </p:sp>
      <p:sp>
        <p:nvSpPr>
          <p:cNvPr id="64" name="Shape 62"/>
          <p:cNvSpPr/>
          <p:nvPr/>
        </p:nvSpPr>
        <p:spPr>
          <a:xfrm>
            <a:off x="7863840" y="3447288"/>
            <a:ext cx="1143000" cy="56692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63840" y="344728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6" name="Shape 64"/>
          <p:cNvSpPr/>
          <p:nvPr/>
        </p:nvSpPr>
        <p:spPr>
          <a:xfrm>
            <a:off x="9006840" y="3447288"/>
            <a:ext cx="1143000" cy="56692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006840" y="344728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68" name="Shape 66"/>
          <p:cNvSpPr/>
          <p:nvPr/>
        </p:nvSpPr>
        <p:spPr>
          <a:xfrm>
            <a:off x="10149840" y="3447288"/>
            <a:ext cx="1143000" cy="56692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49840" y="344728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70" name="Text 68"/>
          <p:cNvSpPr/>
          <p:nvPr/>
        </p:nvSpPr>
        <p:spPr>
          <a:xfrm>
            <a:off x="699516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column is a coordinate:</a:t>
            </a:r>
            <a:endParaRPr lang="en-US" sz="1350" dirty="0"/>
          </a:p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1)    (1, 3)    (2, 5)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566928" y="60350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841248" y="60350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row = the x you chose.  Bottom row = the y you worked out.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TABLE OF VALUES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the Points, Then Join Them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(0, 1), (1, 3) and (2, 5), then rule a straight line through them.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463040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92808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22576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52344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82112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11880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41648" y="2395728"/>
            <a:ext cx="0" cy="3438144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63040" y="5833872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0" y="5404104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0" y="4974336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463040" y="4544568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63040" y="4114800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63040" y="3685032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63040" y="3255264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463040" y="2825496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63040" y="2395728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63040" y="4974336"/>
            <a:ext cx="2578608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22576" y="2395728"/>
            <a:ext cx="0" cy="3438144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261872" y="502005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691640" y="502005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51176" y="502005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980944" y="502005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3410712" y="502005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840480" y="502005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1847088" y="57150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847088" y="528523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1847088" y="442569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1847088" y="399592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847088" y="356616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847088" y="313639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847088" y="270662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1847088" y="22768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4078224" y="48554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395728" y="215798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 flipV="1">
            <a:off x="1855176" y="2751992"/>
            <a:ext cx="1369913" cy="2690446"/>
          </a:xfrm>
          <a:prstGeom prst="line">
            <a:avLst/>
          </a:prstGeom>
          <a:noFill/>
          <a:ln w="35560">
            <a:solidFill>
              <a:srgbClr val="C84F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40280" y="446227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670048" y="3602736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99816" y="2743200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68880" y="4498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(0, 1)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898648" y="36393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(1, 3)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3328416" y="27797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(2, 5)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3225089" y="2414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2x + 1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6309360" y="2011680"/>
            <a:ext cx="5321808" cy="4023360"/>
          </a:xfrm>
          <a:prstGeom prst="roundRect">
            <a:avLst>
              <a:gd name="adj" fmla="val 1364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6675120" y="224942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steps</a:t>
            </a:r>
            <a:endParaRPr lang="en-US" sz="1700" dirty="0"/>
          </a:p>
        </p:txBody>
      </p:sp>
      <p:sp>
        <p:nvSpPr>
          <p:cNvPr id="88" name="Shape 86"/>
          <p:cNvSpPr/>
          <p:nvPr/>
        </p:nvSpPr>
        <p:spPr>
          <a:xfrm>
            <a:off x="6629400" y="290779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89" name="Text 87"/>
          <p:cNvSpPr/>
          <p:nvPr/>
        </p:nvSpPr>
        <p:spPr>
          <a:xfrm>
            <a:off x="662940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0" name="Text 88"/>
          <p:cNvSpPr/>
          <p:nvPr/>
        </p:nvSpPr>
        <p:spPr>
          <a:xfrm>
            <a:off x="7178040" y="28346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table of values.</a:t>
            </a:r>
            <a:endParaRPr lang="en-US" sz="1350" dirty="0"/>
          </a:p>
        </p:txBody>
      </p:sp>
      <p:sp>
        <p:nvSpPr>
          <p:cNvPr id="91" name="Shape 89"/>
          <p:cNvSpPr/>
          <p:nvPr/>
        </p:nvSpPr>
        <p:spPr>
          <a:xfrm>
            <a:off x="6629400" y="356616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92" name="Text 90"/>
          <p:cNvSpPr/>
          <p:nvPr/>
        </p:nvSpPr>
        <p:spPr>
          <a:xfrm>
            <a:off x="66294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3" name="Text 91"/>
          <p:cNvSpPr/>
          <p:nvPr/>
        </p:nvSpPr>
        <p:spPr>
          <a:xfrm>
            <a:off x="7178040" y="349300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every point from the table.</a:t>
            </a:r>
            <a:endParaRPr lang="en-US" sz="1350" dirty="0"/>
          </a:p>
        </p:txBody>
      </p:sp>
      <p:sp>
        <p:nvSpPr>
          <p:cNvPr id="94" name="Shape 92"/>
          <p:cNvSpPr/>
          <p:nvPr/>
        </p:nvSpPr>
        <p:spPr>
          <a:xfrm>
            <a:off x="6629400" y="422452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95" name="Text 93"/>
          <p:cNvSpPr/>
          <p:nvPr/>
        </p:nvSpPr>
        <p:spPr>
          <a:xfrm>
            <a:off x="662940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96" name="Text 94"/>
          <p:cNvSpPr/>
          <p:nvPr/>
        </p:nvSpPr>
        <p:spPr>
          <a:xfrm>
            <a:off x="7178040" y="415137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a straight line through them.</a:t>
            </a:r>
            <a:endParaRPr lang="en-US" sz="1350" dirty="0"/>
          </a:p>
        </p:txBody>
      </p:sp>
      <p:sp>
        <p:nvSpPr>
          <p:cNvPr id="97" name="Shape 95"/>
          <p:cNvSpPr/>
          <p:nvPr/>
        </p:nvSpPr>
        <p:spPr>
          <a:xfrm>
            <a:off x="6629400" y="488289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98" name="Text 96"/>
          <p:cNvSpPr/>
          <p:nvPr/>
        </p:nvSpPr>
        <p:spPr>
          <a:xfrm>
            <a:off x="6629400" y="4882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717804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the line with its equation.</a:t>
            </a:r>
            <a:endParaRPr lang="en-US" sz="1350" dirty="0"/>
          </a:p>
        </p:txBody>
      </p:sp>
      <p:sp>
        <p:nvSpPr>
          <p:cNvPr id="100" name="Text 98"/>
          <p:cNvSpPr/>
          <p:nvPr/>
        </p:nvSpPr>
        <p:spPr>
          <a:xfrm>
            <a:off x="6309360" y="5532120"/>
            <a:ext cx="5321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point does not line up, check that row of your table again.</a:t>
            </a:r>
            <a:endParaRPr lang="en-US" sz="1150" dirty="0"/>
          </a:p>
        </p:txBody>
      </p:sp>
      <p:sp>
        <p:nvSpPr>
          <p:cNvPr id="101" name="Shape 99"/>
          <p:cNvSpPr/>
          <p:nvPr/>
        </p:nvSpPr>
        <p:spPr>
          <a:xfrm>
            <a:off x="566928" y="6199632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841248" y="61996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points is ideal — two to draw the line and one to check it.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Graph of  y = x − 2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x from −1 to 3. Subtract 2 from each x-value to get y.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4630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202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774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8346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918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490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63440" y="2395728"/>
            <a:ext cx="0" cy="320040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0" y="55961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0" y="51389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463040" y="46817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63040" y="42245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63040" y="37673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63040" y="33101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463040" y="28529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63040" y="2395728"/>
            <a:ext cx="320040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63040" y="3767328"/>
            <a:ext cx="3200400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834640" y="2395728"/>
            <a:ext cx="0" cy="320040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2618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190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762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0906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35478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0050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4462272" y="381304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2359152" y="54772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2359152" y="50200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2359152" y="45628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2359152" y="41056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2359152" y="31912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2359152" y="27340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2359152" y="22768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4700016" y="36484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907792" y="215798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 flipV="1">
            <a:off x="2103120" y="3081528"/>
            <a:ext cx="2359152" cy="2331720"/>
          </a:xfrm>
          <a:prstGeom prst="line">
            <a:avLst/>
          </a:prstGeom>
          <a:noFill/>
          <a:ln w="35560">
            <a:solidFill>
              <a:srgbClr val="C84F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95144" y="505663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752344" y="459943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209544" y="414223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66744" y="368503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123944" y="322783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40480" y="28072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 − 2</a:t>
            </a:r>
            <a:endParaRPr lang="en-US" sz="1250" dirty="0"/>
          </a:p>
        </p:txBody>
      </p:sp>
      <p:sp>
        <p:nvSpPr>
          <p:cNvPr id="85" name="Shape 83"/>
          <p:cNvSpPr/>
          <p:nvPr/>
        </p:nvSpPr>
        <p:spPr>
          <a:xfrm>
            <a:off x="6309360" y="2011680"/>
            <a:ext cx="5321808" cy="4023360"/>
          </a:xfrm>
          <a:prstGeom prst="roundRect">
            <a:avLst>
              <a:gd name="adj" fmla="val 1364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6675120" y="224942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values</a:t>
            </a:r>
            <a:endParaRPr lang="en-US" sz="1700" dirty="0"/>
          </a:p>
        </p:txBody>
      </p:sp>
      <p:sp>
        <p:nvSpPr>
          <p:cNvPr id="87" name="Shape 85"/>
          <p:cNvSpPr/>
          <p:nvPr/>
        </p:nvSpPr>
        <p:spPr>
          <a:xfrm>
            <a:off x="6583680" y="2788920"/>
            <a:ext cx="731520" cy="512064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83680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7315200" y="2788920"/>
            <a:ext cx="786384" cy="51206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15200" y="2788920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8101584" y="2788920"/>
            <a:ext cx="786384" cy="51206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01584" y="2788920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8887968" y="2788920"/>
            <a:ext cx="786384" cy="51206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87968" y="2788920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9674352" y="2788920"/>
            <a:ext cx="786384" cy="51206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674352" y="2788920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10460736" y="2788920"/>
            <a:ext cx="786384" cy="51206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460736" y="2788920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0" y="3300984"/>
            <a:ext cx="731520" cy="512064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583680" y="3300984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7315200" y="3300984"/>
            <a:ext cx="786384" cy="51206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315200" y="3300984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</a:t>
            </a:r>
            <a:endParaRPr lang="en-US" sz="1400" dirty="0"/>
          </a:p>
        </p:txBody>
      </p:sp>
      <p:sp>
        <p:nvSpPr>
          <p:cNvPr id="103" name="Shape 101"/>
          <p:cNvSpPr/>
          <p:nvPr/>
        </p:nvSpPr>
        <p:spPr>
          <a:xfrm>
            <a:off x="8101584" y="3300984"/>
            <a:ext cx="786384" cy="51206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01584" y="3300984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8887968" y="3300984"/>
            <a:ext cx="786384" cy="51206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87968" y="3300984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</a:t>
            </a:r>
            <a:endParaRPr lang="en-US" sz="1400" dirty="0"/>
          </a:p>
        </p:txBody>
      </p:sp>
      <p:sp>
        <p:nvSpPr>
          <p:cNvPr id="107" name="Shape 105"/>
          <p:cNvSpPr/>
          <p:nvPr/>
        </p:nvSpPr>
        <p:spPr>
          <a:xfrm>
            <a:off x="9674352" y="3300984"/>
            <a:ext cx="786384" cy="51206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674352" y="3300984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10460736" y="3300984"/>
            <a:ext cx="786384" cy="51206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460736" y="3300984"/>
            <a:ext cx="786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1" name="Text 109"/>
          <p:cNvSpPr/>
          <p:nvPr/>
        </p:nvSpPr>
        <p:spPr>
          <a:xfrm>
            <a:off x="6629400" y="39776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−1  →  y = −1 − 2 = −3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2   →  y = 2 − 2 = 0</a:t>
            </a:r>
            <a:endParaRPr lang="en-US" sz="140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(−1, −3), (0, −2), (1, −1), (2, 0), (3, 1) and join them.</a:t>
            </a:r>
            <a:endParaRPr lang="en-US" sz="1400" dirty="0"/>
          </a:p>
        </p:txBody>
      </p:sp>
      <p:sp>
        <p:nvSpPr>
          <p:cNvPr id="112" name="Shape 110"/>
          <p:cNvSpPr/>
          <p:nvPr/>
        </p:nvSpPr>
        <p:spPr>
          <a:xfrm>
            <a:off x="566928" y="6199632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3" name="Text 111"/>
          <p:cNvSpPr/>
          <p:nvPr/>
        </p:nvSpPr>
        <p:spPr>
          <a:xfrm>
            <a:off x="841248" y="61996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x-values are fine — just be careful with the signs.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RISE OVER RUN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Write the Gradient as a Fraction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43584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435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y-intercept, then step:  rise (up/down) and run (right/left).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1920240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331720" y="1920240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 m  =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4457700" y="20391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457700" y="2386584"/>
            <a:ext cx="1234440" cy="0"/>
          </a:xfrm>
          <a:prstGeom prst="line">
            <a:avLst/>
          </a:prstGeom>
          <a:noFill/>
          <a:ln w="22860">
            <a:solidFill>
              <a:srgbClr val="E0AC2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57700" y="242316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943600" y="1920240"/>
            <a:ext cx="5394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 </a:t>
            </a: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in y</a:t>
            </a: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÷   </a:t>
            </a: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in x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66928" y="3017520"/>
            <a:ext cx="54864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417320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847088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276856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706624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136392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6160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95928" y="3310128"/>
            <a:ext cx="0" cy="2578608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17320" y="5888736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417320" y="5458968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17320" y="5029200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17320" y="4599432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417320" y="4169664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417320" y="3739896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417320" y="3310128"/>
            <a:ext cx="25786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417320" y="5458968"/>
            <a:ext cx="2578608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847088" y="3310128"/>
            <a:ext cx="0" cy="2578608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216152" y="550468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2075688" y="550468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2505456" y="550468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2935224" y="550468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364992" y="550468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794760" y="550468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371600" y="576986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371600" y="491032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371600" y="448056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1371600" y="405079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371600" y="362102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1371600" y="31912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4032504" y="53400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920240" y="307238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 flipV="1">
            <a:off x="1460297" y="3968495"/>
            <a:ext cx="2012665" cy="1318565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64792" y="4946904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054096" y="4087368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847088" y="5029200"/>
            <a:ext cx="0" cy="0"/>
          </a:xfrm>
          <a:prstGeom prst="line">
            <a:avLst/>
          </a:prstGeom>
          <a:noFill/>
          <a:ln w="3048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1847088" y="4169664"/>
            <a:ext cx="1289304" cy="0"/>
          </a:xfrm>
          <a:prstGeom prst="line">
            <a:avLst/>
          </a:prstGeom>
          <a:noFill/>
          <a:ln w="3048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85" name="Text 83"/>
          <p:cNvSpPr/>
          <p:nvPr/>
        </p:nvSpPr>
        <p:spPr>
          <a:xfrm>
            <a:off x="749808" y="4481473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2 ↑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2034540" y="37856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3 →</a:t>
            </a:r>
            <a:endParaRPr lang="en-US" sz="1150" dirty="0"/>
          </a:p>
        </p:txBody>
      </p:sp>
      <p:sp>
        <p:nvSpPr>
          <p:cNvPr id="87" name="Text 85"/>
          <p:cNvSpPr/>
          <p:nvPr/>
        </p:nvSpPr>
        <p:spPr>
          <a:xfrm>
            <a:off x="1975104" y="50657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(0, 1)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6309360" y="3017520"/>
            <a:ext cx="5321808" cy="3063240"/>
          </a:xfrm>
          <a:prstGeom prst="roundRect">
            <a:avLst>
              <a:gd name="adj" fmla="val 1791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9" name="Text 87"/>
          <p:cNvSpPr/>
          <p:nvPr/>
        </p:nvSpPr>
        <p:spPr>
          <a:xfrm>
            <a:off x="6675120" y="325526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</a:t>
            </a:r>
            <a:endParaRPr lang="en-US" sz="1700" dirty="0"/>
          </a:p>
        </p:txBody>
      </p:sp>
      <p:sp>
        <p:nvSpPr>
          <p:cNvPr id="90" name="Text 88"/>
          <p:cNvSpPr/>
          <p:nvPr/>
        </p:nvSpPr>
        <p:spPr>
          <a:xfrm>
            <a:off x="6629400" y="35844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 =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7351776" y="351129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7351776" y="3858768"/>
            <a:ext cx="566928" cy="0"/>
          </a:xfrm>
          <a:prstGeom prst="line">
            <a:avLst/>
          </a:prstGeom>
          <a:noFill/>
          <a:ln w="22860">
            <a:solidFill>
              <a:srgbClr val="C84F2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1776" y="389534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8001000" y="35844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 +  1</a:t>
            </a:r>
            <a:endParaRPr lang="en-US" sz="1600" dirty="0"/>
          </a:p>
        </p:txBody>
      </p:sp>
      <p:sp>
        <p:nvSpPr>
          <p:cNvPr id="95" name="Text 93"/>
          <p:cNvSpPr/>
          <p:nvPr/>
        </p:nvSpPr>
        <p:spPr>
          <a:xfrm>
            <a:off x="6629400" y="4224528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= 1   →   start at (0, 1)</a:t>
            </a:r>
            <a:endParaRPr lang="en-US" sz="1350" dirty="0"/>
          </a:p>
        </p:txBody>
      </p:sp>
      <p:sp>
        <p:nvSpPr>
          <p:cNvPr id="96" name="Text 94"/>
          <p:cNvSpPr/>
          <p:nvPr/>
        </p:nvSpPr>
        <p:spPr>
          <a:xfrm>
            <a:off x="6629400" y="4663440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 =</a:t>
            </a:r>
            <a:endParaRPr lang="en-US" sz="1500" dirty="0"/>
          </a:p>
        </p:txBody>
      </p:sp>
      <p:sp>
        <p:nvSpPr>
          <p:cNvPr id="97" name="Text 95"/>
          <p:cNvSpPr/>
          <p:nvPr/>
        </p:nvSpPr>
        <p:spPr>
          <a:xfrm>
            <a:off x="7351776" y="456285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7351776" y="4910328"/>
            <a:ext cx="566928" cy="0"/>
          </a:xfrm>
          <a:prstGeom prst="line">
            <a:avLst/>
          </a:prstGeom>
          <a:noFill/>
          <a:ln w="22860">
            <a:solidFill>
              <a:srgbClr val="C84F2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351776" y="494690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0" name="Text 98"/>
          <p:cNvSpPr/>
          <p:nvPr/>
        </p:nvSpPr>
        <p:spPr>
          <a:xfrm>
            <a:off x="8001000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rise = 2,  run = 3</a:t>
            </a:r>
            <a:endParaRPr lang="en-US" sz="1350" dirty="0"/>
          </a:p>
        </p:txBody>
      </p:sp>
      <p:sp>
        <p:nvSpPr>
          <p:cNvPr id="101" name="Text 99"/>
          <p:cNvSpPr/>
          <p:nvPr/>
        </p:nvSpPr>
        <p:spPr>
          <a:xfrm>
            <a:off x="6629400" y="52578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+2  →  UP 2,    run +3  →  RIGHT 3</a:t>
            </a: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lands on (3, 3) — join the two points.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566928" y="6217920"/>
            <a:ext cx="11064240" cy="530352"/>
          </a:xfrm>
          <a:prstGeom prst="roundRect">
            <a:avLst>
              <a:gd name="adj" fmla="val 10345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841248" y="6217920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= change in y (+ up, − down)   ·   run = change in x (+ right, − left)</a:t>
            </a:r>
            <a:endParaRPr lang="en-US" sz="2300" dirty="0"/>
          </a:p>
        </p:txBody>
      </p:sp>
      <p:sp>
        <p:nvSpPr>
          <p:cNvPr id="104" name="Shape 82"/>
          <p:cNvSpPr/>
          <p:nvPr/>
        </p:nvSpPr>
        <p:spPr>
          <a:xfrm flipV="1">
            <a:off x="1821977" y="4169664"/>
            <a:ext cx="0" cy="896112"/>
          </a:xfrm>
          <a:prstGeom prst="line">
            <a:avLst/>
          </a:prstGeom>
          <a:noFill/>
          <a:ln w="30480">
            <a:solidFill>
              <a:srgbClr val="E0AC2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RISE OVER RUN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Gradients — and Whole Numbers as Fractions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43584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435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whole-number gradient is still a fraction: write it over 1.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1874520"/>
            <a:ext cx="54864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46304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7452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8600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9748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0896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931920" y="224028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63040" y="553212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0" y="512064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0" y="470916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463040" y="429768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63040" y="388620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63040" y="347472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63040" y="306324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463040" y="265176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63040" y="2240280"/>
            <a:ext cx="2468880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63040" y="4709160"/>
            <a:ext cx="2468880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86000" y="2240280"/>
            <a:ext cx="0" cy="329184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261872" y="475488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673352" y="475488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496312" y="475488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907792" y="475488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3319272" y="475488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730752" y="475488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1810512" y="5413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810512" y="500176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1810512" y="41788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1810512" y="376732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810512" y="33558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810512" y="294436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810512" y="25328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1810512" y="21214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3968496" y="45902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359152" y="2002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792224" y="2075688"/>
            <a:ext cx="1810512" cy="3621024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03704" y="2980944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615184" y="3803904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286000" y="3063240"/>
            <a:ext cx="0" cy="822960"/>
          </a:xfrm>
          <a:prstGeom prst="line">
            <a:avLst/>
          </a:prstGeom>
          <a:noFill/>
          <a:ln w="3048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2286000" y="3886200"/>
            <a:ext cx="411480" cy="0"/>
          </a:xfrm>
          <a:prstGeom prst="line">
            <a:avLst/>
          </a:prstGeom>
          <a:noFill/>
          <a:ln w="30480">
            <a:solidFill>
              <a:srgbClr val="E0AC2B"/>
            </a:solidFill>
            <a:prstDash val="solid"/>
            <a:tailEnd type="triangle"/>
          </a:ln>
        </p:spPr>
      </p:sp>
      <p:sp>
        <p:nvSpPr>
          <p:cNvPr id="83" name="Text 81"/>
          <p:cNvSpPr/>
          <p:nvPr/>
        </p:nvSpPr>
        <p:spPr>
          <a:xfrm>
            <a:off x="1234440" y="332841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−2 ↓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2034540" y="39410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1 →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2414016" y="2752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(0, 4)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6309360" y="1874520"/>
            <a:ext cx="5321808" cy="1920240"/>
          </a:xfrm>
          <a:prstGeom prst="roundRect">
            <a:avLst>
              <a:gd name="adj" fmla="val 285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6675120" y="211226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 y = −2x + 4</a:t>
            </a:r>
            <a:endParaRPr lang="en-US" sz="1700" dirty="0"/>
          </a:p>
        </p:txBody>
      </p:sp>
      <p:sp>
        <p:nvSpPr>
          <p:cNvPr id="88" name="Text 86"/>
          <p:cNvSpPr/>
          <p:nvPr/>
        </p:nvSpPr>
        <p:spPr>
          <a:xfrm>
            <a:off x="6629400" y="2606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−2  =</a:t>
            </a:r>
            <a:endParaRPr lang="en-US" sz="1600" dirty="0"/>
          </a:p>
        </p:txBody>
      </p:sp>
      <p:sp>
        <p:nvSpPr>
          <p:cNvPr id="89" name="Text 87"/>
          <p:cNvSpPr/>
          <p:nvPr/>
        </p:nvSpPr>
        <p:spPr>
          <a:xfrm>
            <a:off x="8343900" y="26517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8343900" y="2999232"/>
            <a:ext cx="777240" cy="0"/>
          </a:xfrm>
          <a:prstGeom prst="line">
            <a:avLst/>
          </a:prstGeom>
          <a:noFill/>
          <a:ln w="22860">
            <a:solidFill>
              <a:srgbClr val="C84F2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43900" y="30358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2" name="Text 90"/>
          <p:cNvSpPr/>
          <p:nvPr/>
        </p:nvSpPr>
        <p:spPr>
          <a:xfrm>
            <a:off x="9372600" y="2606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2, right 1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309360" y="3931920"/>
            <a:ext cx="5321808" cy="2103120"/>
          </a:xfrm>
          <a:prstGeom prst="roundRect">
            <a:avLst>
              <a:gd name="adj" fmla="val 2609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6675120" y="4169664"/>
            <a:ext cx="4590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 rules</a:t>
            </a:r>
            <a:endParaRPr lang="en-US" sz="1700" dirty="0"/>
          </a:p>
        </p:txBody>
      </p:sp>
      <p:sp>
        <p:nvSpPr>
          <p:cNvPr id="95" name="Text 93"/>
          <p:cNvSpPr/>
          <p:nvPr/>
        </p:nvSpPr>
        <p:spPr>
          <a:xfrm>
            <a:off x="662940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+</a:t>
            </a:r>
            <a:endParaRPr lang="en-US" sz="1400" dirty="0"/>
          </a:p>
        </p:txBody>
      </p:sp>
      <p:sp>
        <p:nvSpPr>
          <p:cNvPr id="96" name="Text 94"/>
          <p:cNvSpPr/>
          <p:nvPr/>
        </p:nvSpPr>
        <p:spPr>
          <a:xfrm>
            <a:off x="758952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UP</a:t>
            </a:r>
            <a:endParaRPr lang="en-US" sz="1350" dirty="0"/>
          </a:p>
        </p:txBody>
      </p:sp>
      <p:sp>
        <p:nvSpPr>
          <p:cNvPr id="97" name="Text 95"/>
          <p:cNvSpPr/>
          <p:nvPr/>
        </p:nvSpPr>
        <p:spPr>
          <a:xfrm>
            <a:off x="905256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 −</a:t>
            </a:r>
            <a:endParaRPr lang="en-US" sz="1400" dirty="0"/>
          </a:p>
        </p:txBody>
      </p:sp>
      <p:sp>
        <p:nvSpPr>
          <p:cNvPr id="98" name="Text 96"/>
          <p:cNvSpPr/>
          <p:nvPr/>
        </p:nvSpPr>
        <p:spPr>
          <a:xfrm>
            <a:off x="100126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DOWN</a:t>
            </a:r>
            <a:endParaRPr lang="en-US" sz="1350" dirty="0"/>
          </a:p>
        </p:txBody>
      </p:sp>
      <p:sp>
        <p:nvSpPr>
          <p:cNvPr id="99" name="Text 97"/>
          <p:cNvSpPr/>
          <p:nvPr/>
        </p:nvSpPr>
        <p:spPr>
          <a:xfrm>
            <a:off x="6629400" y="51846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+</a:t>
            </a:r>
            <a:endParaRPr lang="en-US" sz="1400" dirty="0"/>
          </a:p>
        </p:txBody>
      </p:sp>
      <p:sp>
        <p:nvSpPr>
          <p:cNvPr id="100" name="Text 98"/>
          <p:cNvSpPr/>
          <p:nvPr/>
        </p:nvSpPr>
        <p:spPr>
          <a:xfrm>
            <a:off x="758952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RIGHT</a:t>
            </a:r>
            <a:endParaRPr lang="en-US" sz="1350" dirty="0"/>
          </a:p>
        </p:txBody>
      </p:sp>
      <p:sp>
        <p:nvSpPr>
          <p:cNvPr id="101" name="Text 99"/>
          <p:cNvSpPr/>
          <p:nvPr/>
        </p:nvSpPr>
        <p:spPr>
          <a:xfrm>
            <a:off x="9052560" y="51846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−</a:t>
            </a:r>
            <a:endParaRPr lang="en-US" sz="1400" dirty="0"/>
          </a:p>
        </p:txBody>
      </p:sp>
      <p:sp>
        <p:nvSpPr>
          <p:cNvPr id="102" name="Text 100"/>
          <p:cNvSpPr/>
          <p:nvPr/>
        </p:nvSpPr>
        <p:spPr>
          <a:xfrm>
            <a:off x="100126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LEFT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566928" y="6217920"/>
            <a:ext cx="11064240" cy="530352"/>
          </a:xfrm>
          <a:prstGeom prst="roundRect">
            <a:avLst>
              <a:gd name="adj" fmla="val 10345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841248" y="6217920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−2/1 and 2/−1 give the SAME line — down-right, or up-left.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3 · THE INTERCEPTS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Line Crosses Each Axis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x = 0 to find where it crosses the y-axis, and y = 0 for the x-axis.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points is all you need.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57784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234440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92808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51176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09544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67912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26280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84648" y="2331720"/>
            <a:ext cx="0" cy="329184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34440" y="5623560"/>
            <a:ext cx="39502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234440" y="4965192"/>
            <a:ext cx="39502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234440" y="4306824"/>
            <a:ext cx="39502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234440" y="3648456"/>
            <a:ext cx="39502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234440" y="2990088"/>
            <a:ext cx="39502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234440" y="2331720"/>
            <a:ext cx="3950208" cy="0"/>
          </a:xfrm>
          <a:prstGeom prst="line">
            <a:avLst/>
          </a:prstGeom>
          <a:noFill/>
          <a:ln w="1016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234440" y="4965192"/>
            <a:ext cx="3950208" cy="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92808" y="2331720"/>
            <a:ext cx="0" cy="3291840"/>
          </a:xfrm>
          <a:prstGeom prst="line">
            <a:avLst/>
          </a:prstGeom>
          <a:noFill/>
          <a:ln w="2159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33272" y="50109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2350008" y="50109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008376" y="50109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666744" y="50109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325112" y="50109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983480" y="501091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17320" y="55046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1417320" y="418795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1417320" y="352958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1417320" y="287121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417320" y="22128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5221224" y="48463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965960" y="209397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1431950" y="2644445"/>
            <a:ext cx="3752698" cy="2814523"/>
          </a:xfrm>
          <a:prstGeom prst="line">
            <a:avLst/>
          </a:prstGeom>
          <a:noFill/>
          <a:ln w="35560">
            <a:solidFill>
              <a:srgbClr val="C84F2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810512" y="2907792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020824" y="264261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(0, 3)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4443984" y="4882896"/>
            <a:ext cx="164592" cy="164592"/>
          </a:xfrm>
          <a:prstGeom prst="ellipse">
            <a:avLst/>
          </a:prstGeom>
          <a:solidFill>
            <a:srgbClr val="C84F2F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636008" y="50566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(4, 0)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6400800" y="2011680"/>
            <a:ext cx="5230368" cy="3977640"/>
          </a:xfrm>
          <a:prstGeom prst="roundRect">
            <a:avLst>
              <a:gd name="adj" fmla="val 1379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766560" y="2249424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 3x + 4y = 12</a:t>
            </a:r>
            <a:endParaRPr lang="en-US" sz="1700" dirty="0"/>
          </a:p>
        </p:txBody>
      </p:sp>
      <p:sp>
        <p:nvSpPr>
          <p:cNvPr id="79" name="Text 77"/>
          <p:cNvSpPr/>
          <p:nvPr/>
        </p:nvSpPr>
        <p:spPr>
          <a:xfrm>
            <a:off x="6720840" y="274320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x = 0: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4y = 12   →   y = 3      gives (0, 3)</a:t>
            </a:r>
            <a:endParaRPr lang="en-US" sz="13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 = 0:</a:t>
            </a:r>
            <a:endParaRPr lang="en-US" sz="13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3x = 12   →   x = 4      gives (4, 0)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the two points and rule a line through them.</a:t>
            </a:r>
            <a:endParaRPr lang="en-US" sz="1350" dirty="0"/>
          </a:p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point is a good check: x = 2 → y = 1.5.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566928" y="617220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841248" y="617220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0 gives the y-intercept;  y = 0 gives the x-intercept — join them up.</a:t>
            </a:r>
            <a:endParaRPr lang="en-US" sz="2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Line Crosses the Axes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a line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intercepts are enough to draw any sloping line.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make a small table of values (x = 0, 1, 2).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ruler and extend across the grid.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x = 0 for the y-intercept; set y = 0 for the x-intercept.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y-axis: put x = 0.   x-axis: put y = 0.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2x − 6.   x = 0  →  y = −6,  so (0, −6)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0  →  0 = 2x − 6  →  x = 3,  so (3, 0)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the two points and join them — that draws the line.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Crosses the axes at (0, −6) and (3, 0)</a:t>
            </a:r>
            <a:endParaRPr lang="en-US" sz="2300" dirty="0"/>
          </a:p>
        </p:txBody>
      </p:sp>
    </p:spTree>
    <p:extLst>
      <p:ext uri="{BB962C8B-B14F-4D97-AF65-F5344CB8AC3E}">
        <p14:creationId xmlns:p14="http://schemas.microsoft.com/office/powerpoint/2010/main" val="3933483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table, plot the points, then rule and label the line.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table of values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every point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with a ruler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the line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80297" y="1435608"/>
            <a:ext cx="9431101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593" y="1517904"/>
            <a:ext cx="926650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80297" y="1435608"/>
            <a:ext cx="9431101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593" y="1517904"/>
            <a:ext cx="926650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311015" y="1435608"/>
            <a:ext cx="9569666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3.png"/>
          <p:cNvPicPr>
            <a:picLocks noChangeAspect="1"/>
          </p:cNvPicPr>
          <p:nvPr/>
        </p:nvPicPr>
        <p:blipFill>
          <a:blip r:embed="rId3"/>
          <a:srcRect t="16449"/>
          <a:stretch>
            <a:fillRect/>
          </a:stretch>
        </p:blipFill>
        <p:spPr>
          <a:xfrm>
            <a:off x="1393311" y="1931520"/>
            <a:ext cx="9405074" cy="420196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05754" y="1435608"/>
            <a:ext cx="9380187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4.png"/>
          <p:cNvPicPr>
            <a:picLocks noChangeAspect="1"/>
          </p:cNvPicPr>
          <p:nvPr/>
        </p:nvPicPr>
        <p:blipFill>
          <a:blip r:embed="rId3"/>
          <a:srcRect t="16117"/>
          <a:stretch>
            <a:fillRect/>
          </a:stretch>
        </p:blipFill>
        <p:spPr>
          <a:xfrm>
            <a:off x="1488050" y="1923187"/>
            <a:ext cx="9215595" cy="421863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05754" y="1435608"/>
            <a:ext cx="9380187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5.png"/>
          <p:cNvPicPr>
            <a:picLocks noChangeAspect="1"/>
          </p:cNvPicPr>
          <p:nvPr/>
        </p:nvPicPr>
        <p:blipFill>
          <a:blip r:embed="rId3"/>
          <a:srcRect t="16117"/>
          <a:stretch>
            <a:fillRect/>
          </a:stretch>
        </p:blipFill>
        <p:spPr>
          <a:xfrm>
            <a:off x="1488050" y="1923187"/>
            <a:ext cx="9215595" cy="4218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05754" y="1435608"/>
            <a:ext cx="9380187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6.png"/>
          <p:cNvPicPr>
            <a:picLocks noChangeAspect="1"/>
          </p:cNvPicPr>
          <p:nvPr/>
        </p:nvPicPr>
        <p:blipFill>
          <a:blip r:embed="rId3"/>
          <a:srcRect t="16117"/>
          <a:stretch>
            <a:fillRect/>
          </a:stretch>
        </p:blipFill>
        <p:spPr>
          <a:xfrm>
            <a:off x="1488050" y="1923187"/>
            <a:ext cx="9215595" cy="421863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· DRAWING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05754" y="1435608"/>
            <a:ext cx="9380187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dlq/q-07.png"/>
          <p:cNvPicPr>
            <a:picLocks noChangeAspect="1"/>
          </p:cNvPicPr>
          <p:nvPr/>
        </p:nvPicPr>
        <p:blipFill>
          <a:blip r:embed="rId3"/>
          <a:srcRect t="16117"/>
          <a:stretch>
            <a:fillRect/>
          </a:stretch>
        </p:blipFill>
        <p:spPr>
          <a:xfrm>
            <a:off x="1488050" y="1923187"/>
            <a:ext cx="9215595" cy="421863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equation (x and y to the power 1) always graphs as a straight line.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a number is a vertical line;  y = a number is a horizontal line.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— table of values: substitute x, work out y, plot and join.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— rise over run: plot c on the y-axis, then step out the gradient.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3 — intercepts: x = 0 gives one point, y = 0 gives the other.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only need TWO points to draw a straight line — a third one checks 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1990</Words>
  <Application>Microsoft Office PowerPoint</Application>
  <PresentationFormat>Custom</PresentationFormat>
  <Paragraphs>408</Paragraphs>
  <Slides>23</Slides>
  <Notes>23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5</cp:revision>
  <dcterms:created xsi:type="dcterms:W3CDTF">2026-07-24T08:44:59Z</dcterms:created>
  <dcterms:modified xsi:type="dcterms:W3CDTF">2026-07-24T08:57:15Z</dcterms:modified>
</cp:coreProperties>
</file>