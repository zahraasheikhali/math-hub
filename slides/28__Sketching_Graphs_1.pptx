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61DFD3-F21D-4FD2-9C8F-2D263F98AA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C95C1EF-05FB-4B7E-9C91-266DC2F55A8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8EBD1D-7C0E-440B-A069-80772E1ECC5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553BC4-9BE7-45BC-AD6B-91AF845DD4F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639BA6D-C0E3-40A5-87AF-02609B74445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A9EC34-62E2-4D10-B3FB-4B545D8296F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B6C20D-AD20-4A15-966F-48DF9D52E48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E69445-655E-415D-A98C-B6B7379D548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DC256A-1535-492F-9C4A-7C30CCE543B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18F79E-C95A-4338-9617-C90888864F2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89C9DA-D22D-4558-AC56-A241EF16578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861DF8-C99D-4ECD-BF41-0BC6D3C639F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BB6FDD-5DA7-44F5-AE35-DD381AF8201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33A5AEE-F64A-4384-9E78-58DDB077A8E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4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F3CA1D-909C-4E68-8CB1-431EBB0EE49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02BEA9-1830-45CD-8A14-37BB0EAA157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D8EFFB4-E4DA-40D5-BE93-629DC662035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96C0EEA-D7DB-4B10-9517-42F0CD5AAED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CCCD46-BC18-4D46-8EF8-C5378ED068E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D1BF88-B8C0-4ACA-A80A-06048988976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F6C356E-5A0D-4209-A25B-CDFE537D2B4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54F5C1-A696-4DAC-960A-071930EB775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5C2EC31-C6BF-4D19-AED1-678CE8AC04B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413853-FE9C-435E-996B-BFB917368E0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869680" y="2468880"/>
            <a:ext cx="2468880" cy="360"/>
          </a:xfrm>
          <a:prstGeom prst="line">
            <a:avLst/>
          </a:prstGeom>
          <a:ln w="2032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869680" y="914400"/>
            <a:ext cx="360" cy="1554480"/>
          </a:xfrm>
          <a:prstGeom prst="line">
            <a:avLst/>
          </a:prstGeom>
          <a:ln w="2032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052560" y="2286000"/>
            <a:ext cx="2103120" cy="360"/>
          </a:xfrm>
          <a:prstGeom prst="line">
            <a:avLst/>
          </a:prstGeom>
          <a:ln w="3810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988480" y="2221920"/>
            <a:ext cx="127800" cy="127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10040040" y="1627560"/>
            <a:ext cx="127800" cy="127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11091600" y="1033200"/>
            <a:ext cx="127800" cy="127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0ac2b"/>
                </a:solidFill>
                <a:latin typeface="Cambria"/>
                <a:ea typeface="Cambria"/>
              </a:rPr>
              <a:t>Drawing a Straight Line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Table of Values · Gradient (Rise over Run) · Using the Intercepts · Horizontal &amp; Vertical Lines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Three Ways to Draw a Straight Line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Any equation like y = 2x + 1 can be drawn as a straight line.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There are three methods — a table of values, the gradient (rise over run), or the two intercepts. All give the same 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Linear equations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Horizontal &amp; vertical lines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Method 1 · table of values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Method 2 · rise over run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Method 3 · the intercepts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Practice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linear · table of values · substitute · plot · gradient · rise · run · intercept · y = mx + 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LINEAR EQUATIONS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Which Graph is a Straight Line?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 linear equation has x and y to the power 1 only — its graph is always a straight 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1"/>
          <p:cNvSpPr/>
          <p:nvPr/>
        </p:nvSpPr>
        <p:spPr>
          <a:xfrm>
            <a:off x="3602880" y="1911240"/>
            <a:ext cx="4955400" cy="420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0" descr="/tmp/work/dlg/d-linear.png"/>
          <p:cNvPicPr/>
          <p:nvPr/>
        </p:nvPicPr>
        <p:blipFill>
          <a:blip r:embed="rId1"/>
          <a:stretch/>
        </p:blipFill>
        <p:spPr>
          <a:xfrm>
            <a:off x="3684960" y="1993320"/>
            <a:ext cx="4790880" cy="4041360"/>
          </a:xfrm>
          <a:prstGeom prst="rect">
            <a:avLst/>
          </a:prstGeom>
          <a:ln w="0">
            <a:noFill/>
          </a:ln>
        </p:spPr>
      </p:pic>
      <p:sp>
        <p:nvSpPr>
          <p:cNvPr id="168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No x², no 1/x, no curves — a linear equation always gives a STRAIGHT line.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VERTICAL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x = a number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Every point has the SAME x-coordinate.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Plot them and you get a vertical 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41"/>
          <p:cNvSpPr/>
          <p:nvPr/>
        </p:nvSpPr>
        <p:spPr>
          <a:xfrm>
            <a:off x="567000" y="2011680"/>
            <a:ext cx="5486040" cy="40230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2"/>
          <p:cNvSpPr/>
          <p:nvPr/>
        </p:nvSpPr>
        <p:spPr>
          <a:xfrm>
            <a:off x="137160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43"/>
          <p:cNvSpPr/>
          <p:nvPr/>
        </p:nvSpPr>
        <p:spPr>
          <a:xfrm>
            <a:off x="181044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4"/>
          <p:cNvSpPr/>
          <p:nvPr/>
        </p:nvSpPr>
        <p:spPr>
          <a:xfrm>
            <a:off x="224928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45"/>
          <p:cNvSpPr/>
          <p:nvPr/>
        </p:nvSpPr>
        <p:spPr>
          <a:xfrm>
            <a:off x="268812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6"/>
          <p:cNvSpPr/>
          <p:nvPr/>
        </p:nvSpPr>
        <p:spPr>
          <a:xfrm>
            <a:off x="312696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7"/>
          <p:cNvSpPr/>
          <p:nvPr/>
        </p:nvSpPr>
        <p:spPr>
          <a:xfrm>
            <a:off x="356616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48"/>
          <p:cNvSpPr/>
          <p:nvPr/>
        </p:nvSpPr>
        <p:spPr>
          <a:xfrm>
            <a:off x="400500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9"/>
          <p:cNvSpPr/>
          <p:nvPr/>
        </p:nvSpPr>
        <p:spPr>
          <a:xfrm>
            <a:off x="4443840" y="2377440"/>
            <a:ext cx="360" cy="35110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50"/>
          <p:cNvSpPr/>
          <p:nvPr/>
        </p:nvSpPr>
        <p:spPr>
          <a:xfrm>
            <a:off x="1371600" y="588852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51"/>
          <p:cNvSpPr/>
          <p:nvPr/>
        </p:nvSpPr>
        <p:spPr>
          <a:xfrm>
            <a:off x="1371600" y="544968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52"/>
          <p:cNvSpPr/>
          <p:nvPr/>
        </p:nvSpPr>
        <p:spPr>
          <a:xfrm>
            <a:off x="1371600" y="501084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53"/>
          <p:cNvSpPr/>
          <p:nvPr/>
        </p:nvSpPr>
        <p:spPr>
          <a:xfrm>
            <a:off x="1371600" y="457200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54"/>
          <p:cNvSpPr/>
          <p:nvPr/>
        </p:nvSpPr>
        <p:spPr>
          <a:xfrm>
            <a:off x="1371600" y="413280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5"/>
          <p:cNvSpPr/>
          <p:nvPr/>
        </p:nvSpPr>
        <p:spPr>
          <a:xfrm>
            <a:off x="1371600" y="369396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56"/>
          <p:cNvSpPr/>
          <p:nvPr/>
        </p:nvSpPr>
        <p:spPr>
          <a:xfrm>
            <a:off x="1371600" y="325512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57"/>
          <p:cNvSpPr/>
          <p:nvPr/>
        </p:nvSpPr>
        <p:spPr>
          <a:xfrm>
            <a:off x="1371600" y="281628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8"/>
          <p:cNvSpPr/>
          <p:nvPr/>
        </p:nvSpPr>
        <p:spPr>
          <a:xfrm>
            <a:off x="1371600" y="2377440"/>
            <a:ext cx="307224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59"/>
          <p:cNvSpPr/>
          <p:nvPr/>
        </p:nvSpPr>
        <p:spPr>
          <a:xfrm>
            <a:off x="1371600" y="4132800"/>
            <a:ext cx="307224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60"/>
          <p:cNvSpPr/>
          <p:nvPr/>
        </p:nvSpPr>
        <p:spPr>
          <a:xfrm>
            <a:off x="2688120" y="2377440"/>
            <a:ext cx="360" cy="351108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61"/>
          <p:cNvSpPr/>
          <p:nvPr/>
        </p:nvSpPr>
        <p:spPr>
          <a:xfrm>
            <a:off x="11703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62"/>
          <p:cNvSpPr/>
          <p:nvPr/>
        </p:nvSpPr>
        <p:spPr>
          <a:xfrm>
            <a:off x="160920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63"/>
          <p:cNvSpPr/>
          <p:nvPr/>
        </p:nvSpPr>
        <p:spPr>
          <a:xfrm>
            <a:off x="204840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64"/>
          <p:cNvSpPr/>
          <p:nvPr/>
        </p:nvSpPr>
        <p:spPr>
          <a:xfrm>
            <a:off x="292608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65"/>
          <p:cNvSpPr/>
          <p:nvPr/>
        </p:nvSpPr>
        <p:spPr>
          <a:xfrm>
            <a:off x="336492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66"/>
          <p:cNvSpPr/>
          <p:nvPr/>
        </p:nvSpPr>
        <p:spPr>
          <a:xfrm>
            <a:off x="38037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67"/>
          <p:cNvSpPr/>
          <p:nvPr/>
        </p:nvSpPr>
        <p:spPr>
          <a:xfrm>
            <a:off x="42429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68"/>
          <p:cNvSpPr/>
          <p:nvPr/>
        </p:nvSpPr>
        <p:spPr>
          <a:xfrm>
            <a:off x="2212920" y="57697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9"/>
          <p:cNvSpPr/>
          <p:nvPr/>
        </p:nvSpPr>
        <p:spPr>
          <a:xfrm>
            <a:off x="2212920" y="53308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70"/>
          <p:cNvSpPr/>
          <p:nvPr/>
        </p:nvSpPr>
        <p:spPr>
          <a:xfrm>
            <a:off x="2212920" y="48920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71"/>
          <p:cNvSpPr/>
          <p:nvPr/>
        </p:nvSpPr>
        <p:spPr>
          <a:xfrm>
            <a:off x="2212920" y="44532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2"/>
          <p:cNvSpPr/>
          <p:nvPr/>
        </p:nvSpPr>
        <p:spPr>
          <a:xfrm>
            <a:off x="2212920" y="35751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73"/>
          <p:cNvSpPr/>
          <p:nvPr/>
        </p:nvSpPr>
        <p:spPr>
          <a:xfrm>
            <a:off x="2212920" y="31363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74"/>
          <p:cNvSpPr/>
          <p:nvPr/>
        </p:nvSpPr>
        <p:spPr>
          <a:xfrm>
            <a:off x="2212920" y="26974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75"/>
          <p:cNvSpPr/>
          <p:nvPr/>
        </p:nvSpPr>
        <p:spPr>
          <a:xfrm>
            <a:off x="2212920" y="22586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76"/>
          <p:cNvSpPr/>
          <p:nvPr/>
        </p:nvSpPr>
        <p:spPr>
          <a:xfrm>
            <a:off x="4480560" y="401436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77"/>
          <p:cNvSpPr/>
          <p:nvPr/>
        </p:nvSpPr>
        <p:spPr>
          <a:xfrm>
            <a:off x="2761560" y="21398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8"/>
          <p:cNvSpPr/>
          <p:nvPr/>
        </p:nvSpPr>
        <p:spPr>
          <a:xfrm>
            <a:off x="3566160" y="2377440"/>
            <a:ext cx="360" cy="3511080"/>
          </a:xfrm>
          <a:prstGeom prst="line">
            <a:avLst/>
          </a:prstGeom>
          <a:ln w="381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79"/>
          <p:cNvSpPr/>
          <p:nvPr/>
        </p:nvSpPr>
        <p:spPr>
          <a:xfrm>
            <a:off x="3483720" y="273420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80"/>
          <p:cNvSpPr/>
          <p:nvPr/>
        </p:nvSpPr>
        <p:spPr>
          <a:xfrm>
            <a:off x="348372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81"/>
          <p:cNvSpPr/>
          <p:nvPr/>
        </p:nvSpPr>
        <p:spPr>
          <a:xfrm>
            <a:off x="3483720" y="49287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82"/>
          <p:cNvSpPr/>
          <p:nvPr/>
        </p:nvSpPr>
        <p:spPr>
          <a:xfrm>
            <a:off x="3483720" y="405072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83"/>
          <p:cNvSpPr/>
          <p:nvPr/>
        </p:nvSpPr>
        <p:spPr>
          <a:xfrm>
            <a:off x="3483720" y="536760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4"/>
          <p:cNvSpPr/>
          <p:nvPr/>
        </p:nvSpPr>
        <p:spPr>
          <a:xfrm>
            <a:off x="3694320" y="255312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x =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85"/>
          <p:cNvSpPr/>
          <p:nvPr/>
        </p:nvSpPr>
        <p:spPr>
          <a:xfrm>
            <a:off x="6309360" y="2011680"/>
            <a:ext cx="5321520" cy="4023000"/>
          </a:xfrm>
          <a:prstGeom prst="roundRect">
            <a:avLst>
              <a:gd name="adj" fmla="val 136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86"/>
          <p:cNvSpPr/>
          <p:nvPr/>
        </p:nvSpPr>
        <p:spPr>
          <a:xfrm>
            <a:off x="6675120" y="224928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What the points show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87"/>
          <p:cNvSpPr/>
          <p:nvPr/>
        </p:nvSpPr>
        <p:spPr>
          <a:xfrm>
            <a:off x="6629400" y="2743200"/>
            <a:ext cx="4708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(2, 3),  (2, 1),  (2, −2),  (2, 0),  (2, −3)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The x-coordinate is ALWAYS 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So the line is  x = 2.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It is vertical, and it crosses the x-axis at 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Gradient: the run is 0, and you cannot divide by 0 — so the gradient is UNDEFINED.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88"/>
          <p:cNvSpPr/>
          <p:nvPr/>
        </p:nvSpPr>
        <p:spPr>
          <a:xfrm>
            <a:off x="567000" y="61995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89"/>
          <p:cNvSpPr/>
          <p:nvPr/>
        </p:nvSpPr>
        <p:spPr>
          <a:xfrm>
            <a:off x="841320" y="61995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a number is always a VERTICAL line through that number on the x-axis.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HORIZONTAL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 = a number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Every point has the SAME y-coordinate.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Plot them and you get a horizontal 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1"/>
          <p:cNvSpPr/>
          <p:nvPr/>
        </p:nvSpPr>
        <p:spPr>
          <a:xfrm>
            <a:off x="567000" y="2011680"/>
            <a:ext cx="5486040" cy="40230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42"/>
          <p:cNvSpPr/>
          <p:nvPr/>
        </p:nvSpPr>
        <p:spPr>
          <a:xfrm>
            <a:off x="137160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43"/>
          <p:cNvSpPr/>
          <p:nvPr/>
        </p:nvSpPr>
        <p:spPr>
          <a:xfrm>
            <a:off x="181044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4"/>
          <p:cNvSpPr/>
          <p:nvPr/>
        </p:nvSpPr>
        <p:spPr>
          <a:xfrm>
            <a:off x="224928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45"/>
          <p:cNvSpPr/>
          <p:nvPr/>
        </p:nvSpPr>
        <p:spPr>
          <a:xfrm>
            <a:off x="268812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46"/>
          <p:cNvSpPr/>
          <p:nvPr/>
        </p:nvSpPr>
        <p:spPr>
          <a:xfrm>
            <a:off x="312696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47"/>
          <p:cNvSpPr/>
          <p:nvPr/>
        </p:nvSpPr>
        <p:spPr>
          <a:xfrm>
            <a:off x="356616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48"/>
          <p:cNvSpPr/>
          <p:nvPr/>
        </p:nvSpPr>
        <p:spPr>
          <a:xfrm>
            <a:off x="400500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9"/>
          <p:cNvSpPr/>
          <p:nvPr/>
        </p:nvSpPr>
        <p:spPr>
          <a:xfrm>
            <a:off x="444384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50"/>
          <p:cNvSpPr/>
          <p:nvPr/>
        </p:nvSpPr>
        <p:spPr>
          <a:xfrm>
            <a:off x="4882680" y="2377440"/>
            <a:ext cx="360" cy="30722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51"/>
          <p:cNvSpPr/>
          <p:nvPr/>
        </p:nvSpPr>
        <p:spPr>
          <a:xfrm>
            <a:off x="1371600" y="544968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52"/>
          <p:cNvSpPr/>
          <p:nvPr/>
        </p:nvSpPr>
        <p:spPr>
          <a:xfrm>
            <a:off x="1371600" y="501084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53"/>
          <p:cNvSpPr/>
          <p:nvPr/>
        </p:nvSpPr>
        <p:spPr>
          <a:xfrm>
            <a:off x="1371600" y="457200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54"/>
          <p:cNvSpPr/>
          <p:nvPr/>
        </p:nvSpPr>
        <p:spPr>
          <a:xfrm>
            <a:off x="1371600" y="413280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55"/>
          <p:cNvSpPr/>
          <p:nvPr/>
        </p:nvSpPr>
        <p:spPr>
          <a:xfrm>
            <a:off x="1371600" y="369396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56"/>
          <p:cNvSpPr/>
          <p:nvPr/>
        </p:nvSpPr>
        <p:spPr>
          <a:xfrm>
            <a:off x="1371600" y="325512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57"/>
          <p:cNvSpPr/>
          <p:nvPr/>
        </p:nvSpPr>
        <p:spPr>
          <a:xfrm>
            <a:off x="1371600" y="281628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58"/>
          <p:cNvSpPr/>
          <p:nvPr/>
        </p:nvSpPr>
        <p:spPr>
          <a:xfrm>
            <a:off x="1371600" y="2377440"/>
            <a:ext cx="35110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9"/>
          <p:cNvSpPr/>
          <p:nvPr/>
        </p:nvSpPr>
        <p:spPr>
          <a:xfrm>
            <a:off x="1371600" y="4132800"/>
            <a:ext cx="351108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60"/>
          <p:cNvSpPr/>
          <p:nvPr/>
        </p:nvSpPr>
        <p:spPr>
          <a:xfrm>
            <a:off x="3126960" y="2377440"/>
            <a:ext cx="360" cy="307224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61"/>
          <p:cNvSpPr/>
          <p:nvPr/>
        </p:nvSpPr>
        <p:spPr>
          <a:xfrm>
            <a:off x="11703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62"/>
          <p:cNvSpPr/>
          <p:nvPr/>
        </p:nvSpPr>
        <p:spPr>
          <a:xfrm>
            <a:off x="160920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63"/>
          <p:cNvSpPr/>
          <p:nvPr/>
        </p:nvSpPr>
        <p:spPr>
          <a:xfrm>
            <a:off x="204840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64"/>
          <p:cNvSpPr/>
          <p:nvPr/>
        </p:nvSpPr>
        <p:spPr>
          <a:xfrm>
            <a:off x="248724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65"/>
          <p:cNvSpPr/>
          <p:nvPr/>
        </p:nvSpPr>
        <p:spPr>
          <a:xfrm>
            <a:off x="336492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66"/>
          <p:cNvSpPr/>
          <p:nvPr/>
        </p:nvSpPr>
        <p:spPr>
          <a:xfrm>
            <a:off x="38037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67"/>
          <p:cNvSpPr/>
          <p:nvPr/>
        </p:nvSpPr>
        <p:spPr>
          <a:xfrm>
            <a:off x="424296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68"/>
          <p:cNvSpPr/>
          <p:nvPr/>
        </p:nvSpPr>
        <p:spPr>
          <a:xfrm>
            <a:off x="4681800" y="4178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69"/>
          <p:cNvSpPr/>
          <p:nvPr/>
        </p:nvSpPr>
        <p:spPr>
          <a:xfrm>
            <a:off x="2651760" y="53308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70"/>
          <p:cNvSpPr/>
          <p:nvPr/>
        </p:nvSpPr>
        <p:spPr>
          <a:xfrm>
            <a:off x="2651760" y="48920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71"/>
          <p:cNvSpPr/>
          <p:nvPr/>
        </p:nvSpPr>
        <p:spPr>
          <a:xfrm>
            <a:off x="2651760" y="44532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72"/>
          <p:cNvSpPr/>
          <p:nvPr/>
        </p:nvSpPr>
        <p:spPr>
          <a:xfrm>
            <a:off x="2651760" y="35751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73"/>
          <p:cNvSpPr/>
          <p:nvPr/>
        </p:nvSpPr>
        <p:spPr>
          <a:xfrm>
            <a:off x="2651760" y="31363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74"/>
          <p:cNvSpPr/>
          <p:nvPr/>
        </p:nvSpPr>
        <p:spPr>
          <a:xfrm>
            <a:off x="2651760" y="26974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75"/>
          <p:cNvSpPr/>
          <p:nvPr/>
        </p:nvSpPr>
        <p:spPr>
          <a:xfrm>
            <a:off x="2651760" y="22586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76"/>
          <p:cNvSpPr/>
          <p:nvPr/>
        </p:nvSpPr>
        <p:spPr>
          <a:xfrm>
            <a:off x="4919400" y="401436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77"/>
          <p:cNvSpPr/>
          <p:nvPr/>
        </p:nvSpPr>
        <p:spPr>
          <a:xfrm>
            <a:off x="3200400" y="21398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78"/>
          <p:cNvSpPr/>
          <p:nvPr/>
        </p:nvSpPr>
        <p:spPr>
          <a:xfrm>
            <a:off x="1371600" y="3693960"/>
            <a:ext cx="3511080" cy="360"/>
          </a:xfrm>
          <a:prstGeom prst="line">
            <a:avLst/>
          </a:prstGeom>
          <a:ln w="381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79"/>
          <p:cNvSpPr/>
          <p:nvPr/>
        </p:nvSpPr>
        <p:spPr>
          <a:xfrm>
            <a:off x="304488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80"/>
          <p:cNvSpPr/>
          <p:nvPr/>
        </p:nvSpPr>
        <p:spPr>
          <a:xfrm>
            <a:off x="436176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81"/>
          <p:cNvSpPr/>
          <p:nvPr/>
        </p:nvSpPr>
        <p:spPr>
          <a:xfrm>
            <a:off x="216720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82"/>
          <p:cNvSpPr/>
          <p:nvPr/>
        </p:nvSpPr>
        <p:spPr>
          <a:xfrm>
            <a:off x="348372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83"/>
          <p:cNvSpPr/>
          <p:nvPr/>
        </p:nvSpPr>
        <p:spPr>
          <a:xfrm>
            <a:off x="1728360" y="3611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84"/>
          <p:cNvSpPr/>
          <p:nvPr/>
        </p:nvSpPr>
        <p:spPr>
          <a:xfrm>
            <a:off x="4180680" y="33102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y =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85"/>
          <p:cNvSpPr/>
          <p:nvPr/>
        </p:nvSpPr>
        <p:spPr>
          <a:xfrm>
            <a:off x="6309360" y="2011680"/>
            <a:ext cx="5321520" cy="4023000"/>
          </a:xfrm>
          <a:prstGeom prst="roundRect">
            <a:avLst>
              <a:gd name="adj" fmla="val 136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86"/>
          <p:cNvSpPr/>
          <p:nvPr/>
        </p:nvSpPr>
        <p:spPr>
          <a:xfrm>
            <a:off x="6675120" y="224928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What the points show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87"/>
          <p:cNvSpPr/>
          <p:nvPr/>
        </p:nvSpPr>
        <p:spPr>
          <a:xfrm>
            <a:off x="6629400" y="2743200"/>
            <a:ext cx="4708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(0, 1),  (3, 1),  (−2, 1),  (1, 1),  (−3,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The y-coordinate is ALWAYS 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So the line is  y = 1.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It is horizontal, and it crosses the y-axis at 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Gradient: there is no rise at all, so the gradient is 0.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88"/>
          <p:cNvSpPr/>
          <p:nvPr/>
        </p:nvSpPr>
        <p:spPr>
          <a:xfrm>
            <a:off x="567000" y="61995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89"/>
          <p:cNvSpPr/>
          <p:nvPr/>
        </p:nvSpPr>
        <p:spPr>
          <a:xfrm>
            <a:off x="841320" y="61995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 = a number is always a HORIZONTAL line through that number on the y-axis.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CHECKING A POINT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Does the Point Lie on the Line?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Substitute the x-value into the equation.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If you get the y-value, the point is on the 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41"/>
          <p:cNvSpPr/>
          <p:nvPr/>
        </p:nvSpPr>
        <p:spPr>
          <a:xfrm>
            <a:off x="567000" y="2148840"/>
            <a:ext cx="2514240" cy="47520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42"/>
          <p:cNvSpPr/>
          <p:nvPr/>
        </p:nvSpPr>
        <p:spPr>
          <a:xfrm>
            <a:off x="658440" y="21488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Equation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3"/>
          <p:cNvSpPr/>
          <p:nvPr/>
        </p:nvSpPr>
        <p:spPr>
          <a:xfrm>
            <a:off x="3200400" y="2148840"/>
            <a:ext cx="2331360" cy="47520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4"/>
          <p:cNvSpPr/>
          <p:nvPr/>
        </p:nvSpPr>
        <p:spPr>
          <a:xfrm>
            <a:off x="3291840" y="2148840"/>
            <a:ext cx="214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45"/>
          <p:cNvSpPr/>
          <p:nvPr/>
        </p:nvSpPr>
        <p:spPr>
          <a:xfrm>
            <a:off x="5669280" y="2148840"/>
            <a:ext cx="2514240" cy="47520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46"/>
          <p:cNvSpPr/>
          <p:nvPr/>
        </p:nvSpPr>
        <p:spPr>
          <a:xfrm>
            <a:off x="5760720" y="21488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Substitute 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47"/>
          <p:cNvSpPr/>
          <p:nvPr/>
        </p:nvSpPr>
        <p:spPr>
          <a:xfrm>
            <a:off x="8321040" y="2148840"/>
            <a:ext cx="3291480" cy="47520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48"/>
          <p:cNvSpPr/>
          <p:nvPr/>
        </p:nvSpPr>
        <p:spPr>
          <a:xfrm>
            <a:off x="8412480" y="2148840"/>
            <a:ext cx="3108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Check 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49"/>
          <p:cNvSpPr/>
          <p:nvPr/>
        </p:nvSpPr>
        <p:spPr>
          <a:xfrm>
            <a:off x="567000" y="2624400"/>
            <a:ext cx="251424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50"/>
          <p:cNvSpPr/>
          <p:nvPr/>
        </p:nvSpPr>
        <p:spPr>
          <a:xfrm>
            <a:off x="694800" y="262440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y = 2x − 6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51"/>
          <p:cNvSpPr/>
          <p:nvPr/>
        </p:nvSpPr>
        <p:spPr>
          <a:xfrm>
            <a:off x="3200400" y="2624400"/>
            <a:ext cx="233136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52"/>
          <p:cNvSpPr/>
          <p:nvPr/>
        </p:nvSpPr>
        <p:spPr>
          <a:xfrm>
            <a:off x="3328560" y="2624400"/>
            <a:ext cx="20754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(3, 0)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53"/>
          <p:cNvSpPr/>
          <p:nvPr/>
        </p:nvSpPr>
        <p:spPr>
          <a:xfrm>
            <a:off x="5669280" y="2624400"/>
            <a:ext cx="251424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54"/>
          <p:cNvSpPr/>
          <p:nvPr/>
        </p:nvSpPr>
        <p:spPr>
          <a:xfrm>
            <a:off x="5797440" y="262440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2(3) − 6 = 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55"/>
          <p:cNvSpPr/>
          <p:nvPr/>
        </p:nvSpPr>
        <p:spPr>
          <a:xfrm>
            <a:off x="8321040" y="2624400"/>
            <a:ext cx="329148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56"/>
          <p:cNvSpPr/>
          <p:nvPr/>
        </p:nvSpPr>
        <p:spPr>
          <a:xfrm>
            <a:off x="8449200" y="262440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0 = 0  ✓   lies on the line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57"/>
          <p:cNvSpPr/>
          <p:nvPr/>
        </p:nvSpPr>
        <p:spPr>
          <a:xfrm>
            <a:off x="567000" y="3410640"/>
            <a:ext cx="2514240" cy="7495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58"/>
          <p:cNvSpPr/>
          <p:nvPr/>
        </p:nvSpPr>
        <p:spPr>
          <a:xfrm>
            <a:off x="694800" y="341064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y = 3x + 2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59"/>
          <p:cNvSpPr/>
          <p:nvPr/>
        </p:nvSpPr>
        <p:spPr>
          <a:xfrm>
            <a:off x="3200400" y="3410640"/>
            <a:ext cx="2331360" cy="7495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60"/>
          <p:cNvSpPr/>
          <p:nvPr/>
        </p:nvSpPr>
        <p:spPr>
          <a:xfrm>
            <a:off x="3328560" y="3410640"/>
            <a:ext cx="20754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(4, 11)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61"/>
          <p:cNvSpPr/>
          <p:nvPr/>
        </p:nvSpPr>
        <p:spPr>
          <a:xfrm>
            <a:off x="5669280" y="3410640"/>
            <a:ext cx="2514240" cy="7495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2"/>
          <p:cNvSpPr/>
          <p:nvPr/>
        </p:nvSpPr>
        <p:spPr>
          <a:xfrm>
            <a:off x="5797440" y="341064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3(4) + 2 = 14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63"/>
          <p:cNvSpPr/>
          <p:nvPr/>
        </p:nvSpPr>
        <p:spPr>
          <a:xfrm>
            <a:off x="8321040" y="3410640"/>
            <a:ext cx="3291480" cy="7495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64"/>
          <p:cNvSpPr/>
          <p:nvPr/>
        </p:nvSpPr>
        <p:spPr>
          <a:xfrm>
            <a:off x="8449200" y="341064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5c6b60"/>
                </a:solidFill>
                <a:latin typeface="Cambria"/>
                <a:ea typeface="Cambria"/>
              </a:rPr>
              <a:t>14 ≠ 11  ✗   does NOT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65"/>
          <p:cNvSpPr/>
          <p:nvPr/>
        </p:nvSpPr>
        <p:spPr>
          <a:xfrm>
            <a:off x="567000" y="4197240"/>
            <a:ext cx="251424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66"/>
          <p:cNvSpPr/>
          <p:nvPr/>
        </p:nvSpPr>
        <p:spPr>
          <a:xfrm>
            <a:off x="694800" y="419724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y = 4x − 5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67"/>
          <p:cNvSpPr/>
          <p:nvPr/>
        </p:nvSpPr>
        <p:spPr>
          <a:xfrm>
            <a:off x="3200400" y="4197240"/>
            <a:ext cx="233136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68"/>
          <p:cNvSpPr/>
          <p:nvPr/>
        </p:nvSpPr>
        <p:spPr>
          <a:xfrm>
            <a:off x="3328560" y="4197240"/>
            <a:ext cx="20754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(2, 3)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69"/>
          <p:cNvSpPr/>
          <p:nvPr/>
        </p:nvSpPr>
        <p:spPr>
          <a:xfrm>
            <a:off x="5669280" y="4197240"/>
            <a:ext cx="251424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70"/>
          <p:cNvSpPr/>
          <p:nvPr/>
        </p:nvSpPr>
        <p:spPr>
          <a:xfrm>
            <a:off x="5797440" y="4197240"/>
            <a:ext cx="225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4(2) − 5 = 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71"/>
          <p:cNvSpPr/>
          <p:nvPr/>
        </p:nvSpPr>
        <p:spPr>
          <a:xfrm>
            <a:off x="8321040" y="4197240"/>
            <a:ext cx="3291480" cy="7495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72"/>
          <p:cNvSpPr/>
          <p:nvPr/>
        </p:nvSpPr>
        <p:spPr>
          <a:xfrm>
            <a:off x="8449200" y="419724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3 = 3  ✓   lies on the line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73"/>
          <p:cNvSpPr/>
          <p:nvPr/>
        </p:nvSpPr>
        <p:spPr>
          <a:xfrm>
            <a:off x="567000" y="52578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74"/>
          <p:cNvSpPr/>
          <p:nvPr/>
        </p:nvSpPr>
        <p:spPr>
          <a:xfrm>
            <a:off x="841320" y="52578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Put the x-value in. If the answer matches the y-value, the point is on the line.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THREE METHODS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Ways to Draw the Same Line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All three give exactly the same straight line — choose whichever suits the question.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41"/>
          <p:cNvSpPr/>
          <p:nvPr/>
        </p:nvSpPr>
        <p:spPr>
          <a:xfrm>
            <a:off x="567000" y="2148840"/>
            <a:ext cx="11063880" cy="1188360"/>
          </a:xfrm>
          <a:prstGeom prst="roundRect">
            <a:avLst>
              <a:gd name="adj" fmla="val 461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42"/>
          <p:cNvSpPr/>
          <p:nvPr/>
        </p:nvSpPr>
        <p:spPr>
          <a:xfrm>
            <a:off x="914400" y="25146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43"/>
          <p:cNvSpPr/>
          <p:nvPr/>
        </p:nvSpPr>
        <p:spPr>
          <a:xfrm>
            <a:off x="914400" y="2514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44"/>
          <p:cNvSpPr/>
          <p:nvPr/>
        </p:nvSpPr>
        <p:spPr>
          <a:xfrm>
            <a:off x="1600200" y="23133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TABLE OF VALUES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45"/>
          <p:cNvSpPr/>
          <p:nvPr/>
        </p:nvSpPr>
        <p:spPr>
          <a:xfrm>
            <a:off x="1600200" y="271584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Substitute several x-values, work out y, plot the points.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46"/>
          <p:cNvSpPr/>
          <p:nvPr/>
        </p:nvSpPr>
        <p:spPr>
          <a:xfrm>
            <a:off x="7589520" y="2148840"/>
            <a:ext cx="3840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Always works — and it is what exam papers usually ask for.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47"/>
          <p:cNvSpPr/>
          <p:nvPr/>
        </p:nvSpPr>
        <p:spPr>
          <a:xfrm>
            <a:off x="567000" y="3474720"/>
            <a:ext cx="11063880" cy="1188360"/>
          </a:xfrm>
          <a:prstGeom prst="roundRect">
            <a:avLst>
              <a:gd name="adj" fmla="val 461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48"/>
          <p:cNvSpPr/>
          <p:nvPr/>
        </p:nvSpPr>
        <p:spPr>
          <a:xfrm>
            <a:off x="914400" y="38404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49"/>
          <p:cNvSpPr/>
          <p:nvPr/>
        </p:nvSpPr>
        <p:spPr>
          <a:xfrm>
            <a:off x="914400" y="3840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50"/>
          <p:cNvSpPr/>
          <p:nvPr/>
        </p:nvSpPr>
        <p:spPr>
          <a:xfrm>
            <a:off x="1600200" y="36392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RISE OVER RUN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51"/>
          <p:cNvSpPr/>
          <p:nvPr/>
        </p:nvSpPr>
        <p:spPr>
          <a:xfrm>
            <a:off x="1600200" y="404172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Mark c on the y-axis, then step out the gradient to a second point.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52"/>
          <p:cNvSpPr/>
          <p:nvPr/>
        </p:nvSpPr>
        <p:spPr>
          <a:xfrm>
            <a:off x="7589520" y="3474720"/>
            <a:ext cx="3840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Fastest when the equation is already y = mx + c.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53"/>
          <p:cNvSpPr/>
          <p:nvPr/>
        </p:nvSpPr>
        <p:spPr>
          <a:xfrm>
            <a:off x="567000" y="4800600"/>
            <a:ext cx="11063880" cy="1188360"/>
          </a:xfrm>
          <a:prstGeom prst="roundRect">
            <a:avLst>
              <a:gd name="adj" fmla="val 461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54"/>
          <p:cNvSpPr/>
          <p:nvPr/>
        </p:nvSpPr>
        <p:spPr>
          <a:xfrm>
            <a:off x="914400" y="516636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5"/>
          <p:cNvSpPr/>
          <p:nvPr/>
        </p:nvSpPr>
        <p:spPr>
          <a:xfrm>
            <a:off x="914400" y="51663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56"/>
          <p:cNvSpPr/>
          <p:nvPr/>
        </p:nvSpPr>
        <p:spPr>
          <a:xfrm>
            <a:off x="1600200" y="49651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THE INTERCEPTS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57"/>
          <p:cNvSpPr/>
          <p:nvPr/>
        </p:nvSpPr>
        <p:spPr>
          <a:xfrm>
            <a:off x="1600200" y="536760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Put x = 0 to get one point, y = 0 to get the other, then join.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58"/>
          <p:cNvSpPr/>
          <p:nvPr/>
        </p:nvSpPr>
        <p:spPr>
          <a:xfrm>
            <a:off x="7589520" y="4800600"/>
            <a:ext cx="3840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Best when the equation looks like ax + by = c.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59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Every method needs at least TWO points — a third is a useful check.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1 · TABLE OF VALUES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Substitute x to Find 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Choose some easy x-values, put each one into the equation, and work out y.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Example: y = 2x + 1.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41"/>
          <p:cNvSpPr/>
          <p:nvPr/>
        </p:nvSpPr>
        <p:spPr>
          <a:xfrm>
            <a:off x="567000" y="2011680"/>
            <a:ext cx="5851800" cy="3794400"/>
          </a:xfrm>
          <a:prstGeom prst="roundRect">
            <a:avLst>
              <a:gd name="adj" fmla="val 144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42"/>
          <p:cNvSpPr/>
          <p:nvPr/>
        </p:nvSpPr>
        <p:spPr>
          <a:xfrm>
            <a:off x="932760" y="22492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working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43"/>
          <p:cNvSpPr/>
          <p:nvPr/>
        </p:nvSpPr>
        <p:spPr>
          <a:xfrm>
            <a:off x="960120" y="278892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44"/>
          <p:cNvSpPr/>
          <p:nvPr/>
        </p:nvSpPr>
        <p:spPr>
          <a:xfrm>
            <a:off x="2148840" y="278892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2(0) + 1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45"/>
          <p:cNvSpPr/>
          <p:nvPr/>
        </p:nvSpPr>
        <p:spPr>
          <a:xfrm>
            <a:off x="960120" y="35661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46"/>
          <p:cNvSpPr/>
          <p:nvPr/>
        </p:nvSpPr>
        <p:spPr>
          <a:xfrm>
            <a:off x="2148840" y="35661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2(1) + 1 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47"/>
          <p:cNvSpPr/>
          <p:nvPr/>
        </p:nvSpPr>
        <p:spPr>
          <a:xfrm>
            <a:off x="960120" y="434340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48"/>
          <p:cNvSpPr/>
          <p:nvPr/>
        </p:nvSpPr>
        <p:spPr>
          <a:xfrm>
            <a:off x="2148840" y="4343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2(2) + 1 = 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49"/>
          <p:cNvSpPr/>
          <p:nvPr/>
        </p:nvSpPr>
        <p:spPr>
          <a:xfrm>
            <a:off x="960120" y="516636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Always substitute the WHOLE x-value, including any minus sign.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50"/>
          <p:cNvSpPr/>
          <p:nvPr/>
        </p:nvSpPr>
        <p:spPr>
          <a:xfrm>
            <a:off x="6675120" y="2011680"/>
            <a:ext cx="4955760" cy="3794400"/>
          </a:xfrm>
          <a:prstGeom prst="roundRect">
            <a:avLst>
              <a:gd name="adj" fmla="val 144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51"/>
          <p:cNvSpPr/>
          <p:nvPr/>
        </p:nvSpPr>
        <p:spPr>
          <a:xfrm>
            <a:off x="7040880" y="2249280"/>
            <a:ext cx="422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completed table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52"/>
          <p:cNvSpPr/>
          <p:nvPr/>
        </p:nvSpPr>
        <p:spPr>
          <a:xfrm>
            <a:off x="7086600" y="2880360"/>
            <a:ext cx="776880" cy="566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53"/>
          <p:cNvSpPr/>
          <p:nvPr/>
        </p:nvSpPr>
        <p:spPr>
          <a:xfrm>
            <a:off x="7086600" y="2880360"/>
            <a:ext cx="77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54"/>
          <p:cNvSpPr/>
          <p:nvPr/>
        </p:nvSpPr>
        <p:spPr>
          <a:xfrm>
            <a:off x="7863840" y="2880360"/>
            <a:ext cx="1142640" cy="566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55"/>
          <p:cNvSpPr/>
          <p:nvPr/>
        </p:nvSpPr>
        <p:spPr>
          <a:xfrm>
            <a:off x="7863840" y="2880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56"/>
          <p:cNvSpPr/>
          <p:nvPr/>
        </p:nvSpPr>
        <p:spPr>
          <a:xfrm>
            <a:off x="9006840" y="2880360"/>
            <a:ext cx="1142640" cy="566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57"/>
          <p:cNvSpPr/>
          <p:nvPr/>
        </p:nvSpPr>
        <p:spPr>
          <a:xfrm>
            <a:off x="9006840" y="2880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58"/>
          <p:cNvSpPr/>
          <p:nvPr/>
        </p:nvSpPr>
        <p:spPr>
          <a:xfrm>
            <a:off x="10149840" y="2880360"/>
            <a:ext cx="1142640" cy="566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59"/>
          <p:cNvSpPr/>
          <p:nvPr/>
        </p:nvSpPr>
        <p:spPr>
          <a:xfrm>
            <a:off x="10149840" y="2880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60"/>
          <p:cNvSpPr/>
          <p:nvPr/>
        </p:nvSpPr>
        <p:spPr>
          <a:xfrm>
            <a:off x="7086600" y="3447360"/>
            <a:ext cx="776880" cy="566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61"/>
          <p:cNvSpPr/>
          <p:nvPr/>
        </p:nvSpPr>
        <p:spPr>
          <a:xfrm>
            <a:off x="7086600" y="3447360"/>
            <a:ext cx="77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62"/>
          <p:cNvSpPr/>
          <p:nvPr/>
        </p:nvSpPr>
        <p:spPr>
          <a:xfrm>
            <a:off x="7863840" y="3447360"/>
            <a:ext cx="1142640" cy="566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63"/>
          <p:cNvSpPr/>
          <p:nvPr/>
        </p:nvSpPr>
        <p:spPr>
          <a:xfrm>
            <a:off x="7863840" y="3447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64"/>
          <p:cNvSpPr/>
          <p:nvPr/>
        </p:nvSpPr>
        <p:spPr>
          <a:xfrm>
            <a:off x="9006840" y="3447360"/>
            <a:ext cx="1142640" cy="566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65"/>
          <p:cNvSpPr/>
          <p:nvPr/>
        </p:nvSpPr>
        <p:spPr>
          <a:xfrm>
            <a:off x="9006840" y="3447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66"/>
          <p:cNvSpPr/>
          <p:nvPr/>
        </p:nvSpPr>
        <p:spPr>
          <a:xfrm>
            <a:off x="10149840" y="3447360"/>
            <a:ext cx="1142640" cy="566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67"/>
          <p:cNvSpPr/>
          <p:nvPr/>
        </p:nvSpPr>
        <p:spPr>
          <a:xfrm>
            <a:off x="10149840" y="3447360"/>
            <a:ext cx="1142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68"/>
          <p:cNvSpPr/>
          <p:nvPr/>
        </p:nvSpPr>
        <p:spPr>
          <a:xfrm>
            <a:off x="6995160" y="4343400"/>
            <a:ext cx="4297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Each column is a coordinate: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(0, 1)    (1, 3)    (2, 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69"/>
          <p:cNvSpPr/>
          <p:nvPr/>
        </p:nvSpPr>
        <p:spPr>
          <a:xfrm>
            <a:off x="567000" y="60350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70"/>
          <p:cNvSpPr/>
          <p:nvPr/>
        </p:nvSpPr>
        <p:spPr>
          <a:xfrm>
            <a:off x="841320" y="60350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Top row = the x you chose.  Bottom row = the y you worked out.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1 · TABLE OF VALUES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Plot the Points, Then Join Them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Plot (0, 1), (1, 3) and (2, 5), then rule a straight line through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41"/>
          <p:cNvSpPr/>
          <p:nvPr/>
        </p:nvSpPr>
        <p:spPr>
          <a:xfrm>
            <a:off x="567000" y="2011680"/>
            <a:ext cx="5486040" cy="40230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42"/>
          <p:cNvSpPr/>
          <p:nvPr/>
        </p:nvSpPr>
        <p:spPr>
          <a:xfrm>
            <a:off x="146304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3"/>
          <p:cNvSpPr/>
          <p:nvPr/>
        </p:nvSpPr>
        <p:spPr>
          <a:xfrm>
            <a:off x="189252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44"/>
          <p:cNvSpPr/>
          <p:nvPr/>
        </p:nvSpPr>
        <p:spPr>
          <a:xfrm>
            <a:off x="232236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45"/>
          <p:cNvSpPr/>
          <p:nvPr/>
        </p:nvSpPr>
        <p:spPr>
          <a:xfrm>
            <a:off x="275220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46"/>
          <p:cNvSpPr/>
          <p:nvPr/>
        </p:nvSpPr>
        <p:spPr>
          <a:xfrm>
            <a:off x="318204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47"/>
          <p:cNvSpPr/>
          <p:nvPr/>
        </p:nvSpPr>
        <p:spPr>
          <a:xfrm>
            <a:off x="361188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48"/>
          <p:cNvSpPr/>
          <p:nvPr/>
        </p:nvSpPr>
        <p:spPr>
          <a:xfrm>
            <a:off x="4041360" y="2395440"/>
            <a:ext cx="360" cy="3438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49"/>
          <p:cNvSpPr/>
          <p:nvPr/>
        </p:nvSpPr>
        <p:spPr>
          <a:xfrm>
            <a:off x="1463040" y="583380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50"/>
          <p:cNvSpPr/>
          <p:nvPr/>
        </p:nvSpPr>
        <p:spPr>
          <a:xfrm>
            <a:off x="1463040" y="540396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51"/>
          <p:cNvSpPr/>
          <p:nvPr/>
        </p:nvSpPr>
        <p:spPr>
          <a:xfrm>
            <a:off x="1463040" y="497412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52"/>
          <p:cNvSpPr/>
          <p:nvPr/>
        </p:nvSpPr>
        <p:spPr>
          <a:xfrm>
            <a:off x="1463040" y="454428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3"/>
          <p:cNvSpPr/>
          <p:nvPr/>
        </p:nvSpPr>
        <p:spPr>
          <a:xfrm>
            <a:off x="1463040" y="411480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54"/>
          <p:cNvSpPr/>
          <p:nvPr/>
        </p:nvSpPr>
        <p:spPr>
          <a:xfrm>
            <a:off x="1463040" y="368496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55"/>
          <p:cNvSpPr/>
          <p:nvPr/>
        </p:nvSpPr>
        <p:spPr>
          <a:xfrm>
            <a:off x="1463040" y="325512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56"/>
          <p:cNvSpPr/>
          <p:nvPr/>
        </p:nvSpPr>
        <p:spPr>
          <a:xfrm>
            <a:off x="1463040" y="282528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57"/>
          <p:cNvSpPr/>
          <p:nvPr/>
        </p:nvSpPr>
        <p:spPr>
          <a:xfrm>
            <a:off x="1463040" y="239544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58"/>
          <p:cNvSpPr/>
          <p:nvPr/>
        </p:nvSpPr>
        <p:spPr>
          <a:xfrm>
            <a:off x="1463040" y="4974120"/>
            <a:ext cx="257832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59"/>
          <p:cNvSpPr/>
          <p:nvPr/>
        </p:nvSpPr>
        <p:spPr>
          <a:xfrm>
            <a:off x="2322360" y="2395440"/>
            <a:ext cx="360" cy="3438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60"/>
          <p:cNvSpPr/>
          <p:nvPr/>
        </p:nvSpPr>
        <p:spPr>
          <a:xfrm>
            <a:off x="126180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61"/>
          <p:cNvSpPr/>
          <p:nvPr/>
        </p:nvSpPr>
        <p:spPr>
          <a:xfrm>
            <a:off x="169164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62"/>
          <p:cNvSpPr/>
          <p:nvPr/>
        </p:nvSpPr>
        <p:spPr>
          <a:xfrm>
            <a:off x="255132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63"/>
          <p:cNvSpPr/>
          <p:nvPr/>
        </p:nvSpPr>
        <p:spPr>
          <a:xfrm>
            <a:off x="298080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64"/>
          <p:cNvSpPr/>
          <p:nvPr/>
        </p:nvSpPr>
        <p:spPr>
          <a:xfrm>
            <a:off x="341064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65"/>
          <p:cNvSpPr/>
          <p:nvPr/>
        </p:nvSpPr>
        <p:spPr>
          <a:xfrm>
            <a:off x="3840480" y="502020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66"/>
          <p:cNvSpPr/>
          <p:nvPr/>
        </p:nvSpPr>
        <p:spPr>
          <a:xfrm>
            <a:off x="1847160" y="57150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67"/>
          <p:cNvSpPr/>
          <p:nvPr/>
        </p:nvSpPr>
        <p:spPr>
          <a:xfrm>
            <a:off x="1847160" y="52851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68"/>
          <p:cNvSpPr/>
          <p:nvPr/>
        </p:nvSpPr>
        <p:spPr>
          <a:xfrm>
            <a:off x="1847160" y="44258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69"/>
          <p:cNvSpPr/>
          <p:nvPr/>
        </p:nvSpPr>
        <p:spPr>
          <a:xfrm>
            <a:off x="1847160" y="39960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70"/>
          <p:cNvSpPr/>
          <p:nvPr/>
        </p:nvSpPr>
        <p:spPr>
          <a:xfrm>
            <a:off x="1847160" y="35661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71"/>
          <p:cNvSpPr/>
          <p:nvPr/>
        </p:nvSpPr>
        <p:spPr>
          <a:xfrm>
            <a:off x="1847160" y="31363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72"/>
          <p:cNvSpPr/>
          <p:nvPr/>
        </p:nvSpPr>
        <p:spPr>
          <a:xfrm>
            <a:off x="1847160" y="27064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73"/>
          <p:cNvSpPr/>
          <p:nvPr/>
        </p:nvSpPr>
        <p:spPr>
          <a:xfrm>
            <a:off x="1847160" y="22770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74"/>
          <p:cNvSpPr/>
          <p:nvPr/>
        </p:nvSpPr>
        <p:spPr>
          <a:xfrm>
            <a:off x="4078080" y="485532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75"/>
          <p:cNvSpPr/>
          <p:nvPr/>
        </p:nvSpPr>
        <p:spPr>
          <a:xfrm>
            <a:off x="2395800" y="21578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76"/>
          <p:cNvSpPr/>
          <p:nvPr/>
        </p:nvSpPr>
        <p:spPr>
          <a:xfrm flipV="1">
            <a:off x="1855080" y="2751840"/>
            <a:ext cx="1369800" cy="2690280"/>
          </a:xfrm>
          <a:prstGeom prst="line">
            <a:avLst/>
          </a:prstGeom>
          <a:ln w="355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77"/>
          <p:cNvSpPr/>
          <p:nvPr/>
        </p:nvSpPr>
        <p:spPr>
          <a:xfrm>
            <a:off x="2240280" y="446220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78"/>
          <p:cNvSpPr/>
          <p:nvPr/>
        </p:nvSpPr>
        <p:spPr>
          <a:xfrm>
            <a:off x="2670120" y="360288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79"/>
          <p:cNvSpPr/>
          <p:nvPr/>
        </p:nvSpPr>
        <p:spPr>
          <a:xfrm>
            <a:off x="3099960" y="274320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80"/>
          <p:cNvSpPr/>
          <p:nvPr/>
        </p:nvSpPr>
        <p:spPr>
          <a:xfrm>
            <a:off x="2468880" y="449892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(0, 1)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81"/>
          <p:cNvSpPr/>
          <p:nvPr/>
        </p:nvSpPr>
        <p:spPr>
          <a:xfrm>
            <a:off x="2898720" y="36392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(1, 3)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82"/>
          <p:cNvSpPr/>
          <p:nvPr/>
        </p:nvSpPr>
        <p:spPr>
          <a:xfrm>
            <a:off x="3328560" y="277992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84f2f"/>
                </a:solidFill>
                <a:latin typeface="Cambria"/>
                <a:ea typeface="Cambria"/>
              </a:rPr>
              <a:t>(2, 5)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83"/>
          <p:cNvSpPr/>
          <p:nvPr/>
        </p:nvSpPr>
        <p:spPr>
          <a:xfrm>
            <a:off x="3225240" y="2414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y = 2x + 1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84"/>
          <p:cNvSpPr/>
          <p:nvPr/>
        </p:nvSpPr>
        <p:spPr>
          <a:xfrm>
            <a:off x="6309360" y="2011680"/>
            <a:ext cx="5321520" cy="4023000"/>
          </a:xfrm>
          <a:prstGeom prst="roundRect">
            <a:avLst>
              <a:gd name="adj" fmla="val 136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85"/>
          <p:cNvSpPr/>
          <p:nvPr/>
        </p:nvSpPr>
        <p:spPr>
          <a:xfrm>
            <a:off x="6675120" y="224928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four steps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86"/>
          <p:cNvSpPr/>
          <p:nvPr/>
        </p:nvSpPr>
        <p:spPr>
          <a:xfrm>
            <a:off x="6629400" y="2907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87"/>
          <p:cNvSpPr/>
          <p:nvPr/>
        </p:nvSpPr>
        <p:spPr>
          <a:xfrm>
            <a:off x="6629400" y="2907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88"/>
          <p:cNvSpPr/>
          <p:nvPr/>
        </p:nvSpPr>
        <p:spPr>
          <a:xfrm>
            <a:off x="7178040" y="283464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Complete the table of values.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89"/>
          <p:cNvSpPr/>
          <p:nvPr/>
        </p:nvSpPr>
        <p:spPr>
          <a:xfrm>
            <a:off x="6629400" y="35661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90"/>
          <p:cNvSpPr/>
          <p:nvPr/>
        </p:nvSpPr>
        <p:spPr>
          <a:xfrm>
            <a:off x="6629400" y="3566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91"/>
          <p:cNvSpPr/>
          <p:nvPr/>
        </p:nvSpPr>
        <p:spPr>
          <a:xfrm>
            <a:off x="7178040" y="349308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Plot every point from the table.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92"/>
          <p:cNvSpPr/>
          <p:nvPr/>
        </p:nvSpPr>
        <p:spPr>
          <a:xfrm>
            <a:off x="6629400" y="42246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93"/>
          <p:cNvSpPr/>
          <p:nvPr/>
        </p:nvSpPr>
        <p:spPr>
          <a:xfrm>
            <a:off x="6629400" y="4224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94"/>
          <p:cNvSpPr/>
          <p:nvPr/>
        </p:nvSpPr>
        <p:spPr>
          <a:xfrm>
            <a:off x="7178040" y="415152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Rule a straight line through them.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95"/>
          <p:cNvSpPr/>
          <p:nvPr/>
        </p:nvSpPr>
        <p:spPr>
          <a:xfrm>
            <a:off x="6629400" y="4883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96"/>
          <p:cNvSpPr/>
          <p:nvPr/>
        </p:nvSpPr>
        <p:spPr>
          <a:xfrm>
            <a:off x="662940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97"/>
          <p:cNvSpPr/>
          <p:nvPr/>
        </p:nvSpPr>
        <p:spPr>
          <a:xfrm>
            <a:off x="7178040" y="480960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Label the line with its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98"/>
          <p:cNvSpPr/>
          <p:nvPr/>
        </p:nvSpPr>
        <p:spPr>
          <a:xfrm>
            <a:off x="6309360" y="5532120"/>
            <a:ext cx="532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If a point does not line up, check that row of your table again.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99"/>
          <p:cNvSpPr/>
          <p:nvPr/>
        </p:nvSpPr>
        <p:spPr>
          <a:xfrm>
            <a:off x="567000" y="61995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100"/>
          <p:cNvSpPr/>
          <p:nvPr/>
        </p:nvSpPr>
        <p:spPr>
          <a:xfrm>
            <a:off x="841320" y="61995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Three points is ideal — two to draw the line and one to check it.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1 · 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Draw the Graph of  y = x − 2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Take x from −1 to 3. Subtract 2 from each x-value to get 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1"/>
          <p:cNvSpPr/>
          <p:nvPr/>
        </p:nvSpPr>
        <p:spPr>
          <a:xfrm>
            <a:off x="567000" y="2011680"/>
            <a:ext cx="5486040" cy="40230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42"/>
          <p:cNvSpPr/>
          <p:nvPr/>
        </p:nvSpPr>
        <p:spPr>
          <a:xfrm>
            <a:off x="14630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3"/>
          <p:cNvSpPr/>
          <p:nvPr/>
        </p:nvSpPr>
        <p:spPr>
          <a:xfrm>
            <a:off x="19202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44"/>
          <p:cNvSpPr/>
          <p:nvPr/>
        </p:nvSpPr>
        <p:spPr>
          <a:xfrm>
            <a:off x="23774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45"/>
          <p:cNvSpPr/>
          <p:nvPr/>
        </p:nvSpPr>
        <p:spPr>
          <a:xfrm>
            <a:off x="28346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46"/>
          <p:cNvSpPr/>
          <p:nvPr/>
        </p:nvSpPr>
        <p:spPr>
          <a:xfrm>
            <a:off x="32918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47"/>
          <p:cNvSpPr/>
          <p:nvPr/>
        </p:nvSpPr>
        <p:spPr>
          <a:xfrm>
            <a:off x="37490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48"/>
          <p:cNvSpPr/>
          <p:nvPr/>
        </p:nvSpPr>
        <p:spPr>
          <a:xfrm>
            <a:off x="42062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49"/>
          <p:cNvSpPr/>
          <p:nvPr/>
        </p:nvSpPr>
        <p:spPr>
          <a:xfrm>
            <a:off x="4663440" y="2395440"/>
            <a:ext cx="360" cy="320040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50"/>
          <p:cNvSpPr/>
          <p:nvPr/>
        </p:nvSpPr>
        <p:spPr>
          <a:xfrm>
            <a:off x="1463040" y="55958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51"/>
          <p:cNvSpPr/>
          <p:nvPr/>
        </p:nvSpPr>
        <p:spPr>
          <a:xfrm>
            <a:off x="1463040" y="51386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52"/>
          <p:cNvSpPr/>
          <p:nvPr/>
        </p:nvSpPr>
        <p:spPr>
          <a:xfrm>
            <a:off x="1463040" y="46814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53"/>
          <p:cNvSpPr/>
          <p:nvPr/>
        </p:nvSpPr>
        <p:spPr>
          <a:xfrm>
            <a:off x="1463040" y="42242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54"/>
          <p:cNvSpPr/>
          <p:nvPr/>
        </p:nvSpPr>
        <p:spPr>
          <a:xfrm>
            <a:off x="1463040" y="37670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55"/>
          <p:cNvSpPr/>
          <p:nvPr/>
        </p:nvSpPr>
        <p:spPr>
          <a:xfrm>
            <a:off x="1463040" y="33098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56"/>
          <p:cNvSpPr/>
          <p:nvPr/>
        </p:nvSpPr>
        <p:spPr>
          <a:xfrm>
            <a:off x="1463040" y="28526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57"/>
          <p:cNvSpPr/>
          <p:nvPr/>
        </p:nvSpPr>
        <p:spPr>
          <a:xfrm>
            <a:off x="1463040" y="2395440"/>
            <a:ext cx="320040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58"/>
          <p:cNvSpPr/>
          <p:nvPr/>
        </p:nvSpPr>
        <p:spPr>
          <a:xfrm>
            <a:off x="1463040" y="3767040"/>
            <a:ext cx="320040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59"/>
          <p:cNvSpPr/>
          <p:nvPr/>
        </p:nvSpPr>
        <p:spPr>
          <a:xfrm>
            <a:off x="2834640" y="2395440"/>
            <a:ext cx="360" cy="320040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60"/>
          <p:cNvSpPr/>
          <p:nvPr/>
        </p:nvSpPr>
        <p:spPr>
          <a:xfrm>
            <a:off x="12618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61"/>
          <p:cNvSpPr/>
          <p:nvPr/>
        </p:nvSpPr>
        <p:spPr>
          <a:xfrm>
            <a:off x="17190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62"/>
          <p:cNvSpPr/>
          <p:nvPr/>
        </p:nvSpPr>
        <p:spPr>
          <a:xfrm>
            <a:off x="21762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 63"/>
          <p:cNvSpPr/>
          <p:nvPr/>
        </p:nvSpPr>
        <p:spPr>
          <a:xfrm>
            <a:off x="30906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64"/>
          <p:cNvSpPr/>
          <p:nvPr/>
        </p:nvSpPr>
        <p:spPr>
          <a:xfrm>
            <a:off x="35478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65"/>
          <p:cNvSpPr/>
          <p:nvPr/>
        </p:nvSpPr>
        <p:spPr>
          <a:xfrm>
            <a:off x="40050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66"/>
          <p:cNvSpPr/>
          <p:nvPr/>
        </p:nvSpPr>
        <p:spPr>
          <a:xfrm>
            <a:off x="4462200" y="381312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67"/>
          <p:cNvSpPr/>
          <p:nvPr/>
        </p:nvSpPr>
        <p:spPr>
          <a:xfrm>
            <a:off x="2359080" y="54774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68"/>
          <p:cNvSpPr/>
          <p:nvPr/>
        </p:nvSpPr>
        <p:spPr>
          <a:xfrm>
            <a:off x="2359080" y="50202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 69"/>
          <p:cNvSpPr/>
          <p:nvPr/>
        </p:nvSpPr>
        <p:spPr>
          <a:xfrm>
            <a:off x="2359080" y="45630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70"/>
          <p:cNvSpPr/>
          <p:nvPr/>
        </p:nvSpPr>
        <p:spPr>
          <a:xfrm>
            <a:off x="2359080" y="41058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71"/>
          <p:cNvSpPr/>
          <p:nvPr/>
        </p:nvSpPr>
        <p:spPr>
          <a:xfrm>
            <a:off x="2359080" y="31914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72"/>
          <p:cNvSpPr/>
          <p:nvPr/>
        </p:nvSpPr>
        <p:spPr>
          <a:xfrm>
            <a:off x="2359080" y="27342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73"/>
          <p:cNvSpPr/>
          <p:nvPr/>
        </p:nvSpPr>
        <p:spPr>
          <a:xfrm>
            <a:off x="2359080" y="22770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74"/>
          <p:cNvSpPr/>
          <p:nvPr/>
        </p:nvSpPr>
        <p:spPr>
          <a:xfrm>
            <a:off x="4700160" y="364860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75"/>
          <p:cNvSpPr/>
          <p:nvPr/>
        </p:nvSpPr>
        <p:spPr>
          <a:xfrm>
            <a:off x="2907720" y="21578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76"/>
          <p:cNvSpPr/>
          <p:nvPr/>
        </p:nvSpPr>
        <p:spPr>
          <a:xfrm flipV="1">
            <a:off x="2103120" y="3081240"/>
            <a:ext cx="2359080" cy="2331720"/>
          </a:xfrm>
          <a:prstGeom prst="line">
            <a:avLst/>
          </a:prstGeom>
          <a:ln w="355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77"/>
          <p:cNvSpPr/>
          <p:nvPr/>
        </p:nvSpPr>
        <p:spPr>
          <a:xfrm>
            <a:off x="2295000" y="50565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Shape 78"/>
          <p:cNvSpPr/>
          <p:nvPr/>
        </p:nvSpPr>
        <p:spPr>
          <a:xfrm>
            <a:off x="2752200" y="45993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Shape 79"/>
          <p:cNvSpPr/>
          <p:nvPr/>
        </p:nvSpPr>
        <p:spPr>
          <a:xfrm>
            <a:off x="3209400" y="41421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80"/>
          <p:cNvSpPr/>
          <p:nvPr/>
        </p:nvSpPr>
        <p:spPr>
          <a:xfrm>
            <a:off x="3666600" y="36849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81"/>
          <p:cNvSpPr/>
          <p:nvPr/>
        </p:nvSpPr>
        <p:spPr>
          <a:xfrm>
            <a:off x="4123800" y="32277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82"/>
          <p:cNvSpPr/>
          <p:nvPr/>
        </p:nvSpPr>
        <p:spPr>
          <a:xfrm>
            <a:off x="3840480" y="28072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y = x − 2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83"/>
          <p:cNvSpPr/>
          <p:nvPr/>
        </p:nvSpPr>
        <p:spPr>
          <a:xfrm>
            <a:off x="6309360" y="2011680"/>
            <a:ext cx="5321520" cy="4023000"/>
          </a:xfrm>
          <a:prstGeom prst="roundRect">
            <a:avLst>
              <a:gd name="adj" fmla="val 136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84"/>
          <p:cNvSpPr/>
          <p:nvPr/>
        </p:nvSpPr>
        <p:spPr>
          <a:xfrm>
            <a:off x="6675120" y="224928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Table of values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85"/>
          <p:cNvSpPr/>
          <p:nvPr/>
        </p:nvSpPr>
        <p:spPr>
          <a:xfrm>
            <a:off x="6583680" y="2788920"/>
            <a:ext cx="731160" cy="51156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86"/>
          <p:cNvSpPr/>
          <p:nvPr/>
        </p:nvSpPr>
        <p:spPr>
          <a:xfrm>
            <a:off x="6583680" y="2788920"/>
            <a:ext cx="731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87"/>
          <p:cNvSpPr/>
          <p:nvPr/>
        </p:nvSpPr>
        <p:spPr>
          <a:xfrm>
            <a:off x="7315200" y="2788920"/>
            <a:ext cx="785880" cy="5115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88"/>
          <p:cNvSpPr/>
          <p:nvPr/>
        </p:nvSpPr>
        <p:spPr>
          <a:xfrm>
            <a:off x="7315200" y="278892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-1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89"/>
          <p:cNvSpPr/>
          <p:nvPr/>
        </p:nvSpPr>
        <p:spPr>
          <a:xfrm>
            <a:off x="8101440" y="2788920"/>
            <a:ext cx="785880" cy="5115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90"/>
          <p:cNvSpPr/>
          <p:nvPr/>
        </p:nvSpPr>
        <p:spPr>
          <a:xfrm>
            <a:off x="8101440" y="278892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91"/>
          <p:cNvSpPr/>
          <p:nvPr/>
        </p:nvSpPr>
        <p:spPr>
          <a:xfrm>
            <a:off x="8888040" y="2788920"/>
            <a:ext cx="785880" cy="5115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92"/>
          <p:cNvSpPr/>
          <p:nvPr/>
        </p:nvSpPr>
        <p:spPr>
          <a:xfrm>
            <a:off x="8888040" y="278892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93"/>
          <p:cNvSpPr/>
          <p:nvPr/>
        </p:nvSpPr>
        <p:spPr>
          <a:xfrm>
            <a:off x="9674280" y="2788920"/>
            <a:ext cx="785880" cy="5115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94"/>
          <p:cNvSpPr/>
          <p:nvPr/>
        </p:nvSpPr>
        <p:spPr>
          <a:xfrm>
            <a:off x="9674280" y="278892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95"/>
          <p:cNvSpPr/>
          <p:nvPr/>
        </p:nvSpPr>
        <p:spPr>
          <a:xfrm>
            <a:off x="10460880" y="2788920"/>
            <a:ext cx="785880" cy="5115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96"/>
          <p:cNvSpPr/>
          <p:nvPr/>
        </p:nvSpPr>
        <p:spPr>
          <a:xfrm>
            <a:off x="10460880" y="278892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97"/>
          <p:cNvSpPr/>
          <p:nvPr/>
        </p:nvSpPr>
        <p:spPr>
          <a:xfrm>
            <a:off x="6583680" y="3300840"/>
            <a:ext cx="731160" cy="51156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98"/>
          <p:cNvSpPr/>
          <p:nvPr/>
        </p:nvSpPr>
        <p:spPr>
          <a:xfrm>
            <a:off x="6583680" y="3300840"/>
            <a:ext cx="731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99"/>
          <p:cNvSpPr/>
          <p:nvPr/>
        </p:nvSpPr>
        <p:spPr>
          <a:xfrm>
            <a:off x="7315200" y="3300840"/>
            <a:ext cx="785880" cy="5115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100"/>
          <p:cNvSpPr/>
          <p:nvPr/>
        </p:nvSpPr>
        <p:spPr>
          <a:xfrm>
            <a:off x="7315200" y="330084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-3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101"/>
          <p:cNvSpPr/>
          <p:nvPr/>
        </p:nvSpPr>
        <p:spPr>
          <a:xfrm>
            <a:off x="8101440" y="3300840"/>
            <a:ext cx="785880" cy="5115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102"/>
          <p:cNvSpPr/>
          <p:nvPr/>
        </p:nvSpPr>
        <p:spPr>
          <a:xfrm>
            <a:off x="8101440" y="330084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-2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103"/>
          <p:cNvSpPr/>
          <p:nvPr/>
        </p:nvSpPr>
        <p:spPr>
          <a:xfrm>
            <a:off x="8888040" y="3300840"/>
            <a:ext cx="785880" cy="5115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104"/>
          <p:cNvSpPr/>
          <p:nvPr/>
        </p:nvSpPr>
        <p:spPr>
          <a:xfrm>
            <a:off x="8888040" y="330084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-1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05"/>
          <p:cNvSpPr/>
          <p:nvPr/>
        </p:nvSpPr>
        <p:spPr>
          <a:xfrm>
            <a:off x="9674280" y="3300840"/>
            <a:ext cx="785880" cy="5115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106"/>
          <p:cNvSpPr/>
          <p:nvPr/>
        </p:nvSpPr>
        <p:spPr>
          <a:xfrm>
            <a:off x="9674280" y="330084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07"/>
          <p:cNvSpPr/>
          <p:nvPr/>
        </p:nvSpPr>
        <p:spPr>
          <a:xfrm>
            <a:off x="10460880" y="3300840"/>
            <a:ext cx="785880" cy="5115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108"/>
          <p:cNvSpPr/>
          <p:nvPr/>
        </p:nvSpPr>
        <p:spPr>
          <a:xfrm>
            <a:off x="10460880" y="3300840"/>
            <a:ext cx="785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109"/>
          <p:cNvSpPr/>
          <p:nvPr/>
        </p:nvSpPr>
        <p:spPr>
          <a:xfrm>
            <a:off x="6629400" y="3977640"/>
            <a:ext cx="4708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 = −1  →  y = −1 − 2 = −3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 = 2   →  y = 2 − 2 =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Plot (−1, −3), (0, −2), (1, −1), (2, 0), (3, 1) and join them.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10"/>
          <p:cNvSpPr/>
          <p:nvPr/>
        </p:nvSpPr>
        <p:spPr>
          <a:xfrm>
            <a:off x="567000" y="61995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111"/>
          <p:cNvSpPr/>
          <p:nvPr/>
        </p:nvSpPr>
        <p:spPr>
          <a:xfrm>
            <a:off x="841320" y="61995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Negative x-values are fine — just be careful with the signs.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2 · RISE OVER RUN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Always Write the Gradient as a Fraction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39"/>
          <p:cNvSpPr/>
          <p:nvPr/>
        </p:nvSpPr>
        <p:spPr>
          <a:xfrm>
            <a:off x="567000" y="12434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40"/>
          <p:cNvSpPr/>
          <p:nvPr/>
        </p:nvSpPr>
        <p:spPr>
          <a:xfrm>
            <a:off x="887040" y="12434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Start at the y-intercept, then step:  rise (up/down) and run (right/left).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41"/>
          <p:cNvSpPr/>
          <p:nvPr/>
        </p:nvSpPr>
        <p:spPr>
          <a:xfrm>
            <a:off x="567000" y="1920240"/>
            <a:ext cx="11063880" cy="932400"/>
          </a:xfrm>
          <a:prstGeom prst="roundRect">
            <a:avLst>
              <a:gd name="adj" fmla="val 5882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42"/>
          <p:cNvSpPr/>
          <p:nvPr/>
        </p:nvSpPr>
        <p:spPr>
          <a:xfrm>
            <a:off x="2331720" y="1920240"/>
            <a:ext cx="210276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gradient  m 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 43"/>
          <p:cNvSpPr/>
          <p:nvPr/>
        </p:nvSpPr>
        <p:spPr>
          <a:xfrm>
            <a:off x="4457880" y="203904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rise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44"/>
          <p:cNvSpPr/>
          <p:nvPr/>
        </p:nvSpPr>
        <p:spPr>
          <a:xfrm>
            <a:off x="4457520" y="2386440"/>
            <a:ext cx="1234440" cy="360"/>
          </a:xfrm>
          <a:prstGeom prst="line">
            <a:avLst/>
          </a:prstGeom>
          <a:ln w="2286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45"/>
          <p:cNvSpPr/>
          <p:nvPr/>
        </p:nvSpPr>
        <p:spPr>
          <a:xfrm>
            <a:off x="4457880" y="242316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run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46"/>
          <p:cNvSpPr/>
          <p:nvPr/>
        </p:nvSpPr>
        <p:spPr>
          <a:xfrm>
            <a:off x="5943600" y="1920240"/>
            <a:ext cx="53946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=   </a:t>
            </a: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change in y</a:t>
            </a: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   ÷   </a:t>
            </a: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change in 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47"/>
          <p:cNvSpPr/>
          <p:nvPr/>
        </p:nvSpPr>
        <p:spPr>
          <a:xfrm>
            <a:off x="567000" y="3017520"/>
            <a:ext cx="5486040" cy="306288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48"/>
          <p:cNvSpPr/>
          <p:nvPr/>
        </p:nvSpPr>
        <p:spPr>
          <a:xfrm>
            <a:off x="141732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49"/>
          <p:cNvSpPr/>
          <p:nvPr/>
        </p:nvSpPr>
        <p:spPr>
          <a:xfrm>
            <a:off x="184680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50"/>
          <p:cNvSpPr/>
          <p:nvPr/>
        </p:nvSpPr>
        <p:spPr>
          <a:xfrm>
            <a:off x="227664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51"/>
          <p:cNvSpPr/>
          <p:nvPr/>
        </p:nvSpPr>
        <p:spPr>
          <a:xfrm>
            <a:off x="270648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52"/>
          <p:cNvSpPr/>
          <p:nvPr/>
        </p:nvSpPr>
        <p:spPr>
          <a:xfrm>
            <a:off x="313632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53"/>
          <p:cNvSpPr/>
          <p:nvPr/>
        </p:nvSpPr>
        <p:spPr>
          <a:xfrm>
            <a:off x="356616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54"/>
          <p:cNvSpPr/>
          <p:nvPr/>
        </p:nvSpPr>
        <p:spPr>
          <a:xfrm>
            <a:off x="3995640" y="3309840"/>
            <a:ext cx="360" cy="257868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55"/>
          <p:cNvSpPr/>
          <p:nvPr/>
        </p:nvSpPr>
        <p:spPr>
          <a:xfrm>
            <a:off x="1417320" y="588852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56"/>
          <p:cNvSpPr/>
          <p:nvPr/>
        </p:nvSpPr>
        <p:spPr>
          <a:xfrm>
            <a:off x="1417320" y="545868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57"/>
          <p:cNvSpPr/>
          <p:nvPr/>
        </p:nvSpPr>
        <p:spPr>
          <a:xfrm>
            <a:off x="1417320" y="502920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58"/>
          <p:cNvSpPr/>
          <p:nvPr/>
        </p:nvSpPr>
        <p:spPr>
          <a:xfrm>
            <a:off x="1417320" y="459936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59"/>
          <p:cNvSpPr/>
          <p:nvPr/>
        </p:nvSpPr>
        <p:spPr>
          <a:xfrm>
            <a:off x="1417320" y="416952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60"/>
          <p:cNvSpPr/>
          <p:nvPr/>
        </p:nvSpPr>
        <p:spPr>
          <a:xfrm>
            <a:off x="1417320" y="373968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61"/>
          <p:cNvSpPr/>
          <p:nvPr/>
        </p:nvSpPr>
        <p:spPr>
          <a:xfrm>
            <a:off x="1417320" y="3309840"/>
            <a:ext cx="25783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62"/>
          <p:cNvSpPr/>
          <p:nvPr/>
        </p:nvSpPr>
        <p:spPr>
          <a:xfrm>
            <a:off x="1417320" y="5458680"/>
            <a:ext cx="257832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63"/>
          <p:cNvSpPr/>
          <p:nvPr/>
        </p:nvSpPr>
        <p:spPr>
          <a:xfrm>
            <a:off x="1846800" y="3309840"/>
            <a:ext cx="360" cy="257868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 64"/>
          <p:cNvSpPr/>
          <p:nvPr/>
        </p:nvSpPr>
        <p:spPr>
          <a:xfrm>
            <a:off x="121608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 65"/>
          <p:cNvSpPr/>
          <p:nvPr/>
        </p:nvSpPr>
        <p:spPr>
          <a:xfrm>
            <a:off x="207576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66"/>
          <p:cNvSpPr/>
          <p:nvPr/>
        </p:nvSpPr>
        <p:spPr>
          <a:xfrm>
            <a:off x="250560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67"/>
          <p:cNvSpPr/>
          <p:nvPr/>
        </p:nvSpPr>
        <p:spPr>
          <a:xfrm>
            <a:off x="293508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 68"/>
          <p:cNvSpPr/>
          <p:nvPr/>
        </p:nvSpPr>
        <p:spPr>
          <a:xfrm>
            <a:off x="336492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 69"/>
          <p:cNvSpPr/>
          <p:nvPr/>
        </p:nvSpPr>
        <p:spPr>
          <a:xfrm>
            <a:off x="3794760" y="550476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 70"/>
          <p:cNvSpPr/>
          <p:nvPr/>
        </p:nvSpPr>
        <p:spPr>
          <a:xfrm>
            <a:off x="1371600" y="57697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 71"/>
          <p:cNvSpPr/>
          <p:nvPr/>
        </p:nvSpPr>
        <p:spPr>
          <a:xfrm>
            <a:off x="1371600" y="49104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72"/>
          <p:cNvSpPr/>
          <p:nvPr/>
        </p:nvSpPr>
        <p:spPr>
          <a:xfrm>
            <a:off x="1371600" y="44805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73"/>
          <p:cNvSpPr/>
          <p:nvPr/>
        </p:nvSpPr>
        <p:spPr>
          <a:xfrm>
            <a:off x="1371600" y="40507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74"/>
          <p:cNvSpPr/>
          <p:nvPr/>
        </p:nvSpPr>
        <p:spPr>
          <a:xfrm>
            <a:off x="1371600" y="36208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 75"/>
          <p:cNvSpPr/>
          <p:nvPr/>
        </p:nvSpPr>
        <p:spPr>
          <a:xfrm>
            <a:off x="1371600" y="31914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76"/>
          <p:cNvSpPr/>
          <p:nvPr/>
        </p:nvSpPr>
        <p:spPr>
          <a:xfrm>
            <a:off x="4032360" y="53402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77"/>
          <p:cNvSpPr/>
          <p:nvPr/>
        </p:nvSpPr>
        <p:spPr>
          <a:xfrm>
            <a:off x="1920240" y="307224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78"/>
          <p:cNvSpPr/>
          <p:nvPr/>
        </p:nvSpPr>
        <p:spPr>
          <a:xfrm flipV="1">
            <a:off x="1460160" y="3968280"/>
            <a:ext cx="2012760" cy="131868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79"/>
          <p:cNvSpPr/>
          <p:nvPr/>
        </p:nvSpPr>
        <p:spPr>
          <a:xfrm>
            <a:off x="1764720" y="49467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Shape 80"/>
          <p:cNvSpPr/>
          <p:nvPr/>
        </p:nvSpPr>
        <p:spPr>
          <a:xfrm>
            <a:off x="3054240" y="408744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81"/>
          <p:cNvSpPr/>
          <p:nvPr/>
        </p:nvSpPr>
        <p:spPr>
          <a:xfrm>
            <a:off x="1846800" y="5029200"/>
            <a:ext cx="360" cy="360"/>
          </a:xfrm>
          <a:prstGeom prst="line">
            <a:avLst/>
          </a:prstGeom>
          <a:ln w="3048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82"/>
          <p:cNvSpPr/>
          <p:nvPr/>
        </p:nvSpPr>
        <p:spPr>
          <a:xfrm>
            <a:off x="1846800" y="4169520"/>
            <a:ext cx="1289520" cy="360"/>
          </a:xfrm>
          <a:prstGeom prst="line">
            <a:avLst/>
          </a:prstGeom>
          <a:ln w="3048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83"/>
          <p:cNvSpPr/>
          <p:nvPr/>
        </p:nvSpPr>
        <p:spPr>
          <a:xfrm>
            <a:off x="749880" y="448164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rise 2 ↑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 84"/>
          <p:cNvSpPr/>
          <p:nvPr/>
        </p:nvSpPr>
        <p:spPr>
          <a:xfrm>
            <a:off x="2034720" y="37857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run 3 →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 85"/>
          <p:cNvSpPr/>
          <p:nvPr/>
        </p:nvSpPr>
        <p:spPr>
          <a:xfrm>
            <a:off x="1974960" y="50659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4f2f"/>
                </a:solidFill>
                <a:latin typeface="Cambria"/>
                <a:ea typeface="Cambria"/>
              </a:rPr>
              <a:t>start (0, 1)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86"/>
          <p:cNvSpPr/>
          <p:nvPr/>
        </p:nvSpPr>
        <p:spPr>
          <a:xfrm>
            <a:off x="6309360" y="3017520"/>
            <a:ext cx="5321520" cy="3062880"/>
          </a:xfrm>
          <a:prstGeom prst="roundRect">
            <a:avLst>
              <a:gd name="adj" fmla="val 17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87"/>
          <p:cNvSpPr/>
          <p:nvPr/>
        </p:nvSpPr>
        <p:spPr>
          <a:xfrm>
            <a:off x="6675120" y="325512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Worked example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88"/>
          <p:cNvSpPr/>
          <p:nvPr/>
        </p:nvSpPr>
        <p:spPr>
          <a:xfrm>
            <a:off x="6629400" y="358452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 89"/>
          <p:cNvSpPr/>
          <p:nvPr/>
        </p:nvSpPr>
        <p:spPr>
          <a:xfrm>
            <a:off x="7351920" y="351144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90"/>
          <p:cNvSpPr/>
          <p:nvPr/>
        </p:nvSpPr>
        <p:spPr>
          <a:xfrm>
            <a:off x="7351560" y="3858480"/>
            <a:ext cx="567000" cy="360"/>
          </a:xfrm>
          <a:prstGeom prst="line">
            <a:avLst/>
          </a:prstGeom>
          <a:ln w="228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91"/>
          <p:cNvSpPr/>
          <p:nvPr/>
        </p:nvSpPr>
        <p:spPr>
          <a:xfrm>
            <a:off x="7351920" y="389520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 92"/>
          <p:cNvSpPr/>
          <p:nvPr/>
        </p:nvSpPr>
        <p:spPr>
          <a:xfrm>
            <a:off x="8001000" y="358452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 + 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 93"/>
          <p:cNvSpPr/>
          <p:nvPr/>
        </p:nvSpPr>
        <p:spPr>
          <a:xfrm>
            <a:off x="6629400" y="4224600"/>
            <a:ext cx="470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 = 1   →   start at (0, 1)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 94"/>
          <p:cNvSpPr/>
          <p:nvPr/>
        </p:nvSpPr>
        <p:spPr>
          <a:xfrm>
            <a:off x="6629400" y="466344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m  =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95"/>
          <p:cNvSpPr/>
          <p:nvPr/>
        </p:nvSpPr>
        <p:spPr>
          <a:xfrm>
            <a:off x="7351920" y="456300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96"/>
          <p:cNvSpPr/>
          <p:nvPr/>
        </p:nvSpPr>
        <p:spPr>
          <a:xfrm>
            <a:off x="7351560" y="4910040"/>
            <a:ext cx="567000" cy="360"/>
          </a:xfrm>
          <a:prstGeom prst="line">
            <a:avLst/>
          </a:prstGeom>
          <a:ln w="228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 97"/>
          <p:cNvSpPr/>
          <p:nvPr/>
        </p:nvSpPr>
        <p:spPr>
          <a:xfrm>
            <a:off x="7351920" y="494676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 98"/>
          <p:cNvSpPr/>
          <p:nvPr/>
        </p:nvSpPr>
        <p:spPr>
          <a:xfrm>
            <a:off x="8001000" y="46634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→  </a:t>
            </a: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rise = 2,  run = 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 99"/>
          <p:cNvSpPr/>
          <p:nvPr/>
        </p:nvSpPr>
        <p:spPr>
          <a:xfrm>
            <a:off x="6629400" y="525780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rise +2  →  UP 2,    run +3  →  RIGHT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That lands on (3, 3) — join the two points.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00"/>
          <p:cNvSpPr/>
          <p:nvPr/>
        </p:nvSpPr>
        <p:spPr>
          <a:xfrm>
            <a:off x="567000" y="6217920"/>
            <a:ext cx="11063880" cy="529920"/>
          </a:xfrm>
          <a:prstGeom prst="roundRect">
            <a:avLst>
              <a:gd name="adj" fmla="val 10345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101"/>
          <p:cNvSpPr/>
          <p:nvPr/>
        </p:nvSpPr>
        <p:spPr>
          <a:xfrm>
            <a:off x="841320" y="621792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rise = change in y (+ up, − down)   ·   run = change in x (+ right, − left)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82"/>
          <p:cNvSpPr/>
          <p:nvPr/>
        </p:nvSpPr>
        <p:spPr>
          <a:xfrm flipV="1">
            <a:off x="1821960" y="4169520"/>
            <a:ext cx="360" cy="896040"/>
          </a:xfrm>
          <a:prstGeom prst="line">
            <a:avLst/>
          </a:prstGeom>
          <a:ln w="3048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2 · RISE OVER RUN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Negative Gradients — and Whole Numbers as Fractions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9"/>
          <p:cNvSpPr/>
          <p:nvPr/>
        </p:nvSpPr>
        <p:spPr>
          <a:xfrm>
            <a:off x="567000" y="12434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40"/>
          <p:cNvSpPr/>
          <p:nvPr/>
        </p:nvSpPr>
        <p:spPr>
          <a:xfrm>
            <a:off x="887040" y="12434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A whole-number gradient is still a fraction: write it over 1.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41"/>
          <p:cNvSpPr/>
          <p:nvPr/>
        </p:nvSpPr>
        <p:spPr>
          <a:xfrm>
            <a:off x="567000" y="1874520"/>
            <a:ext cx="5486040" cy="4160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42"/>
          <p:cNvSpPr/>
          <p:nvPr/>
        </p:nvSpPr>
        <p:spPr>
          <a:xfrm>
            <a:off x="146304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43"/>
          <p:cNvSpPr/>
          <p:nvPr/>
        </p:nvSpPr>
        <p:spPr>
          <a:xfrm>
            <a:off x="187452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44"/>
          <p:cNvSpPr/>
          <p:nvPr/>
        </p:nvSpPr>
        <p:spPr>
          <a:xfrm>
            <a:off x="228600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45"/>
          <p:cNvSpPr/>
          <p:nvPr/>
        </p:nvSpPr>
        <p:spPr>
          <a:xfrm>
            <a:off x="269748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46"/>
          <p:cNvSpPr/>
          <p:nvPr/>
        </p:nvSpPr>
        <p:spPr>
          <a:xfrm>
            <a:off x="310896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47"/>
          <p:cNvSpPr/>
          <p:nvPr/>
        </p:nvSpPr>
        <p:spPr>
          <a:xfrm>
            <a:off x="352044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48"/>
          <p:cNvSpPr/>
          <p:nvPr/>
        </p:nvSpPr>
        <p:spPr>
          <a:xfrm>
            <a:off x="3931920" y="224028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49"/>
          <p:cNvSpPr/>
          <p:nvPr/>
        </p:nvSpPr>
        <p:spPr>
          <a:xfrm>
            <a:off x="1463040" y="553212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50"/>
          <p:cNvSpPr/>
          <p:nvPr/>
        </p:nvSpPr>
        <p:spPr>
          <a:xfrm>
            <a:off x="1463040" y="512064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51"/>
          <p:cNvSpPr/>
          <p:nvPr/>
        </p:nvSpPr>
        <p:spPr>
          <a:xfrm>
            <a:off x="1463040" y="470916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52"/>
          <p:cNvSpPr/>
          <p:nvPr/>
        </p:nvSpPr>
        <p:spPr>
          <a:xfrm>
            <a:off x="1463040" y="429768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53"/>
          <p:cNvSpPr/>
          <p:nvPr/>
        </p:nvSpPr>
        <p:spPr>
          <a:xfrm>
            <a:off x="1463040" y="388620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54"/>
          <p:cNvSpPr/>
          <p:nvPr/>
        </p:nvSpPr>
        <p:spPr>
          <a:xfrm>
            <a:off x="1463040" y="347472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55"/>
          <p:cNvSpPr/>
          <p:nvPr/>
        </p:nvSpPr>
        <p:spPr>
          <a:xfrm>
            <a:off x="1463040" y="306324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56"/>
          <p:cNvSpPr/>
          <p:nvPr/>
        </p:nvSpPr>
        <p:spPr>
          <a:xfrm>
            <a:off x="1463040" y="265176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57"/>
          <p:cNvSpPr/>
          <p:nvPr/>
        </p:nvSpPr>
        <p:spPr>
          <a:xfrm>
            <a:off x="1463040" y="2240280"/>
            <a:ext cx="246888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58"/>
          <p:cNvSpPr/>
          <p:nvPr/>
        </p:nvSpPr>
        <p:spPr>
          <a:xfrm>
            <a:off x="1463040" y="4709160"/>
            <a:ext cx="246888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59"/>
          <p:cNvSpPr/>
          <p:nvPr/>
        </p:nvSpPr>
        <p:spPr>
          <a:xfrm>
            <a:off x="2286000" y="2240280"/>
            <a:ext cx="360" cy="329184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 60"/>
          <p:cNvSpPr/>
          <p:nvPr/>
        </p:nvSpPr>
        <p:spPr>
          <a:xfrm>
            <a:off x="126180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 61"/>
          <p:cNvSpPr/>
          <p:nvPr/>
        </p:nvSpPr>
        <p:spPr>
          <a:xfrm>
            <a:off x="167328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 62"/>
          <p:cNvSpPr/>
          <p:nvPr/>
        </p:nvSpPr>
        <p:spPr>
          <a:xfrm>
            <a:off x="249624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Text 63"/>
          <p:cNvSpPr/>
          <p:nvPr/>
        </p:nvSpPr>
        <p:spPr>
          <a:xfrm>
            <a:off x="290772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Text 64"/>
          <p:cNvSpPr/>
          <p:nvPr/>
        </p:nvSpPr>
        <p:spPr>
          <a:xfrm>
            <a:off x="331920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65"/>
          <p:cNvSpPr/>
          <p:nvPr/>
        </p:nvSpPr>
        <p:spPr>
          <a:xfrm>
            <a:off x="3730680" y="475488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66"/>
          <p:cNvSpPr/>
          <p:nvPr/>
        </p:nvSpPr>
        <p:spPr>
          <a:xfrm>
            <a:off x="1810440" y="54133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67"/>
          <p:cNvSpPr/>
          <p:nvPr/>
        </p:nvSpPr>
        <p:spPr>
          <a:xfrm>
            <a:off x="1810440" y="50018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68"/>
          <p:cNvSpPr/>
          <p:nvPr/>
        </p:nvSpPr>
        <p:spPr>
          <a:xfrm>
            <a:off x="1810440" y="41788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Text 69"/>
          <p:cNvSpPr/>
          <p:nvPr/>
        </p:nvSpPr>
        <p:spPr>
          <a:xfrm>
            <a:off x="1810440" y="376740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 70"/>
          <p:cNvSpPr/>
          <p:nvPr/>
        </p:nvSpPr>
        <p:spPr>
          <a:xfrm>
            <a:off x="1810440" y="33559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71"/>
          <p:cNvSpPr/>
          <p:nvPr/>
        </p:nvSpPr>
        <p:spPr>
          <a:xfrm>
            <a:off x="1810440" y="29444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Text 72"/>
          <p:cNvSpPr/>
          <p:nvPr/>
        </p:nvSpPr>
        <p:spPr>
          <a:xfrm>
            <a:off x="1810440" y="25329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 73"/>
          <p:cNvSpPr/>
          <p:nvPr/>
        </p:nvSpPr>
        <p:spPr>
          <a:xfrm>
            <a:off x="1810440" y="21214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Text 74"/>
          <p:cNvSpPr/>
          <p:nvPr/>
        </p:nvSpPr>
        <p:spPr>
          <a:xfrm>
            <a:off x="3968640" y="459036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Text 75"/>
          <p:cNvSpPr/>
          <p:nvPr/>
        </p:nvSpPr>
        <p:spPr>
          <a:xfrm>
            <a:off x="2359080" y="200268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76"/>
          <p:cNvSpPr/>
          <p:nvPr/>
        </p:nvSpPr>
        <p:spPr>
          <a:xfrm>
            <a:off x="1792080" y="2075400"/>
            <a:ext cx="1810440" cy="36212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77"/>
          <p:cNvSpPr/>
          <p:nvPr/>
        </p:nvSpPr>
        <p:spPr>
          <a:xfrm>
            <a:off x="2203560" y="298080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78"/>
          <p:cNvSpPr/>
          <p:nvPr/>
        </p:nvSpPr>
        <p:spPr>
          <a:xfrm>
            <a:off x="2615040" y="380376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79"/>
          <p:cNvSpPr/>
          <p:nvPr/>
        </p:nvSpPr>
        <p:spPr>
          <a:xfrm>
            <a:off x="2286000" y="3063240"/>
            <a:ext cx="360" cy="822960"/>
          </a:xfrm>
          <a:prstGeom prst="line">
            <a:avLst/>
          </a:prstGeom>
          <a:ln w="3048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80"/>
          <p:cNvSpPr/>
          <p:nvPr/>
        </p:nvSpPr>
        <p:spPr>
          <a:xfrm>
            <a:off x="2286000" y="3886200"/>
            <a:ext cx="411480" cy="360"/>
          </a:xfrm>
          <a:prstGeom prst="line">
            <a:avLst/>
          </a:prstGeom>
          <a:ln w="3048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 81"/>
          <p:cNvSpPr/>
          <p:nvPr/>
        </p:nvSpPr>
        <p:spPr>
          <a:xfrm>
            <a:off x="1234440" y="332856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rise −2 ↓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 82"/>
          <p:cNvSpPr/>
          <p:nvPr/>
        </p:nvSpPr>
        <p:spPr>
          <a:xfrm>
            <a:off x="2034720" y="394092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run 1 →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 83"/>
          <p:cNvSpPr/>
          <p:nvPr/>
        </p:nvSpPr>
        <p:spPr>
          <a:xfrm>
            <a:off x="2414160" y="27522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4f2f"/>
                </a:solidFill>
                <a:latin typeface="Cambria"/>
                <a:ea typeface="Cambria"/>
              </a:rPr>
              <a:t>start (0, 4)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84"/>
          <p:cNvSpPr/>
          <p:nvPr/>
        </p:nvSpPr>
        <p:spPr>
          <a:xfrm>
            <a:off x="6309360" y="1874520"/>
            <a:ext cx="5321520" cy="1919880"/>
          </a:xfrm>
          <a:prstGeom prst="roundRect">
            <a:avLst>
              <a:gd name="adj" fmla="val 285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 85"/>
          <p:cNvSpPr/>
          <p:nvPr/>
        </p:nvSpPr>
        <p:spPr>
          <a:xfrm>
            <a:off x="6675120" y="211212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Example:  y = −2x + 4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 86"/>
          <p:cNvSpPr/>
          <p:nvPr/>
        </p:nvSpPr>
        <p:spPr>
          <a:xfrm>
            <a:off x="6629400" y="260604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m = −2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Text 87"/>
          <p:cNvSpPr/>
          <p:nvPr/>
        </p:nvSpPr>
        <p:spPr>
          <a:xfrm>
            <a:off x="8344080" y="265176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88"/>
          <p:cNvSpPr/>
          <p:nvPr/>
        </p:nvSpPr>
        <p:spPr>
          <a:xfrm>
            <a:off x="8343720" y="2999160"/>
            <a:ext cx="777240" cy="360"/>
          </a:xfrm>
          <a:prstGeom prst="line">
            <a:avLst/>
          </a:prstGeom>
          <a:ln w="228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Text 89"/>
          <p:cNvSpPr/>
          <p:nvPr/>
        </p:nvSpPr>
        <p:spPr>
          <a:xfrm>
            <a:off x="8344080" y="303588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 90"/>
          <p:cNvSpPr/>
          <p:nvPr/>
        </p:nvSpPr>
        <p:spPr>
          <a:xfrm>
            <a:off x="9372600" y="260604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down 2, right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91"/>
          <p:cNvSpPr/>
          <p:nvPr/>
        </p:nvSpPr>
        <p:spPr>
          <a:xfrm>
            <a:off x="6309360" y="3931920"/>
            <a:ext cx="5321520" cy="2102760"/>
          </a:xfrm>
          <a:prstGeom prst="roundRect">
            <a:avLst>
              <a:gd name="adj" fmla="val 2609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 92"/>
          <p:cNvSpPr/>
          <p:nvPr/>
        </p:nvSpPr>
        <p:spPr>
          <a:xfrm>
            <a:off x="6675120" y="416952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sign rules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93"/>
          <p:cNvSpPr/>
          <p:nvPr/>
        </p:nvSpPr>
        <p:spPr>
          <a:xfrm>
            <a:off x="6629400" y="46177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rise +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94"/>
          <p:cNvSpPr/>
          <p:nvPr/>
        </p:nvSpPr>
        <p:spPr>
          <a:xfrm>
            <a:off x="7589520" y="46177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go UP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 95"/>
          <p:cNvSpPr/>
          <p:nvPr/>
        </p:nvSpPr>
        <p:spPr>
          <a:xfrm>
            <a:off x="9052560" y="46177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rise 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Text 96"/>
          <p:cNvSpPr/>
          <p:nvPr/>
        </p:nvSpPr>
        <p:spPr>
          <a:xfrm>
            <a:off x="10012680" y="46177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go DOWN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 97"/>
          <p:cNvSpPr/>
          <p:nvPr/>
        </p:nvSpPr>
        <p:spPr>
          <a:xfrm>
            <a:off x="6629400" y="51847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run +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Text 98"/>
          <p:cNvSpPr/>
          <p:nvPr/>
        </p:nvSpPr>
        <p:spPr>
          <a:xfrm>
            <a:off x="7589520" y="51847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go RIGHT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Text 99"/>
          <p:cNvSpPr/>
          <p:nvPr/>
        </p:nvSpPr>
        <p:spPr>
          <a:xfrm>
            <a:off x="9052560" y="51847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run 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100"/>
          <p:cNvSpPr/>
          <p:nvPr/>
        </p:nvSpPr>
        <p:spPr>
          <a:xfrm>
            <a:off x="10012680" y="51847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go LEFT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101"/>
          <p:cNvSpPr/>
          <p:nvPr/>
        </p:nvSpPr>
        <p:spPr>
          <a:xfrm>
            <a:off x="567000" y="6217920"/>
            <a:ext cx="11063880" cy="529920"/>
          </a:xfrm>
          <a:prstGeom prst="roundRect">
            <a:avLst>
              <a:gd name="adj" fmla="val 10345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102"/>
          <p:cNvSpPr/>
          <p:nvPr/>
        </p:nvSpPr>
        <p:spPr>
          <a:xfrm>
            <a:off x="841320" y="621792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−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2/1 and 2/−1 give the SAME line — down-right, or up-left.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METHOD 3 · THE INTERCEPTS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Where the Line Crosses Each Axis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Put x = 0 to find where it crosses the y-axis, and y = 0 for the x-axis.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Two points is all you need.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41"/>
          <p:cNvSpPr/>
          <p:nvPr/>
        </p:nvSpPr>
        <p:spPr>
          <a:xfrm>
            <a:off x="567000" y="2011680"/>
            <a:ext cx="5577480" cy="397728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42"/>
          <p:cNvSpPr/>
          <p:nvPr/>
        </p:nvSpPr>
        <p:spPr>
          <a:xfrm>
            <a:off x="123444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43"/>
          <p:cNvSpPr/>
          <p:nvPr/>
        </p:nvSpPr>
        <p:spPr>
          <a:xfrm>
            <a:off x="189252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44"/>
          <p:cNvSpPr/>
          <p:nvPr/>
        </p:nvSpPr>
        <p:spPr>
          <a:xfrm>
            <a:off x="255096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45"/>
          <p:cNvSpPr/>
          <p:nvPr/>
        </p:nvSpPr>
        <p:spPr>
          <a:xfrm>
            <a:off x="320940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46"/>
          <p:cNvSpPr/>
          <p:nvPr/>
        </p:nvSpPr>
        <p:spPr>
          <a:xfrm>
            <a:off x="386784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47"/>
          <p:cNvSpPr/>
          <p:nvPr/>
        </p:nvSpPr>
        <p:spPr>
          <a:xfrm>
            <a:off x="452628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48"/>
          <p:cNvSpPr/>
          <p:nvPr/>
        </p:nvSpPr>
        <p:spPr>
          <a:xfrm>
            <a:off x="5184360" y="2331720"/>
            <a:ext cx="360" cy="329184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49"/>
          <p:cNvSpPr/>
          <p:nvPr/>
        </p:nvSpPr>
        <p:spPr>
          <a:xfrm>
            <a:off x="1234440" y="562356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50"/>
          <p:cNvSpPr/>
          <p:nvPr/>
        </p:nvSpPr>
        <p:spPr>
          <a:xfrm>
            <a:off x="1234440" y="496512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51"/>
          <p:cNvSpPr/>
          <p:nvPr/>
        </p:nvSpPr>
        <p:spPr>
          <a:xfrm>
            <a:off x="1234440" y="430668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52"/>
          <p:cNvSpPr/>
          <p:nvPr/>
        </p:nvSpPr>
        <p:spPr>
          <a:xfrm>
            <a:off x="1234440" y="364824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53"/>
          <p:cNvSpPr/>
          <p:nvPr/>
        </p:nvSpPr>
        <p:spPr>
          <a:xfrm>
            <a:off x="1234440" y="298980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54"/>
          <p:cNvSpPr/>
          <p:nvPr/>
        </p:nvSpPr>
        <p:spPr>
          <a:xfrm>
            <a:off x="1234440" y="2331720"/>
            <a:ext cx="3949920" cy="360"/>
          </a:xfrm>
          <a:prstGeom prst="line">
            <a:avLst/>
          </a:prstGeom>
          <a:ln w="1016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55"/>
          <p:cNvSpPr/>
          <p:nvPr/>
        </p:nvSpPr>
        <p:spPr>
          <a:xfrm>
            <a:off x="1234440" y="4965120"/>
            <a:ext cx="3949920" cy="36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56"/>
          <p:cNvSpPr/>
          <p:nvPr/>
        </p:nvSpPr>
        <p:spPr>
          <a:xfrm>
            <a:off x="1892520" y="2331720"/>
            <a:ext cx="360" cy="3291840"/>
          </a:xfrm>
          <a:prstGeom prst="line">
            <a:avLst/>
          </a:prstGeom>
          <a:ln w="2159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Text 57"/>
          <p:cNvSpPr/>
          <p:nvPr/>
        </p:nvSpPr>
        <p:spPr>
          <a:xfrm>
            <a:off x="103320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Text 58"/>
          <p:cNvSpPr/>
          <p:nvPr/>
        </p:nvSpPr>
        <p:spPr>
          <a:xfrm>
            <a:off x="235008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 59"/>
          <p:cNvSpPr/>
          <p:nvPr/>
        </p:nvSpPr>
        <p:spPr>
          <a:xfrm>
            <a:off x="300852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 60"/>
          <p:cNvSpPr/>
          <p:nvPr/>
        </p:nvSpPr>
        <p:spPr>
          <a:xfrm>
            <a:off x="366660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 61"/>
          <p:cNvSpPr/>
          <p:nvPr/>
        </p:nvSpPr>
        <p:spPr>
          <a:xfrm>
            <a:off x="432504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 62"/>
          <p:cNvSpPr/>
          <p:nvPr/>
        </p:nvSpPr>
        <p:spPr>
          <a:xfrm>
            <a:off x="4983480" y="5010840"/>
            <a:ext cx="40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 63"/>
          <p:cNvSpPr/>
          <p:nvPr/>
        </p:nvSpPr>
        <p:spPr>
          <a:xfrm>
            <a:off x="1417320" y="55047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Text 64"/>
          <p:cNvSpPr/>
          <p:nvPr/>
        </p:nvSpPr>
        <p:spPr>
          <a:xfrm>
            <a:off x="1417320" y="418788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 65"/>
          <p:cNvSpPr/>
          <p:nvPr/>
        </p:nvSpPr>
        <p:spPr>
          <a:xfrm>
            <a:off x="1417320" y="352944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 66"/>
          <p:cNvSpPr/>
          <p:nvPr/>
        </p:nvSpPr>
        <p:spPr>
          <a:xfrm>
            <a:off x="1417320" y="28713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Text 67"/>
          <p:cNvSpPr/>
          <p:nvPr/>
        </p:nvSpPr>
        <p:spPr>
          <a:xfrm>
            <a:off x="1417320" y="22129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Text 68"/>
          <p:cNvSpPr/>
          <p:nvPr/>
        </p:nvSpPr>
        <p:spPr>
          <a:xfrm>
            <a:off x="5221080" y="484632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Text 69"/>
          <p:cNvSpPr/>
          <p:nvPr/>
        </p:nvSpPr>
        <p:spPr>
          <a:xfrm>
            <a:off x="1965960" y="2094120"/>
            <a:ext cx="273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70"/>
          <p:cNvSpPr/>
          <p:nvPr/>
        </p:nvSpPr>
        <p:spPr>
          <a:xfrm>
            <a:off x="1431720" y="2644200"/>
            <a:ext cx="3752640" cy="2814480"/>
          </a:xfrm>
          <a:prstGeom prst="line">
            <a:avLst/>
          </a:prstGeom>
          <a:ln w="355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71"/>
          <p:cNvSpPr/>
          <p:nvPr/>
        </p:nvSpPr>
        <p:spPr>
          <a:xfrm>
            <a:off x="1810440" y="290772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72"/>
          <p:cNvSpPr/>
          <p:nvPr/>
        </p:nvSpPr>
        <p:spPr>
          <a:xfrm>
            <a:off x="2020680" y="26427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(0, 3)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73"/>
          <p:cNvSpPr/>
          <p:nvPr/>
        </p:nvSpPr>
        <p:spPr>
          <a:xfrm>
            <a:off x="4443840" y="4883040"/>
            <a:ext cx="164160" cy="164160"/>
          </a:xfrm>
          <a:prstGeom prst="ellipse">
            <a:avLst/>
          </a:prstGeom>
          <a:solidFill>
            <a:srgbClr val="c84f2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74"/>
          <p:cNvSpPr/>
          <p:nvPr/>
        </p:nvSpPr>
        <p:spPr>
          <a:xfrm>
            <a:off x="4636080" y="50565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(4, 0)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75"/>
          <p:cNvSpPr/>
          <p:nvPr/>
        </p:nvSpPr>
        <p:spPr>
          <a:xfrm>
            <a:off x="6400800" y="2011680"/>
            <a:ext cx="5230080" cy="3977280"/>
          </a:xfrm>
          <a:prstGeom prst="roundRect">
            <a:avLst>
              <a:gd name="adj" fmla="val 1379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Text 76"/>
          <p:cNvSpPr/>
          <p:nvPr/>
        </p:nvSpPr>
        <p:spPr>
          <a:xfrm>
            <a:off x="6766560" y="2249280"/>
            <a:ext cx="449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Example:  3x + 4y = 12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Text 77"/>
          <p:cNvSpPr/>
          <p:nvPr/>
        </p:nvSpPr>
        <p:spPr>
          <a:xfrm>
            <a:off x="6720840" y="27432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When x = 0: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     </a:t>
            </a: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4y = 12   →   y = 3      gives (0, 3)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When y = 0: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     </a:t>
            </a: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3x = 12   →   x = 4      gives (4, 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Plot the two points and rule a line through them.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A third point is a good check: x = 2 → y = 1.5.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78"/>
          <p:cNvSpPr/>
          <p:nvPr/>
        </p:nvSpPr>
        <p:spPr>
          <a:xfrm>
            <a:off x="567000" y="617220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79"/>
          <p:cNvSpPr/>
          <p:nvPr/>
        </p:nvSpPr>
        <p:spPr>
          <a:xfrm>
            <a:off x="841320" y="617220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0 gives the y-intercept;  y = 0 gives the x-intercept — join them up.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INTERCEPTS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Where the Line Crosses the Axes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Drawing a 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two intercepts are enough to draw any sloping 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Or make a small table of values (x = 0, 1, 2).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a ruler and extend across the grid.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Set x = 0 for the y-intercept; set y = 0 for the x-intercept.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y-axis: put x = 0.   x-axis: put y = 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2x − 6.   x = 0  →  y = −6,  so (0, −6)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6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0  →  0 = 2x − 6  →  x = 3,  so (3, 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Plot the two points and join them — that draws the line.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Crosses the axes at (0, −6) and (3, 0)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Practice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Complete the table, plot the points, then rule and label the line.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Complete the table of values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Plot every point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Join with a ruler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the line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39"/>
          <p:cNvSpPr/>
          <p:nvPr/>
        </p:nvSpPr>
        <p:spPr>
          <a:xfrm>
            <a:off x="1380240" y="1435680"/>
            <a:ext cx="943092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5" name="Image 0" descr="/tmp/work/dlq/q-01.png"/>
          <p:cNvPicPr/>
          <p:nvPr/>
        </p:nvPicPr>
        <p:blipFill>
          <a:blip r:embed="rId1"/>
          <a:stretch/>
        </p:blipFill>
        <p:spPr>
          <a:xfrm>
            <a:off x="1462680" y="1517760"/>
            <a:ext cx="92660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39"/>
          <p:cNvSpPr/>
          <p:nvPr/>
        </p:nvSpPr>
        <p:spPr>
          <a:xfrm>
            <a:off x="1380240" y="1435680"/>
            <a:ext cx="943092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6" name="Image 0" descr="/tmp/work/dlq/q-02.png"/>
          <p:cNvPicPr/>
          <p:nvPr/>
        </p:nvPicPr>
        <p:blipFill>
          <a:blip r:embed="rId1"/>
          <a:stretch/>
        </p:blipFill>
        <p:spPr>
          <a:xfrm>
            <a:off x="1462680" y="1517760"/>
            <a:ext cx="92660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39"/>
          <p:cNvSpPr/>
          <p:nvPr/>
        </p:nvSpPr>
        <p:spPr>
          <a:xfrm>
            <a:off x="1311120" y="1435680"/>
            <a:ext cx="956916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7" name="Image 0" descr="/tmp/work/dlq/q-03.png"/>
          <p:cNvPicPr/>
          <p:nvPr/>
        </p:nvPicPr>
        <p:blipFill>
          <a:blip r:embed="rId1"/>
          <a:srcRect l="0" t="16446" r="0" b="0"/>
          <a:stretch/>
        </p:blipFill>
        <p:spPr>
          <a:xfrm>
            <a:off x="1393200" y="1931400"/>
            <a:ext cx="9404640" cy="420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39"/>
          <p:cNvSpPr/>
          <p:nvPr/>
        </p:nvSpPr>
        <p:spPr>
          <a:xfrm>
            <a:off x="1405800" y="1435680"/>
            <a:ext cx="937980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8" name="Image 0" descr="/tmp/work/dlq/q-04.png"/>
          <p:cNvPicPr/>
          <p:nvPr/>
        </p:nvPicPr>
        <p:blipFill>
          <a:blip r:embed="rId1"/>
          <a:srcRect l="0" t="16115" r="0" b="0"/>
          <a:stretch/>
        </p:blipFill>
        <p:spPr>
          <a:xfrm>
            <a:off x="1487880" y="1923120"/>
            <a:ext cx="9215280" cy="421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39"/>
          <p:cNvSpPr/>
          <p:nvPr/>
        </p:nvSpPr>
        <p:spPr>
          <a:xfrm>
            <a:off x="1405800" y="1435680"/>
            <a:ext cx="937980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9" name="Image 0" descr="/tmp/work/dlq/q-05.png"/>
          <p:cNvPicPr/>
          <p:nvPr/>
        </p:nvPicPr>
        <p:blipFill>
          <a:blip r:embed="rId1"/>
          <a:srcRect l="0" t="16115" r="0" b="0"/>
          <a:stretch/>
        </p:blipFill>
        <p:spPr>
          <a:xfrm>
            <a:off x="1487880" y="1923120"/>
            <a:ext cx="9215280" cy="421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39"/>
          <p:cNvSpPr/>
          <p:nvPr/>
        </p:nvSpPr>
        <p:spPr>
          <a:xfrm>
            <a:off x="1405800" y="1435680"/>
            <a:ext cx="937980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0" name="Image 0" descr="/tmp/work/dlq/q-06.png"/>
          <p:cNvPicPr/>
          <p:nvPr/>
        </p:nvPicPr>
        <p:blipFill>
          <a:blip r:embed="rId1"/>
          <a:srcRect l="0" t="16115" r="0" b="0"/>
          <a:stretch/>
        </p:blipFill>
        <p:spPr>
          <a:xfrm>
            <a:off x="1487880" y="1923120"/>
            <a:ext cx="9215280" cy="421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PRACTICE · DRAWING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39"/>
          <p:cNvSpPr/>
          <p:nvPr/>
        </p:nvSpPr>
        <p:spPr>
          <a:xfrm>
            <a:off x="1405800" y="1435680"/>
            <a:ext cx="9379800" cy="519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1" name="Image 0" descr="/tmp/work/dlq/q-07.png"/>
          <p:cNvPicPr/>
          <p:nvPr/>
        </p:nvPicPr>
        <p:blipFill>
          <a:blip r:embed="rId1"/>
          <a:srcRect l="0" t="16115" r="0" b="0"/>
          <a:stretch/>
        </p:blipFill>
        <p:spPr>
          <a:xfrm>
            <a:off x="1487880" y="1923120"/>
            <a:ext cx="9215280" cy="421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linear equation (x and y to the power 1) always graphs as a straight line.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3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4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x = a number is a vertical line;  y = a number is a horizontal line.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Method 1 — table of values: substitute x, work out y, plot and join.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7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Method 2 — rise over run: plot c on the y-axis, then step out the gradient.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9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0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Method 3 — intercepts: x = 0 gives one point, y = 0 gives the other.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1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2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you only need TWO points to draw a straight line — a third one checks it.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1990</Words>
  <Paragraphs>408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2026-07-24T08:44:59Z</dcterms:created>
  <dc:creator>Zahra Sheikh Ali</dc:creator>
  <dc:description/>
  <dc:language>en-US</dc:language>
  <cp:lastModifiedBy>zahraa sheik ali</cp:lastModifiedBy>
  <dcterms:modified xsi:type="dcterms:W3CDTF">2026-07-24T08:57:15Z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Custom</vt:lpwstr>
  </property>
  <property fmtid="{D5CDD505-2E9C-101B-9397-08002B2CF9AE}" pid="4" name="Slides">
    <vt:r8>23</vt:r8>
  </property>
</Properties>
</file>