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EE96178-0AAC-4844-B5CF-95DA385ED2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AADF01-E5D3-493A-926A-2BA8578BE50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7135CFA-FD3D-413F-92D1-DA4FEA9C902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6919AC-3A1A-41BC-91F7-5CCE5509C47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DE99AFC-331B-41DE-953B-C864483842C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36676A-A84F-437F-B658-70CC6048F4E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DFE6AC8-7F90-46E5-B1DF-AE2C5C48D40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F65F2D1-286F-497C-A98A-17B369D032C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2A87FF-0A09-4DEF-B031-9DF0C36A879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110768-A8AD-4D06-B088-D9163F65EC9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496D61-60B3-499A-AD6C-8B7485F4B56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93AD243-42D5-4FF5-9DE4-D1D275D5A96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02B192-B611-4277-85DE-D3ED8AB5446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A4B661-A691-44A4-818D-223FA464D42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1E739D6-4610-4E18-845F-413CD9BD44C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F68E5CB-DBD6-4CF6-B234-FAE646D0D58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0379130-806C-49D7-89D4-D4D6B2CC3B5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8720423-3372-47DB-B15B-028F20C56A6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02ED39C-A249-43DE-B642-106049AC85F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1E9154-6F8D-4A2B-93DA-6EF54B44E6A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8FC6F7C-9293-449C-9F76-2540D88AF6A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43D5700-64D5-4AB3-BD4B-B1DB964A836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5C6D4F-DB37-4883-AB4C-A38375E58FF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1973944-6249-44E9-9B4F-B553EE6EAFD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CBA81B-6966-4E80-BBAD-2BFBD2D0AEE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15CFB1D-1D13-4C11-8E26-CD41D4EEF1B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4EE1DC-A959-41B5-A4ED-E32D8F2E214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504777-EB6F-43CB-80FF-6DD49A7C132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0CABC3F-6298-49ED-8197-4714F9C806A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68680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686800" y="320040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06372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8686800" y="290304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944100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8686800" y="260604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981828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8686800" y="230868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1019556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8686800" y="201168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1057248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8686800" y="171432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1094976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8686800" y="141732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1132704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8686800" y="111996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1704320" y="3200400"/>
            <a:ext cx="3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8686800" y="822960"/>
            <a:ext cx="301752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8686800" y="2011680"/>
            <a:ext cx="3017520" cy="360"/>
          </a:xfrm>
          <a:prstGeom prst="line">
            <a:avLst/>
          </a:prstGeom>
          <a:ln w="15875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10195560" y="822960"/>
            <a:ext cx="360" cy="2377440"/>
          </a:xfrm>
          <a:prstGeom prst="line">
            <a:avLst/>
          </a:prstGeom>
          <a:ln w="15875">
            <a:solidFill>
              <a:srgbClr val="1c2a22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11658600" y="204840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10259640" y="77724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9176040" y="732960"/>
            <a:ext cx="27000" cy="112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9203040" y="845640"/>
            <a:ext cx="26640" cy="109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9229680" y="955440"/>
            <a:ext cx="27000" cy="106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>
            <a:off x="9256680" y="1062000"/>
            <a:ext cx="26640" cy="103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9283320" y="1165680"/>
            <a:ext cx="27000" cy="100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62"/>
          <p:cNvSpPr/>
          <p:nvPr/>
        </p:nvSpPr>
        <p:spPr>
          <a:xfrm>
            <a:off x="9310320" y="1266480"/>
            <a:ext cx="26640" cy="97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63"/>
          <p:cNvSpPr/>
          <p:nvPr/>
        </p:nvSpPr>
        <p:spPr>
          <a:xfrm>
            <a:off x="9336960" y="1364040"/>
            <a:ext cx="27000" cy="94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64"/>
          <p:cNvSpPr/>
          <p:nvPr/>
        </p:nvSpPr>
        <p:spPr>
          <a:xfrm>
            <a:off x="9363960" y="1458720"/>
            <a:ext cx="26640" cy="91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65"/>
          <p:cNvSpPr/>
          <p:nvPr/>
        </p:nvSpPr>
        <p:spPr>
          <a:xfrm>
            <a:off x="9390600" y="1550520"/>
            <a:ext cx="27000" cy="88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66"/>
          <p:cNvSpPr/>
          <p:nvPr/>
        </p:nvSpPr>
        <p:spPr>
          <a:xfrm>
            <a:off x="9417600" y="1639080"/>
            <a:ext cx="26640" cy="85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0680" bIns="40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67"/>
          <p:cNvSpPr/>
          <p:nvPr/>
        </p:nvSpPr>
        <p:spPr>
          <a:xfrm>
            <a:off x="9444240" y="1724760"/>
            <a:ext cx="27000" cy="82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68"/>
          <p:cNvSpPr/>
          <p:nvPr/>
        </p:nvSpPr>
        <p:spPr>
          <a:xfrm>
            <a:off x="9471240" y="1807560"/>
            <a:ext cx="26640" cy="79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69"/>
          <p:cNvSpPr/>
          <p:nvPr/>
        </p:nvSpPr>
        <p:spPr>
          <a:xfrm>
            <a:off x="9497880" y="1887120"/>
            <a:ext cx="27000" cy="76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680" bIns="31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9524880" y="1963800"/>
            <a:ext cx="26640" cy="73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800" bIns="288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71"/>
          <p:cNvSpPr/>
          <p:nvPr/>
        </p:nvSpPr>
        <p:spPr>
          <a:xfrm>
            <a:off x="9551520" y="2037600"/>
            <a:ext cx="27000" cy="70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5560" bIns="25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72"/>
          <p:cNvSpPr/>
          <p:nvPr/>
        </p:nvSpPr>
        <p:spPr>
          <a:xfrm>
            <a:off x="9578520" y="2108160"/>
            <a:ext cx="26640" cy="67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9605160" y="2175840"/>
            <a:ext cx="27000" cy="6444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74"/>
          <p:cNvSpPr/>
          <p:nvPr/>
        </p:nvSpPr>
        <p:spPr>
          <a:xfrm>
            <a:off x="9632160" y="2240280"/>
            <a:ext cx="26640" cy="61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75"/>
          <p:cNvSpPr/>
          <p:nvPr/>
        </p:nvSpPr>
        <p:spPr>
          <a:xfrm>
            <a:off x="9658800" y="2301840"/>
            <a:ext cx="27000" cy="58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" bIns="13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76"/>
          <p:cNvSpPr/>
          <p:nvPr/>
        </p:nvSpPr>
        <p:spPr>
          <a:xfrm>
            <a:off x="9685800" y="2360520"/>
            <a:ext cx="26640" cy="55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" bIns="108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77"/>
          <p:cNvSpPr/>
          <p:nvPr/>
        </p:nvSpPr>
        <p:spPr>
          <a:xfrm>
            <a:off x="9712440" y="2416320"/>
            <a:ext cx="27000" cy="52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560" bIns="7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78"/>
          <p:cNvSpPr/>
          <p:nvPr/>
        </p:nvSpPr>
        <p:spPr>
          <a:xfrm>
            <a:off x="9739440" y="2468880"/>
            <a:ext cx="26640" cy="4932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79"/>
          <p:cNvSpPr/>
          <p:nvPr/>
        </p:nvSpPr>
        <p:spPr>
          <a:xfrm>
            <a:off x="9766080" y="2518200"/>
            <a:ext cx="27000" cy="46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00" bIns="18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80"/>
          <p:cNvSpPr/>
          <p:nvPr/>
        </p:nvSpPr>
        <p:spPr>
          <a:xfrm>
            <a:off x="9793080" y="2565000"/>
            <a:ext cx="26640" cy="43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" bIns="-1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81"/>
          <p:cNvSpPr/>
          <p:nvPr/>
        </p:nvSpPr>
        <p:spPr>
          <a:xfrm>
            <a:off x="9819720" y="2608560"/>
            <a:ext cx="27000" cy="40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" bIns="-432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82"/>
          <p:cNvSpPr/>
          <p:nvPr/>
        </p:nvSpPr>
        <p:spPr>
          <a:xfrm>
            <a:off x="9846720" y="2649240"/>
            <a:ext cx="26640" cy="3744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560" bIns="-7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83"/>
          <p:cNvSpPr/>
          <p:nvPr/>
        </p:nvSpPr>
        <p:spPr>
          <a:xfrm>
            <a:off x="9873360" y="2686680"/>
            <a:ext cx="27000" cy="34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0440" bIns="-10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84"/>
          <p:cNvSpPr/>
          <p:nvPr/>
        </p:nvSpPr>
        <p:spPr>
          <a:xfrm>
            <a:off x="9900360" y="2721240"/>
            <a:ext cx="26640" cy="31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3320" bIns="-1332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85"/>
          <p:cNvSpPr/>
          <p:nvPr/>
        </p:nvSpPr>
        <p:spPr>
          <a:xfrm>
            <a:off x="9927000" y="2752920"/>
            <a:ext cx="27000" cy="2844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86"/>
          <p:cNvSpPr/>
          <p:nvPr/>
        </p:nvSpPr>
        <p:spPr>
          <a:xfrm>
            <a:off x="9954000" y="2781360"/>
            <a:ext cx="26640" cy="25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87"/>
          <p:cNvSpPr/>
          <p:nvPr/>
        </p:nvSpPr>
        <p:spPr>
          <a:xfrm>
            <a:off x="9980640" y="2806920"/>
            <a:ext cx="27000" cy="2232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2680" bIns="-22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88"/>
          <p:cNvSpPr/>
          <p:nvPr/>
        </p:nvSpPr>
        <p:spPr>
          <a:xfrm>
            <a:off x="10007640" y="2829240"/>
            <a:ext cx="26640" cy="1980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5200" bIns="-252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89"/>
          <p:cNvSpPr/>
          <p:nvPr/>
        </p:nvSpPr>
        <p:spPr>
          <a:xfrm>
            <a:off x="10034280" y="2849040"/>
            <a:ext cx="27000" cy="16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90"/>
          <p:cNvSpPr/>
          <p:nvPr/>
        </p:nvSpPr>
        <p:spPr>
          <a:xfrm>
            <a:off x="10061280" y="2865600"/>
            <a:ext cx="26640" cy="1332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680" bIns="-31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91"/>
          <p:cNvSpPr/>
          <p:nvPr/>
        </p:nvSpPr>
        <p:spPr>
          <a:xfrm>
            <a:off x="10087920" y="2878920"/>
            <a:ext cx="27000" cy="1044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92"/>
          <p:cNvSpPr/>
          <p:nvPr/>
        </p:nvSpPr>
        <p:spPr>
          <a:xfrm>
            <a:off x="10114920" y="2889360"/>
            <a:ext cx="26640" cy="75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440" bIns="-37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93"/>
          <p:cNvSpPr/>
          <p:nvPr/>
        </p:nvSpPr>
        <p:spPr>
          <a:xfrm>
            <a:off x="10141560" y="2896920"/>
            <a:ext cx="27000" cy="468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94"/>
          <p:cNvSpPr/>
          <p:nvPr/>
        </p:nvSpPr>
        <p:spPr>
          <a:xfrm>
            <a:off x="10168560" y="2901600"/>
            <a:ext cx="27000" cy="144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95"/>
          <p:cNvSpPr/>
          <p:nvPr/>
        </p:nvSpPr>
        <p:spPr>
          <a:xfrm>
            <a:off x="10195560" y="290304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96"/>
          <p:cNvSpPr/>
          <p:nvPr/>
        </p:nvSpPr>
        <p:spPr>
          <a:xfrm>
            <a:off x="10222200" y="290160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97"/>
          <p:cNvSpPr/>
          <p:nvPr/>
        </p:nvSpPr>
        <p:spPr>
          <a:xfrm>
            <a:off x="10249200" y="28969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98"/>
          <p:cNvSpPr/>
          <p:nvPr/>
        </p:nvSpPr>
        <p:spPr>
          <a:xfrm>
            <a:off x="10275840" y="288936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99"/>
          <p:cNvSpPr/>
          <p:nvPr/>
        </p:nvSpPr>
        <p:spPr>
          <a:xfrm>
            <a:off x="10302840" y="28789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00"/>
          <p:cNvSpPr/>
          <p:nvPr/>
        </p:nvSpPr>
        <p:spPr>
          <a:xfrm>
            <a:off x="10329480" y="286560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01"/>
          <p:cNvSpPr/>
          <p:nvPr/>
        </p:nvSpPr>
        <p:spPr>
          <a:xfrm>
            <a:off x="10356480" y="284904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02"/>
          <p:cNvSpPr/>
          <p:nvPr/>
        </p:nvSpPr>
        <p:spPr>
          <a:xfrm>
            <a:off x="10383120" y="282924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03"/>
          <p:cNvSpPr/>
          <p:nvPr/>
        </p:nvSpPr>
        <p:spPr>
          <a:xfrm>
            <a:off x="10410120" y="28069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04"/>
          <p:cNvSpPr/>
          <p:nvPr/>
        </p:nvSpPr>
        <p:spPr>
          <a:xfrm>
            <a:off x="10436760" y="278136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05"/>
          <p:cNvSpPr/>
          <p:nvPr/>
        </p:nvSpPr>
        <p:spPr>
          <a:xfrm>
            <a:off x="10463760" y="27529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06"/>
          <p:cNvSpPr/>
          <p:nvPr/>
        </p:nvSpPr>
        <p:spPr>
          <a:xfrm>
            <a:off x="10490400" y="272124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07"/>
          <p:cNvSpPr/>
          <p:nvPr/>
        </p:nvSpPr>
        <p:spPr>
          <a:xfrm>
            <a:off x="10517400" y="268668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08"/>
          <p:cNvSpPr/>
          <p:nvPr/>
        </p:nvSpPr>
        <p:spPr>
          <a:xfrm>
            <a:off x="10544040" y="264924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09"/>
          <p:cNvSpPr/>
          <p:nvPr/>
        </p:nvSpPr>
        <p:spPr>
          <a:xfrm>
            <a:off x="10571040" y="260856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10"/>
          <p:cNvSpPr/>
          <p:nvPr/>
        </p:nvSpPr>
        <p:spPr>
          <a:xfrm>
            <a:off x="10597680" y="256500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11"/>
          <p:cNvSpPr/>
          <p:nvPr/>
        </p:nvSpPr>
        <p:spPr>
          <a:xfrm>
            <a:off x="10624680" y="251820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12"/>
          <p:cNvSpPr/>
          <p:nvPr/>
        </p:nvSpPr>
        <p:spPr>
          <a:xfrm>
            <a:off x="10651320" y="246888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13"/>
          <p:cNvSpPr/>
          <p:nvPr/>
        </p:nvSpPr>
        <p:spPr>
          <a:xfrm>
            <a:off x="10678320" y="24163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14"/>
          <p:cNvSpPr/>
          <p:nvPr/>
        </p:nvSpPr>
        <p:spPr>
          <a:xfrm>
            <a:off x="10704960" y="236052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15"/>
          <p:cNvSpPr/>
          <p:nvPr/>
        </p:nvSpPr>
        <p:spPr>
          <a:xfrm>
            <a:off x="10731960" y="230184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16"/>
          <p:cNvSpPr/>
          <p:nvPr/>
        </p:nvSpPr>
        <p:spPr>
          <a:xfrm>
            <a:off x="10758600" y="224028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17"/>
          <p:cNvSpPr/>
          <p:nvPr/>
        </p:nvSpPr>
        <p:spPr>
          <a:xfrm>
            <a:off x="10785600" y="217584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118"/>
          <p:cNvSpPr/>
          <p:nvPr/>
        </p:nvSpPr>
        <p:spPr>
          <a:xfrm>
            <a:off x="10812240" y="210816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19"/>
          <p:cNvSpPr/>
          <p:nvPr/>
        </p:nvSpPr>
        <p:spPr>
          <a:xfrm>
            <a:off x="10839240" y="203760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20"/>
          <p:cNvSpPr/>
          <p:nvPr/>
        </p:nvSpPr>
        <p:spPr>
          <a:xfrm>
            <a:off x="10865880" y="196380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21"/>
          <p:cNvSpPr/>
          <p:nvPr/>
        </p:nvSpPr>
        <p:spPr>
          <a:xfrm>
            <a:off x="10892880" y="18871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22"/>
          <p:cNvSpPr/>
          <p:nvPr/>
        </p:nvSpPr>
        <p:spPr>
          <a:xfrm>
            <a:off x="10919520" y="180756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23"/>
          <p:cNvSpPr/>
          <p:nvPr/>
        </p:nvSpPr>
        <p:spPr>
          <a:xfrm>
            <a:off x="10946520" y="172476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24"/>
          <p:cNvSpPr/>
          <p:nvPr/>
        </p:nvSpPr>
        <p:spPr>
          <a:xfrm>
            <a:off x="10973160" y="163908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25"/>
          <p:cNvSpPr/>
          <p:nvPr/>
        </p:nvSpPr>
        <p:spPr>
          <a:xfrm>
            <a:off x="11000160" y="155052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26"/>
          <p:cNvSpPr/>
          <p:nvPr/>
        </p:nvSpPr>
        <p:spPr>
          <a:xfrm>
            <a:off x="11026800" y="145872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27"/>
          <p:cNvSpPr/>
          <p:nvPr/>
        </p:nvSpPr>
        <p:spPr>
          <a:xfrm>
            <a:off x="11053800" y="136404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28"/>
          <p:cNvSpPr/>
          <p:nvPr/>
        </p:nvSpPr>
        <p:spPr>
          <a:xfrm>
            <a:off x="11080440" y="126648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29"/>
          <p:cNvSpPr/>
          <p:nvPr/>
        </p:nvSpPr>
        <p:spPr>
          <a:xfrm>
            <a:off x="11107440" y="116568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30"/>
          <p:cNvSpPr/>
          <p:nvPr/>
        </p:nvSpPr>
        <p:spPr>
          <a:xfrm>
            <a:off x="11134080" y="106200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31"/>
          <p:cNvSpPr/>
          <p:nvPr/>
        </p:nvSpPr>
        <p:spPr>
          <a:xfrm>
            <a:off x="11161080" y="955440"/>
            <a:ext cx="26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32"/>
          <p:cNvSpPr/>
          <p:nvPr/>
        </p:nvSpPr>
        <p:spPr>
          <a:xfrm>
            <a:off x="11187720" y="845640"/>
            <a:ext cx="2700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33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34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35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36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37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e0ac2b"/>
                </a:solidFill>
                <a:latin typeface="Cambria"/>
                <a:ea typeface="Cambria"/>
              </a:rPr>
              <a:t>Quadratic, Cubic &amp; Reciprocal Graphs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38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Tables of Values · Plotting Curves · Roots &amp; Turning Points · Recognising Shapes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139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40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41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42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Curves, Not Straight Lines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The HIGHEST power decides the shape.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x² gives a parabola, x³ gives an S-shape, and 1/x gives a hyperbola. Build a table of values, plot, and join with a smooth curve.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Quadratic graphs (x²)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Tables of values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Roots &amp; turning points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Cubic graphs (x³)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Reciprocal graphs (1/x)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parabola · root · solution · turning point · line of symmetry · asymptote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Highest Power Gives the Shape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7" name="Image 0" descr="/tmp/work/src-38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258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The graph always takes the shape of the HIGHEST power.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 minus in front flips it upside down.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PLOTTING ·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Table of Values:  y = x² − 3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Image 0" descr="/tmp/work/src-07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301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Substitute each x-value.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Square FIRST: (−3)² = +9, so y = 6. Each pair gives a coordinate to plot.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PLOTTING ·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Plot the Points, Join with a Smooth Curve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Image 0" descr="/tmp/work/src-08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344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Never join with straight lines.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 quadratic gives a smooth, symmetrical parabola.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KEY FEATURES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Roots — the Solutions of the Equation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6" name="Image 0" descr="/tmp/work/src-20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387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Solving “= 0” means finding where the graph meets y = 0.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That line is the x-axis, so read off the x-intercepts: x = 0 and x = 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USING THE GRAPH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Solving Equations from an Accurate Graph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9" name="Image 0" descr="/tmp/work/src-22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430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Given y = x² − 3, to solve x² − 3 = 1 draw the line y = 1.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solutions are the x-values where the curve meets that line: x = ±2.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CUBIC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Table of Values for a Cubic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Image 0" descr="/tmp/work/src-29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473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 cubic always contains x³.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Cube FIRST: (−3)³ = −27, not +27.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CUBIC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Plotting  y = x³ − x² − 4x + 4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5" name="Image 0" descr="/tmp/work/src-30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51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 cubic gives an S-shape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and can cross the x-axis up to THREE times.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CUBIC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Plotting  y = x³ − 7x + 2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8" name="Image 0" descr="/tmp/work/src-32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559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Same method every time: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table of values → plot the points → join with a smooth curve.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RECIPROCAL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Reciprocal Function  y = k / x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1" name="Image 0" descr="/tmp/work/src-36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602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x can NEVER be 0.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curve gets closer and closer to the axes but never touches them.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RECIPROCAL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 Separate Branches — Asymptotes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4" name="Image 0" descr="/tmp/work/src-37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645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Leave a gap at x = 0.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x-axis and y-axis are ASYMPTOTES — do not join the two branches.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TANGENT TO A CURVE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Equation of a Tangent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Example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Tangent at (−1, 3), also through (0, −2).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 = (−2 − 3) ÷ (0 − (−1)) = −5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y = −5x + c;  at (0, −2):  c = −2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So the tangent is  y = −5x − 2.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 gradient of the tangent = the gradient of the curve at that point.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 tangent is a straight line that just touches the curve.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Draw it at the point, then take TWO points on the line.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Gradient m = (change in y) ÷ (change in x)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Use y = mx + c and substitute the point to find 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Tangent:  y = −5x − 2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Grid questions — shown exactly as printed in the exam.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Complete the table of values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Plot the points carefully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Join with a SMOOTH curve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Read off roots or solutions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9"/>
          <p:cNvSpPr/>
          <p:nvPr/>
        </p:nvSpPr>
        <p:spPr>
          <a:xfrm>
            <a:off x="4281480" y="263880"/>
            <a:ext cx="4222080" cy="639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7" name="Image 0" descr="/tmp/work/qq-39.png"/>
          <p:cNvPicPr/>
          <p:nvPr/>
        </p:nvPicPr>
        <p:blipFill>
          <a:blip r:embed="rId1"/>
          <a:stretch/>
        </p:blipFill>
        <p:spPr>
          <a:xfrm>
            <a:off x="4354560" y="371520"/>
            <a:ext cx="4301280" cy="621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 38"/>
          <p:cNvSpPr/>
          <p:nvPr/>
        </p:nvSpPr>
        <p:spPr>
          <a:xfrm>
            <a:off x="1325880" y="685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9"/>
          <p:cNvSpPr/>
          <p:nvPr/>
        </p:nvSpPr>
        <p:spPr>
          <a:xfrm>
            <a:off x="4447440" y="140760"/>
            <a:ext cx="4186440" cy="651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8" name="Image 0" descr="/tmp/work/qq-40.png"/>
          <p:cNvPicPr/>
          <p:nvPr/>
        </p:nvPicPr>
        <p:blipFill>
          <a:blip r:embed="rId1"/>
          <a:stretch/>
        </p:blipFill>
        <p:spPr>
          <a:xfrm>
            <a:off x="4520520" y="225360"/>
            <a:ext cx="3983040" cy="635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39"/>
          <p:cNvSpPr/>
          <p:nvPr/>
        </p:nvSpPr>
        <p:spPr>
          <a:xfrm>
            <a:off x="4087080" y="567000"/>
            <a:ext cx="5082840" cy="608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9" name="Image 0" descr="/tmp/work/qq-41.png"/>
          <p:cNvPicPr/>
          <p:nvPr/>
        </p:nvPicPr>
        <p:blipFill>
          <a:blip r:embed="rId1"/>
          <a:stretch/>
        </p:blipFill>
        <p:spPr>
          <a:xfrm>
            <a:off x="4160160" y="220320"/>
            <a:ext cx="4897800" cy="636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9"/>
          <p:cNvSpPr/>
          <p:nvPr/>
        </p:nvSpPr>
        <p:spPr>
          <a:xfrm>
            <a:off x="1999440" y="1531080"/>
            <a:ext cx="8192520" cy="50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0" name="Image 0" descr="/tmp/work/qq-42.png"/>
          <p:cNvPicPr/>
          <p:nvPr/>
        </p:nvPicPr>
        <p:blipFill>
          <a:blip r:embed="rId1"/>
          <a:stretch/>
        </p:blipFill>
        <p:spPr>
          <a:xfrm>
            <a:off x="2072520" y="1604160"/>
            <a:ext cx="8046360" cy="492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9"/>
          <p:cNvSpPr/>
          <p:nvPr/>
        </p:nvSpPr>
        <p:spPr>
          <a:xfrm>
            <a:off x="4254120" y="1481400"/>
            <a:ext cx="467856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1" name="Image 0" descr="/tmp/work/qq-43.png"/>
          <p:cNvPicPr/>
          <p:nvPr/>
        </p:nvPicPr>
        <p:blipFill>
          <a:blip r:embed="rId1"/>
          <a:stretch/>
        </p:blipFill>
        <p:spPr>
          <a:xfrm>
            <a:off x="4327200" y="195480"/>
            <a:ext cx="4492800" cy="638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39"/>
          <p:cNvSpPr/>
          <p:nvPr/>
        </p:nvSpPr>
        <p:spPr>
          <a:xfrm>
            <a:off x="2430720" y="1481400"/>
            <a:ext cx="732996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2" name="Image 0" descr="/tmp/work/qq-44.png"/>
          <p:cNvPicPr/>
          <p:nvPr/>
        </p:nvPicPr>
        <p:blipFill>
          <a:blip r:embed="rId1"/>
          <a:stretch/>
        </p:blipFill>
        <p:spPr>
          <a:xfrm>
            <a:off x="2503800" y="1554480"/>
            <a:ext cx="718344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39"/>
          <p:cNvSpPr/>
          <p:nvPr/>
        </p:nvSpPr>
        <p:spPr>
          <a:xfrm>
            <a:off x="3785040" y="676800"/>
            <a:ext cx="5754240" cy="597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3" name="Image 0" descr="/tmp/work/qq-45.png"/>
          <p:cNvPicPr/>
          <p:nvPr/>
        </p:nvPicPr>
        <p:blipFill>
          <a:blip r:embed="rId1"/>
          <a:stretch/>
        </p:blipFill>
        <p:spPr>
          <a:xfrm>
            <a:off x="3858120" y="321840"/>
            <a:ext cx="5572080" cy="626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39"/>
          <p:cNvSpPr/>
          <p:nvPr/>
        </p:nvSpPr>
        <p:spPr>
          <a:xfrm>
            <a:off x="2739960" y="1481400"/>
            <a:ext cx="671112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4" name="Image 0" descr="/tmp/work/qq-46.png"/>
          <p:cNvPicPr/>
          <p:nvPr/>
        </p:nvPicPr>
        <p:blipFill>
          <a:blip r:embed="rId1"/>
          <a:stretch/>
        </p:blipFill>
        <p:spPr>
          <a:xfrm>
            <a:off x="2813040" y="1554480"/>
            <a:ext cx="656496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39"/>
          <p:cNvSpPr/>
          <p:nvPr/>
        </p:nvSpPr>
        <p:spPr>
          <a:xfrm>
            <a:off x="3975480" y="1481400"/>
            <a:ext cx="424044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5" name="Image 0" descr="/tmp/work/qq-47.png"/>
          <p:cNvPicPr/>
          <p:nvPr/>
        </p:nvPicPr>
        <p:blipFill>
          <a:blip r:embed="rId1"/>
          <a:stretch/>
        </p:blipFill>
        <p:spPr>
          <a:xfrm>
            <a:off x="4048560" y="1554480"/>
            <a:ext cx="409428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39"/>
          <p:cNvSpPr/>
          <p:nvPr/>
        </p:nvSpPr>
        <p:spPr>
          <a:xfrm>
            <a:off x="4384440" y="1481400"/>
            <a:ext cx="342288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6" name="Image 0" descr="/tmp/work/qq-48.png"/>
          <p:cNvPicPr/>
          <p:nvPr/>
        </p:nvPicPr>
        <p:blipFill>
          <a:blip r:embed="rId1"/>
          <a:stretch/>
        </p:blipFill>
        <p:spPr>
          <a:xfrm>
            <a:off x="4457520" y="1554480"/>
            <a:ext cx="327636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39"/>
          <p:cNvSpPr/>
          <p:nvPr/>
        </p:nvSpPr>
        <p:spPr>
          <a:xfrm>
            <a:off x="4388760" y="676800"/>
            <a:ext cx="4306320" cy="597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7" name="Image 0" descr="/tmp/work/qq-49.png"/>
          <p:cNvPicPr/>
          <p:nvPr/>
        </p:nvPicPr>
        <p:blipFill>
          <a:blip r:embed="rId1"/>
          <a:stretch/>
        </p:blipFill>
        <p:spPr>
          <a:xfrm>
            <a:off x="4461840" y="239400"/>
            <a:ext cx="4122000" cy="634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39"/>
          <p:cNvSpPr/>
          <p:nvPr/>
        </p:nvSpPr>
        <p:spPr>
          <a:xfrm>
            <a:off x="4538520" y="420480"/>
            <a:ext cx="4068720" cy="623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8" name="Image 0" descr="/tmp/work/qq-50.png"/>
          <p:cNvPicPr/>
          <p:nvPr/>
        </p:nvPicPr>
        <p:blipFill>
          <a:blip r:embed="rId1"/>
          <a:stretch/>
        </p:blipFill>
        <p:spPr>
          <a:xfrm>
            <a:off x="4611600" y="13320"/>
            <a:ext cx="3877560" cy="65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39"/>
          <p:cNvSpPr/>
          <p:nvPr/>
        </p:nvSpPr>
        <p:spPr>
          <a:xfrm>
            <a:off x="2669760" y="1481400"/>
            <a:ext cx="6851520" cy="5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9" name="Image 0" descr="/tmp/work/qq-51.png"/>
          <p:cNvPicPr/>
          <p:nvPr/>
        </p:nvPicPr>
        <p:blipFill>
          <a:blip r:embed="rId1"/>
          <a:stretch/>
        </p:blipFill>
        <p:spPr>
          <a:xfrm>
            <a:off x="2743200" y="1554480"/>
            <a:ext cx="670536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6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7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The HIGHEST power gives the shape: x² → parabola, x³ → S-shape, 1/x → two branches.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1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2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Make a table of values, plot the points, join with a SMOOTH curve (never straight lines).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3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Square or cube FIRST: (−3)² = 9 but (−3)³ = −27.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5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Roots = where the curve crosses the x-axis = the solutions of y = 0.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7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8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To solve = k, draw the line y = k and read off the x-values where it meets the curve.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a negative in front of the highest power flips the graph upside down.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890</Words>
  <Paragraphs>173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2026-07-13T09:29:20Z</dcterms:created>
  <dc:creator>Zahra Sheikh Ali</dc:creator>
  <dc:description/>
  <dc:language>en-US</dc:language>
  <cp:lastModifiedBy>zahraa sheik ali</cp:lastModifiedBy>
  <dcterms:modified xsi:type="dcterms:W3CDTF">2026-07-25T08:38:19Z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28</vt:r8>
  </property>
  <property fmtid="{D5CDD505-2E9C-101B-9397-08002B2CF9AE}" pid="3" name="PresentationFormat">
    <vt:lpwstr>Custom</vt:lpwstr>
  </property>
  <property fmtid="{D5CDD505-2E9C-101B-9397-08002B2CF9AE}" pid="4" name="Slides">
    <vt:r8>28</vt:r8>
  </property>
</Properties>
</file>