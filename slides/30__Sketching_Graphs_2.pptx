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8357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680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0" y="320040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06399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686800" y="290322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4118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6800" y="260604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1837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686800" y="230886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556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86800" y="201168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7275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86800" y="171450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94994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86800" y="141732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32713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112014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704320" y="3200400"/>
            <a:ext cx="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86800" y="822960"/>
            <a:ext cx="301752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86800" y="2011680"/>
            <a:ext cx="3017520" cy="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195560" y="822960"/>
            <a:ext cx="0" cy="2377440"/>
          </a:xfrm>
          <a:prstGeom prst="line">
            <a:avLst/>
          </a:prstGeom>
          <a:noFill/>
          <a:ln w="15875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57" name="Text 55"/>
          <p:cNvSpPr/>
          <p:nvPr/>
        </p:nvSpPr>
        <p:spPr>
          <a:xfrm>
            <a:off x="11658600" y="20482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259568" y="7772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176309" y="733210"/>
            <a:ext cx="26822" cy="112708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03131" y="845918"/>
            <a:ext cx="26822" cy="109703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229954" y="955621"/>
            <a:ext cx="26822" cy="106697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56776" y="1062318"/>
            <a:ext cx="26822" cy="103692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83598" y="1166010"/>
            <a:ext cx="26822" cy="100686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310421" y="1266696"/>
            <a:ext cx="26822" cy="9768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337243" y="1364376"/>
            <a:ext cx="26822" cy="94675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64066" y="1459051"/>
            <a:ext cx="26822" cy="91669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390888" y="1550721"/>
            <a:ext cx="26822" cy="88664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417710" y="1639385"/>
            <a:ext cx="26822" cy="85658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44533" y="1725043"/>
            <a:ext cx="26822" cy="82653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71355" y="1807696"/>
            <a:ext cx="26822" cy="79647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98178" y="1887343"/>
            <a:ext cx="26822" cy="76642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25000" y="1963984"/>
            <a:ext cx="26822" cy="73636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51822" y="2037621"/>
            <a:ext cx="26822" cy="70631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578645" y="2108251"/>
            <a:ext cx="26822" cy="67625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05467" y="2175876"/>
            <a:ext cx="26822" cy="64619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2290" y="2240495"/>
            <a:ext cx="26822" cy="61614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659112" y="2302109"/>
            <a:ext cx="26822" cy="58608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85934" y="2360718"/>
            <a:ext cx="26822" cy="55603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712757" y="2416320"/>
            <a:ext cx="26822" cy="52597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39579" y="2468917"/>
            <a:ext cx="26822" cy="49592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766402" y="2518509"/>
            <a:ext cx="26822" cy="46586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793224" y="2565095"/>
            <a:ext cx="26822" cy="43581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820046" y="2608676"/>
            <a:ext cx="26822" cy="40575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846869" y="2649251"/>
            <a:ext cx="26822" cy="37569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73691" y="2686820"/>
            <a:ext cx="26822" cy="34564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900514" y="2721384"/>
            <a:ext cx="26822" cy="31558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927336" y="2752942"/>
            <a:ext cx="26822" cy="28553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54158" y="2781495"/>
            <a:ext cx="26822" cy="25547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80981" y="2807042"/>
            <a:ext cx="26822" cy="22542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07803" y="2829584"/>
            <a:ext cx="26822" cy="19536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34626" y="2849120"/>
            <a:ext cx="26822" cy="16531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061448" y="2865651"/>
            <a:ext cx="26822" cy="13525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088270" y="2879176"/>
            <a:ext cx="26822" cy="10519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115093" y="2889695"/>
            <a:ext cx="26822" cy="7514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141915" y="2897209"/>
            <a:ext cx="26822" cy="4508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168738" y="2901717"/>
            <a:ext cx="26822" cy="1503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195560" y="2903220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222382" y="2901717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249205" y="2897209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276027" y="2889695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302850" y="287917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329672" y="286565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356494" y="2849120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383317" y="2829584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410139" y="2807042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436962" y="2781495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463784" y="2752942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490606" y="2721384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517429" y="2686820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0544251" y="264925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571074" y="260867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0597896" y="2565095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0624718" y="2518509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0651541" y="2468917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678363" y="2416320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705186" y="2360718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732008" y="2302109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758830" y="2240495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785653" y="217587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812475" y="210825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839298" y="203762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866120" y="1963984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892942" y="1887343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919765" y="180769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946587" y="1725043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973410" y="1639385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000232" y="155072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1027054" y="145905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53877" y="136437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080699" y="1266696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1107522" y="1166010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1134344" y="1062318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1161166" y="955621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1187989" y="845918"/>
            <a:ext cx="26822" cy="0"/>
          </a:xfrm>
          <a:prstGeom prst="line">
            <a:avLst/>
          </a:prstGeom>
          <a:noFill/>
          <a:ln w="38100">
            <a:solidFill>
              <a:srgbClr val="33463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136" name="Text 134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137" name="Text 135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138" name="Text 136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139" name="Text 137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Quadratic, Cubic &amp; Reciprocal Graphs</a:t>
            </a:r>
            <a:endParaRPr lang="en-US" sz="3600" dirty="0"/>
          </a:p>
        </p:txBody>
      </p:sp>
      <p:sp>
        <p:nvSpPr>
          <p:cNvPr id="140" name="Text 138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 of Values · Plotting Curves · Roots &amp; Turning Points · Recognising Shapes</a:t>
            </a:r>
            <a:endParaRPr lang="en-US" sz="1600" dirty="0"/>
          </a:p>
        </p:txBody>
      </p:sp>
      <p:sp>
        <p:nvSpPr>
          <p:cNvPr id="141" name="Shape 139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2" name="Text 140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144" name="Text 142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Curves, Not Straight Lines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power decides the shape.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x² gives a parabola, x³ gives an S-shape, and 1/x gives a hyperbola. Build a table of values, plot, and join with a smooth curve.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 graphs (x²)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 of values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Roots &amp; turning points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Cubic graphs (x³)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Reciprocal graphs (1/x)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parabola · root · solution · turning point · line of symmetry · asymptote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Highest Power Gives the Shape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always takes the shape of the HIGHEST power.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minus in front flips it upside down.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·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Values:  y = x² − 3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each x-value.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FIRST: (−3)² = +9, so y = 6. Each pair gives a coordinate to plot.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· QUADRATIC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the Points, Join with a Smooth Curve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join with straight lines.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quadratic gives a smooth, symmetrical parabola.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Roots — the Solutions of the Equation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“= 0” means finding where the graph meets y = 0.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is the x-axis, so read off the x-intercepts: x = 0 and x = 2.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GRAPH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 Equations from an Accurate Graph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y = x² − 3, to solve x² − 3 = 1 draw the line y = 1.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solutions are the x-values where the curve meets that line: x = ±2.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Values for a Cubic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cubic always contains x³.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 FIRST: (−3)³ = −27, not +27.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Plotting  y = x³ − x² − 4x + 4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cubic gives an S-shape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can cross the x-axis up to THREE times.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CUBIC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Plotting  y = x³ − 7x + 2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 every time: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values → plot the points → join with a smooth curve.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Reciprocal Function  y = k / x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can NEVER be 0.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gets closer and closer to the axes but never touches them.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GRAPHS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Branches — Asymptotes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20" y="1353312"/>
            <a:ext cx="6163056" cy="46542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src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328" y="1417320"/>
            <a:ext cx="6035040" cy="4526280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566928" y="6144768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8" y="6144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 gap at x = 0.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x-axis and y-axis are ASYMPTOTES — do not join the two branches.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 TO A CURVE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Equation of a Tangent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 at (−1, 3), also through (0, −2).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(−2 − 3) ÷ (0 − (−1)) = −5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−5x + c;  at (0, −2):  c = −2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tangent is  y = −5x − 2.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of the tangent = the gradient of the curve at that point.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tangent is a straight line that just touches the curve.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it at the point, then take TWO points on the line.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m = (change in y) ÷ (change in x)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 = mx + c and substitute the point to find c.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Tangent:  y = −5x − 2</a:t>
            </a:r>
            <a:endParaRPr lang="en-US" sz="2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questions — shown exactly as printed in the exam.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table of values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the points carefully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with a SMOOTH curve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off roots or solutions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81474" y="263769"/>
            <a:ext cx="4222445" cy="6393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26" y="371340"/>
            <a:ext cx="4301701" cy="62123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858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447366" y="140677"/>
            <a:ext cx="4186680" cy="6516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518" y="225224"/>
            <a:ext cx="3983402" cy="63584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087175" y="566928"/>
            <a:ext cx="5083202" cy="6089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327" y="220165"/>
            <a:ext cx="4898082" cy="63635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99336" y="1530949"/>
            <a:ext cx="8193024" cy="507626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488" y="1604101"/>
            <a:ext cx="8046720" cy="492995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254161" y="1481328"/>
            <a:ext cx="4678824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7313" y="195312"/>
            <a:ext cx="4492981" cy="63883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430753" y="1481328"/>
            <a:ext cx="7330190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905" y="1554480"/>
            <a:ext cx="718388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784889" y="676656"/>
            <a:ext cx="5754765" cy="598017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8041" y="321806"/>
            <a:ext cx="5572601" cy="62618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740057" y="1481328"/>
            <a:ext cx="6711582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209" y="1554480"/>
            <a:ext cx="656527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975451" y="1481328"/>
            <a:ext cx="4240793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603" y="1554480"/>
            <a:ext cx="409448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10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384294" y="1481328"/>
            <a:ext cx="3423107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46" y="1554480"/>
            <a:ext cx="327680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388764" y="676656"/>
            <a:ext cx="4306828" cy="598017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916" y="239553"/>
            <a:ext cx="4122272" cy="63441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538523" y="420624"/>
            <a:ext cx="4069146" cy="6236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674" y="13262"/>
            <a:ext cx="3878007" cy="657041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69896" y="1481328"/>
            <a:ext cx="6851904" cy="517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qq-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048" y="1554480"/>
            <a:ext cx="6705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power gives the shape: x² → parabola, x³ → S-shape, 1/x → two branches.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table of values, plot the points, join with a SMOOTH curve (never straight lines).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or cube FIRST: (−3)² = 9 but (−3)³ = −27.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Roots = where the curve crosses the x-axis = the solutions of y = 0.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solve = k, draw the line y = k and read off the x-values where it meets the curve.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negative in front of the highest power flips the graph upside down.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890</Words>
  <Application>Microsoft Office PowerPoint</Application>
  <PresentationFormat>Custom</PresentationFormat>
  <Paragraphs>173</Paragraphs>
  <Slides>28</Slides>
  <Notes>28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3</cp:revision>
  <dcterms:created xsi:type="dcterms:W3CDTF">2026-07-13T09:29:20Z</dcterms:created>
  <dcterms:modified xsi:type="dcterms:W3CDTF">2026-07-25T08:38:19Z</dcterms:modified>
</cp:coreProperties>
</file>