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4.jpeg" ContentType="image/jpeg"/>
  <Override PartName="/ppt/media/image25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5C1BCB9-7355-4FBD-9B2C-9B8B90E33CA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5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B96606-D598-4231-8420-36B936D8F9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5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32B10C-8F23-4B91-8C3F-D18B5B6171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6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4C3DEA-66DA-426D-9FEA-0F5C3906150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6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1BB76C-B2C0-4DFA-A88F-9714EB0ADE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6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C3028D-4FC1-46C1-8B6C-83AD81B6180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7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3DE01E-40B3-4BDD-AB58-BAA0C65C76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7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80CB1F-A815-4BCA-A6BD-429FCC1E31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7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7C44CC-3CA4-42C0-90A9-7B9976E066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8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BCC921-857D-4259-B7B6-092C7926BA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8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E80657-0027-4669-9C57-79B2511FCA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8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50CD2A-139B-41D2-8522-B67169386E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8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2794A8-D196-4C1C-9946-7BB4401C09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9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PlaceHolder 3"/>
          <p:cNvSpPr>
            <a:spLocks noGrp="1"/>
          </p:cNvSpPr>
          <p:nvPr>
            <p:ph type="sldNum" idx="1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810947-3F4D-45B3-9220-0BC04B7742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9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C7DB6D-7413-4574-8326-0B9D646385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39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PlaceHolder 3"/>
          <p:cNvSpPr>
            <a:spLocks noGrp="1"/>
          </p:cNvSpPr>
          <p:nvPr>
            <p:ph type="sldNum" idx="1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E2D07-3F7E-4E49-B70B-90907D036F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0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PlaceHolder 3"/>
          <p:cNvSpPr>
            <a:spLocks noGrp="1"/>
          </p:cNvSpPr>
          <p:nvPr>
            <p:ph type="sldNum" idx="1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1227A2-B155-4645-A8ED-8B6EE0A46B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0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PlaceHolder 3"/>
          <p:cNvSpPr>
            <a:spLocks noGrp="1"/>
          </p:cNvSpPr>
          <p:nvPr>
            <p:ph type="sldNum" idx="2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80D6BF-40E7-49CE-8FB2-2987B0796E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0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PlaceHolder 3"/>
          <p:cNvSpPr>
            <a:spLocks noGrp="1"/>
          </p:cNvSpPr>
          <p:nvPr>
            <p:ph type="sldNum" idx="2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8E5CAE-4A84-4C0B-A66A-5C39A67ACE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1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PlaceHolder 3"/>
          <p:cNvSpPr>
            <a:spLocks noGrp="1"/>
          </p:cNvSpPr>
          <p:nvPr>
            <p:ph type="sldNum" idx="2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BF950F-0BF8-4B21-9EDF-C5A00E2C51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1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PlaceHolder 3"/>
          <p:cNvSpPr>
            <a:spLocks noGrp="1"/>
          </p:cNvSpPr>
          <p:nvPr>
            <p:ph type="sldNum" idx="2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D671B4-8C01-4592-AC94-5F764E2C98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1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PlaceHolder 3"/>
          <p:cNvSpPr>
            <a:spLocks noGrp="1"/>
          </p:cNvSpPr>
          <p:nvPr>
            <p:ph type="sldNum" idx="2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C398B7-9846-4E40-92BB-FD7BBEAED5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1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PlaceHolder 3"/>
          <p:cNvSpPr>
            <a:spLocks noGrp="1"/>
          </p:cNvSpPr>
          <p:nvPr>
            <p:ph type="sldNum" idx="2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9FBBDA-F79C-4D2A-9CE3-4E4F026F85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2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PlaceHolder 3"/>
          <p:cNvSpPr>
            <a:spLocks noGrp="1"/>
          </p:cNvSpPr>
          <p:nvPr>
            <p:ph type="sldNum" idx="2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908169-E603-42C4-910A-8BD263D341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PlaceHolder 3"/>
          <p:cNvSpPr>
            <a:spLocks noGrp="1"/>
          </p:cNvSpPr>
          <p:nvPr>
            <p:ph type="sldNum" idx="2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B083C5-F9CD-45D7-B84C-B785B8B6C3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2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PlaceHolder 3"/>
          <p:cNvSpPr>
            <a:spLocks noGrp="1"/>
          </p:cNvSpPr>
          <p:nvPr>
            <p:ph type="sldNum" idx="2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A67447-1359-4A4B-955C-A7BF200B3D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3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PlaceHolder 3"/>
          <p:cNvSpPr>
            <a:spLocks noGrp="1"/>
          </p:cNvSpPr>
          <p:nvPr>
            <p:ph type="sldNum" idx="2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4A0861-C45C-4D55-8CEF-4AC13D8C86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4.jpe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4.jpe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4.jpe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6949440" y="100584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800" spc="-1" strike="noStrike">
                <a:solidFill>
                  <a:srgbClr val="33463a"/>
                </a:solidFill>
                <a:latin typeface="Cambria"/>
                <a:ea typeface="Cambria"/>
              </a:rPr>
              <a:t>SOH CAH TOA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Trigonometry — SOHCAHTOA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Opposite, Adjacent &amp; Hypotenuse · sin, cos, tan · Finding Sides · Finding Angles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Sides AND Angles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Trigonometry links the SIDES and the ANGLES of a right-angled triangle.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If a question involves an angle (other than the right angle), use SOHCAHTOA — not Pythagoras.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Labelling O, A, 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SOH CAH TOA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Choosing the ratio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Finding a missing SIDE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Finding a missing ANGLE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opposite · adjacent · hypotenuse · sine · cosine · tangent · inverse · elevation · depression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STEP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Labelling the Sides: O, A, H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3650760" y="1353240"/>
            <a:ext cx="488988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0" descr="/tmp/work/clean/ts-11.png"/>
          <p:cNvPicPr/>
          <p:nvPr/>
        </p:nvPicPr>
        <p:blipFill>
          <a:blip r:embed="rId1"/>
          <a:stretch/>
        </p:blipFill>
        <p:spPr>
          <a:xfrm>
            <a:off x="3714840" y="1417320"/>
            <a:ext cx="4762080" cy="4525920"/>
          </a:xfrm>
          <a:prstGeom prst="rect">
            <a:avLst/>
          </a:prstGeom>
          <a:ln w="0">
            <a:noFill/>
          </a:ln>
        </p:spPr>
      </p:pic>
      <p:sp>
        <p:nvSpPr>
          <p:cNvPr id="161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Label from the ANGLE you are given.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H is opposite the right angle; O is opposite the angle; A is next to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STEP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How to Label Every Time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Start at the angle θ, never at the right angle.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labels CHANGE if the angle changes.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41"/>
          <p:cNvSpPr/>
          <p:nvPr/>
        </p:nvSpPr>
        <p:spPr>
          <a:xfrm>
            <a:off x="1463040" y="2560320"/>
            <a:ext cx="2925720" cy="2377080"/>
          </a:xfrm>
          <a:custGeom>
            <a:avLst/>
            <a:gdLst>
              <a:gd name="textAreaLeft" fmla="*/ 0 w 2925720"/>
              <a:gd name="textAreaRight" fmla="*/ 2926080 w 2925720"/>
              <a:gd name="textAreaTop" fmla="*/ 0 h 2377080"/>
              <a:gd name="textAreaBottom" fmla="*/ 2377440 h 2377080"/>
            </a:gdLst>
            <a:ahLst/>
            <a:rect l="textAreaLeft" t="textAreaTop" r="textAreaRight" b="textAreaBottom"/>
            <a:pathLst>
              <a:path w="2926080" h="2377440">
                <a:moveTo>
                  <a:pt x="0" y="2377440"/>
                </a:moveTo>
                <a:lnTo>
                  <a:pt x="2926080" y="2377440"/>
                </a:lnTo>
                <a:lnTo>
                  <a:pt x="0" y="0"/>
                </a:lnTo>
                <a:close/>
              </a:path>
            </a:pathLst>
          </a:custGeom>
          <a:solidFill>
            <a:srgbClr val="eef1e8">
              <a:alpha val="65000"/>
            </a:srgbClr>
          </a:solidFill>
          <a:ln w="2794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42"/>
          <p:cNvSpPr/>
          <p:nvPr/>
        </p:nvSpPr>
        <p:spPr>
          <a:xfrm>
            <a:off x="1463040" y="4736520"/>
            <a:ext cx="200880" cy="200880"/>
          </a:xfrm>
          <a:prstGeom prst="rect">
            <a:avLst/>
          </a:prstGeom>
          <a:noFill/>
          <a:ln w="1778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43"/>
          <p:cNvSpPr/>
          <p:nvPr/>
        </p:nvSpPr>
        <p:spPr>
          <a:xfrm>
            <a:off x="594360" y="356616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Opposite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44"/>
          <p:cNvSpPr/>
          <p:nvPr/>
        </p:nvSpPr>
        <p:spPr>
          <a:xfrm>
            <a:off x="1463040" y="498348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Adjacent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5"/>
          <p:cNvSpPr/>
          <p:nvPr/>
        </p:nvSpPr>
        <p:spPr>
          <a:xfrm>
            <a:off x="2692080" y="303588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Hyp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46"/>
          <p:cNvSpPr/>
          <p:nvPr/>
        </p:nvSpPr>
        <p:spPr>
          <a:xfrm>
            <a:off x="4160520" y="4617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47"/>
          <p:cNvSpPr/>
          <p:nvPr/>
        </p:nvSpPr>
        <p:spPr>
          <a:xfrm>
            <a:off x="5760720" y="2377440"/>
            <a:ext cx="587016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48"/>
          <p:cNvSpPr/>
          <p:nvPr/>
        </p:nvSpPr>
        <p:spPr>
          <a:xfrm>
            <a:off x="6080760" y="24688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HYPOTENUSE (H)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49"/>
          <p:cNvSpPr/>
          <p:nvPr/>
        </p:nvSpPr>
        <p:spPr>
          <a:xfrm>
            <a:off x="6080760" y="283464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  <a:ea typeface="Calibri"/>
              </a:rPr>
              <a:t>opposite the RIGHT ANGLE — always the longest side. It never changes.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50"/>
          <p:cNvSpPr/>
          <p:nvPr/>
        </p:nvSpPr>
        <p:spPr>
          <a:xfrm>
            <a:off x="5760720" y="3611880"/>
            <a:ext cx="587016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51"/>
          <p:cNvSpPr/>
          <p:nvPr/>
        </p:nvSpPr>
        <p:spPr>
          <a:xfrm>
            <a:off x="6080760" y="370332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OPPOSITE (O)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52"/>
          <p:cNvSpPr/>
          <p:nvPr/>
        </p:nvSpPr>
        <p:spPr>
          <a:xfrm>
            <a:off x="6080760" y="406908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  <a:ea typeface="Calibri"/>
              </a:rPr>
              <a:t>opposite the angle θ — it does not touch θ.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53"/>
          <p:cNvSpPr/>
          <p:nvPr/>
        </p:nvSpPr>
        <p:spPr>
          <a:xfrm>
            <a:off x="5760720" y="4846320"/>
            <a:ext cx="587016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54"/>
          <p:cNvSpPr/>
          <p:nvPr/>
        </p:nvSpPr>
        <p:spPr>
          <a:xfrm>
            <a:off x="6080760" y="493776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ADJACENT (A)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55"/>
          <p:cNvSpPr/>
          <p:nvPr/>
        </p:nvSpPr>
        <p:spPr>
          <a:xfrm>
            <a:off x="6080760" y="530352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  <a:ea typeface="Calibri"/>
              </a:rPr>
              <a:t>next to the angle θ (and not the hypotenuse).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56"/>
          <p:cNvSpPr/>
          <p:nvPr/>
        </p:nvSpPr>
        <p:spPr>
          <a:xfrm>
            <a:off x="567000" y="6080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Tip: find H first (opposite the right angle), then O (opposite θ) — the last one is 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SOH · CAH · TOA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9"/>
          <p:cNvSpPr/>
          <p:nvPr/>
        </p:nvSpPr>
        <p:spPr>
          <a:xfrm>
            <a:off x="567000" y="129852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40"/>
          <p:cNvSpPr/>
          <p:nvPr/>
        </p:nvSpPr>
        <p:spPr>
          <a:xfrm>
            <a:off x="887040" y="129852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Three ratios. Pick the one that uses the two sides in your question.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41"/>
          <p:cNvSpPr/>
          <p:nvPr/>
        </p:nvSpPr>
        <p:spPr>
          <a:xfrm>
            <a:off x="567000" y="2011680"/>
            <a:ext cx="3520080" cy="2285640"/>
          </a:xfrm>
          <a:prstGeom prst="roundRect">
            <a:avLst>
              <a:gd name="adj" fmla="val 24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42"/>
          <p:cNvSpPr/>
          <p:nvPr/>
        </p:nvSpPr>
        <p:spPr>
          <a:xfrm>
            <a:off x="567000" y="21488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84f2f"/>
                </a:solidFill>
                <a:latin typeface="Cambria"/>
                <a:ea typeface="Cambria"/>
              </a:rPr>
              <a:t>SOH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43"/>
          <p:cNvSpPr/>
          <p:nvPr/>
        </p:nvSpPr>
        <p:spPr>
          <a:xfrm>
            <a:off x="978480" y="306324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sin θ  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44"/>
          <p:cNvSpPr/>
          <p:nvPr/>
        </p:nvSpPr>
        <p:spPr>
          <a:xfrm>
            <a:off x="2624400" y="30632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45"/>
          <p:cNvSpPr/>
          <p:nvPr/>
        </p:nvSpPr>
        <p:spPr>
          <a:xfrm>
            <a:off x="2624040" y="3337560"/>
            <a:ext cx="91440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6"/>
          <p:cNvSpPr/>
          <p:nvPr/>
        </p:nvSpPr>
        <p:spPr>
          <a:xfrm>
            <a:off x="2624400" y="33649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47"/>
          <p:cNvSpPr/>
          <p:nvPr/>
        </p:nvSpPr>
        <p:spPr>
          <a:xfrm>
            <a:off x="4316040" y="2011680"/>
            <a:ext cx="3520080" cy="2285640"/>
          </a:xfrm>
          <a:prstGeom prst="roundRect">
            <a:avLst>
              <a:gd name="adj" fmla="val 24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48"/>
          <p:cNvSpPr/>
          <p:nvPr/>
        </p:nvSpPr>
        <p:spPr>
          <a:xfrm>
            <a:off x="4316040" y="21488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84f2f"/>
                </a:solidFill>
                <a:latin typeface="Cambria"/>
                <a:ea typeface="Cambria"/>
              </a:rPr>
              <a:t>CAH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49"/>
          <p:cNvSpPr/>
          <p:nvPr/>
        </p:nvSpPr>
        <p:spPr>
          <a:xfrm>
            <a:off x="4727520" y="306324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cos θ  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50"/>
          <p:cNvSpPr/>
          <p:nvPr/>
        </p:nvSpPr>
        <p:spPr>
          <a:xfrm>
            <a:off x="6373440" y="30632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51"/>
          <p:cNvSpPr/>
          <p:nvPr/>
        </p:nvSpPr>
        <p:spPr>
          <a:xfrm>
            <a:off x="6373080" y="3337560"/>
            <a:ext cx="91440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52"/>
          <p:cNvSpPr/>
          <p:nvPr/>
        </p:nvSpPr>
        <p:spPr>
          <a:xfrm>
            <a:off x="6373440" y="33649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53"/>
          <p:cNvSpPr/>
          <p:nvPr/>
        </p:nvSpPr>
        <p:spPr>
          <a:xfrm>
            <a:off x="8065080" y="2011680"/>
            <a:ext cx="3520080" cy="2285640"/>
          </a:xfrm>
          <a:prstGeom prst="roundRect">
            <a:avLst>
              <a:gd name="adj" fmla="val 24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54"/>
          <p:cNvSpPr/>
          <p:nvPr/>
        </p:nvSpPr>
        <p:spPr>
          <a:xfrm>
            <a:off x="8065080" y="21488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84f2f"/>
                </a:solidFill>
                <a:latin typeface="Cambria"/>
                <a:ea typeface="Cambria"/>
              </a:rPr>
              <a:t>TOA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55"/>
          <p:cNvSpPr/>
          <p:nvPr/>
        </p:nvSpPr>
        <p:spPr>
          <a:xfrm>
            <a:off x="8476560" y="306324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tan θ  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56"/>
          <p:cNvSpPr/>
          <p:nvPr/>
        </p:nvSpPr>
        <p:spPr>
          <a:xfrm>
            <a:off x="10122480" y="30632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57"/>
          <p:cNvSpPr/>
          <p:nvPr/>
        </p:nvSpPr>
        <p:spPr>
          <a:xfrm>
            <a:off x="10122120" y="3337560"/>
            <a:ext cx="91440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58"/>
          <p:cNvSpPr/>
          <p:nvPr/>
        </p:nvSpPr>
        <p:spPr>
          <a:xfrm>
            <a:off x="10122480" y="33649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59"/>
          <p:cNvSpPr/>
          <p:nvPr/>
        </p:nvSpPr>
        <p:spPr>
          <a:xfrm>
            <a:off x="1371600" y="4595040"/>
            <a:ext cx="1919880" cy="1599840"/>
          </a:xfrm>
          <a:prstGeom prst="triangle">
            <a:avLst>
              <a:gd name="adj" fmla="val 50000"/>
            </a:avLst>
          </a:prstGeom>
          <a:solidFill>
            <a:srgbClr val="eef1e8"/>
          </a:solidFill>
          <a:ln w="317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60"/>
          <p:cNvSpPr/>
          <p:nvPr/>
        </p:nvSpPr>
        <p:spPr>
          <a:xfrm>
            <a:off x="1851480" y="5394960"/>
            <a:ext cx="960120" cy="360"/>
          </a:xfrm>
          <a:prstGeom prst="line">
            <a:avLst/>
          </a:prstGeom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61"/>
          <p:cNvSpPr/>
          <p:nvPr/>
        </p:nvSpPr>
        <p:spPr>
          <a:xfrm>
            <a:off x="2331720" y="5394960"/>
            <a:ext cx="360" cy="799920"/>
          </a:xfrm>
          <a:prstGeom prst="line">
            <a:avLst/>
          </a:prstGeom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62"/>
          <p:cNvSpPr/>
          <p:nvPr/>
        </p:nvSpPr>
        <p:spPr>
          <a:xfrm>
            <a:off x="1874520" y="4649760"/>
            <a:ext cx="91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63"/>
          <p:cNvSpPr/>
          <p:nvPr/>
        </p:nvSpPr>
        <p:spPr>
          <a:xfrm>
            <a:off x="1394640" y="5413320"/>
            <a:ext cx="91404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64"/>
          <p:cNvSpPr/>
          <p:nvPr/>
        </p:nvSpPr>
        <p:spPr>
          <a:xfrm>
            <a:off x="2354760" y="5413320"/>
            <a:ext cx="91404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65"/>
          <p:cNvSpPr/>
          <p:nvPr/>
        </p:nvSpPr>
        <p:spPr>
          <a:xfrm>
            <a:off x="5120640" y="4595040"/>
            <a:ext cx="1919880" cy="1599840"/>
          </a:xfrm>
          <a:prstGeom prst="triangle">
            <a:avLst>
              <a:gd name="adj" fmla="val 50000"/>
            </a:avLst>
          </a:prstGeom>
          <a:solidFill>
            <a:srgbClr val="fbf3dd"/>
          </a:solidFill>
          <a:ln w="317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66"/>
          <p:cNvSpPr/>
          <p:nvPr/>
        </p:nvSpPr>
        <p:spPr>
          <a:xfrm>
            <a:off x="5600520" y="5394960"/>
            <a:ext cx="960120" cy="360"/>
          </a:xfrm>
          <a:prstGeom prst="line">
            <a:avLst/>
          </a:prstGeom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67"/>
          <p:cNvSpPr/>
          <p:nvPr/>
        </p:nvSpPr>
        <p:spPr>
          <a:xfrm>
            <a:off x="6080760" y="5394960"/>
            <a:ext cx="360" cy="799920"/>
          </a:xfrm>
          <a:prstGeom prst="line">
            <a:avLst/>
          </a:prstGeom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68"/>
          <p:cNvSpPr/>
          <p:nvPr/>
        </p:nvSpPr>
        <p:spPr>
          <a:xfrm>
            <a:off x="5623560" y="4649760"/>
            <a:ext cx="91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69"/>
          <p:cNvSpPr/>
          <p:nvPr/>
        </p:nvSpPr>
        <p:spPr>
          <a:xfrm>
            <a:off x="5143680" y="5413320"/>
            <a:ext cx="91404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70"/>
          <p:cNvSpPr/>
          <p:nvPr/>
        </p:nvSpPr>
        <p:spPr>
          <a:xfrm>
            <a:off x="6103800" y="5413320"/>
            <a:ext cx="91404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71"/>
          <p:cNvSpPr/>
          <p:nvPr/>
        </p:nvSpPr>
        <p:spPr>
          <a:xfrm>
            <a:off x="8869680" y="4595040"/>
            <a:ext cx="1919880" cy="1599840"/>
          </a:xfrm>
          <a:prstGeom prst="triangle">
            <a:avLst>
              <a:gd name="adj" fmla="val 50000"/>
            </a:avLst>
          </a:prstGeom>
          <a:solidFill>
            <a:srgbClr val="eef1e8"/>
          </a:solidFill>
          <a:ln w="317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72"/>
          <p:cNvSpPr/>
          <p:nvPr/>
        </p:nvSpPr>
        <p:spPr>
          <a:xfrm>
            <a:off x="9349560" y="5394960"/>
            <a:ext cx="960120" cy="360"/>
          </a:xfrm>
          <a:prstGeom prst="line">
            <a:avLst/>
          </a:prstGeom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73"/>
          <p:cNvSpPr/>
          <p:nvPr/>
        </p:nvSpPr>
        <p:spPr>
          <a:xfrm>
            <a:off x="9829800" y="5394960"/>
            <a:ext cx="360" cy="799920"/>
          </a:xfrm>
          <a:prstGeom prst="line">
            <a:avLst/>
          </a:prstGeom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74"/>
          <p:cNvSpPr/>
          <p:nvPr/>
        </p:nvSpPr>
        <p:spPr>
          <a:xfrm>
            <a:off x="9372600" y="4649760"/>
            <a:ext cx="9140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75"/>
          <p:cNvSpPr/>
          <p:nvPr/>
        </p:nvSpPr>
        <p:spPr>
          <a:xfrm>
            <a:off x="8892720" y="5413320"/>
            <a:ext cx="91404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76"/>
          <p:cNvSpPr/>
          <p:nvPr/>
        </p:nvSpPr>
        <p:spPr>
          <a:xfrm>
            <a:off x="9852840" y="5413320"/>
            <a:ext cx="91404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77"/>
          <p:cNvSpPr/>
          <p:nvPr/>
        </p:nvSpPr>
        <p:spPr>
          <a:xfrm>
            <a:off x="567000" y="63550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Cover what you want: O = S × H,   H = O ÷ S,   and so on — the same formula triangle idea.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STEP 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Choosing the Right Ratio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Example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Given: angle 30° and the hypotenuse 10. Want: the opposite.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O and H → use SIN.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sin 30° = O ÷ 10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O = 10 × sin 30° = 5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The side you are NOT using does not appear — ignore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Label the three sides O, A, H from the given angle.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Tick the two sides in the question: the one you KNOW and the one you WANT.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Those two letters tell you the ratio:  O &amp; H → SIN,   A &amp; H → COS,   O &amp; A → TAN.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Write the equation, then rearrange to find the unknown.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O &amp; H → SIN.   A &amp; H → COS.   O &amp; A → TAN.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RATIOS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Sine, Cosine and Tangent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39"/>
          <p:cNvSpPr/>
          <p:nvPr/>
        </p:nvSpPr>
        <p:spPr>
          <a:xfrm>
            <a:off x="2020680" y="1134000"/>
            <a:ext cx="7616880" cy="501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Each ratio compares two sides of the right-angled triangle.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Rectangle 44"/>
          <p:cNvSpPr/>
          <p:nvPr/>
        </p:nvSpPr>
        <p:spPr>
          <a:xfrm>
            <a:off x="2047680" y="1145880"/>
            <a:ext cx="4503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Task – Use your calculator to find the following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Box 6"/>
          <p:cNvSpPr/>
          <p:nvPr/>
        </p:nvSpPr>
        <p:spPr>
          <a:xfrm>
            <a:off x="2033640" y="1806120"/>
            <a:ext cx="1546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1) sin 79°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Rectangle 7"/>
          <p:cNvSpPr/>
          <p:nvPr/>
        </p:nvSpPr>
        <p:spPr>
          <a:xfrm>
            <a:off x="3794760" y="180612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01" name="Text Box 8"/>
          <p:cNvSpPr/>
          <p:nvPr/>
        </p:nvSpPr>
        <p:spPr>
          <a:xfrm>
            <a:off x="3887640" y="1806120"/>
            <a:ext cx="879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0.982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Box 9"/>
          <p:cNvSpPr/>
          <p:nvPr/>
        </p:nvSpPr>
        <p:spPr>
          <a:xfrm>
            <a:off x="6300360" y="1806120"/>
            <a:ext cx="160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2) cos 28°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ectangle 10"/>
          <p:cNvSpPr/>
          <p:nvPr/>
        </p:nvSpPr>
        <p:spPr>
          <a:xfrm>
            <a:off x="8061840" y="180612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04" name="Text Box 11"/>
          <p:cNvSpPr/>
          <p:nvPr/>
        </p:nvSpPr>
        <p:spPr>
          <a:xfrm>
            <a:off x="8154720" y="1806120"/>
            <a:ext cx="879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0.883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Box 12"/>
          <p:cNvSpPr/>
          <p:nvPr/>
        </p:nvSpPr>
        <p:spPr>
          <a:xfrm>
            <a:off x="2033280" y="2577600"/>
            <a:ext cx="1603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3) tan 65°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ectangle 13"/>
          <p:cNvSpPr/>
          <p:nvPr/>
        </p:nvSpPr>
        <p:spPr>
          <a:xfrm>
            <a:off x="3794760" y="257760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07" name="Text Box 14"/>
          <p:cNvSpPr/>
          <p:nvPr/>
        </p:nvSpPr>
        <p:spPr>
          <a:xfrm>
            <a:off x="3965400" y="2577600"/>
            <a:ext cx="725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2.14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Box 15"/>
          <p:cNvSpPr/>
          <p:nvPr/>
        </p:nvSpPr>
        <p:spPr>
          <a:xfrm>
            <a:off x="6300360" y="2577600"/>
            <a:ext cx="160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4) cos 11°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Rectangle 16"/>
          <p:cNvSpPr/>
          <p:nvPr/>
        </p:nvSpPr>
        <p:spPr>
          <a:xfrm>
            <a:off x="8061840" y="257760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10" name="Text Box 17"/>
          <p:cNvSpPr/>
          <p:nvPr/>
        </p:nvSpPr>
        <p:spPr>
          <a:xfrm>
            <a:off x="8154720" y="2577600"/>
            <a:ext cx="879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0.982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Box 18"/>
          <p:cNvSpPr/>
          <p:nvPr/>
        </p:nvSpPr>
        <p:spPr>
          <a:xfrm>
            <a:off x="2033640" y="3339720"/>
            <a:ext cx="1546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5) sin 34°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Rectangle 19"/>
          <p:cNvSpPr/>
          <p:nvPr/>
        </p:nvSpPr>
        <p:spPr>
          <a:xfrm>
            <a:off x="3794760" y="333972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13" name="Text Box 20"/>
          <p:cNvSpPr/>
          <p:nvPr/>
        </p:nvSpPr>
        <p:spPr>
          <a:xfrm>
            <a:off x="3887640" y="3339720"/>
            <a:ext cx="879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0.559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Box 21"/>
          <p:cNvSpPr/>
          <p:nvPr/>
        </p:nvSpPr>
        <p:spPr>
          <a:xfrm>
            <a:off x="6300360" y="3339720"/>
            <a:ext cx="1603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6) tan 84°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Rectangle 22"/>
          <p:cNvSpPr/>
          <p:nvPr/>
        </p:nvSpPr>
        <p:spPr>
          <a:xfrm>
            <a:off x="8061840" y="333972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16" name="Text Box 23"/>
          <p:cNvSpPr/>
          <p:nvPr/>
        </p:nvSpPr>
        <p:spPr>
          <a:xfrm>
            <a:off x="8232840" y="3339720"/>
            <a:ext cx="725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9.51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Box 24"/>
          <p:cNvSpPr/>
          <p:nvPr/>
        </p:nvSpPr>
        <p:spPr>
          <a:xfrm>
            <a:off x="2033280" y="4101480"/>
            <a:ext cx="1603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7) tan 49°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ectangle 25"/>
          <p:cNvSpPr/>
          <p:nvPr/>
        </p:nvSpPr>
        <p:spPr>
          <a:xfrm>
            <a:off x="3794760" y="410148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19" name="Text Box 26"/>
          <p:cNvSpPr/>
          <p:nvPr/>
        </p:nvSpPr>
        <p:spPr>
          <a:xfrm>
            <a:off x="3965400" y="4101480"/>
            <a:ext cx="725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1.15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Box 27"/>
          <p:cNvSpPr/>
          <p:nvPr/>
        </p:nvSpPr>
        <p:spPr>
          <a:xfrm>
            <a:off x="6300720" y="4101480"/>
            <a:ext cx="1546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8) sin 62°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ectangle 28"/>
          <p:cNvSpPr/>
          <p:nvPr/>
        </p:nvSpPr>
        <p:spPr>
          <a:xfrm>
            <a:off x="8061840" y="410148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22" name="Text Box 29"/>
          <p:cNvSpPr/>
          <p:nvPr/>
        </p:nvSpPr>
        <p:spPr>
          <a:xfrm>
            <a:off x="8154720" y="4101480"/>
            <a:ext cx="879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0.883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Box 30"/>
          <p:cNvSpPr/>
          <p:nvPr/>
        </p:nvSpPr>
        <p:spPr>
          <a:xfrm>
            <a:off x="2033280" y="4863600"/>
            <a:ext cx="1447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9) tan 6°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ectangle 31"/>
          <p:cNvSpPr/>
          <p:nvPr/>
        </p:nvSpPr>
        <p:spPr>
          <a:xfrm>
            <a:off x="3789720" y="4863600"/>
            <a:ext cx="10663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25" name="Text Box 32"/>
          <p:cNvSpPr/>
          <p:nvPr/>
        </p:nvSpPr>
        <p:spPr>
          <a:xfrm>
            <a:off x="3882600" y="4863600"/>
            <a:ext cx="879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0.105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Box 33"/>
          <p:cNvSpPr/>
          <p:nvPr/>
        </p:nvSpPr>
        <p:spPr>
          <a:xfrm>
            <a:off x="6301440" y="4863600"/>
            <a:ext cx="2730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10) cos           = 0.559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ectangle 34"/>
          <p:cNvSpPr/>
          <p:nvPr/>
        </p:nvSpPr>
        <p:spPr>
          <a:xfrm>
            <a:off x="7304760" y="4863600"/>
            <a:ext cx="605520" cy="456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10066"/>
              </a:solidFill>
              <a:latin typeface="Calibri"/>
            </a:endParaRPr>
          </a:p>
        </p:txBody>
      </p:sp>
      <p:sp>
        <p:nvSpPr>
          <p:cNvPr id="428" name="Rectangle 36"/>
          <p:cNvSpPr/>
          <p:nvPr/>
        </p:nvSpPr>
        <p:spPr>
          <a:xfrm>
            <a:off x="7330680" y="4863600"/>
            <a:ext cx="59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400" spc="-1" strike="noStrike">
                <a:solidFill>
                  <a:srgbClr val="ff6600"/>
                </a:solidFill>
                <a:latin typeface="Calibri"/>
              </a:rPr>
              <a:t>56°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A SIDE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Worked Example — Missing Side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39"/>
          <p:cNvSpPr/>
          <p:nvPr/>
        </p:nvSpPr>
        <p:spPr>
          <a:xfrm>
            <a:off x="1941120" y="1235880"/>
            <a:ext cx="8263080" cy="50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40"/>
          <p:cNvSpPr/>
          <p:nvPr/>
        </p:nvSpPr>
        <p:spPr>
          <a:xfrm>
            <a:off x="567000" y="623628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Label, choose the ratio, substitute, then rearrange.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Multiply when the unknown is on top; divide when it is underneath.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1" name="Group 5"/>
          <p:cNvGrpSpPr/>
          <p:nvPr/>
        </p:nvGrpSpPr>
        <p:grpSpPr>
          <a:xfrm>
            <a:off x="6708960" y="1272600"/>
            <a:ext cx="2071440" cy="1571400"/>
            <a:chOff x="6708960" y="1272600"/>
            <a:chExt cx="2071440" cy="1571400"/>
          </a:xfrm>
        </p:grpSpPr>
        <p:sp>
          <p:nvSpPr>
            <p:cNvPr id="472" name="Right Triangle 97"/>
            <p:cNvSpPr/>
            <p:nvPr/>
          </p:nvSpPr>
          <p:spPr>
            <a:xfrm>
              <a:off x="6708960" y="1272600"/>
              <a:ext cx="2071440" cy="1571400"/>
            </a:xfrm>
            <a:prstGeom prst="rtTriangl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73" name="Rectangle 98"/>
            <p:cNvSpPr/>
            <p:nvPr/>
          </p:nvSpPr>
          <p:spPr>
            <a:xfrm>
              <a:off x="6708960" y="2558520"/>
              <a:ext cx="213840" cy="28548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474" name="TextBox 8"/>
          <p:cNvSpPr/>
          <p:nvPr/>
        </p:nvSpPr>
        <p:spPr>
          <a:xfrm>
            <a:off x="6712920" y="1629720"/>
            <a:ext cx="48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38°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9"/>
          <p:cNvSpPr/>
          <p:nvPr/>
        </p:nvSpPr>
        <p:spPr>
          <a:xfrm>
            <a:off x="6284160" y="184428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10"/>
          <p:cNvSpPr/>
          <p:nvPr/>
        </p:nvSpPr>
        <p:spPr>
          <a:xfrm>
            <a:off x="7784640" y="1629720"/>
            <a:ext cx="57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8cm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Freeform 102"/>
          <p:cNvSpPr/>
          <p:nvPr/>
        </p:nvSpPr>
        <p:spPr>
          <a:xfrm>
            <a:off x="6728040" y="1740960"/>
            <a:ext cx="590040" cy="452160"/>
          </a:xfrm>
          <a:custGeom>
            <a:avLst/>
            <a:gdLst>
              <a:gd name="textAreaLeft" fmla="*/ 0 w 590040"/>
              <a:gd name="textAreaRight" fmla="*/ 590400 w 590040"/>
              <a:gd name="textAreaTop" fmla="*/ 0 h 452160"/>
              <a:gd name="textAreaBottom" fmla="*/ 452520 h 452160"/>
            </a:gdLst>
            <a:ahLst/>
            <a:rect l="textAreaLeft" t="textAreaTop" r="textAreaRight" b="textAreaBottom"/>
            <a:pathLst>
              <a:path w="589935" h="452283">
                <a:moveTo>
                  <a:pt x="0" y="324464"/>
                </a:moveTo>
                <a:cubicBezTo>
                  <a:pt x="179439" y="388373"/>
                  <a:pt x="358878" y="452283"/>
                  <a:pt x="457200" y="398206"/>
                </a:cubicBezTo>
                <a:cubicBezTo>
                  <a:pt x="555522" y="344129"/>
                  <a:pt x="572728" y="172064"/>
                  <a:pt x="589935" y="0"/>
                </a:cubicBezTo>
              </a:path>
            </a:pathLst>
          </a:cu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78" name="Picture 2" descr=""/>
          <p:cNvPicPr/>
          <p:nvPr/>
        </p:nvPicPr>
        <p:blipFill>
          <a:blip r:embed="rId1"/>
          <a:stretch/>
        </p:blipFill>
        <p:spPr>
          <a:xfrm>
            <a:off x="3014280" y="1345320"/>
            <a:ext cx="2921760" cy="996840"/>
          </a:xfrm>
          <a:prstGeom prst="rect">
            <a:avLst/>
          </a:prstGeom>
          <a:ln w="0">
            <a:noFill/>
          </a:ln>
        </p:spPr>
      </p:pic>
      <p:sp>
        <p:nvSpPr>
          <p:cNvPr id="479" name="TextBox 104"/>
          <p:cNvSpPr/>
          <p:nvPr/>
        </p:nvSpPr>
        <p:spPr>
          <a:xfrm>
            <a:off x="7968600" y="1235880"/>
            <a:ext cx="32292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105"/>
          <p:cNvSpPr/>
          <p:nvPr/>
        </p:nvSpPr>
        <p:spPr>
          <a:xfrm>
            <a:off x="6280560" y="2234880"/>
            <a:ext cx="31212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Oval 106"/>
          <p:cNvSpPr/>
          <p:nvPr/>
        </p:nvSpPr>
        <p:spPr>
          <a:xfrm>
            <a:off x="3899520" y="1830600"/>
            <a:ext cx="1151640" cy="628920"/>
          </a:xfrm>
          <a:prstGeom prst="ellipse">
            <a:avLst/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TextBox 107"/>
          <p:cNvSpPr/>
          <p:nvPr/>
        </p:nvSpPr>
        <p:spPr>
          <a:xfrm>
            <a:off x="5497200" y="3601800"/>
            <a:ext cx="775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dk1"/>
                </a:solidFill>
                <a:latin typeface="Calibri"/>
              </a:rPr>
              <a:t>A =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Box 108"/>
          <p:cNvSpPr/>
          <p:nvPr/>
        </p:nvSpPr>
        <p:spPr>
          <a:xfrm>
            <a:off x="6273720" y="3601800"/>
            <a:ext cx="2111040" cy="6458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109"/>
          <p:cNvSpPr/>
          <p:nvPr/>
        </p:nvSpPr>
        <p:spPr>
          <a:xfrm>
            <a:off x="2910240" y="3139920"/>
            <a:ext cx="4204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The thing I need to find is A, so…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5" name="Picture 2" descr="C:\Users\kogden2.313\AppData\Local\Microsoft\Windows\Temporary Internet Files\Content.IE5\GUYXGS9U\hand woman[1].jpg"/>
          <p:cNvPicPr/>
          <p:nvPr/>
        </p:nvPicPr>
        <p:blipFill>
          <a:blip r:embed="rId3"/>
          <a:srcRect l="17176" t="0" r="9461" b="19383"/>
          <a:stretch/>
        </p:blipFill>
        <p:spPr>
          <a:xfrm>
            <a:off x="4294440" y="1720440"/>
            <a:ext cx="361080" cy="396720"/>
          </a:xfrm>
          <a:prstGeom prst="rect">
            <a:avLst/>
          </a:prstGeom>
          <a:ln w="0">
            <a:noFill/>
          </a:ln>
        </p:spPr>
      </p:pic>
      <p:sp>
        <p:nvSpPr>
          <p:cNvPr id="486" name="TextBox 111"/>
          <p:cNvSpPr/>
          <p:nvPr/>
        </p:nvSpPr>
        <p:spPr>
          <a:xfrm>
            <a:off x="5533560" y="4766040"/>
            <a:ext cx="2800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dk1"/>
                </a:solidFill>
                <a:latin typeface="Calibri"/>
              </a:rPr>
              <a:t>p =  cos38 ×  8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112"/>
          <p:cNvSpPr/>
          <p:nvPr/>
        </p:nvSpPr>
        <p:spPr>
          <a:xfrm>
            <a:off x="3040560" y="4248000"/>
            <a:ext cx="5295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Substituting the items from my diagram…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Rectangle 113"/>
          <p:cNvSpPr/>
          <p:nvPr/>
        </p:nvSpPr>
        <p:spPr>
          <a:xfrm>
            <a:off x="5519880" y="4766040"/>
            <a:ext cx="416520" cy="6458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9" name="Rectangle 114"/>
          <p:cNvSpPr/>
          <p:nvPr/>
        </p:nvSpPr>
        <p:spPr>
          <a:xfrm>
            <a:off x="7023600" y="4764240"/>
            <a:ext cx="532800" cy="6458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Rectangle 115"/>
          <p:cNvSpPr/>
          <p:nvPr/>
        </p:nvSpPr>
        <p:spPr>
          <a:xfrm>
            <a:off x="7923600" y="4766040"/>
            <a:ext cx="532800" cy="6458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TextBox 116"/>
          <p:cNvSpPr/>
          <p:nvPr/>
        </p:nvSpPr>
        <p:spPr>
          <a:xfrm>
            <a:off x="5540760" y="5268240"/>
            <a:ext cx="4181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dk1"/>
                </a:solidFill>
                <a:latin typeface="Calibri"/>
              </a:rPr>
              <a:t>p =  6.3040869029cm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117"/>
          <p:cNvSpPr/>
          <p:nvPr/>
        </p:nvSpPr>
        <p:spPr>
          <a:xfrm>
            <a:off x="5551200" y="5741280"/>
            <a:ext cx="3463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dk1"/>
                </a:solidFill>
                <a:latin typeface="Calibri"/>
              </a:rPr>
              <a:t>p =  6.30cm </a:t>
            </a:r>
            <a:r>
              <a:rPr b="0" i="1" lang="en-GB" sz="3600" spc="-1" strike="noStrike">
                <a:solidFill>
                  <a:schemeClr val="dk1"/>
                </a:solidFill>
                <a:latin typeface="Calibri"/>
              </a:rPr>
              <a:t>(3s.f.)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Rectangle 118"/>
          <p:cNvSpPr/>
          <p:nvPr/>
        </p:nvSpPr>
        <p:spPr>
          <a:xfrm>
            <a:off x="1968840" y="1311480"/>
            <a:ext cx="80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p.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4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2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7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2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A SIDE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Worked Example — Missing Side (2)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39"/>
          <p:cNvSpPr/>
          <p:nvPr/>
        </p:nvSpPr>
        <p:spPr>
          <a:xfrm>
            <a:off x="1860840" y="1243440"/>
            <a:ext cx="7316280" cy="499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40"/>
          <p:cNvSpPr/>
          <p:nvPr/>
        </p:nvSpPr>
        <p:spPr>
          <a:xfrm>
            <a:off x="574920" y="6257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When the unknown is on the BOTTOM of the fraction,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divide: H = O ÷ sin θ.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6" name="Picture 2" descr=""/>
          <p:cNvPicPr/>
          <p:nvPr/>
        </p:nvPicPr>
        <p:blipFill>
          <a:blip r:embed="rId1"/>
          <a:stretch/>
        </p:blipFill>
        <p:spPr>
          <a:xfrm>
            <a:off x="3074400" y="1224720"/>
            <a:ext cx="2921760" cy="996840"/>
          </a:xfrm>
          <a:prstGeom prst="rect">
            <a:avLst/>
          </a:prstGeom>
          <a:ln w="0">
            <a:noFill/>
          </a:ln>
        </p:spPr>
      </p:pic>
      <p:sp>
        <p:nvSpPr>
          <p:cNvPr id="537" name="TextBox 68"/>
          <p:cNvSpPr/>
          <p:nvPr/>
        </p:nvSpPr>
        <p:spPr>
          <a:xfrm>
            <a:off x="8028720" y="1114920"/>
            <a:ext cx="32292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Box 69"/>
          <p:cNvSpPr/>
          <p:nvPr/>
        </p:nvSpPr>
        <p:spPr>
          <a:xfrm>
            <a:off x="6340320" y="2113920"/>
            <a:ext cx="33192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Oval 70"/>
          <p:cNvSpPr/>
          <p:nvPr/>
        </p:nvSpPr>
        <p:spPr>
          <a:xfrm>
            <a:off x="2972520" y="1659600"/>
            <a:ext cx="1151640" cy="628920"/>
          </a:xfrm>
          <a:prstGeom prst="ellipse">
            <a:avLst/>
          </a:prstGeom>
          <a:noFill/>
          <a:ln w="38100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0" name="TextBox 71"/>
          <p:cNvSpPr/>
          <p:nvPr/>
        </p:nvSpPr>
        <p:spPr>
          <a:xfrm>
            <a:off x="5556240" y="3480840"/>
            <a:ext cx="796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dk1"/>
                </a:solidFill>
                <a:latin typeface="Calibri"/>
              </a:rPr>
              <a:t>H =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72"/>
          <p:cNvSpPr/>
          <p:nvPr/>
        </p:nvSpPr>
        <p:spPr>
          <a:xfrm>
            <a:off x="6333480" y="3393000"/>
            <a:ext cx="961920" cy="8899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Box 73"/>
          <p:cNvSpPr/>
          <p:nvPr/>
        </p:nvSpPr>
        <p:spPr>
          <a:xfrm>
            <a:off x="2970720" y="3019320"/>
            <a:ext cx="4215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The thing I need to find is H, so…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3" name="Picture 2" descr="C:\Users\kogden2.313\AppData\Local\Microsoft\Windows\Temporary Internet Files\Content.IE5\GUYXGS9U\hand woman[1].jpg"/>
          <p:cNvPicPr/>
          <p:nvPr/>
        </p:nvPicPr>
        <p:blipFill>
          <a:blip r:embed="rId3"/>
          <a:srcRect l="17176" t="0" r="9461" b="19383"/>
          <a:stretch/>
        </p:blipFill>
        <p:spPr>
          <a:xfrm>
            <a:off x="3453480" y="1970640"/>
            <a:ext cx="361080" cy="396720"/>
          </a:xfrm>
          <a:prstGeom prst="rect">
            <a:avLst/>
          </a:prstGeom>
          <a:ln w="0">
            <a:noFill/>
          </a:ln>
        </p:spPr>
      </p:pic>
      <p:sp>
        <p:nvSpPr>
          <p:cNvPr id="544" name="TextBox 75"/>
          <p:cNvSpPr/>
          <p:nvPr/>
        </p:nvSpPr>
        <p:spPr>
          <a:xfrm>
            <a:off x="5682960" y="4645080"/>
            <a:ext cx="1973160" cy="8442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Box 76"/>
          <p:cNvSpPr/>
          <p:nvPr/>
        </p:nvSpPr>
        <p:spPr>
          <a:xfrm>
            <a:off x="3100680" y="4127040"/>
            <a:ext cx="5295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Substituting the items from my diagram…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Rectangle 77"/>
          <p:cNvSpPr/>
          <p:nvPr/>
        </p:nvSpPr>
        <p:spPr>
          <a:xfrm>
            <a:off x="5602680" y="4728960"/>
            <a:ext cx="416520" cy="6458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7" name="Rectangle 78"/>
          <p:cNvSpPr/>
          <p:nvPr/>
        </p:nvSpPr>
        <p:spPr>
          <a:xfrm>
            <a:off x="6692400" y="4668120"/>
            <a:ext cx="532800" cy="3992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8" name="Rectangle 79"/>
          <p:cNvSpPr/>
          <p:nvPr/>
        </p:nvSpPr>
        <p:spPr>
          <a:xfrm>
            <a:off x="6824520" y="5147640"/>
            <a:ext cx="532800" cy="322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9" name="TextBox 80"/>
          <p:cNvSpPr/>
          <p:nvPr/>
        </p:nvSpPr>
        <p:spPr>
          <a:xfrm>
            <a:off x="5768280" y="5375520"/>
            <a:ext cx="3081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</a:rPr>
              <a:t>y =  7.621265434cm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Box 81"/>
          <p:cNvSpPr/>
          <p:nvPr/>
        </p:nvSpPr>
        <p:spPr>
          <a:xfrm>
            <a:off x="5786280" y="5848560"/>
            <a:ext cx="2703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</a:rPr>
              <a:t>y =  7.62cm </a:t>
            </a:r>
            <a:r>
              <a:rPr b="0" i="1" lang="en-GB" sz="2800" spc="-1" strike="noStrike">
                <a:solidFill>
                  <a:schemeClr val="dk1"/>
                </a:solidFill>
                <a:latin typeface="Calibri"/>
              </a:rPr>
              <a:t>(3s.f.)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1" name="Group 7"/>
          <p:cNvGrpSpPr/>
          <p:nvPr/>
        </p:nvGrpSpPr>
        <p:grpSpPr>
          <a:xfrm>
            <a:off x="6947640" y="1137600"/>
            <a:ext cx="2071440" cy="1571400"/>
            <a:chOff x="6947640" y="1137600"/>
            <a:chExt cx="2071440" cy="1571400"/>
          </a:xfrm>
        </p:grpSpPr>
        <p:grpSp>
          <p:nvGrpSpPr>
            <p:cNvPr id="552" name="Group 5"/>
            <p:cNvGrpSpPr/>
            <p:nvPr/>
          </p:nvGrpSpPr>
          <p:grpSpPr>
            <a:xfrm>
              <a:off x="6947640" y="1137600"/>
              <a:ext cx="2071440" cy="1571400"/>
              <a:chOff x="6947640" y="1137600"/>
              <a:chExt cx="2071440" cy="1571400"/>
            </a:xfrm>
          </p:grpSpPr>
          <p:sp>
            <p:nvSpPr>
              <p:cNvPr id="553" name="Right Triangle 85"/>
              <p:cNvSpPr/>
              <p:nvPr/>
            </p:nvSpPr>
            <p:spPr>
              <a:xfrm>
                <a:off x="6947640" y="1137600"/>
                <a:ext cx="2071440" cy="1571400"/>
              </a:xfrm>
              <a:prstGeom prst="rtTriangl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554" name="Rectangle 86"/>
              <p:cNvSpPr/>
              <p:nvPr/>
            </p:nvSpPr>
            <p:spPr>
              <a:xfrm>
                <a:off x="6947640" y="2423520"/>
                <a:ext cx="213840" cy="28548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sp>
          <p:nvSpPr>
            <p:cNvPr id="555" name="Freeform 84"/>
            <p:cNvSpPr/>
            <p:nvPr/>
          </p:nvSpPr>
          <p:spPr>
            <a:xfrm>
              <a:off x="7881120" y="2135880"/>
              <a:ext cx="369360" cy="56016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560160"/>
                <a:gd name="textAreaBottom" fmla="*/ 560520 h 560160"/>
              </a:gdLst>
              <a:ahLst/>
              <a:rect l="textAreaLeft" t="textAreaTop" r="textAreaRight" b="textAreaBottom"/>
              <a:pathLst>
                <a:path w="368709" h="560439">
                  <a:moveTo>
                    <a:pt x="368709" y="0"/>
                  </a:moveTo>
                  <a:cubicBezTo>
                    <a:pt x="228599" y="63910"/>
                    <a:pt x="88490" y="127820"/>
                    <a:pt x="44245" y="221226"/>
                  </a:cubicBezTo>
                  <a:cubicBezTo>
                    <a:pt x="0" y="314633"/>
                    <a:pt x="51619" y="437536"/>
                    <a:pt x="103238" y="560439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556" name="TextBox 8"/>
          <p:cNvSpPr/>
          <p:nvPr/>
        </p:nvSpPr>
        <p:spPr>
          <a:xfrm>
            <a:off x="8023320" y="2280600"/>
            <a:ext cx="48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41°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Box 9"/>
          <p:cNvSpPr/>
          <p:nvPr/>
        </p:nvSpPr>
        <p:spPr>
          <a:xfrm>
            <a:off x="6237360" y="1708920"/>
            <a:ext cx="57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5cm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Box 10"/>
          <p:cNvSpPr/>
          <p:nvPr/>
        </p:nvSpPr>
        <p:spPr>
          <a:xfrm>
            <a:off x="8021880" y="1494720"/>
            <a:ext cx="283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Rectangle 90"/>
          <p:cNvSpPr/>
          <p:nvPr/>
        </p:nvSpPr>
        <p:spPr>
          <a:xfrm>
            <a:off x="1983600" y="1337760"/>
            <a:ext cx="775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2" dur="indefinite" restart="never" nodeType="tmRoot">
          <p:childTnLst>
            <p:seq>
              <p:cTn id="123" dur="indefinite" nodeType="mainSeq">
                <p:childTnLst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3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8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9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1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3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5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81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86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91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A SIDE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38"/>
          <p:cNvSpPr/>
          <p:nvPr/>
        </p:nvSpPr>
        <p:spPr>
          <a:xfrm>
            <a:off x="1261800" y="577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Worked Example — Missing Side (3)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39"/>
          <p:cNvSpPr/>
          <p:nvPr/>
        </p:nvSpPr>
        <p:spPr>
          <a:xfrm>
            <a:off x="1700640" y="1085400"/>
            <a:ext cx="7476120" cy="505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Check: the hypotenuse must always be the LONGEST side.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2" name="Picture 2" descr=""/>
          <p:cNvPicPr/>
          <p:nvPr/>
        </p:nvPicPr>
        <p:blipFill>
          <a:blip r:embed="rId1"/>
          <a:stretch/>
        </p:blipFill>
        <p:spPr>
          <a:xfrm>
            <a:off x="2930760" y="1085400"/>
            <a:ext cx="2921760" cy="996840"/>
          </a:xfrm>
          <a:prstGeom prst="rect">
            <a:avLst/>
          </a:prstGeom>
          <a:ln w="0">
            <a:noFill/>
          </a:ln>
        </p:spPr>
      </p:pic>
      <p:sp>
        <p:nvSpPr>
          <p:cNvPr id="603" name="TextBox 97"/>
          <p:cNvSpPr/>
          <p:nvPr/>
        </p:nvSpPr>
        <p:spPr>
          <a:xfrm>
            <a:off x="7590240" y="2694600"/>
            <a:ext cx="31212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Box 98"/>
          <p:cNvSpPr/>
          <p:nvPr/>
        </p:nvSpPr>
        <p:spPr>
          <a:xfrm>
            <a:off x="6216120" y="1757880"/>
            <a:ext cx="33192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Oval 99"/>
          <p:cNvSpPr/>
          <p:nvPr/>
        </p:nvSpPr>
        <p:spPr>
          <a:xfrm>
            <a:off x="4808880" y="1531080"/>
            <a:ext cx="1151640" cy="628920"/>
          </a:xfrm>
          <a:prstGeom prst="ellipse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6" name="TextBox 100"/>
          <p:cNvSpPr/>
          <p:nvPr/>
        </p:nvSpPr>
        <p:spPr>
          <a:xfrm>
            <a:off x="5414040" y="3341520"/>
            <a:ext cx="775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dk1"/>
                </a:solidFill>
                <a:latin typeface="Calibri"/>
              </a:rPr>
              <a:t>A =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Box 101"/>
          <p:cNvSpPr/>
          <p:nvPr/>
        </p:nvSpPr>
        <p:spPr>
          <a:xfrm>
            <a:off x="6190200" y="3253680"/>
            <a:ext cx="1030680" cy="8899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Box 102"/>
          <p:cNvSpPr/>
          <p:nvPr/>
        </p:nvSpPr>
        <p:spPr>
          <a:xfrm>
            <a:off x="2826720" y="2880000"/>
            <a:ext cx="4204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The thing I need to find is A, so…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9" name="Picture 2" descr="C:\Users\kogden2.313\AppData\Local\Microsoft\Windows\Temporary Internet Files\Content.IE5\GUYXGS9U\hand woman[1].jpg"/>
          <p:cNvPicPr/>
          <p:nvPr/>
        </p:nvPicPr>
        <p:blipFill>
          <a:blip r:embed="rId3"/>
          <a:srcRect l="17176" t="0" r="9461" b="19383"/>
          <a:stretch/>
        </p:blipFill>
        <p:spPr>
          <a:xfrm>
            <a:off x="5312880" y="1825200"/>
            <a:ext cx="361080" cy="396720"/>
          </a:xfrm>
          <a:prstGeom prst="rect">
            <a:avLst/>
          </a:prstGeom>
          <a:ln w="0">
            <a:noFill/>
          </a:ln>
        </p:spPr>
      </p:pic>
      <p:sp>
        <p:nvSpPr>
          <p:cNvPr id="610" name="TextBox 104"/>
          <p:cNvSpPr/>
          <p:nvPr/>
        </p:nvSpPr>
        <p:spPr>
          <a:xfrm>
            <a:off x="5539320" y="4505760"/>
            <a:ext cx="2093040" cy="8442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105"/>
          <p:cNvSpPr/>
          <p:nvPr/>
        </p:nvSpPr>
        <p:spPr>
          <a:xfrm>
            <a:off x="2957040" y="3987720"/>
            <a:ext cx="5295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Substituting the items from my diagram…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ectangle 106"/>
          <p:cNvSpPr/>
          <p:nvPr/>
        </p:nvSpPr>
        <p:spPr>
          <a:xfrm>
            <a:off x="5544360" y="4589640"/>
            <a:ext cx="416520" cy="6458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3" name="Rectangle 107"/>
          <p:cNvSpPr/>
          <p:nvPr/>
        </p:nvSpPr>
        <p:spPr>
          <a:xfrm>
            <a:off x="6537240" y="4528800"/>
            <a:ext cx="532800" cy="3992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4" name="Rectangle 108"/>
          <p:cNvSpPr/>
          <p:nvPr/>
        </p:nvSpPr>
        <p:spPr>
          <a:xfrm>
            <a:off x="6825240" y="5007960"/>
            <a:ext cx="532800" cy="322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5" name="TextBox 109"/>
          <p:cNvSpPr/>
          <p:nvPr/>
        </p:nvSpPr>
        <p:spPr>
          <a:xfrm>
            <a:off x="5601240" y="5235840"/>
            <a:ext cx="2986200" cy="5227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Box 110"/>
          <p:cNvSpPr/>
          <p:nvPr/>
        </p:nvSpPr>
        <p:spPr>
          <a:xfrm>
            <a:off x="5621760" y="5708880"/>
            <a:ext cx="2784960" cy="5227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7" name="Group 7"/>
          <p:cNvGrpSpPr/>
          <p:nvPr/>
        </p:nvGrpSpPr>
        <p:grpSpPr>
          <a:xfrm>
            <a:off x="6890400" y="754200"/>
            <a:ext cx="2071440" cy="1571400"/>
            <a:chOff x="6890400" y="754200"/>
            <a:chExt cx="2071440" cy="1571400"/>
          </a:xfrm>
        </p:grpSpPr>
        <p:grpSp>
          <p:nvGrpSpPr>
            <p:cNvPr id="618" name="Group 5"/>
            <p:cNvGrpSpPr/>
            <p:nvPr/>
          </p:nvGrpSpPr>
          <p:grpSpPr>
            <a:xfrm>
              <a:off x="6890400" y="754200"/>
              <a:ext cx="2071440" cy="1571400"/>
              <a:chOff x="6890400" y="754200"/>
              <a:chExt cx="2071440" cy="1571400"/>
            </a:xfrm>
          </p:grpSpPr>
          <p:sp>
            <p:nvSpPr>
              <p:cNvPr id="619" name="Right Triangle 114"/>
              <p:cNvSpPr/>
              <p:nvPr/>
            </p:nvSpPr>
            <p:spPr>
              <a:xfrm>
                <a:off x="6890400" y="754200"/>
                <a:ext cx="2071440" cy="1571400"/>
              </a:xfrm>
              <a:prstGeom prst="rtTriangl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620" name="Rectangle 115"/>
              <p:cNvSpPr/>
              <p:nvPr/>
            </p:nvSpPr>
            <p:spPr>
              <a:xfrm>
                <a:off x="6890400" y="2040120"/>
                <a:ext cx="213840" cy="28548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sp>
          <p:nvSpPr>
            <p:cNvPr id="621" name="Freeform 113"/>
            <p:cNvSpPr/>
            <p:nvPr/>
          </p:nvSpPr>
          <p:spPr>
            <a:xfrm>
              <a:off x="7823880" y="1752840"/>
              <a:ext cx="369360" cy="56016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560160"/>
                <a:gd name="textAreaBottom" fmla="*/ 560520 h 560160"/>
              </a:gdLst>
              <a:ahLst/>
              <a:rect l="textAreaLeft" t="textAreaTop" r="textAreaRight" b="textAreaBottom"/>
              <a:pathLst>
                <a:path w="368709" h="560439">
                  <a:moveTo>
                    <a:pt x="368709" y="0"/>
                  </a:moveTo>
                  <a:cubicBezTo>
                    <a:pt x="228599" y="63910"/>
                    <a:pt x="88490" y="127820"/>
                    <a:pt x="44245" y="221226"/>
                  </a:cubicBezTo>
                  <a:cubicBezTo>
                    <a:pt x="0" y="314633"/>
                    <a:pt x="51619" y="437536"/>
                    <a:pt x="103238" y="560439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622" name="TextBox 8"/>
          <p:cNvSpPr/>
          <p:nvPr/>
        </p:nvSpPr>
        <p:spPr>
          <a:xfrm>
            <a:off x="7965720" y="1897200"/>
            <a:ext cx="48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22°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Box 9"/>
          <p:cNvSpPr/>
          <p:nvPr/>
        </p:nvSpPr>
        <p:spPr>
          <a:xfrm>
            <a:off x="6037560" y="1397160"/>
            <a:ext cx="74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7.5cm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Box 10"/>
          <p:cNvSpPr/>
          <p:nvPr/>
        </p:nvSpPr>
        <p:spPr>
          <a:xfrm>
            <a:off x="7536600" y="2330640"/>
            <a:ext cx="425880" cy="46116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Box 10"/>
          <p:cNvSpPr/>
          <p:nvPr/>
        </p:nvSpPr>
        <p:spPr>
          <a:xfrm>
            <a:off x="6653880" y="2199960"/>
            <a:ext cx="31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Box 10"/>
          <p:cNvSpPr/>
          <p:nvPr/>
        </p:nvSpPr>
        <p:spPr>
          <a:xfrm>
            <a:off x="8965080" y="2141280"/>
            <a:ext cx="30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Cloud Callout 121"/>
          <p:cNvSpPr/>
          <p:nvPr/>
        </p:nvSpPr>
        <p:spPr>
          <a:xfrm>
            <a:off x="9270000" y="754200"/>
            <a:ext cx="2595240" cy="1500480"/>
          </a:xfrm>
          <a:prstGeom prst="cloudCallout">
            <a:avLst>
              <a:gd name="adj1" fmla="val -100481"/>
              <a:gd name="adj2" fmla="val 71709"/>
            </a:avLst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dk1"/>
                </a:solidFill>
                <a:latin typeface="Calibri"/>
              </a:rPr>
              <a:t>If they describe what’s needed in terms of the CORNERS of the shape, just give it your own letter first before you start!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Rectangle 122"/>
          <p:cNvSpPr/>
          <p:nvPr/>
        </p:nvSpPr>
        <p:spPr>
          <a:xfrm>
            <a:off x="1984320" y="1337760"/>
            <a:ext cx="939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AC.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1" dur="indefinite" restart="never" nodeType="tmRoot">
          <p:childTnLst>
            <p:seq>
              <p:cTn id="202" dur="indefinite" nodeType="mainSeq">
                <p:childTnLst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66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71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76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AN ANGLE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Use the INVERSE Function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Given TWO SIDES and asked for the angle?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Work out the ratio, then use sin⁻¹, cos⁻¹ or tan⁻¹ on your calculator.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41"/>
          <p:cNvSpPr/>
          <p:nvPr/>
        </p:nvSpPr>
        <p:spPr>
          <a:xfrm>
            <a:off x="567000" y="224028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 42"/>
          <p:cNvSpPr/>
          <p:nvPr/>
        </p:nvSpPr>
        <p:spPr>
          <a:xfrm>
            <a:off x="932760" y="24778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Example: O = 8, A = 12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43"/>
          <p:cNvSpPr/>
          <p:nvPr/>
        </p:nvSpPr>
        <p:spPr>
          <a:xfrm>
            <a:off x="914400" y="297180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O and A  →  use TAN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tan θ  =  8 ÷ 12  =  0.6667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θ  =  tan⁻¹ (0.6667)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=  33.7°   (1 d.p.)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44"/>
          <p:cNvSpPr/>
          <p:nvPr/>
        </p:nvSpPr>
        <p:spPr>
          <a:xfrm>
            <a:off x="6190560" y="224028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45"/>
          <p:cNvSpPr/>
          <p:nvPr/>
        </p:nvSpPr>
        <p:spPr>
          <a:xfrm>
            <a:off x="6556320" y="24778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inverse keys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46"/>
          <p:cNvSpPr/>
          <p:nvPr/>
        </p:nvSpPr>
        <p:spPr>
          <a:xfrm>
            <a:off x="6492240" y="304488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 47"/>
          <p:cNvSpPr/>
          <p:nvPr/>
        </p:nvSpPr>
        <p:spPr>
          <a:xfrm>
            <a:off x="6748200" y="292608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sin⁻¹  —  when you used O and 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48"/>
          <p:cNvSpPr/>
          <p:nvPr/>
        </p:nvSpPr>
        <p:spPr>
          <a:xfrm>
            <a:off x="6492240" y="352044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 49"/>
          <p:cNvSpPr/>
          <p:nvPr/>
        </p:nvSpPr>
        <p:spPr>
          <a:xfrm>
            <a:off x="6748200" y="34016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cos⁻¹  —  when you used A and 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50"/>
          <p:cNvSpPr/>
          <p:nvPr/>
        </p:nvSpPr>
        <p:spPr>
          <a:xfrm>
            <a:off x="6492240" y="399600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 51"/>
          <p:cNvSpPr/>
          <p:nvPr/>
        </p:nvSpPr>
        <p:spPr>
          <a:xfrm>
            <a:off x="6748200" y="387720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tan⁻¹  —  when you used O and 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52"/>
          <p:cNvSpPr/>
          <p:nvPr/>
        </p:nvSpPr>
        <p:spPr>
          <a:xfrm>
            <a:off x="6492240" y="447156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 53"/>
          <p:cNvSpPr/>
          <p:nvPr/>
        </p:nvSpPr>
        <p:spPr>
          <a:xfrm>
            <a:off x="6748200" y="435240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On the calculator: SHIFT (or 2nd) then sin / cos / tan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54"/>
          <p:cNvSpPr/>
          <p:nvPr/>
        </p:nvSpPr>
        <p:spPr>
          <a:xfrm>
            <a:off x="6492240" y="494676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 55"/>
          <p:cNvSpPr/>
          <p:nvPr/>
        </p:nvSpPr>
        <p:spPr>
          <a:xfrm>
            <a:off x="6748200" y="482796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Check your calculator is in DEGREE mode!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56"/>
          <p:cNvSpPr/>
          <p:nvPr/>
        </p:nvSpPr>
        <p:spPr>
          <a:xfrm>
            <a:off x="567000" y="5532120"/>
            <a:ext cx="11063880" cy="959760"/>
          </a:xfrm>
          <a:prstGeom prst="roundRect">
            <a:avLst>
              <a:gd name="adj" fmla="val 571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57"/>
          <p:cNvSpPr/>
          <p:nvPr/>
        </p:nvSpPr>
        <p:spPr>
          <a:xfrm>
            <a:off x="841320" y="5532120"/>
            <a:ext cx="10515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Two sides → find the angle with the INVERSE (sin⁻¹, cos⁻¹, tan⁻¹).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37"/>
          <p:cNvSpPr/>
          <p:nvPr/>
        </p:nvSpPr>
        <p:spPr>
          <a:xfrm>
            <a:off x="1272240" y="41760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AN ANGLE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38"/>
          <p:cNvSpPr/>
          <p:nvPr/>
        </p:nvSpPr>
        <p:spPr>
          <a:xfrm>
            <a:off x="1134000" y="55116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Worked Example from the Lesson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39"/>
          <p:cNvSpPr/>
          <p:nvPr/>
        </p:nvSpPr>
        <p:spPr>
          <a:xfrm>
            <a:off x="3014280" y="1024560"/>
            <a:ext cx="7189920" cy="521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Write the ratio as a fraction first, then apply the inverse.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29" name="Group 5"/>
          <p:cNvGrpSpPr/>
          <p:nvPr/>
        </p:nvGrpSpPr>
        <p:grpSpPr>
          <a:xfrm>
            <a:off x="7705440" y="1024560"/>
            <a:ext cx="2071440" cy="1571400"/>
            <a:chOff x="7705440" y="1024560"/>
            <a:chExt cx="2071440" cy="1571400"/>
          </a:xfrm>
        </p:grpSpPr>
        <p:sp>
          <p:nvSpPr>
            <p:cNvPr id="730" name="Right Triangle 45"/>
            <p:cNvSpPr/>
            <p:nvPr/>
          </p:nvSpPr>
          <p:spPr>
            <a:xfrm>
              <a:off x="7705440" y="1024560"/>
              <a:ext cx="2071440" cy="1571400"/>
            </a:xfrm>
            <a:prstGeom prst="rtTriangl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31" name="Rectangle 46"/>
            <p:cNvSpPr/>
            <p:nvPr/>
          </p:nvSpPr>
          <p:spPr>
            <a:xfrm>
              <a:off x="7705440" y="2310480"/>
              <a:ext cx="213840" cy="28548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732" name="TextBox 8"/>
          <p:cNvSpPr/>
          <p:nvPr/>
        </p:nvSpPr>
        <p:spPr>
          <a:xfrm>
            <a:off x="7767000" y="1347840"/>
            <a:ext cx="350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Box 9"/>
          <p:cNvSpPr/>
          <p:nvPr/>
        </p:nvSpPr>
        <p:spPr>
          <a:xfrm>
            <a:off x="7188840" y="1596240"/>
            <a:ext cx="57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6cm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Box 10"/>
          <p:cNvSpPr/>
          <p:nvPr/>
        </p:nvSpPr>
        <p:spPr>
          <a:xfrm>
            <a:off x="8781120" y="1381680"/>
            <a:ext cx="57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8cm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Freeform 50"/>
          <p:cNvSpPr/>
          <p:nvPr/>
        </p:nvSpPr>
        <p:spPr>
          <a:xfrm>
            <a:off x="7724520" y="1492920"/>
            <a:ext cx="590040" cy="452160"/>
          </a:xfrm>
          <a:custGeom>
            <a:avLst/>
            <a:gdLst>
              <a:gd name="textAreaLeft" fmla="*/ 0 w 590040"/>
              <a:gd name="textAreaRight" fmla="*/ 590400 w 590040"/>
              <a:gd name="textAreaTop" fmla="*/ 0 h 452160"/>
              <a:gd name="textAreaBottom" fmla="*/ 452520 h 452160"/>
            </a:gdLst>
            <a:ahLst/>
            <a:rect l="textAreaLeft" t="textAreaTop" r="textAreaRight" b="textAreaBottom"/>
            <a:pathLst>
              <a:path w="589935" h="452283">
                <a:moveTo>
                  <a:pt x="0" y="324464"/>
                </a:moveTo>
                <a:cubicBezTo>
                  <a:pt x="179439" y="388373"/>
                  <a:pt x="358878" y="452283"/>
                  <a:pt x="457200" y="398206"/>
                </a:cubicBezTo>
                <a:cubicBezTo>
                  <a:pt x="555522" y="344129"/>
                  <a:pt x="572728" y="172064"/>
                  <a:pt x="589935" y="0"/>
                </a:cubicBezTo>
              </a:path>
            </a:pathLst>
          </a:cu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36" name="Picture 2" descr=""/>
          <p:cNvPicPr/>
          <p:nvPr/>
        </p:nvPicPr>
        <p:blipFill>
          <a:blip r:embed="rId1"/>
          <a:stretch/>
        </p:blipFill>
        <p:spPr>
          <a:xfrm>
            <a:off x="4010760" y="1097280"/>
            <a:ext cx="2921760" cy="996840"/>
          </a:xfrm>
          <a:prstGeom prst="rect">
            <a:avLst/>
          </a:prstGeom>
          <a:ln w="0">
            <a:noFill/>
          </a:ln>
        </p:spPr>
      </p:pic>
      <p:sp>
        <p:nvSpPr>
          <p:cNvPr id="737" name="TextBox 52"/>
          <p:cNvSpPr/>
          <p:nvPr/>
        </p:nvSpPr>
        <p:spPr>
          <a:xfrm>
            <a:off x="8965080" y="987840"/>
            <a:ext cx="32292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Box 53"/>
          <p:cNvSpPr/>
          <p:nvPr/>
        </p:nvSpPr>
        <p:spPr>
          <a:xfrm>
            <a:off x="7277040" y="1986840"/>
            <a:ext cx="312120" cy="36396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Oval 54"/>
          <p:cNvSpPr/>
          <p:nvPr/>
        </p:nvSpPr>
        <p:spPr>
          <a:xfrm>
            <a:off x="4896000" y="1582560"/>
            <a:ext cx="1151640" cy="628920"/>
          </a:xfrm>
          <a:prstGeom prst="ellipse">
            <a:avLst/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0" name="TextBox 55"/>
          <p:cNvSpPr/>
          <p:nvPr/>
        </p:nvSpPr>
        <p:spPr>
          <a:xfrm>
            <a:off x="5744880" y="3353760"/>
            <a:ext cx="1511640" cy="6458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Box 56"/>
          <p:cNvSpPr/>
          <p:nvPr/>
        </p:nvSpPr>
        <p:spPr>
          <a:xfrm>
            <a:off x="3885840" y="2891880"/>
            <a:ext cx="4247640" cy="461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2" name="Picture 2" descr="C:\Users\kogden2.313\AppData\Local\Microsoft\Windows\Temporary Internet Files\Content.IE5\GUYXGS9U\hand woman[1].jpg"/>
          <p:cNvPicPr/>
          <p:nvPr/>
        </p:nvPicPr>
        <p:blipFill>
          <a:blip r:embed="rId4"/>
          <a:srcRect l="17176" t="0" r="9461" b="19383"/>
          <a:stretch/>
        </p:blipFill>
        <p:spPr>
          <a:xfrm>
            <a:off x="5167440" y="1849320"/>
            <a:ext cx="361080" cy="396720"/>
          </a:xfrm>
          <a:prstGeom prst="rect">
            <a:avLst/>
          </a:prstGeom>
          <a:ln w="0">
            <a:noFill/>
          </a:ln>
        </p:spPr>
      </p:pic>
      <p:sp>
        <p:nvSpPr>
          <p:cNvPr id="743" name="TextBox 58"/>
          <p:cNvSpPr/>
          <p:nvPr/>
        </p:nvSpPr>
        <p:spPr>
          <a:xfrm>
            <a:off x="4037040" y="3999960"/>
            <a:ext cx="5295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Substituting the items from my diagram…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TextBox 59"/>
          <p:cNvSpPr/>
          <p:nvPr/>
        </p:nvSpPr>
        <p:spPr>
          <a:xfrm>
            <a:off x="6464880" y="4948200"/>
            <a:ext cx="2486160" cy="8290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Box 60"/>
          <p:cNvSpPr/>
          <p:nvPr/>
        </p:nvSpPr>
        <p:spPr>
          <a:xfrm>
            <a:off x="6392880" y="5598000"/>
            <a:ext cx="3123720" cy="6458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Box 61"/>
          <p:cNvSpPr/>
          <p:nvPr/>
        </p:nvSpPr>
        <p:spPr>
          <a:xfrm>
            <a:off x="8019720" y="1678320"/>
            <a:ext cx="373680" cy="36900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Box 62"/>
          <p:cNvSpPr/>
          <p:nvPr/>
        </p:nvSpPr>
        <p:spPr>
          <a:xfrm>
            <a:off x="7270200" y="3265920"/>
            <a:ext cx="513000" cy="8845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Box 63"/>
          <p:cNvSpPr/>
          <p:nvPr/>
        </p:nvSpPr>
        <p:spPr>
          <a:xfrm>
            <a:off x="5721840" y="4372200"/>
            <a:ext cx="2258640" cy="78048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Rectangle 64"/>
          <p:cNvSpPr/>
          <p:nvPr/>
        </p:nvSpPr>
        <p:spPr>
          <a:xfrm>
            <a:off x="6464880" y="4446000"/>
            <a:ext cx="416520" cy="6458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0" name="Rectangle 65"/>
          <p:cNvSpPr/>
          <p:nvPr/>
        </p:nvSpPr>
        <p:spPr>
          <a:xfrm>
            <a:off x="7247160" y="4463640"/>
            <a:ext cx="532800" cy="322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1" name="Rectangle 66"/>
          <p:cNvSpPr/>
          <p:nvPr/>
        </p:nvSpPr>
        <p:spPr>
          <a:xfrm>
            <a:off x="7250040" y="4829760"/>
            <a:ext cx="532800" cy="322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2" name="Rectangle 67"/>
          <p:cNvSpPr/>
          <p:nvPr/>
        </p:nvSpPr>
        <p:spPr>
          <a:xfrm>
            <a:off x="3019680" y="1177200"/>
            <a:ext cx="79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6" dur="indefinite" restart="never" nodeType="tmRoot">
          <p:childTnLst>
            <p:seq>
              <p:cTn id="287" dur="indefinite" nodeType="mainSeq">
                <p:childTnLst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21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2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3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4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5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6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7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8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9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0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1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2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3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49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54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59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APPLICATIONS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Angles of Elevation &amp; Depression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Both angles are measured from the HORIZONTAL.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Draw the right-angled triangle, then use SOHCAHTOA.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41"/>
          <p:cNvSpPr/>
          <p:nvPr/>
        </p:nvSpPr>
        <p:spPr>
          <a:xfrm>
            <a:off x="56700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Angle of ELEVATION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43"/>
          <p:cNvSpPr/>
          <p:nvPr/>
        </p:nvSpPr>
        <p:spPr>
          <a:xfrm>
            <a:off x="914400" y="3017520"/>
            <a:ext cx="47545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Cambria"/>
                <a:ea typeface="Cambria"/>
              </a:rPr>
              <a:t>Looking UP at something.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Cambria"/>
                <a:ea typeface="Cambria"/>
              </a:rPr>
              <a:t>Measured from the horizontal, upwards.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e.g. a ladder against a wall; looking up at a balloon.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44"/>
          <p:cNvSpPr/>
          <p:nvPr/>
        </p:nvSpPr>
        <p:spPr>
          <a:xfrm>
            <a:off x="619056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Text 45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Angle of DEPRESSION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Text 46"/>
          <p:cNvSpPr/>
          <p:nvPr/>
        </p:nvSpPr>
        <p:spPr>
          <a:xfrm>
            <a:off x="6537960" y="3017520"/>
            <a:ext cx="47545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Cambria"/>
                <a:ea typeface="Cambria"/>
              </a:rPr>
              <a:t>Looking DOWN at something.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Cambria"/>
                <a:ea typeface="Cambria"/>
              </a:rPr>
              <a:t>Measured from the horizontal, downwards.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e.g. from the top of a cliff down to a boat.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47"/>
          <p:cNvSpPr/>
          <p:nvPr/>
        </p:nvSpPr>
        <p:spPr>
          <a:xfrm>
            <a:off x="567000" y="55321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The angle of depression from the top equals the angle of elevation from the bottom (alternate angles).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These all involve an ANGLE — so use SOHCAHTOA.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Label O, A, H from the given angle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Pick the ratio: SOH, CAH or TOA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Side wanted → rearrange;  angle wanted → inverse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Round as asked (3 s.f. or 1 d.p.)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39"/>
          <p:cNvSpPr/>
          <p:nvPr/>
        </p:nvSpPr>
        <p:spPr>
          <a:xfrm>
            <a:off x="2561760" y="1398960"/>
            <a:ext cx="70682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3" name="Image 0" descr="/tmp/work/clean/ts-54.png"/>
          <p:cNvPicPr/>
          <p:nvPr/>
        </p:nvPicPr>
        <p:blipFill>
          <a:blip r:embed="rId1"/>
          <a:stretch/>
        </p:blipFill>
        <p:spPr>
          <a:xfrm>
            <a:off x="2625480" y="1463040"/>
            <a:ext cx="69400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39"/>
          <p:cNvSpPr/>
          <p:nvPr/>
        </p:nvSpPr>
        <p:spPr>
          <a:xfrm>
            <a:off x="1185480" y="1398960"/>
            <a:ext cx="9820440" cy="425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4" name="Image 0" descr="/tmp/work/clean/ts-55.png"/>
          <p:cNvPicPr/>
          <p:nvPr/>
        </p:nvPicPr>
        <p:blipFill>
          <a:blip r:embed="rId1"/>
          <a:stretch/>
        </p:blipFill>
        <p:spPr>
          <a:xfrm>
            <a:off x="1249560" y="1463040"/>
            <a:ext cx="9692280" cy="412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39"/>
          <p:cNvSpPr/>
          <p:nvPr/>
        </p:nvSpPr>
        <p:spPr>
          <a:xfrm>
            <a:off x="1334160" y="1398960"/>
            <a:ext cx="95227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5" name="Image 0" descr="/tmp/work/clean/ts-56.png"/>
          <p:cNvPicPr/>
          <p:nvPr/>
        </p:nvPicPr>
        <p:blipFill>
          <a:blip r:embed="rId1"/>
          <a:stretch/>
        </p:blipFill>
        <p:spPr>
          <a:xfrm>
            <a:off x="1398240" y="1463040"/>
            <a:ext cx="939456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39"/>
          <p:cNvSpPr/>
          <p:nvPr/>
        </p:nvSpPr>
        <p:spPr>
          <a:xfrm>
            <a:off x="1185480" y="1398960"/>
            <a:ext cx="9820440" cy="427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6" name="Image 0" descr="/tmp/work/clean/ts-57.png"/>
          <p:cNvPicPr/>
          <p:nvPr/>
        </p:nvPicPr>
        <p:blipFill>
          <a:blip r:embed="rId1"/>
          <a:stretch/>
        </p:blipFill>
        <p:spPr>
          <a:xfrm>
            <a:off x="1249560" y="1463040"/>
            <a:ext cx="9692280" cy="414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39"/>
          <p:cNvSpPr/>
          <p:nvPr/>
        </p:nvSpPr>
        <p:spPr>
          <a:xfrm>
            <a:off x="2447280" y="1398960"/>
            <a:ext cx="729648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7" name="Image 0" descr="/tmp/work/clean/ts-59.png"/>
          <p:cNvPicPr/>
          <p:nvPr/>
        </p:nvPicPr>
        <p:blipFill>
          <a:blip r:embed="rId1"/>
          <a:stretch/>
        </p:blipFill>
        <p:spPr>
          <a:xfrm>
            <a:off x="2511360" y="1463040"/>
            <a:ext cx="71686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39"/>
          <p:cNvSpPr/>
          <p:nvPr/>
        </p:nvSpPr>
        <p:spPr>
          <a:xfrm>
            <a:off x="2573280" y="1398960"/>
            <a:ext cx="70448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8" name="Image 0" descr="/tmp/work/clean/ts-60.png"/>
          <p:cNvPicPr/>
          <p:nvPr/>
        </p:nvPicPr>
        <p:blipFill>
          <a:blip r:embed="rId1"/>
          <a:stretch/>
        </p:blipFill>
        <p:spPr>
          <a:xfrm>
            <a:off x="2637360" y="1463040"/>
            <a:ext cx="691704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39"/>
          <p:cNvSpPr/>
          <p:nvPr/>
        </p:nvSpPr>
        <p:spPr>
          <a:xfrm>
            <a:off x="2084040" y="1398960"/>
            <a:ext cx="802368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9" name="Image 0" descr="/tmp/work/clean/ts-61.png"/>
          <p:cNvPicPr/>
          <p:nvPr/>
        </p:nvPicPr>
        <p:blipFill>
          <a:blip r:embed="rId1"/>
          <a:stretch/>
        </p:blipFill>
        <p:spPr>
          <a:xfrm>
            <a:off x="2147760" y="1463040"/>
            <a:ext cx="789552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39"/>
          <p:cNvSpPr/>
          <p:nvPr/>
        </p:nvSpPr>
        <p:spPr>
          <a:xfrm>
            <a:off x="2936880" y="1398960"/>
            <a:ext cx="63176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0" name="Image 0" descr="/tmp/work/clean/ts-62.png"/>
          <p:cNvPicPr/>
          <p:nvPr/>
        </p:nvPicPr>
        <p:blipFill>
          <a:blip r:embed="rId1"/>
          <a:stretch/>
        </p:blipFill>
        <p:spPr>
          <a:xfrm>
            <a:off x="3000960" y="1463040"/>
            <a:ext cx="61894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39"/>
          <p:cNvSpPr/>
          <p:nvPr/>
        </p:nvSpPr>
        <p:spPr>
          <a:xfrm>
            <a:off x="1374120" y="1398960"/>
            <a:ext cx="944316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1" name="Image 0" descr="/tmp/work/clean/ts-63.png"/>
          <p:cNvPicPr/>
          <p:nvPr/>
        </p:nvPicPr>
        <p:blipFill>
          <a:blip r:embed="rId1"/>
          <a:stretch/>
        </p:blipFill>
        <p:spPr>
          <a:xfrm>
            <a:off x="1438200" y="1463040"/>
            <a:ext cx="931500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39"/>
          <p:cNvSpPr/>
          <p:nvPr/>
        </p:nvSpPr>
        <p:spPr>
          <a:xfrm>
            <a:off x="1985040" y="1398960"/>
            <a:ext cx="82213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2" name="Image 0" descr="/tmp/work/clean/ts-65.png"/>
          <p:cNvPicPr/>
          <p:nvPr/>
        </p:nvPicPr>
        <p:blipFill>
          <a:blip r:embed="rId1"/>
          <a:stretch/>
        </p:blipFill>
        <p:spPr>
          <a:xfrm>
            <a:off x="2049120" y="1463040"/>
            <a:ext cx="809316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39"/>
          <p:cNvSpPr/>
          <p:nvPr/>
        </p:nvSpPr>
        <p:spPr>
          <a:xfrm>
            <a:off x="4184640" y="960120"/>
            <a:ext cx="4445640" cy="568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3" name="Image 0" descr="/tmp/work/clean/ts-66.png"/>
          <p:cNvPicPr/>
          <p:nvPr/>
        </p:nvPicPr>
        <p:blipFill>
          <a:blip r:embed="rId1"/>
          <a:stretch/>
        </p:blipFill>
        <p:spPr>
          <a:xfrm>
            <a:off x="4248720" y="627840"/>
            <a:ext cx="4296960" cy="595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1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3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4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Label O, A, H from the ANGLE — never from the right angle.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5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6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SOH: sin θ = O/H.   CAH: cos θ = A/H.   TOA: tan θ = O/A.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7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8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Pick the ratio using the two sides you KNOW and WANT.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0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Finding a side: substitute and rearrange (multiply or divide).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1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2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Finding an angle: work out the ratio, then use sin⁻¹, cos⁻¹ or tan⁻¹ — in DEGREE mode.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3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an angle involved → SOHCAHTOA.  Only sides and a right angle → Pythagoras.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LibreOffice/24.2.7.2$Linux_X86_64 LibreOffice_project/420$Build-2</Application>
  <AppVersion>15.0000</AppVersion>
  <Words>1461</Words>
  <Paragraphs>295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2026-07-14T07:20:37Z</dcterms:created>
  <dc:creator>Zahra Sheikh Ali</dc:creator>
  <dc:description/>
  <dc:language>en-US</dc:language>
  <cp:lastModifiedBy>zahraa sheik ali</cp:lastModifiedBy>
  <dcterms:modified xsi:type="dcterms:W3CDTF">2026-07-25T09:34:12Z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26</vt:r8>
  </property>
  <property fmtid="{D5CDD505-2E9C-101B-9397-08002B2CF9AE}" pid="3" name="PresentationFormat">
    <vt:lpwstr>Custom</vt:lpwstr>
  </property>
  <property fmtid="{D5CDD505-2E9C-101B-9397-08002B2CF9AE}" pid="4" name="Slides">
    <vt:r8>26</vt:r8>
  </property>
</Properties>
</file>