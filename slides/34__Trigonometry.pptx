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5" d="100"/>
          <a:sy n="95" d="100"/>
        </p:scale>
        <p:origin x="-178" y="24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D98B3B-BD72-46D1-B61A-626F20E9A65B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F3082-AAB4-4CD8-81AF-0D00C9A810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510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4.jpe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4.jpe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17.png"/><Relationship Id="rId4" Type="http://schemas.openxmlformats.org/officeDocument/2006/relationships/image" Target="../media/image12.png"/><Relationship Id="rId9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9440" y="10058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800" b="1" i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SOH CAH TOA</a:t>
            </a:r>
            <a:endParaRPr lang="en-US" sz="3800" dirty="0"/>
          </a:p>
        </p:txBody>
      </p:sp>
      <p:sp>
        <p:nvSpPr>
          <p:cNvPr id="38" name="Shape 36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39" name="Text 37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0" name="Text 38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Trigonometry — SOHCAHTOA</a:t>
            </a:r>
            <a:endParaRPr lang="en-US" sz="3800" dirty="0"/>
          </a:p>
        </p:txBody>
      </p:sp>
      <p:sp>
        <p:nvSpPr>
          <p:cNvPr id="43" name="Text 41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Opposite, Adjacent &amp; Hypotenuse · sin, cos, tan · Finding Sides · Finding Angles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Sides AND Angles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Trigonometry links the SIDES and the ANGLES of a right-angled triangle.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question involves an angle (other than the right angle), use SOHCAHTOA — not Pythagoras.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Labelling O, A, H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SOH CAH TOA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the ratio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 missing SIDE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 missing ANGLE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· adjacent · hypotenuse · sine · cosine · tangent · inverse · elevation · depression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Labelling the Sides: O, A, H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650658" y="1353312"/>
            <a:ext cx="4890379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666" y="1417320"/>
            <a:ext cx="4762363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from the ANGLE you are given.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is opposite the right angle; O is opposite the angle; A is next to it.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Label Every Time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at the angle θ, never at the right angle.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labels CHANGE if the angle changes.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1463040" y="2560320"/>
            <a:ext cx="2926080" cy="2377440"/>
          </a:xfrm>
          <a:custGeom>
            <a:avLst/>
            <a:gdLst/>
            <a:ahLst/>
            <a:cxnLst/>
            <a:rect l="l" t="t" r="r" b="b"/>
            <a:pathLst>
              <a:path w="2926080" h="2377440">
                <a:moveTo>
                  <a:pt x="0" y="2377440"/>
                </a:moveTo>
                <a:lnTo>
                  <a:pt x="2926080" y="2377440"/>
                </a:lnTo>
                <a:lnTo>
                  <a:pt x="0" y="0"/>
                </a:lnTo>
                <a:close/>
              </a:path>
            </a:pathLst>
          </a:custGeom>
          <a:solidFill>
            <a:srgbClr val="EEF1E8">
              <a:alpha val="65000"/>
            </a:srgbClr>
          </a:solidFill>
          <a:ln w="27940">
            <a:solidFill>
              <a:srgbClr val="1C2A2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463040" y="4736592"/>
            <a:ext cx="201168" cy="201168"/>
          </a:xfrm>
          <a:prstGeom prst="rect">
            <a:avLst/>
          </a:prstGeom>
          <a:ln w="17780">
            <a:solidFill>
              <a:srgbClr val="1C2A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3566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Opposite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1463040" y="498348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Adjacent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2691994" y="3035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4160520" y="4617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760720" y="2377440"/>
            <a:ext cx="5870448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080760" y="2468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HYPOTENUSE (H)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080760" y="28346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the RIGHT ANGLE — always the longest side. It never changes.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5760720" y="3611880"/>
            <a:ext cx="5870448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6080760" y="3703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OPPOSITE (O)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080760" y="40690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the angle θ — it does not touch θ.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760720" y="4846320"/>
            <a:ext cx="5870448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6080760" y="49377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ADJACENT (A)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080760" y="53035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to the angle θ (and not the hypotenuse).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566928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find H first (opposite the right angle), then O (opposite θ) — the last one is A.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SOH · CAH · TOA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ratios. Pick the one that uses the two sides in your question.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01168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566928" y="2148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SOH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978408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θ  =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>
            <a:off x="2624328" y="30632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2624328" y="3337560"/>
            <a:ext cx="91440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24328" y="33649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2000" dirty="0"/>
          </a:p>
        </p:txBody>
      </p:sp>
      <p:sp>
        <p:nvSpPr>
          <p:cNvPr id="49" name="Shape 47"/>
          <p:cNvSpPr/>
          <p:nvPr/>
        </p:nvSpPr>
        <p:spPr>
          <a:xfrm>
            <a:off x="4315968" y="201168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315968" y="2148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CAH</a:t>
            </a:r>
            <a:endParaRPr lang="en-US" sz="2400" dirty="0"/>
          </a:p>
        </p:txBody>
      </p:sp>
      <p:sp>
        <p:nvSpPr>
          <p:cNvPr id="51" name="Text 49"/>
          <p:cNvSpPr/>
          <p:nvPr/>
        </p:nvSpPr>
        <p:spPr>
          <a:xfrm>
            <a:off x="4727448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 θ  =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6373368" y="30632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6373368" y="3337560"/>
            <a:ext cx="91440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73368" y="33649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2000" dirty="0"/>
          </a:p>
        </p:txBody>
      </p:sp>
      <p:sp>
        <p:nvSpPr>
          <p:cNvPr id="55" name="Shape 53"/>
          <p:cNvSpPr/>
          <p:nvPr/>
        </p:nvSpPr>
        <p:spPr>
          <a:xfrm>
            <a:off x="8065008" y="201168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8065008" y="2148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TOA</a:t>
            </a:r>
            <a:endParaRPr lang="en-US" sz="2400" dirty="0"/>
          </a:p>
        </p:txBody>
      </p:sp>
      <p:sp>
        <p:nvSpPr>
          <p:cNvPr id="57" name="Text 55"/>
          <p:cNvSpPr/>
          <p:nvPr/>
        </p:nvSpPr>
        <p:spPr>
          <a:xfrm>
            <a:off x="8476488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 θ  =</a:t>
            </a:r>
            <a:endParaRPr lang="en-US" sz="1900" dirty="0"/>
          </a:p>
        </p:txBody>
      </p:sp>
      <p:sp>
        <p:nvSpPr>
          <p:cNvPr id="58" name="Text 56"/>
          <p:cNvSpPr/>
          <p:nvPr/>
        </p:nvSpPr>
        <p:spPr>
          <a:xfrm>
            <a:off x="10122408" y="30632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2000" dirty="0"/>
          </a:p>
        </p:txBody>
      </p:sp>
      <p:sp>
        <p:nvSpPr>
          <p:cNvPr id="59" name="Shape 57"/>
          <p:cNvSpPr/>
          <p:nvPr/>
        </p:nvSpPr>
        <p:spPr>
          <a:xfrm>
            <a:off x="10122408" y="3337560"/>
            <a:ext cx="91440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122408" y="33649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61" name="Shape 59"/>
          <p:cNvSpPr/>
          <p:nvPr/>
        </p:nvSpPr>
        <p:spPr>
          <a:xfrm>
            <a:off x="1371600" y="4594860"/>
            <a:ext cx="1920240" cy="1600200"/>
          </a:xfrm>
          <a:prstGeom prst="triangle">
            <a:avLst/>
          </a:prstGeom>
          <a:solidFill>
            <a:srgbClr val="EEF1E8"/>
          </a:solidFill>
          <a:ln w="31750">
            <a:solidFill>
              <a:srgbClr val="1C2A2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51660" y="5394960"/>
            <a:ext cx="960120" cy="0"/>
          </a:xfrm>
          <a:prstGeom prst="line">
            <a:avLst/>
          </a:prstGeom>
          <a:noFill/>
          <a:ln w="25400">
            <a:solidFill>
              <a:srgbClr val="1C2A2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331720" y="5394960"/>
            <a:ext cx="0" cy="800100"/>
          </a:xfrm>
          <a:prstGeom prst="line">
            <a:avLst/>
          </a:prstGeom>
          <a:noFill/>
          <a:ln w="25400">
            <a:solidFill>
              <a:srgbClr val="1C2A2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874520" y="4649724"/>
            <a:ext cx="91440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2000" dirty="0"/>
          </a:p>
        </p:txBody>
      </p:sp>
      <p:sp>
        <p:nvSpPr>
          <p:cNvPr id="65" name="Text 63"/>
          <p:cNvSpPr/>
          <p:nvPr/>
        </p:nvSpPr>
        <p:spPr>
          <a:xfrm>
            <a:off x="1394460" y="5413248"/>
            <a:ext cx="914400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2354580" y="5413248"/>
            <a:ext cx="914400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5120640" y="4594860"/>
            <a:ext cx="1920240" cy="1600200"/>
          </a:xfrm>
          <a:prstGeom prst="triangle">
            <a:avLst/>
          </a:prstGeom>
          <a:solidFill>
            <a:srgbClr val="FBF3DD"/>
          </a:solidFill>
          <a:ln w="31750">
            <a:solidFill>
              <a:srgbClr val="1C2A2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600700" y="5394960"/>
            <a:ext cx="960120" cy="0"/>
          </a:xfrm>
          <a:prstGeom prst="line">
            <a:avLst/>
          </a:prstGeom>
          <a:noFill/>
          <a:ln w="25400">
            <a:solidFill>
              <a:srgbClr val="1C2A2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080760" y="5394960"/>
            <a:ext cx="0" cy="800100"/>
          </a:xfrm>
          <a:prstGeom prst="line">
            <a:avLst/>
          </a:prstGeom>
          <a:noFill/>
          <a:ln w="25400">
            <a:solidFill>
              <a:srgbClr val="1C2A22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623560" y="4649724"/>
            <a:ext cx="91440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71" name="Text 69"/>
          <p:cNvSpPr/>
          <p:nvPr/>
        </p:nvSpPr>
        <p:spPr>
          <a:xfrm>
            <a:off x="5143500" y="5413248"/>
            <a:ext cx="914400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800" dirty="0"/>
          </a:p>
        </p:txBody>
      </p:sp>
      <p:sp>
        <p:nvSpPr>
          <p:cNvPr id="72" name="Text 70"/>
          <p:cNvSpPr/>
          <p:nvPr/>
        </p:nvSpPr>
        <p:spPr>
          <a:xfrm>
            <a:off x="6103620" y="5413248"/>
            <a:ext cx="914400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800" dirty="0"/>
          </a:p>
        </p:txBody>
      </p:sp>
      <p:sp>
        <p:nvSpPr>
          <p:cNvPr id="73" name="Shape 71"/>
          <p:cNvSpPr/>
          <p:nvPr/>
        </p:nvSpPr>
        <p:spPr>
          <a:xfrm>
            <a:off x="8869680" y="4594860"/>
            <a:ext cx="1920240" cy="1600200"/>
          </a:xfrm>
          <a:prstGeom prst="triangle">
            <a:avLst/>
          </a:prstGeom>
          <a:solidFill>
            <a:srgbClr val="EEF1E8"/>
          </a:solidFill>
          <a:ln w="31750">
            <a:solidFill>
              <a:srgbClr val="1C2A2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349740" y="5394960"/>
            <a:ext cx="960120" cy="0"/>
          </a:xfrm>
          <a:prstGeom prst="line">
            <a:avLst/>
          </a:prstGeom>
          <a:noFill/>
          <a:ln w="25400">
            <a:solidFill>
              <a:srgbClr val="1C2A2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829800" y="5394960"/>
            <a:ext cx="0" cy="800100"/>
          </a:xfrm>
          <a:prstGeom prst="line">
            <a:avLst/>
          </a:prstGeom>
          <a:noFill/>
          <a:ln w="25400">
            <a:solidFill>
              <a:srgbClr val="1C2A2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372600" y="4649724"/>
            <a:ext cx="91440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2000" dirty="0"/>
          </a:p>
        </p:txBody>
      </p:sp>
      <p:sp>
        <p:nvSpPr>
          <p:cNvPr id="77" name="Text 75"/>
          <p:cNvSpPr/>
          <p:nvPr/>
        </p:nvSpPr>
        <p:spPr>
          <a:xfrm>
            <a:off x="8892540" y="5413248"/>
            <a:ext cx="914400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9852660" y="5413248"/>
            <a:ext cx="914400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800" dirty="0"/>
          </a:p>
        </p:txBody>
      </p:sp>
      <p:sp>
        <p:nvSpPr>
          <p:cNvPr id="79" name="Text 77"/>
          <p:cNvSpPr/>
          <p:nvPr/>
        </p:nvSpPr>
        <p:spPr>
          <a:xfrm>
            <a:off x="566928" y="6355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what you want: O = S × H,   H = O ÷ S,   and so on — the same formula triangle idea.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the Right Ratio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Given: angle 30° and the hypotenuse 10. Want: the opposite.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and H → use SIN.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30° = O ÷ 10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= 10 × sin 30° = 5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side you are NOT using does not appear — ignore it.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the three sides O, A, H from the given angle.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two sides in the question: the one you KNOW and the one you WANT.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two letters tell you the ratio:  O &amp; H → SIN,   A &amp; H → COS,   O &amp; A → TAN.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equation, then rearrange to find the unknown.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&amp; H → SIN.   A &amp; H → COS.   O &amp; A → TAN.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RATIOS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Sine, Cosine and Tangent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020572" y="1133856"/>
            <a:ext cx="7617203" cy="5010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ratio compares two sides of the right-angled triangle.</a:t>
            </a:r>
            <a:endParaRPr lang="en-US" sz="1300" dirty="0"/>
          </a:p>
        </p:txBody>
      </p:sp>
      <p:sp>
        <p:nvSpPr>
          <p:cNvPr id="45" name="Rectangle 44"/>
          <p:cNvSpPr/>
          <p:nvPr/>
        </p:nvSpPr>
        <p:spPr>
          <a:xfrm>
            <a:off x="2020572" y="1145706"/>
            <a:ext cx="45579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Task – Use your calculator to find the following</a:t>
            </a:r>
            <a:endParaRPr lang="en-GB" dirty="0"/>
          </a:p>
        </p:txBody>
      </p:sp>
      <p:sp>
        <p:nvSpPr>
          <p:cNvPr id="46" name="Text Box 6"/>
          <p:cNvSpPr txBox="1">
            <a:spLocks noChangeArrowheads="1"/>
          </p:cNvSpPr>
          <p:nvPr/>
        </p:nvSpPr>
        <p:spPr bwMode="auto">
          <a:xfrm>
            <a:off x="2026271" y="1806047"/>
            <a:ext cx="156164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smtClean="0"/>
              <a:t>1) sin 79° =</a:t>
            </a:r>
          </a:p>
        </p:txBody>
      </p:sp>
      <p:sp>
        <p:nvSpPr>
          <p:cNvPr id="47" name="Rectangle 7"/>
          <p:cNvSpPr>
            <a:spLocks noChangeArrowheads="1"/>
          </p:cNvSpPr>
          <p:nvPr/>
        </p:nvSpPr>
        <p:spPr bwMode="auto">
          <a:xfrm>
            <a:off x="3794746" y="1806047"/>
            <a:ext cx="1066800" cy="4572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GB" sz="2400" smtClean="0">
              <a:solidFill>
                <a:srgbClr val="010066"/>
              </a:solidFill>
            </a:endParaRPr>
          </a:p>
        </p:txBody>
      </p:sp>
      <p:sp>
        <p:nvSpPr>
          <p:cNvPr id="48" name="Text Box 8"/>
          <p:cNvSpPr txBox="1">
            <a:spLocks noChangeArrowheads="1"/>
          </p:cNvSpPr>
          <p:nvPr/>
        </p:nvSpPr>
        <p:spPr bwMode="auto">
          <a:xfrm>
            <a:off x="3853484" y="1806047"/>
            <a:ext cx="94773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b="1" smtClean="0">
                <a:solidFill>
                  <a:srgbClr val="FF6600"/>
                </a:solidFill>
              </a:rPr>
              <a:t>0.982</a:t>
            </a:r>
          </a:p>
        </p:txBody>
      </p:sp>
      <p:sp>
        <p:nvSpPr>
          <p:cNvPr id="49" name="Text Box 9"/>
          <p:cNvSpPr txBox="1">
            <a:spLocks noChangeArrowheads="1"/>
          </p:cNvSpPr>
          <p:nvPr/>
        </p:nvSpPr>
        <p:spPr bwMode="auto">
          <a:xfrm>
            <a:off x="6293471" y="1806047"/>
            <a:ext cx="161839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smtClean="0"/>
              <a:t>2) cos 28° =</a:t>
            </a:r>
          </a:p>
        </p:txBody>
      </p:sp>
      <p:sp>
        <p:nvSpPr>
          <p:cNvPr id="50" name="Rectangle 10"/>
          <p:cNvSpPr>
            <a:spLocks noChangeArrowheads="1"/>
          </p:cNvSpPr>
          <p:nvPr/>
        </p:nvSpPr>
        <p:spPr bwMode="auto">
          <a:xfrm>
            <a:off x="8061946" y="1806047"/>
            <a:ext cx="1066800" cy="4572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GB" sz="2400" smtClean="0">
              <a:solidFill>
                <a:srgbClr val="010066"/>
              </a:solidFill>
            </a:endParaRPr>
          </a:p>
        </p:txBody>
      </p:sp>
      <p:sp>
        <p:nvSpPr>
          <p:cNvPr id="51" name="Text Box 11"/>
          <p:cNvSpPr txBox="1">
            <a:spLocks noChangeArrowheads="1"/>
          </p:cNvSpPr>
          <p:nvPr/>
        </p:nvSpPr>
        <p:spPr bwMode="auto">
          <a:xfrm>
            <a:off x="8120684" y="1806047"/>
            <a:ext cx="94773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b="1" smtClean="0">
                <a:solidFill>
                  <a:srgbClr val="FF6600"/>
                </a:solidFill>
              </a:rPr>
              <a:t>0.883</a:t>
            </a:r>
          </a:p>
        </p:txBody>
      </p:sp>
      <p:sp>
        <p:nvSpPr>
          <p:cNvPr id="52" name="Text Box 12"/>
          <p:cNvSpPr txBox="1">
            <a:spLocks noChangeArrowheads="1"/>
          </p:cNvSpPr>
          <p:nvPr/>
        </p:nvSpPr>
        <p:spPr bwMode="auto">
          <a:xfrm>
            <a:off x="2026271" y="2577572"/>
            <a:ext cx="161717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smtClean="0"/>
              <a:t>3) tan 65° =</a:t>
            </a:r>
          </a:p>
        </p:txBody>
      </p:sp>
      <p:sp>
        <p:nvSpPr>
          <p:cNvPr id="53" name="Rectangle 13"/>
          <p:cNvSpPr>
            <a:spLocks noChangeArrowheads="1"/>
          </p:cNvSpPr>
          <p:nvPr/>
        </p:nvSpPr>
        <p:spPr bwMode="auto">
          <a:xfrm>
            <a:off x="3794746" y="2577572"/>
            <a:ext cx="1066800" cy="4572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GB" sz="2400" smtClean="0">
              <a:solidFill>
                <a:srgbClr val="010066"/>
              </a:solidFill>
            </a:endParaRPr>
          </a:p>
        </p:txBody>
      </p:sp>
      <p:sp>
        <p:nvSpPr>
          <p:cNvPr id="54" name="Text Box 14"/>
          <p:cNvSpPr txBox="1">
            <a:spLocks noChangeArrowheads="1"/>
          </p:cNvSpPr>
          <p:nvPr/>
        </p:nvSpPr>
        <p:spPr bwMode="auto">
          <a:xfrm>
            <a:off x="3939209" y="2577572"/>
            <a:ext cx="7778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b="1" smtClean="0">
                <a:solidFill>
                  <a:srgbClr val="FF6600"/>
                </a:solidFill>
              </a:rPr>
              <a:t>2.14</a:t>
            </a:r>
          </a:p>
        </p:txBody>
      </p:sp>
      <p:sp>
        <p:nvSpPr>
          <p:cNvPr id="55" name="Text Box 15"/>
          <p:cNvSpPr txBox="1">
            <a:spLocks noChangeArrowheads="1"/>
          </p:cNvSpPr>
          <p:nvPr/>
        </p:nvSpPr>
        <p:spPr bwMode="auto">
          <a:xfrm>
            <a:off x="6293471" y="2577572"/>
            <a:ext cx="161839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smtClean="0"/>
              <a:t>4) cos 11° =</a:t>
            </a:r>
          </a:p>
        </p:txBody>
      </p:sp>
      <p:sp>
        <p:nvSpPr>
          <p:cNvPr id="56" name="Rectangle 16"/>
          <p:cNvSpPr>
            <a:spLocks noChangeArrowheads="1"/>
          </p:cNvSpPr>
          <p:nvPr/>
        </p:nvSpPr>
        <p:spPr bwMode="auto">
          <a:xfrm>
            <a:off x="8061946" y="2577572"/>
            <a:ext cx="1066800" cy="4572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GB" sz="2400" smtClean="0">
              <a:solidFill>
                <a:srgbClr val="010066"/>
              </a:solidFill>
            </a:endParaRPr>
          </a:p>
        </p:txBody>
      </p:sp>
      <p:sp>
        <p:nvSpPr>
          <p:cNvPr id="57" name="Text Box 17"/>
          <p:cNvSpPr txBox="1">
            <a:spLocks noChangeArrowheads="1"/>
          </p:cNvSpPr>
          <p:nvPr/>
        </p:nvSpPr>
        <p:spPr bwMode="auto">
          <a:xfrm>
            <a:off x="8120684" y="2577572"/>
            <a:ext cx="94773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b="1" smtClean="0">
                <a:solidFill>
                  <a:srgbClr val="FF6600"/>
                </a:solidFill>
              </a:rPr>
              <a:t>0.982</a:t>
            </a:r>
          </a:p>
        </p:txBody>
      </p:sp>
      <p:sp>
        <p:nvSpPr>
          <p:cNvPr id="58" name="Text Box 18"/>
          <p:cNvSpPr txBox="1">
            <a:spLocks noChangeArrowheads="1"/>
          </p:cNvSpPr>
          <p:nvPr/>
        </p:nvSpPr>
        <p:spPr bwMode="auto">
          <a:xfrm>
            <a:off x="2026271" y="3339572"/>
            <a:ext cx="156164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smtClean="0"/>
              <a:t>5) sin 34° =</a:t>
            </a:r>
          </a:p>
        </p:txBody>
      </p:sp>
      <p:sp>
        <p:nvSpPr>
          <p:cNvPr id="59" name="Rectangle 19"/>
          <p:cNvSpPr>
            <a:spLocks noChangeArrowheads="1"/>
          </p:cNvSpPr>
          <p:nvPr/>
        </p:nvSpPr>
        <p:spPr bwMode="auto">
          <a:xfrm>
            <a:off x="3794746" y="3339572"/>
            <a:ext cx="1066800" cy="4572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GB" sz="2400" smtClean="0">
              <a:solidFill>
                <a:srgbClr val="010066"/>
              </a:solidFill>
            </a:endParaRPr>
          </a:p>
        </p:txBody>
      </p:sp>
      <p:sp>
        <p:nvSpPr>
          <p:cNvPr id="60" name="Text Box 20"/>
          <p:cNvSpPr txBox="1">
            <a:spLocks noChangeArrowheads="1"/>
          </p:cNvSpPr>
          <p:nvPr/>
        </p:nvSpPr>
        <p:spPr bwMode="auto">
          <a:xfrm>
            <a:off x="3853484" y="3339572"/>
            <a:ext cx="94773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b="1" smtClean="0">
                <a:solidFill>
                  <a:srgbClr val="FF6600"/>
                </a:solidFill>
              </a:rPr>
              <a:t>0.559</a:t>
            </a:r>
          </a:p>
        </p:txBody>
      </p:sp>
      <p:sp>
        <p:nvSpPr>
          <p:cNvPr id="61" name="Text Box 21"/>
          <p:cNvSpPr txBox="1">
            <a:spLocks noChangeArrowheads="1"/>
          </p:cNvSpPr>
          <p:nvPr/>
        </p:nvSpPr>
        <p:spPr bwMode="auto">
          <a:xfrm>
            <a:off x="6293471" y="3339572"/>
            <a:ext cx="161717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smtClean="0"/>
              <a:t>6) tan 84° =</a:t>
            </a:r>
          </a:p>
        </p:txBody>
      </p:sp>
      <p:sp>
        <p:nvSpPr>
          <p:cNvPr id="62" name="Rectangle 22"/>
          <p:cNvSpPr>
            <a:spLocks noChangeArrowheads="1"/>
          </p:cNvSpPr>
          <p:nvPr/>
        </p:nvSpPr>
        <p:spPr bwMode="auto">
          <a:xfrm>
            <a:off x="8061946" y="3339572"/>
            <a:ext cx="1066800" cy="4572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GB" sz="2400" smtClean="0">
              <a:solidFill>
                <a:srgbClr val="010066"/>
              </a:solidFill>
            </a:endParaRPr>
          </a:p>
        </p:txBody>
      </p:sp>
      <p:sp>
        <p:nvSpPr>
          <p:cNvPr id="63" name="Text Box 23"/>
          <p:cNvSpPr txBox="1">
            <a:spLocks noChangeArrowheads="1"/>
          </p:cNvSpPr>
          <p:nvPr/>
        </p:nvSpPr>
        <p:spPr bwMode="auto">
          <a:xfrm>
            <a:off x="8206409" y="3339572"/>
            <a:ext cx="7778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b="1" smtClean="0">
                <a:solidFill>
                  <a:srgbClr val="FF6600"/>
                </a:solidFill>
              </a:rPr>
              <a:t>9.51</a:t>
            </a:r>
          </a:p>
        </p:txBody>
      </p:sp>
      <p:sp>
        <p:nvSpPr>
          <p:cNvPr id="64" name="Text Box 24"/>
          <p:cNvSpPr txBox="1">
            <a:spLocks noChangeArrowheads="1"/>
          </p:cNvSpPr>
          <p:nvPr/>
        </p:nvSpPr>
        <p:spPr bwMode="auto">
          <a:xfrm>
            <a:off x="2026271" y="4101572"/>
            <a:ext cx="161717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smtClean="0"/>
              <a:t>7) tan 49° =</a:t>
            </a:r>
          </a:p>
        </p:txBody>
      </p:sp>
      <p:sp>
        <p:nvSpPr>
          <p:cNvPr id="65" name="Rectangle 25"/>
          <p:cNvSpPr>
            <a:spLocks noChangeArrowheads="1"/>
          </p:cNvSpPr>
          <p:nvPr/>
        </p:nvSpPr>
        <p:spPr bwMode="auto">
          <a:xfrm>
            <a:off x="3794746" y="4101572"/>
            <a:ext cx="1066800" cy="4572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GB" sz="2400" smtClean="0">
              <a:solidFill>
                <a:srgbClr val="010066"/>
              </a:solidFill>
            </a:endParaRPr>
          </a:p>
        </p:txBody>
      </p:sp>
      <p:sp>
        <p:nvSpPr>
          <p:cNvPr id="66" name="Text Box 26"/>
          <p:cNvSpPr txBox="1">
            <a:spLocks noChangeArrowheads="1"/>
          </p:cNvSpPr>
          <p:nvPr/>
        </p:nvSpPr>
        <p:spPr bwMode="auto">
          <a:xfrm>
            <a:off x="3939209" y="4101572"/>
            <a:ext cx="7778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b="1" smtClean="0">
                <a:solidFill>
                  <a:srgbClr val="FF6600"/>
                </a:solidFill>
              </a:rPr>
              <a:t>1.15</a:t>
            </a:r>
          </a:p>
        </p:txBody>
      </p:sp>
      <p:sp>
        <p:nvSpPr>
          <p:cNvPr id="67" name="Text Box 27"/>
          <p:cNvSpPr txBox="1">
            <a:spLocks noChangeArrowheads="1"/>
          </p:cNvSpPr>
          <p:nvPr/>
        </p:nvSpPr>
        <p:spPr bwMode="auto">
          <a:xfrm>
            <a:off x="6293471" y="4101572"/>
            <a:ext cx="156164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smtClean="0"/>
              <a:t>8) sin 62° =</a:t>
            </a:r>
          </a:p>
        </p:txBody>
      </p:sp>
      <p:sp>
        <p:nvSpPr>
          <p:cNvPr id="68" name="Rectangle 28"/>
          <p:cNvSpPr>
            <a:spLocks noChangeArrowheads="1"/>
          </p:cNvSpPr>
          <p:nvPr/>
        </p:nvSpPr>
        <p:spPr bwMode="auto">
          <a:xfrm>
            <a:off x="8061946" y="4101572"/>
            <a:ext cx="1066800" cy="4572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GB" sz="2400" smtClean="0">
              <a:solidFill>
                <a:srgbClr val="010066"/>
              </a:solidFill>
            </a:endParaRPr>
          </a:p>
        </p:txBody>
      </p:sp>
      <p:sp>
        <p:nvSpPr>
          <p:cNvPr id="69" name="Text Box 29"/>
          <p:cNvSpPr txBox="1">
            <a:spLocks noChangeArrowheads="1"/>
          </p:cNvSpPr>
          <p:nvPr/>
        </p:nvSpPr>
        <p:spPr bwMode="auto">
          <a:xfrm>
            <a:off x="8120684" y="4101572"/>
            <a:ext cx="94773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b="1" smtClean="0">
                <a:solidFill>
                  <a:srgbClr val="FF6600"/>
                </a:solidFill>
              </a:rPr>
              <a:t>0.883</a:t>
            </a:r>
          </a:p>
        </p:txBody>
      </p:sp>
      <p:sp>
        <p:nvSpPr>
          <p:cNvPr id="70" name="Text Box 30"/>
          <p:cNvSpPr txBox="1">
            <a:spLocks noChangeArrowheads="1"/>
          </p:cNvSpPr>
          <p:nvPr/>
        </p:nvSpPr>
        <p:spPr bwMode="auto">
          <a:xfrm>
            <a:off x="2026271" y="4863572"/>
            <a:ext cx="146168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smtClean="0"/>
              <a:t>9) tan 6° =</a:t>
            </a:r>
          </a:p>
        </p:txBody>
      </p:sp>
      <p:sp>
        <p:nvSpPr>
          <p:cNvPr id="71" name="Rectangle 31"/>
          <p:cNvSpPr>
            <a:spLocks noChangeArrowheads="1"/>
          </p:cNvSpPr>
          <p:nvPr/>
        </p:nvSpPr>
        <p:spPr bwMode="auto">
          <a:xfrm>
            <a:off x="3789810" y="4863572"/>
            <a:ext cx="1066800" cy="4572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GB" sz="2400" smtClean="0">
              <a:solidFill>
                <a:srgbClr val="010066"/>
              </a:solidFill>
            </a:endParaRPr>
          </a:p>
        </p:txBody>
      </p:sp>
      <p:sp>
        <p:nvSpPr>
          <p:cNvPr id="72" name="Text Box 32"/>
          <p:cNvSpPr txBox="1">
            <a:spLocks noChangeArrowheads="1"/>
          </p:cNvSpPr>
          <p:nvPr/>
        </p:nvSpPr>
        <p:spPr bwMode="auto">
          <a:xfrm>
            <a:off x="3848548" y="4863572"/>
            <a:ext cx="94773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b="1" smtClean="0">
                <a:solidFill>
                  <a:srgbClr val="FF6600"/>
                </a:solidFill>
              </a:rPr>
              <a:t>0.105</a:t>
            </a:r>
          </a:p>
        </p:txBody>
      </p:sp>
      <p:sp>
        <p:nvSpPr>
          <p:cNvPr id="73" name="Text Box 33"/>
          <p:cNvSpPr txBox="1">
            <a:spLocks noChangeArrowheads="1"/>
          </p:cNvSpPr>
          <p:nvPr/>
        </p:nvSpPr>
        <p:spPr bwMode="auto">
          <a:xfrm>
            <a:off x="6293471" y="4863572"/>
            <a:ext cx="274690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smtClean="0"/>
              <a:t>10) cos           = 0.559</a:t>
            </a:r>
          </a:p>
        </p:txBody>
      </p:sp>
      <p:sp>
        <p:nvSpPr>
          <p:cNvPr id="74" name="Rectangle 34"/>
          <p:cNvSpPr>
            <a:spLocks noChangeArrowheads="1"/>
          </p:cNvSpPr>
          <p:nvPr/>
        </p:nvSpPr>
        <p:spPr bwMode="auto">
          <a:xfrm>
            <a:off x="7304882" y="4863572"/>
            <a:ext cx="605763" cy="4572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GB" sz="2400" smtClean="0">
              <a:solidFill>
                <a:srgbClr val="010066"/>
              </a:solidFill>
            </a:endParaRPr>
          </a:p>
        </p:txBody>
      </p:sp>
      <p:sp>
        <p:nvSpPr>
          <p:cNvPr id="75" name="Rectangle 36"/>
          <p:cNvSpPr>
            <a:spLocks noChangeArrowheads="1"/>
          </p:cNvSpPr>
          <p:nvPr/>
        </p:nvSpPr>
        <p:spPr bwMode="auto">
          <a:xfrm>
            <a:off x="7304882" y="4863572"/>
            <a:ext cx="64611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b="1" dirty="0" smtClean="0">
                <a:solidFill>
                  <a:srgbClr val="FF6600"/>
                </a:solidFill>
              </a:rPr>
              <a:t>56°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1" grpId="0"/>
      <p:bldP spid="54" grpId="0"/>
      <p:bldP spid="57" grpId="0"/>
      <p:bldP spid="60" grpId="0"/>
      <p:bldP spid="63" grpId="0"/>
      <p:bldP spid="66" grpId="0"/>
      <p:bldP spid="69" grpId="0"/>
      <p:bldP spid="72" grpId="0"/>
      <p:bldP spid="7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 SIDE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Missing Side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941095" y="1235888"/>
            <a:ext cx="8263609" cy="500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23620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Label, choose the ratio, substitute, then rearrange.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when the unknown is on top; divide when it is underneath.</a:t>
            </a:r>
            <a:endParaRPr lang="en-US" sz="1300" dirty="0"/>
          </a:p>
        </p:txBody>
      </p:sp>
      <p:grpSp>
        <p:nvGrpSpPr>
          <p:cNvPr id="97" name="Group 5"/>
          <p:cNvGrpSpPr>
            <a:grpSpLocks/>
          </p:cNvGrpSpPr>
          <p:nvPr/>
        </p:nvGrpSpPr>
        <p:grpSpPr bwMode="auto">
          <a:xfrm>
            <a:off x="6709109" y="1272648"/>
            <a:ext cx="2071687" cy="1571625"/>
            <a:chOff x="3143240" y="785794"/>
            <a:chExt cx="2071702" cy="1571636"/>
          </a:xfrm>
        </p:grpSpPr>
        <p:sp>
          <p:nvSpPr>
            <p:cNvPr id="98" name="Right Triangle 97"/>
            <p:cNvSpPr/>
            <p:nvPr/>
          </p:nvSpPr>
          <p:spPr>
            <a:xfrm>
              <a:off x="3143240" y="785794"/>
              <a:ext cx="2071702" cy="1571636"/>
            </a:xfrm>
            <a:prstGeom prst="rt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99" name="Rectangle 98"/>
            <p:cNvSpPr/>
            <p:nvPr/>
          </p:nvSpPr>
          <p:spPr>
            <a:xfrm>
              <a:off x="3143240" y="2071678"/>
              <a:ext cx="214314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sp>
        <p:nvSpPr>
          <p:cNvPr id="100" name="TextBox 8"/>
          <p:cNvSpPr txBox="1">
            <a:spLocks noChangeArrowheads="1"/>
          </p:cNvSpPr>
          <p:nvPr/>
        </p:nvSpPr>
        <p:spPr bwMode="auto">
          <a:xfrm>
            <a:off x="6709109" y="1629835"/>
            <a:ext cx="49725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 smtClean="0">
                <a:solidFill>
                  <a:prstClr val="black"/>
                </a:solidFill>
                <a:latin typeface="+mn-lt"/>
              </a:rPr>
              <a:t>38°</a:t>
            </a:r>
            <a:endParaRPr lang="en-US" altLang="en-US" smtClean="0">
              <a:solidFill>
                <a:prstClr val="black"/>
              </a:solidFill>
              <a:latin typeface="+mn-lt"/>
            </a:endParaRPr>
          </a:p>
        </p:txBody>
      </p:sp>
      <p:sp>
        <p:nvSpPr>
          <p:cNvPr id="101" name="TextBox 9"/>
          <p:cNvSpPr txBox="1">
            <a:spLocks noChangeArrowheads="1"/>
          </p:cNvSpPr>
          <p:nvPr/>
        </p:nvSpPr>
        <p:spPr bwMode="auto">
          <a:xfrm>
            <a:off x="6280484" y="1844148"/>
            <a:ext cx="3079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 smtClean="0">
                <a:solidFill>
                  <a:prstClr val="black"/>
                </a:solidFill>
                <a:latin typeface="+mn-lt"/>
              </a:rPr>
              <a:t>p</a:t>
            </a:r>
            <a:endParaRPr lang="en-US" altLang="en-US" smtClean="0">
              <a:solidFill>
                <a:prstClr val="black"/>
              </a:solidFill>
              <a:latin typeface="+mn-lt"/>
            </a:endParaRPr>
          </a:p>
        </p:txBody>
      </p:sp>
      <p:sp>
        <p:nvSpPr>
          <p:cNvPr id="102" name="TextBox 10"/>
          <p:cNvSpPr txBox="1">
            <a:spLocks noChangeArrowheads="1"/>
          </p:cNvSpPr>
          <p:nvPr/>
        </p:nvSpPr>
        <p:spPr bwMode="auto">
          <a:xfrm>
            <a:off x="7780671" y="1629835"/>
            <a:ext cx="58381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 smtClean="0">
                <a:solidFill>
                  <a:prstClr val="black"/>
                </a:solidFill>
                <a:latin typeface="+mn-lt"/>
              </a:rPr>
              <a:t>8cm</a:t>
            </a:r>
            <a:endParaRPr lang="en-US" altLang="en-US" smtClean="0">
              <a:solidFill>
                <a:prstClr val="black"/>
              </a:solidFill>
              <a:latin typeface="+mn-lt"/>
            </a:endParaRPr>
          </a:p>
        </p:txBody>
      </p:sp>
      <p:sp>
        <p:nvSpPr>
          <p:cNvPr id="103" name="Freeform 102"/>
          <p:cNvSpPr/>
          <p:nvPr/>
        </p:nvSpPr>
        <p:spPr>
          <a:xfrm>
            <a:off x="6728159" y="1740960"/>
            <a:ext cx="590550" cy="452438"/>
          </a:xfrm>
          <a:custGeom>
            <a:avLst/>
            <a:gdLst>
              <a:gd name="connsiteX0" fmla="*/ 0 w 589935"/>
              <a:gd name="connsiteY0" fmla="*/ 324464 h 452283"/>
              <a:gd name="connsiteX1" fmla="*/ 457200 w 589935"/>
              <a:gd name="connsiteY1" fmla="*/ 398206 h 452283"/>
              <a:gd name="connsiteX2" fmla="*/ 589935 w 589935"/>
              <a:gd name="connsiteY2" fmla="*/ 0 h 452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89935" h="452283">
                <a:moveTo>
                  <a:pt x="0" y="324464"/>
                </a:moveTo>
                <a:cubicBezTo>
                  <a:pt x="179439" y="388373"/>
                  <a:pt x="358878" y="452283"/>
                  <a:pt x="457200" y="398206"/>
                </a:cubicBezTo>
                <a:cubicBezTo>
                  <a:pt x="555522" y="344129"/>
                  <a:pt x="572728" y="172064"/>
                  <a:pt x="589935" y="0"/>
                </a:cubicBezTo>
              </a:path>
            </a:pathLst>
          </a:cu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prstClr val="black"/>
              </a:solidFill>
            </a:endParaRPr>
          </a:p>
        </p:txBody>
      </p:sp>
      <p:pic>
        <p:nvPicPr>
          <p:cNvPr id="10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4320" y="1345493"/>
            <a:ext cx="2922262" cy="997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5" name="TextBox 104"/>
          <p:cNvSpPr txBox="1"/>
          <p:nvPr/>
        </p:nvSpPr>
        <p:spPr>
          <a:xfrm>
            <a:off x="7965791" y="1235888"/>
            <a:ext cx="328936" cy="36933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dirty="0" smtClean="0"/>
              <a:t>H</a:t>
            </a:r>
            <a:endParaRPr lang="en-GB" dirty="0"/>
          </a:p>
        </p:txBody>
      </p:sp>
      <p:sp>
        <p:nvSpPr>
          <p:cNvPr id="106" name="TextBox 105"/>
          <p:cNvSpPr txBox="1"/>
          <p:nvPr/>
        </p:nvSpPr>
        <p:spPr>
          <a:xfrm>
            <a:off x="6278119" y="2234708"/>
            <a:ext cx="317716" cy="36933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dirty="0"/>
              <a:t>A</a:t>
            </a:r>
          </a:p>
        </p:txBody>
      </p:sp>
      <p:sp>
        <p:nvSpPr>
          <p:cNvPr id="107" name="Oval 106"/>
          <p:cNvSpPr/>
          <p:nvPr/>
        </p:nvSpPr>
        <p:spPr>
          <a:xfrm>
            <a:off x="3899387" y="1830759"/>
            <a:ext cx="1152128" cy="629273"/>
          </a:xfrm>
          <a:prstGeom prst="ellipse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TextBox 107"/>
          <p:cNvSpPr txBox="1"/>
          <p:nvPr/>
        </p:nvSpPr>
        <p:spPr>
          <a:xfrm>
            <a:off x="5492326" y="3601732"/>
            <a:ext cx="7857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 smtClean="0"/>
              <a:t>A =</a:t>
            </a:r>
            <a:endParaRPr lang="en-GB" sz="3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9" name="TextBox 108"/>
              <p:cNvSpPr txBox="1"/>
              <p:nvPr/>
            </p:nvSpPr>
            <p:spPr>
              <a:xfrm>
                <a:off x="6273624" y="3601732"/>
                <a:ext cx="21115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3600" dirty="0" err="1" smtClean="0"/>
                  <a:t>cos</a:t>
                </a:r>
                <a14:m>
                  <m:oMath xmlns:m="http://schemas.openxmlformats.org/officeDocument/2006/math">
                    <m:r>
                      <a:rPr lang="el-GR" sz="3600" i="1" dirty="0" smtClean="0">
                        <a:latin typeface="Cambria Math"/>
                      </a:rPr>
                      <m:t>𝜃</m:t>
                    </m:r>
                  </m:oMath>
                </a14:m>
                <a:r>
                  <a:rPr lang="en-GB" sz="3600" dirty="0" smtClean="0"/>
                  <a:t>   ×  H</a:t>
                </a:r>
                <a:endParaRPr lang="en-GB" sz="3600" dirty="0"/>
              </a:p>
            </p:txBody>
          </p:sp>
        </mc:Choice>
        <mc:Fallback>
          <p:sp>
            <p:nvSpPr>
              <p:cNvPr id="109" name="TextBox 10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3624" y="3601732"/>
                <a:ext cx="2111540" cy="646331"/>
              </a:xfrm>
              <a:prstGeom prst="rect">
                <a:avLst/>
              </a:prstGeom>
              <a:blipFill rotWithShape="1">
                <a:blip r:embed="rId4"/>
                <a:stretch>
                  <a:fillRect l="-8646" t="-14151" r="-7781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" name="TextBox 109"/>
          <p:cNvSpPr txBox="1"/>
          <p:nvPr/>
        </p:nvSpPr>
        <p:spPr>
          <a:xfrm>
            <a:off x="2889556" y="3140067"/>
            <a:ext cx="42459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smtClean="0"/>
              <a:t>The thing I need to find is A, so…</a:t>
            </a:r>
            <a:endParaRPr lang="en-GB" sz="2400" dirty="0"/>
          </a:p>
        </p:txBody>
      </p:sp>
      <p:pic>
        <p:nvPicPr>
          <p:cNvPr id="111" name="Picture 2" descr="C:\Users\kogden2.313\AppData\Local\Microsoft\Windows\Temporary Internet Files\Content.IE5\GUYXGS9U\hand woman[1].jpg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77" r="9442" b="19410"/>
          <a:stretch/>
        </p:blipFill>
        <p:spPr bwMode="auto">
          <a:xfrm>
            <a:off x="4294509" y="1720544"/>
            <a:ext cx="361507" cy="397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2" name="TextBox 111"/>
          <p:cNvSpPr txBox="1"/>
          <p:nvPr/>
        </p:nvSpPr>
        <p:spPr>
          <a:xfrm>
            <a:off x="5519755" y="4766021"/>
            <a:ext cx="28289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 smtClean="0"/>
              <a:t>p =  cos38 ×  8</a:t>
            </a:r>
            <a:endParaRPr lang="en-GB" sz="3600" dirty="0"/>
          </a:p>
        </p:txBody>
      </p:sp>
      <p:sp>
        <p:nvSpPr>
          <p:cNvPr id="113" name="TextBox 112"/>
          <p:cNvSpPr txBox="1"/>
          <p:nvPr/>
        </p:nvSpPr>
        <p:spPr>
          <a:xfrm>
            <a:off x="3014320" y="4248063"/>
            <a:ext cx="53483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smtClean="0"/>
              <a:t>Substituting the items from my diagram…</a:t>
            </a:r>
            <a:endParaRPr lang="en-GB" sz="2400" dirty="0"/>
          </a:p>
        </p:txBody>
      </p:sp>
      <p:sp>
        <p:nvSpPr>
          <p:cNvPr id="114" name="Rectangle 113"/>
          <p:cNvSpPr/>
          <p:nvPr/>
        </p:nvSpPr>
        <p:spPr>
          <a:xfrm>
            <a:off x="5519755" y="4766021"/>
            <a:ext cx="416827" cy="64633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5" name="Rectangle 114"/>
          <p:cNvSpPr/>
          <p:nvPr/>
        </p:nvSpPr>
        <p:spPr>
          <a:xfrm>
            <a:off x="7023434" y="4764280"/>
            <a:ext cx="533226" cy="64633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6" name="Rectangle 115"/>
          <p:cNvSpPr/>
          <p:nvPr/>
        </p:nvSpPr>
        <p:spPr>
          <a:xfrm>
            <a:off x="7923586" y="4766021"/>
            <a:ext cx="533226" cy="64633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TextBox 116"/>
          <p:cNvSpPr txBox="1"/>
          <p:nvPr/>
        </p:nvSpPr>
        <p:spPr>
          <a:xfrm>
            <a:off x="5519768" y="5268336"/>
            <a:ext cx="4224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 smtClean="0"/>
              <a:t>p =  6.3040869029cm</a:t>
            </a:r>
            <a:endParaRPr lang="en-GB" sz="3600" dirty="0"/>
          </a:p>
        </p:txBody>
      </p:sp>
      <p:sp>
        <p:nvSpPr>
          <p:cNvPr id="118" name="TextBox 117"/>
          <p:cNvSpPr txBox="1"/>
          <p:nvPr/>
        </p:nvSpPr>
        <p:spPr>
          <a:xfrm>
            <a:off x="5540436" y="5741368"/>
            <a:ext cx="34856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 smtClean="0"/>
              <a:t>p =  6.30cm </a:t>
            </a:r>
            <a:r>
              <a:rPr lang="en-GB" sz="3600" i="1" dirty="0" smtClean="0"/>
              <a:t>(3s.f.)</a:t>
            </a:r>
            <a:endParaRPr lang="en-GB" sz="3600" i="1" dirty="0"/>
          </a:p>
        </p:txBody>
      </p:sp>
      <p:sp>
        <p:nvSpPr>
          <p:cNvPr id="119" name="Rectangle 118"/>
          <p:cNvSpPr/>
          <p:nvPr/>
        </p:nvSpPr>
        <p:spPr>
          <a:xfrm>
            <a:off x="1962928" y="1311581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 smtClean="0"/>
              <a:t>Find p.</a:t>
            </a:r>
            <a:endParaRPr lang="en-GB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4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4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4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" grpId="0" animBg="1"/>
      <p:bldP spid="106" grpId="0" animBg="1"/>
      <p:bldP spid="107" grpId="0" animBg="1"/>
      <p:bldP spid="108" grpId="0"/>
      <p:bldP spid="109" grpId="0"/>
      <p:bldP spid="110" grpId="0"/>
      <p:bldP spid="112" grpId="0"/>
      <p:bldP spid="113" grpId="0"/>
      <p:bldP spid="114" grpId="0" animBg="1"/>
      <p:bldP spid="115" grpId="0" animBg="1"/>
      <p:bldP spid="116" grpId="0" animBg="1"/>
      <p:bldP spid="117" grpId="0"/>
      <p:bldP spid="11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 SIDE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Missing Side (2)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860884" y="1243584"/>
            <a:ext cx="7316492" cy="4992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74949" y="6257063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unknown is on the BOTTOM of the fraction,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divide: H = O ÷ sin θ.</a:t>
            </a:r>
            <a:endParaRPr lang="en-US" sz="1300" dirty="0"/>
          </a:p>
        </p:txBody>
      </p:sp>
      <p:pic>
        <p:nvPicPr>
          <p:cNvPr id="6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4293" y="1224626"/>
            <a:ext cx="2922262" cy="997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9" name="TextBox 68"/>
          <p:cNvSpPr txBox="1"/>
          <p:nvPr/>
        </p:nvSpPr>
        <p:spPr>
          <a:xfrm>
            <a:off x="8025764" y="1115021"/>
            <a:ext cx="328936" cy="36933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dirty="0" smtClean="0"/>
              <a:t>H</a:t>
            </a:r>
            <a:endParaRPr lang="en-GB" dirty="0"/>
          </a:p>
        </p:txBody>
      </p:sp>
      <p:sp>
        <p:nvSpPr>
          <p:cNvPr id="70" name="TextBox 69"/>
          <p:cNvSpPr txBox="1"/>
          <p:nvPr/>
        </p:nvSpPr>
        <p:spPr>
          <a:xfrm>
            <a:off x="6338092" y="2113841"/>
            <a:ext cx="336952" cy="36933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dirty="0" smtClean="0"/>
              <a:t>O</a:t>
            </a:r>
            <a:endParaRPr lang="en-GB" dirty="0"/>
          </a:p>
        </p:txBody>
      </p:sp>
      <p:sp>
        <p:nvSpPr>
          <p:cNvPr id="71" name="Oval 70"/>
          <p:cNvSpPr/>
          <p:nvPr/>
        </p:nvSpPr>
        <p:spPr>
          <a:xfrm>
            <a:off x="2972625" y="1659600"/>
            <a:ext cx="1152128" cy="629273"/>
          </a:xfrm>
          <a:prstGeom prst="ellipse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TextBox 71"/>
          <p:cNvSpPr txBox="1"/>
          <p:nvPr/>
        </p:nvSpPr>
        <p:spPr>
          <a:xfrm>
            <a:off x="5552299" y="3480865"/>
            <a:ext cx="8050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H</a:t>
            </a:r>
            <a:r>
              <a:rPr lang="en-GB" sz="3600" dirty="0" smtClean="0"/>
              <a:t> =</a:t>
            </a:r>
            <a:endParaRPr lang="en-GB" sz="3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/>
              <p:cNvSpPr txBox="1"/>
              <p:nvPr/>
            </p:nvSpPr>
            <p:spPr>
              <a:xfrm>
                <a:off x="6333597" y="3393001"/>
                <a:ext cx="962123" cy="8903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GB" sz="2800" b="0" i="0" smtClean="0"/>
                            <m:t>O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GB" sz="2800" b="0" i="0" smtClean="0"/>
                            <m:t>sin</m:t>
                          </m:r>
                          <m:r>
                            <m:rPr>
                              <m:nor/>
                            </m:rPr>
                            <a:rPr lang="en-GB" sz="2800" b="0" i="0" smtClean="0"/>
                            <m:t> </m:t>
                          </m:r>
                          <m:r>
                            <a:rPr lang="en-GB" sz="2800" b="0" i="1" smtClean="0">
                              <a:latin typeface="Cambria Math"/>
                              <a:ea typeface="Cambria Math"/>
                            </a:rPr>
                            <m:t>𝜃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3597" y="3393001"/>
                <a:ext cx="962123" cy="890372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TextBox 73"/>
          <p:cNvSpPr txBox="1"/>
          <p:nvPr/>
        </p:nvSpPr>
        <p:spPr>
          <a:xfrm>
            <a:off x="2949529" y="3019200"/>
            <a:ext cx="42580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smtClean="0"/>
              <a:t>The thing I need to find is H, so…</a:t>
            </a:r>
            <a:endParaRPr lang="en-GB" sz="2400" dirty="0"/>
          </a:p>
        </p:txBody>
      </p:sp>
      <p:pic>
        <p:nvPicPr>
          <p:cNvPr id="75" name="Picture 2" descr="C:\Users\kogden2.313\AppData\Local\Microsoft\Windows\Temporary Internet Files\Content.IE5\GUYXGS9U\hand woman[1].jpg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77" r="9442" b="19410"/>
          <a:stretch/>
        </p:blipFill>
        <p:spPr bwMode="auto">
          <a:xfrm>
            <a:off x="3453370" y="1970709"/>
            <a:ext cx="361507" cy="397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/>
              <p:cNvSpPr txBox="1"/>
              <p:nvPr/>
            </p:nvSpPr>
            <p:spPr>
              <a:xfrm>
                <a:off x="5682836" y="4645154"/>
                <a:ext cx="1973617" cy="8446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3600" dirty="0"/>
                  <a:t>y</a:t>
                </a:r>
                <a:r>
                  <a:rPr lang="en-GB" sz="3600" dirty="0" smtClean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800" i="1">
                            <a:latin typeface="Cambria Math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GB" sz="2800" b="0" i="0" smtClean="0">
                            <a:latin typeface="Cambria Math"/>
                          </a:rPr>
                          <m:t>5</m:t>
                        </m:r>
                      </m:num>
                      <m:den>
                        <m:r>
                          <m:rPr>
                            <m:nor/>
                          </m:rPr>
                          <a:rPr lang="en-GB" sz="2800"/>
                          <m:t>sin</m:t>
                        </m:r>
                        <m:r>
                          <a:rPr lang="en-GB" sz="2800" b="0" i="1" smtClean="0">
                            <a:latin typeface="Cambria Math"/>
                          </a:rPr>
                          <m:t>(41)</m:t>
                        </m:r>
                      </m:den>
                    </m:f>
                  </m:oMath>
                </a14:m>
                <a:r>
                  <a:rPr lang="en-GB" sz="3600" dirty="0" smtClean="0"/>
                  <a:t>  </a:t>
                </a:r>
                <a:endParaRPr lang="en-GB" sz="3600" dirty="0"/>
              </a:p>
            </p:txBody>
          </p:sp>
        </mc:Choice>
        <mc:Fallback>
          <p:sp>
            <p:nvSpPr>
              <p:cNvPr id="76" name="TextBox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2836" y="4645154"/>
                <a:ext cx="1973617" cy="844655"/>
              </a:xfrm>
              <a:prstGeom prst="rect">
                <a:avLst/>
              </a:prstGeom>
              <a:blipFill rotWithShape="1">
                <a:blip r:embed="rId6"/>
                <a:stretch>
                  <a:fillRect l="-9259" t="-1439" b="-1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TextBox 76"/>
          <p:cNvSpPr txBox="1"/>
          <p:nvPr/>
        </p:nvSpPr>
        <p:spPr>
          <a:xfrm>
            <a:off x="3074293" y="4127196"/>
            <a:ext cx="53483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smtClean="0"/>
              <a:t>Substituting the items from my diagram…</a:t>
            </a:r>
            <a:endParaRPr lang="en-GB" sz="2400" dirty="0"/>
          </a:p>
        </p:txBody>
      </p:sp>
      <p:sp>
        <p:nvSpPr>
          <p:cNvPr id="78" name="Rectangle 77"/>
          <p:cNvSpPr/>
          <p:nvPr/>
        </p:nvSpPr>
        <p:spPr>
          <a:xfrm>
            <a:off x="5602610" y="4729022"/>
            <a:ext cx="416827" cy="64633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tangle 78"/>
          <p:cNvSpPr/>
          <p:nvPr/>
        </p:nvSpPr>
        <p:spPr>
          <a:xfrm>
            <a:off x="6692257" y="4668025"/>
            <a:ext cx="533226" cy="39945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/>
          <p:cNvSpPr/>
          <p:nvPr/>
        </p:nvSpPr>
        <p:spPr>
          <a:xfrm>
            <a:off x="6824545" y="5147469"/>
            <a:ext cx="533226" cy="32316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TextBox 80"/>
          <p:cNvSpPr txBox="1"/>
          <p:nvPr/>
        </p:nvSpPr>
        <p:spPr>
          <a:xfrm>
            <a:off x="5744668" y="5375353"/>
            <a:ext cx="31293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y</a:t>
            </a:r>
            <a:r>
              <a:rPr lang="en-GB" sz="2800" dirty="0" smtClean="0"/>
              <a:t> =  7.621265434cm</a:t>
            </a:r>
            <a:endParaRPr lang="en-GB" sz="2800" dirty="0"/>
          </a:p>
        </p:txBody>
      </p:sp>
      <p:sp>
        <p:nvSpPr>
          <p:cNvPr id="82" name="TextBox 81"/>
          <p:cNvSpPr txBox="1"/>
          <p:nvPr/>
        </p:nvSpPr>
        <p:spPr>
          <a:xfrm>
            <a:off x="5765336" y="5848385"/>
            <a:ext cx="27456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y</a:t>
            </a:r>
            <a:r>
              <a:rPr lang="en-GB" sz="2800" dirty="0" smtClean="0"/>
              <a:t> =  7.62cm </a:t>
            </a:r>
            <a:r>
              <a:rPr lang="en-GB" sz="2800" i="1" dirty="0" smtClean="0"/>
              <a:t>(3s.f.)</a:t>
            </a:r>
            <a:endParaRPr lang="en-GB" sz="2800" i="1" dirty="0"/>
          </a:p>
        </p:txBody>
      </p:sp>
      <p:grpSp>
        <p:nvGrpSpPr>
          <p:cNvPr id="83" name="Group 7"/>
          <p:cNvGrpSpPr>
            <a:grpSpLocks/>
          </p:cNvGrpSpPr>
          <p:nvPr/>
        </p:nvGrpSpPr>
        <p:grpSpPr bwMode="auto">
          <a:xfrm>
            <a:off x="6947715" y="1137494"/>
            <a:ext cx="2071687" cy="1571625"/>
            <a:chOff x="3357554" y="785794"/>
            <a:chExt cx="2071702" cy="1571636"/>
          </a:xfrm>
        </p:grpSpPr>
        <p:grpSp>
          <p:nvGrpSpPr>
            <p:cNvPr id="84" name="Group 5"/>
            <p:cNvGrpSpPr>
              <a:grpSpLocks/>
            </p:cNvGrpSpPr>
            <p:nvPr/>
          </p:nvGrpSpPr>
          <p:grpSpPr bwMode="auto">
            <a:xfrm>
              <a:off x="3357554" y="785794"/>
              <a:ext cx="2071702" cy="1571636"/>
              <a:chOff x="3143240" y="785794"/>
              <a:chExt cx="2071702" cy="1571636"/>
            </a:xfrm>
          </p:grpSpPr>
          <p:sp>
            <p:nvSpPr>
              <p:cNvPr id="86" name="Right Triangle 85"/>
              <p:cNvSpPr/>
              <p:nvPr/>
            </p:nvSpPr>
            <p:spPr>
              <a:xfrm>
                <a:off x="3143240" y="785794"/>
                <a:ext cx="2071702" cy="1571636"/>
              </a:xfrm>
              <a:prstGeom prst="rt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87" name="Rectangle 86"/>
              <p:cNvSpPr/>
              <p:nvPr/>
            </p:nvSpPr>
            <p:spPr>
              <a:xfrm>
                <a:off x="3143240" y="2071678"/>
                <a:ext cx="214314" cy="28575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>
                  <a:solidFill>
                    <a:prstClr val="white"/>
                  </a:solidFill>
                </a:endParaRPr>
              </a:p>
            </p:txBody>
          </p:sp>
        </p:grpSp>
        <p:sp>
          <p:nvSpPr>
            <p:cNvPr id="85" name="Freeform 84"/>
            <p:cNvSpPr/>
            <p:nvPr/>
          </p:nvSpPr>
          <p:spPr>
            <a:xfrm>
              <a:off x="4291011" y="1784338"/>
              <a:ext cx="369890" cy="560392"/>
            </a:xfrm>
            <a:custGeom>
              <a:avLst/>
              <a:gdLst>
                <a:gd name="connsiteX0" fmla="*/ 368709 w 368709"/>
                <a:gd name="connsiteY0" fmla="*/ 0 h 560439"/>
                <a:gd name="connsiteX1" fmla="*/ 44245 w 368709"/>
                <a:gd name="connsiteY1" fmla="*/ 221226 h 560439"/>
                <a:gd name="connsiteX2" fmla="*/ 103238 w 368709"/>
                <a:gd name="connsiteY2" fmla="*/ 560439 h 560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68709" h="560439">
                  <a:moveTo>
                    <a:pt x="368709" y="0"/>
                  </a:moveTo>
                  <a:cubicBezTo>
                    <a:pt x="228599" y="63910"/>
                    <a:pt x="88490" y="127820"/>
                    <a:pt x="44245" y="221226"/>
                  </a:cubicBezTo>
                  <a:cubicBezTo>
                    <a:pt x="0" y="314633"/>
                    <a:pt x="51619" y="437536"/>
                    <a:pt x="103238" y="560439"/>
                  </a:cubicBezTo>
                </a:path>
              </a:pathLst>
            </a:cu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>
                <a:solidFill>
                  <a:prstClr val="black"/>
                </a:solidFill>
              </a:endParaRPr>
            </a:p>
          </p:txBody>
        </p:sp>
      </p:grpSp>
      <p:sp>
        <p:nvSpPr>
          <p:cNvPr id="88" name="TextBox 8"/>
          <p:cNvSpPr txBox="1">
            <a:spLocks noChangeArrowheads="1"/>
          </p:cNvSpPr>
          <p:nvPr/>
        </p:nvSpPr>
        <p:spPr bwMode="auto">
          <a:xfrm>
            <a:off x="8019277" y="2280494"/>
            <a:ext cx="49725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 smtClean="0">
                <a:solidFill>
                  <a:prstClr val="black"/>
                </a:solidFill>
                <a:latin typeface="+mn-lt"/>
              </a:rPr>
              <a:t>41°</a:t>
            </a:r>
            <a:endParaRPr lang="en-US" altLang="en-US" smtClean="0">
              <a:solidFill>
                <a:prstClr val="black"/>
              </a:solidFill>
              <a:latin typeface="+mn-lt"/>
            </a:endParaRPr>
          </a:p>
        </p:txBody>
      </p:sp>
      <p:sp>
        <p:nvSpPr>
          <p:cNvPr id="89" name="TextBox 9"/>
          <p:cNvSpPr txBox="1">
            <a:spLocks noChangeArrowheads="1"/>
          </p:cNvSpPr>
          <p:nvPr/>
        </p:nvSpPr>
        <p:spPr bwMode="auto">
          <a:xfrm>
            <a:off x="6233340" y="1708994"/>
            <a:ext cx="58381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 smtClean="0">
                <a:solidFill>
                  <a:prstClr val="black"/>
                </a:solidFill>
                <a:latin typeface="+mn-lt"/>
              </a:rPr>
              <a:t>5cm</a:t>
            </a:r>
            <a:endParaRPr lang="en-US" altLang="en-US" smtClean="0">
              <a:solidFill>
                <a:prstClr val="black"/>
              </a:solidFill>
              <a:latin typeface="+mn-lt"/>
            </a:endParaRPr>
          </a:p>
        </p:txBody>
      </p:sp>
      <p:sp>
        <p:nvSpPr>
          <p:cNvPr id="90" name="TextBox 10"/>
          <p:cNvSpPr txBox="1">
            <a:spLocks noChangeArrowheads="1"/>
          </p:cNvSpPr>
          <p:nvPr/>
        </p:nvSpPr>
        <p:spPr bwMode="auto">
          <a:xfrm>
            <a:off x="8019277" y="1494681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 smtClean="0">
                <a:solidFill>
                  <a:prstClr val="black"/>
                </a:solidFill>
                <a:latin typeface="+mn-lt"/>
              </a:rPr>
              <a:t>y</a:t>
            </a:r>
            <a:endParaRPr lang="en-US" altLang="en-US" smtClean="0">
              <a:solidFill>
                <a:prstClr val="black"/>
              </a:solidFill>
              <a:latin typeface="+mn-lt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1978111" y="1337907"/>
            <a:ext cx="78662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Find </a:t>
            </a:r>
            <a:r>
              <a:rPr lang="en-GB" dirty="0" smtClean="0"/>
              <a:t>y.</a:t>
            </a:r>
            <a:endParaRPr lang="en-GB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4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4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4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70" grpId="0" animBg="1"/>
      <p:bldP spid="71" grpId="0" animBg="1"/>
      <p:bldP spid="72" grpId="0"/>
      <p:bldP spid="73" grpId="0"/>
      <p:bldP spid="74" grpId="0"/>
      <p:bldP spid="76" grpId="0"/>
      <p:bldP spid="77" grpId="0"/>
      <p:bldP spid="78" grpId="0" animBg="1"/>
      <p:bldP spid="79" grpId="0" animBg="1"/>
      <p:bldP spid="80" grpId="0" animBg="1"/>
      <p:bldP spid="81" grpId="0"/>
      <p:bldP spid="8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 SIDE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261763" y="577837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Missing Side (3)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700784" y="1085259"/>
            <a:ext cx="7476592" cy="5059509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the hypotenuse must always be the LONGEST side.</a:t>
            </a:r>
            <a:endParaRPr lang="en-US" sz="1300" dirty="0"/>
          </a:p>
        </p:txBody>
      </p:sp>
      <p:pic>
        <p:nvPicPr>
          <p:cNvPr id="97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892" y="1085259"/>
            <a:ext cx="2922262" cy="997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8" name="TextBox 97"/>
          <p:cNvSpPr txBox="1"/>
          <p:nvPr/>
        </p:nvSpPr>
        <p:spPr>
          <a:xfrm>
            <a:off x="7587564" y="2694554"/>
            <a:ext cx="317716" cy="36933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dirty="0" smtClean="0"/>
              <a:t>A</a:t>
            </a:r>
            <a:endParaRPr lang="en-GB" dirty="0"/>
          </a:p>
        </p:txBody>
      </p:sp>
      <p:sp>
        <p:nvSpPr>
          <p:cNvPr id="99" name="TextBox 98"/>
          <p:cNvSpPr txBox="1"/>
          <p:nvPr/>
        </p:nvSpPr>
        <p:spPr>
          <a:xfrm>
            <a:off x="6213927" y="1757867"/>
            <a:ext cx="336952" cy="36933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dirty="0" smtClean="0"/>
              <a:t>O</a:t>
            </a:r>
            <a:endParaRPr lang="en-GB" dirty="0"/>
          </a:p>
        </p:txBody>
      </p:sp>
      <p:sp>
        <p:nvSpPr>
          <p:cNvPr id="100" name="Oval 99"/>
          <p:cNvSpPr/>
          <p:nvPr/>
        </p:nvSpPr>
        <p:spPr>
          <a:xfrm>
            <a:off x="4808936" y="1530998"/>
            <a:ext cx="1152128" cy="629273"/>
          </a:xfrm>
          <a:prstGeom prst="ellipse">
            <a:avLst/>
          </a:prstGeom>
          <a:noFill/>
          <a:ln w="38100">
            <a:solidFill>
              <a:srgbClr val="FF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1" name="TextBox 100"/>
          <p:cNvSpPr txBox="1"/>
          <p:nvPr/>
        </p:nvSpPr>
        <p:spPr>
          <a:xfrm>
            <a:off x="5408898" y="3341498"/>
            <a:ext cx="7857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 smtClean="0"/>
              <a:t>A =</a:t>
            </a:r>
            <a:endParaRPr lang="en-GB" sz="3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TextBox 101"/>
              <p:cNvSpPr txBox="1"/>
              <p:nvPr/>
            </p:nvSpPr>
            <p:spPr>
              <a:xfrm>
                <a:off x="6190196" y="3253634"/>
                <a:ext cx="1031051" cy="8903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GB" sz="2800" b="0" i="0" smtClean="0"/>
                            <m:t>O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GB" sz="2800" b="0" i="0" smtClean="0"/>
                            <m:t>tan</m:t>
                          </m:r>
                          <m:r>
                            <m:rPr>
                              <m:nor/>
                            </m:rPr>
                            <a:rPr lang="en-GB" sz="2800" b="0" i="0" smtClean="0"/>
                            <m:t> </m:t>
                          </m:r>
                          <m:r>
                            <a:rPr lang="en-GB" sz="2800" b="0" i="1" smtClean="0">
                              <a:latin typeface="Cambria Math"/>
                              <a:ea typeface="Cambria Math"/>
                            </a:rPr>
                            <m:t>𝜃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02" name="TextBox 10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196" y="3253634"/>
                <a:ext cx="1031051" cy="890372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3" name="TextBox 102"/>
          <p:cNvSpPr txBox="1"/>
          <p:nvPr/>
        </p:nvSpPr>
        <p:spPr>
          <a:xfrm>
            <a:off x="2806128" y="2879833"/>
            <a:ext cx="42459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smtClean="0"/>
              <a:t>The thing I need to find is A, so…</a:t>
            </a:r>
            <a:endParaRPr lang="en-GB" sz="2400" dirty="0"/>
          </a:p>
        </p:txBody>
      </p:sp>
      <p:pic>
        <p:nvPicPr>
          <p:cNvPr id="104" name="Picture 2" descr="C:\Users\kogden2.313\AppData\Local\Microsoft\Windows\Temporary Internet Files\Content.IE5\GUYXGS9U\hand woman[1].jpg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77" r="9442" b="19410"/>
          <a:stretch/>
        </p:blipFill>
        <p:spPr bwMode="auto">
          <a:xfrm>
            <a:off x="5312992" y="1825096"/>
            <a:ext cx="361507" cy="397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TextBox 104"/>
              <p:cNvSpPr txBox="1"/>
              <p:nvPr/>
            </p:nvSpPr>
            <p:spPr>
              <a:xfrm>
                <a:off x="5539435" y="4505787"/>
                <a:ext cx="2093394" cy="8446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3600" i="1" dirty="0" smtClean="0">
                        <a:latin typeface="Cambria Math"/>
                      </a:rPr>
                      <m:t>𝑥</m:t>
                    </m:r>
                  </m:oMath>
                </a14:m>
                <a:r>
                  <a:rPr lang="en-GB" sz="3600" dirty="0" smtClean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800" i="1">
                            <a:latin typeface="Cambria Math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GB" sz="2800" b="0" i="0" smtClean="0">
                            <a:latin typeface="Cambria Math"/>
                          </a:rPr>
                          <m:t>7.5</m:t>
                        </m:r>
                      </m:num>
                      <m:den>
                        <m:r>
                          <m:rPr>
                            <m:nor/>
                          </m:rPr>
                          <a:rPr lang="en-GB" sz="2800" b="0" i="0" smtClean="0"/>
                          <m:t>tan</m:t>
                        </m:r>
                        <m:r>
                          <a:rPr lang="en-GB" sz="2800" b="0" i="1" smtClean="0">
                            <a:latin typeface="Cambria Math"/>
                          </a:rPr>
                          <m:t>(22)</m:t>
                        </m:r>
                      </m:den>
                    </m:f>
                  </m:oMath>
                </a14:m>
                <a:r>
                  <a:rPr lang="en-GB" sz="3600" dirty="0" smtClean="0"/>
                  <a:t>  </a:t>
                </a:r>
                <a:endParaRPr lang="en-GB" sz="3600" dirty="0"/>
              </a:p>
            </p:txBody>
          </p:sp>
        </mc:Choice>
        <mc:Fallback>
          <p:sp>
            <p:nvSpPr>
              <p:cNvPr id="105" name="TextBox 10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9435" y="4505787"/>
                <a:ext cx="2093394" cy="844655"/>
              </a:xfrm>
              <a:prstGeom prst="rect">
                <a:avLst/>
              </a:prstGeom>
              <a:blipFill rotWithShape="1">
                <a:blip r:embed="rId6"/>
                <a:stretch>
                  <a:fillRect t="-1439" b="-1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TextBox 105"/>
          <p:cNvSpPr txBox="1"/>
          <p:nvPr/>
        </p:nvSpPr>
        <p:spPr>
          <a:xfrm>
            <a:off x="2930892" y="3987829"/>
            <a:ext cx="53483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smtClean="0"/>
              <a:t>Substituting the items from my diagram…</a:t>
            </a:r>
            <a:endParaRPr lang="en-GB" sz="2400" dirty="0"/>
          </a:p>
        </p:txBody>
      </p:sp>
      <p:sp>
        <p:nvSpPr>
          <p:cNvPr id="107" name="Rectangle 106"/>
          <p:cNvSpPr/>
          <p:nvPr/>
        </p:nvSpPr>
        <p:spPr>
          <a:xfrm>
            <a:off x="5544237" y="4589655"/>
            <a:ext cx="416827" cy="64633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Rectangle 107"/>
          <p:cNvSpPr/>
          <p:nvPr/>
        </p:nvSpPr>
        <p:spPr>
          <a:xfrm>
            <a:off x="6537128" y="4528658"/>
            <a:ext cx="533226" cy="39945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" name="Rectangle 108"/>
          <p:cNvSpPr/>
          <p:nvPr/>
        </p:nvSpPr>
        <p:spPr>
          <a:xfrm>
            <a:off x="6825160" y="5008102"/>
            <a:ext cx="533226" cy="32316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0" name="TextBox 109"/>
              <p:cNvSpPr txBox="1"/>
              <p:nvPr/>
            </p:nvSpPr>
            <p:spPr>
              <a:xfrm>
                <a:off x="5601267" y="5235986"/>
                <a:ext cx="29863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800" i="1" dirty="0" smtClean="0">
                        <a:latin typeface="Cambria Math"/>
                      </a:rPr>
                      <m:t>𝑥</m:t>
                    </m:r>
                  </m:oMath>
                </a14:m>
                <a:r>
                  <a:rPr lang="en-GB" sz="2800" dirty="0" smtClean="0"/>
                  <a:t> =  18.5631514cm</a:t>
                </a:r>
                <a:endParaRPr lang="en-GB" sz="2800" dirty="0"/>
              </a:p>
            </p:txBody>
          </p:sp>
        </mc:Choice>
        <mc:Fallback>
          <p:sp>
            <p:nvSpPr>
              <p:cNvPr id="110" name="TextBox 10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1267" y="5235986"/>
                <a:ext cx="2986395" cy="523220"/>
              </a:xfrm>
              <a:prstGeom prst="rect">
                <a:avLst/>
              </a:prstGeom>
              <a:blipFill rotWithShape="1">
                <a:blip r:embed="rId7"/>
                <a:stretch>
                  <a:fillRect t="-10465" r="-2041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TextBox 110"/>
              <p:cNvSpPr txBox="1"/>
              <p:nvPr/>
            </p:nvSpPr>
            <p:spPr>
              <a:xfrm>
                <a:off x="5621935" y="5709018"/>
                <a:ext cx="278544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800" i="1" dirty="0" smtClean="0">
                        <a:latin typeface="Cambria Math"/>
                      </a:rPr>
                      <m:t>𝑥</m:t>
                    </m:r>
                  </m:oMath>
                </a14:m>
                <a:r>
                  <a:rPr lang="en-GB" sz="2800" dirty="0" smtClean="0"/>
                  <a:t> =  18.6cm </a:t>
                </a:r>
                <a:r>
                  <a:rPr lang="en-GB" sz="2800" i="1" dirty="0" smtClean="0"/>
                  <a:t>(3s.f.)</a:t>
                </a:r>
                <a:endParaRPr lang="en-GB" sz="2800" i="1" dirty="0"/>
              </a:p>
            </p:txBody>
          </p:sp>
        </mc:Choice>
        <mc:Fallback>
          <p:sp>
            <p:nvSpPr>
              <p:cNvPr id="111" name="TextBox 1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1935" y="5709018"/>
                <a:ext cx="2785443" cy="523220"/>
              </a:xfrm>
              <a:prstGeom prst="rect">
                <a:avLst/>
              </a:prstGeom>
              <a:blipFill rotWithShape="1">
                <a:blip r:embed="rId8"/>
                <a:stretch>
                  <a:fillRect t="-10588" r="-3939" b="-3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Group 7"/>
          <p:cNvGrpSpPr>
            <a:grpSpLocks/>
          </p:cNvGrpSpPr>
          <p:nvPr/>
        </p:nvGrpSpPr>
        <p:grpSpPr bwMode="auto">
          <a:xfrm>
            <a:off x="6890322" y="754167"/>
            <a:ext cx="2071687" cy="1571625"/>
            <a:chOff x="3357554" y="785794"/>
            <a:chExt cx="2071702" cy="1571636"/>
          </a:xfrm>
        </p:grpSpPr>
        <p:grpSp>
          <p:nvGrpSpPr>
            <p:cNvPr id="113" name="Group 5"/>
            <p:cNvGrpSpPr>
              <a:grpSpLocks/>
            </p:cNvGrpSpPr>
            <p:nvPr/>
          </p:nvGrpSpPr>
          <p:grpSpPr bwMode="auto">
            <a:xfrm>
              <a:off x="3357554" y="785794"/>
              <a:ext cx="2071702" cy="1571636"/>
              <a:chOff x="3143240" y="785794"/>
              <a:chExt cx="2071702" cy="1571636"/>
            </a:xfrm>
          </p:grpSpPr>
          <p:sp>
            <p:nvSpPr>
              <p:cNvPr id="115" name="Right Triangle 114"/>
              <p:cNvSpPr/>
              <p:nvPr/>
            </p:nvSpPr>
            <p:spPr>
              <a:xfrm>
                <a:off x="3143240" y="785794"/>
                <a:ext cx="2071702" cy="1571636"/>
              </a:xfrm>
              <a:prstGeom prst="rt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16" name="Rectangle 115"/>
              <p:cNvSpPr/>
              <p:nvPr/>
            </p:nvSpPr>
            <p:spPr>
              <a:xfrm>
                <a:off x="3143240" y="2071678"/>
                <a:ext cx="214314" cy="28575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>
                  <a:solidFill>
                    <a:prstClr val="white"/>
                  </a:solidFill>
                </a:endParaRPr>
              </a:p>
            </p:txBody>
          </p:sp>
        </p:grpSp>
        <p:sp>
          <p:nvSpPr>
            <p:cNvPr id="114" name="Freeform 113"/>
            <p:cNvSpPr/>
            <p:nvPr/>
          </p:nvSpPr>
          <p:spPr>
            <a:xfrm>
              <a:off x="4291011" y="1784339"/>
              <a:ext cx="369890" cy="560391"/>
            </a:xfrm>
            <a:custGeom>
              <a:avLst/>
              <a:gdLst>
                <a:gd name="connsiteX0" fmla="*/ 368709 w 368709"/>
                <a:gd name="connsiteY0" fmla="*/ 0 h 560439"/>
                <a:gd name="connsiteX1" fmla="*/ 44245 w 368709"/>
                <a:gd name="connsiteY1" fmla="*/ 221226 h 560439"/>
                <a:gd name="connsiteX2" fmla="*/ 103238 w 368709"/>
                <a:gd name="connsiteY2" fmla="*/ 560439 h 560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68709" h="560439">
                  <a:moveTo>
                    <a:pt x="368709" y="0"/>
                  </a:moveTo>
                  <a:cubicBezTo>
                    <a:pt x="228599" y="63910"/>
                    <a:pt x="88490" y="127820"/>
                    <a:pt x="44245" y="221226"/>
                  </a:cubicBezTo>
                  <a:cubicBezTo>
                    <a:pt x="0" y="314633"/>
                    <a:pt x="51619" y="437536"/>
                    <a:pt x="103238" y="560439"/>
                  </a:cubicBezTo>
                </a:path>
              </a:pathLst>
            </a:cu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>
                <a:solidFill>
                  <a:prstClr val="black"/>
                </a:solidFill>
              </a:endParaRPr>
            </a:p>
          </p:txBody>
        </p:sp>
      </p:grpSp>
      <p:sp>
        <p:nvSpPr>
          <p:cNvPr id="117" name="TextBox 8"/>
          <p:cNvSpPr txBox="1">
            <a:spLocks noChangeArrowheads="1"/>
          </p:cNvSpPr>
          <p:nvPr/>
        </p:nvSpPr>
        <p:spPr bwMode="auto">
          <a:xfrm>
            <a:off x="7961884" y="1897167"/>
            <a:ext cx="49725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 smtClean="0">
                <a:solidFill>
                  <a:prstClr val="black"/>
                </a:solidFill>
                <a:latin typeface="+mn-lt"/>
              </a:rPr>
              <a:t>22°</a:t>
            </a:r>
            <a:endParaRPr lang="en-US" altLang="en-US" smtClean="0">
              <a:solidFill>
                <a:prstClr val="black"/>
              </a:solidFill>
              <a:latin typeface="+mn-lt"/>
            </a:endParaRPr>
          </a:p>
        </p:txBody>
      </p:sp>
      <p:sp>
        <p:nvSpPr>
          <p:cNvPr id="118" name="TextBox 9"/>
          <p:cNvSpPr txBox="1">
            <a:spLocks noChangeArrowheads="1"/>
          </p:cNvSpPr>
          <p:nvPr/>
        </p:nvSpPr>
        <p:spPr bwMode="auto">
          <a:xfrm>
            <a:off x="6033072" y="1397105"/>
            <a:ext cx="75854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 smtClean="0">
                <a:solidFill>
                  <a:prstClr val="black"/>
                </a:solidFill>
                <a:latin typeface="+mn-lt"/>
              </a:rPr>
              <a:t>7.5cm</a:t>
            </a:r>
            <a:endParaRPr lang="en-US" altLang="en-US" smtClean="0">
              <a:solidFill>
                <a:prstClr val="black"/>
              </a:solidFill>
              <a:latin typeface="+mn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9" name="TextBox 10"/>
              <p:cNvSpPr txBox="1">
                <a:spLocks noChangeArrowheads="1"/>
              </p:cNvSpPr>
              <p:nvPr/>
            </p:nvSpPr>
            <p:spPr bwMode="auto">
              <a:xfrm>
                <a:off x="7536438" y="2330695"/>
                <a:ext cx="426399" cy="4616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alibri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itchFamily="34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itchFamily="34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itchFamily="34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itchFamily="34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itchFamily="34" charset="0"/>
                  </a:defRPr>
                </a:lvl9pPr>
              </a:lstStyle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altLang="en-US" sz="2400" b="0" i="1" smtClean="0">
                          <a:solidFill>
                            <a:prstClr val="black"/>
                          </a:solidFill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en-US" altLang="en-US" sz="2400" i="1" dirty="0" smtClean="0">
                  <a:solidFill>
                    <a:prstClr val="black"/>
                  </a:solidFill>
                  <a:latin typeface="+mn-lt"/>
                </a:endParaRPr>
              </a:p>
            </p:txBody>
          </p:sp>
        </mc:Choice>
        <mc:Fallback>
          <p:sp>
            <p:nvSpPr>
              <p:cNvPr id="119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36438" y="2330695"/>
                <a:ext cx="426399" cy="461665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0" name="TextBox 10"/>
          <p:cNvSpPr txBox="1">
            <a:spLocks noChangeArrowheads="1"/>
          </p:cNvSpPr>
          <p:nvPr/>
        </p:nvSpPr>
        <p:spPr bwMode="auto">
          <a:xfrm>
            <a:off x="6651460" y="2199790"/>
            <a:ext cx="31771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 dirty="0">
                <a:solidFill>
                  <a:prstClr val="black"/>
                </a:solidFill>
                <a:latin typeface="+mn-lt"/>
              </a:rPr>
              <a:t>A</a:t>
            </a:r>
            <a:endParaRPr lang="en-US" altLang="en-US" dirty="0" smtClean="0">
              <a:solidFill>
                <a:prstClr val="black"/>
              </a:solidFill>
              <a:latin typeface="+mn-lt"/>
            </a:endParaRPr>
          </a:p>
        </p:txBody>
      </p:sp>
      <p:sp>
        <p:nvSpPr>
          <p:cNvPr id="121" name="TextBox 10"/>
          <p:cNvSpPr txBox="1">
            <a:spLocks noChangeArrowheads="1"/>
          </p:cNvSpPr>
          <p:nvPr/>
        </p:nvSpPr>
        <p:spPr bwMode="auto">
          <a:xfrm>
            <a:off x="8962009" y="2141126"/>
            <a:ext cx="30809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dirty="0" smtClean="0">
                <a:solidFill>
                  <a:prstClr val="black"/>
                </a:solidFill>
                <a:latin typeface="+mn-lt"/>
              </a:rPr>
              <a:t>C</a:t>
            </a:r>
          </a:p>
        </p:txBody>
      </p:sp>
      <p:sp>
        <p:nvSpPr>
          <p:cNvPr id="122" name="Cloud Callout 121"/>
          <p:cNvSpPr/>
          <p:nvPr/>
        </p:nvSpPr>
        <p:spPr>
          <a:xfrm>
            <a:off x="9270106" y="754167"/>
            <a:ext cx="2595613" cy="1500929"/>
          </a:xfrm>
          <a:prstGeom prst="cloudCallout">
            <a:avLst>
              <a:gd name="adj1" fmla="val -100481"/>
              <a:gd name="adj2" fmla="val 71709"/>
            </a:avLst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 smtClean="0">
                <a:solidFill>
                  <a:schemeClr val="tx1"/>
                </a:solidFill>
              </a:rPr>
              <a:t>If they describe what’s needed in terms of the CORNERS of the shape, just give it your own letter first before you start!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978111" y="1337907"/>
            <a:ext cx="9524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Find </a:t>
            </a:r>
            <a:r>
              <a:rPr lang="en-GB" dirty="0" smtClean="0"/>
              <a:t>AC.</a:t>
            </a:r>
            <a:endParaRPr lang="en-GB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4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4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4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" grpId="0" animBg="1"/>
      <p:bldP spid="99" grpId="0" animBg="1"/>
      <p:bldP spid="100" grpId="0" animBg="1"/>
      <p:bldP spid="101" grpId="0"/>
      <p:bldP spid="102" grpId="0"/>
      <p:bldP spid="103" grpId="0"/>
      <p:bldP spid="105" grpId="0"/>
      <p:bldP spid="106" grpId="0"/>
      <p:bldP spid="107" grpId="0" animBg="1"/>
      <p:bldP spid="108" grpId="0" animBg="1"/>
      <p:bldP spid="109" grpId="0" animBg="1"/>
      <p:bldP spid="110" grpId="0"/>
      <p:bldP spid="111" grpId="0"/>
      <p:bldP spid="119" grpId="0"/>
      <p:bldP spid="1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AN ANGLE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INVERSE Function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TWO SIDES and asked for the angle?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the ratio, then use sin⁻¹, cos⁻¹ or tan⁻¹ on your calculator.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4028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47802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Example: O = 8, A = 12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297180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and A  →  use TAN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 θ  =  8 ÷ 12  =  0.6667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  =  tan⁻¹ (0.6667)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 33.7°   (1 d.p.)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190488" y="224028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556248" y="247802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inverse keys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6492240" y="3044952"/>
            <a:ext cx="137160" cy="1371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6748272" y="2926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sin⁻¹  —  when you used O and H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6492240" y="3520440"/>
            <a:ext cx="137160" cy="1371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1" name="Text 49"/>
          <p:cNvSpPr/>
          <p:nvPr/>
        </p:nvSpPr>
        <p:spPr>
          <a:xfrm>
            <a:off x="6748272" y="34015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cos⁻¹  —  when you used A and H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6492240" y="3995928"/>
            <a:ext cx="137160" cy="1371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6748272" y="387705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tan⁻¹  —  when you used O and A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6492240" y="4471416"/>
            <a:ext cx="137160" cy="1371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6748272" y="435254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calculator: SHIFT (or 2nd) then sin / cos / tan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6492240" y="4946904"/>
            <a:ext cx="137160" cy="1371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6748272" y="482803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calculator is in DEGREE mode!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566928" y="553212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5321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sides → find the angle with the INVERSE (sin⁻¹, cos⁻¹, tan⁻¹).</a:t>
            </a:r>
            <a:endParaRPr lang="en-US" sz="2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272229" y="4177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AN ANGLE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133856" y="551207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from the Lesson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024601"/>
            <a:ext cx="7190384" cy="5211607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ratio as a fraction first, then apply the inverse.</a:t>
            </a:r>
            <a:endParaRPr lang="en-US" sz="1300" dirty="0"/>
          </a:p>
        </p:txBody>
      </p:sp>
      <p:grpSp>
        <p:nvGrpSpPr>
          <p:cNvPr id="45" name="Group 5"/>
          <p:cNvGrpSpPr>
            <a:grpSpLocks/>
          </p:cNvGrpSpPr>
          <p:nvPr/>
        </p:nvGrpSpPr>
        <p:grpSpPr bwMode="auto">
          <a:xfrm>
            <a:off x="7705558" y="1024601"/>
            <a:ext cx="2071687" cy="1571625"/>
            <a:chOff x="3143240" y="785794"/>
            <a:chExt cx="2071702" cy="1571636"/>
          </a:xfrm>
        </p:grpSpPr>
        <p:sp>
          <p:nvSpPr>
            <p:cNvPr id="46" name="Right Triangle 45"/>
            <p:cNvSpPr/>
            <p:nvPr/>
          </p:nvSpPr>
          <p:spPr>
            <a:xfrm>
              <a:off x="3143240" y="785794"/>
              <a:ext cx="2071702" cy="1571636"/>
            </a:xfrm>
            <a:prstGeom prst="rt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143240" y="2071678"/>
              <a:ext cx="214314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sp>
        <p:nvSpPr>
          <p:cNvPr id="48" name="TextBox 8"/>
          <p:cNvSpPr txBox="1">
            <a:spLocks noChangeArrowheads="1"/>
          </p:cNvSpPr>
          <p:nvPr/>
        </p:nvSpPr>
        <p:spPr bwMode="auto">
          <a:xfrm>
            <a:off x="7763271" y="1347881"/>
            <a:ext cx="35779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GB" altLang="en-US" sz="2000" dirty="0" smtClean="0">
                <a:solidFill>
                  <a:prstClr val="black"/>
                </a:solidFill>
                <a:latin typeface="Calibri"/>
              </a:rPr>
              <a:t>g</a:t>
            </a:r>
            <a:endParaRPr lang="en-US" altLang="en-US" dirty="0" smtClean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9" name="TextBox 9"/>
          <p:cNvSpPr txBox="1">
            <a:spLocks noChangeArrowheads="1"/>
          </p:cNvSpPr>
          <p:nvPr/>
        </p:nvSpPr>
        <p:spPr bwMode="auto">
          <a:xfrm>
            <a:off x="7184957" y="1596101"/>
            <a:ext cx="58381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dirty="0" smtClean="0">
                <a:solidFill>
                  <a:prstClr val="black"/>
                </a:solidFill>
                <a:latin typeface="Calibri"/>
              </a:rPr>
              <a:t>6cm</a:t>
            </a:r>
          </a:p>
        </p:txBody>
      </p:sp>
      <p:sp>
        <p:nvSpPr>
          <p:cNvPr id="50" name="TextBox 10"/>
          <p:cNvSpPr txBox="1">
            <a:spLocks noChangeArrowheads="1"/>
          </p:cNvSpPr>
          <p:nvPr/>
        </p:nvSpPr>
        <p:spPr bwMode="auto">
          <a:xfrm>
            <a:off x="8777120" y="1381788"/>
            <a:ext cx="58381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 smtClean="0">
                <a:solidFill>
                  <a:prstClr val="black"/>
                </a:solidFill>
                <a:latin typeface="Calibri"/>
              </a:rPr>
              <a:t>8cm</a:t>
            </a:r>
            <a:endParaRPr lang="en-US" altLang="en-US" smtClean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1" name="Freeform 50"/>
          <p:cNvSpPr/>
          <p:nvPr/>
        </p:nvSpPr>
        <p:spPr>
          <a:xfrm>
            <a:off x="7724608" y="1492913"/>
            <a:ext cx="590550" cy="452438"/>
          </a:xfrm>
          <a:custGeom>
            <a:avLst/>
            <a:gdLst>
              <a:gd name="connsiteX0" fmla="*/ 0 w 589935"/>
              <a:gd name="connsiteY0" fmla="*/ 324464 h 452283"/>
              <a:gd name="connsiteX1" fmla="*/ 457200 w 589935"/>
              <a:gd name="connsiteY1" fmla="*/ 398206 h 452283"/>
              <a:gd name="connsiteX2" fmla="*/ 589935 w 589935"/>
              <a:gd name="connsiteY2" fmla="*/ 0 h 452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89935" h="452283">
                <a:moveTo>
                  <a:pt x="0" y="324464"/>
                </a:moveTo>
                <a:cubicBezTo>
                  <a:pt x="179439" y="388373"/>
                  <a:pt x="358878" y="452283"/>
                  <a:pt x="457200" y="398206"/>
                </a:cubicBezTo>
                <a:cubicBezTo>
                  <a:pt x="555522" y="344129"/>
                  <a:pt x="572728" y="172064"/>
                  <a:pt x="589935" y="0"/>
                </a:cubicBezTo>
              </a:path>
            </a:pathLst>
          </a:cu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prstClr val="black"/>
              </a:solidFill>
            </a:endParaRPr>
          </a:p>
        </p:txBody>
      </p:sp>
      <p:pic>
        <p:nvPicPr>
          <p:cNvPr id="5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0769" y="1097446"/>
            <a:ext cx="2922262" cy="997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3" name="TextBox 52"/>
          <p:cNvSpPr txBox="1"/>
          <p:nvPr/>
        </p:nvSpPr>
        <p:spPr>
          <a:xfrm>
            <a:off x="8962240" y="987841"/>
            <a:ext cx="328936" cy="36933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dirty="0" smtClean="0">
                <a:solidFill>
                  <a:prstClr val="black"/>
                </a:solidFill>
              </a:rPr>
              <a:t>H</a:t>
            </a:r>
            <a:endParaRPr lang="en-GB" dirty="0">
              <a:solidFill>
                <a:prstClr val="black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7274568" y="1986661"/>
            <a:ext cx="317716" cy="36933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dirty="0">
                <a:solidFill>
                  <a:prstClr val="black"/>
                </a:solidFill>
              </a:rPr>
              <a:t>A</a:t>
            </a:r>
          </a:p>
        </p:txBody>
      </p:sp>
      <p:sp>
        <p:nvSpPr>
          <p:cNvPr id="55" name="Oval 54"/>
          <p:cNvSpPr/>
          <p:nvPr/>
        </p:nvSpPr>
        <p:spPr>
          <a:xfrm>
            <a:off x="4895836" y="1582712"/>
            <a:ext cx="1152128" cy="629273"/>
          </a:xfrm>
          <a:prstGeom prst="ellipse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/>
              <p:cNvSpPr txBox="1"/>
              <p:nvPr/>
            </p:nvSpPr>
            <p:spPr>
              <a:xfrm>
                <a:off x="5744797" y="3353685"/>
                <a:ext cx="151201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3600" dirty="0">
                    <a:solidFill>
                      <a:prstClr val="black"/>
                    </a:solidFill>
                  </a:rPr>
                  <a:t>c</a:t>
                </a:r>
                <a:r>
                  <a:rPr lang="en-GB" sz="3600" dirty="0" smtClean="0">
                    <a:solidFill>
                      <a:prstClr val="black"/>
                    </a:solidFill>
                  </a:rPr>
                  <a:t>os </a:t>
                </a:r>
                <a14:m>
                  <m:oMath xmlns:m="http://schemas.openxmlformats.org/officeDocument/2006/math">
                    <m:r>
                      <a:rPr lang="en-GB" sz="3600" i="1" smtClean="0">
                        <a:solidFill>
                          <a:prstClr val="black"/>
                        </a:solidFill>
                        <a:latin typeface="Cambria Math"/>
                        <a:ea typeface="Cambria Math"/>
                      </a:rPr>
                      <m:t>𝜃</m:t>
                    </m:r>
                  </m:oMath>
                </a14:m>
                <a:r>
                  <a:rPr lang="en-GB" sz="3600" dirty="0" smtClean="0">
                    <a:solidFill>
                      <a:prstClr val="black"/>
                    </a:solidFill>
                  </a:rPr>
                  <a:t> =</a:t>
                </a:r>
                <a:endParaRPr lang="en-GB" sz="3600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4797" y="3353685"/>
                <a:ext cx="1512017" cy="646331"/>
              </a:xfrm>
              <a:prstGeom prst="rect">
                <a:avLst/>
              </a:prstGeom>
              <a:blipFill rotWithShape="1">
                <a:blip r:embed="rId4"/>
                <a:stretch>
                  <a:fillRect l="-12097" t="-14151" r="-11290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/>
              <p:cNvSpPr txBox="1"/>
              <p:nvPr/>
            </p:nvSpPr>
            <p:spPr>
              <a:xfrm>
                <a:off x="3886005" y="2892020"/>
                <a:ext cx="424789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 smtClean="0">
                    <a:solidFill>
                      <a:prstClr val="black"/>
                    </a:solidFill>
                  </a:rPr>
                  <a:t>The thing I need to find is </a:t>
                </a:r>
                <a14:m>
                  <m:oMath xmlns:m="http://schemas.openxmlformats.org/officeDocument/2006/math">
                    <m:r>
                      <a:rPr lang="en-GB" sz="2400" i="1" smtClean="0">
                        <a:solidFill>
                          <a:prstClr val="black"/>
                        </a:solidFill>
                        <a:latin typeface="Cambria Math"/>
                        <a:ea typeface="Cambria Math"/>
                      </a:rPr>
                      <m:t>𝜃</m:t>
                    </m:r>
                  </m:oMath>
                </a14:m>
                <a:r>
                  <a:rPr lang="en-GB" sz="2400" dirty="0" smtClean="0">
                    <a:solidFill>
                      <a:prstClr val="black"/>
                    </a:solidFill>
                  </a:rPr>
                  <a:t>, so…</a:t>
                </a:r>
                <a:endParaRPr lang="en-GB" sz="2400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57" name="TextBox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6005" y="2892020"/>
                <a:ext cx="4247894" cy="461665"/>
              </a:xfrm>
              <a:prstGeom prst="rect">
                <a:avLst/>
              </a:prstGeom>
              <a:blipFill rotWithShape="1">
                <a:blip r:embed="rId5"/>
                <a:stretch>
                  <a:fillRect l="-2152" t="-10526" r="-143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8" name="Picture 2" descr="C:\Users\kogden2.313\AppData\Local\Microsoft\Windows\Temporary Internet Files\Content.IE5\GUYXGS9U\hand woman[1].jpg"/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77" r="9442" b="19410"/>
          <a:stretch/>
        </p:blipFill>
        <p:spPr bwMode="auto">
          <a:xfrm>
            <a:off x="5167266" y="1849192"/>
            <a:ext cx="361507" cy="397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" name="TextBox 58"/>
          <p:cNvSpPr txBox="1"/>
          <p:nvPr/>
        </p:nvSpPr>
        <p:spPr>
          <a:xfrm>
            <a:off x="4010769" y="4000016"/>
            <a:ext cx="53483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smtClean="0">
                <a:solidFill>
                  <a:prstClr val="black"/>
                </a:solidFill>
              </a:rPr>
              <a:t>Substituting the items from my diagram…</a:t>
            </a:r>
            <a:endParaRPr lang="en-GB" sz="2400" dirty="0">
              <a:solidFill>
                <a:prstClr val="black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/>
              <p:cNvSpPr txBox="1"/>
              <p:nvPr/>
            </p:nvSpPr>
            <p:spPr>
              <a:xfrm>
                <a:off x="6464877" y="4948281"/>
                <a:ext cx="2486578" cy="829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3200" i="1" smtClean="0">
                        <a:solidFill>
                          <a:prstClr val="black"/>
                        </a:solidFill>
                        <a:latin typeface="Cambria Math"/>
                        <a:ea typeface="Cambria Math"/>
                      </a:rPr>
                      <m:t>𝜃</m:t>
                    </m:r>
                  </m:oMath>
                </a14:m>
                <a:r>
                  <a:rPr lang="en-GB" sz="3200" dirty="0" smtClean="0">
                    <a:solidFill>
                      <a:prstClr val="black"/>
                    </a:solidFill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3200" i="1" smtClean="0">
                            <a:solidFill>
                              <a:prstClr val="black"/>
                            </a:solidFill>
                            <a:latin typeface="Cambria Math"/>
                          </a:rPr>
                        </m:ctrlPr>
                      </m:sSupPr>
                      <m:e>
                        <m:r>
                          <a:rPr lang="en-GB" sz="3200" b="0" i="1" smtClean="0">
                            <a:solidFill>
                              <a:prstClr val="black"/>
                            </a:solidFill>
                            <a:latin typeface="Cambria Math"/>
                          </a:rPr>
                          <m:t>𝑐𝑜𝑠</m:t>
                        </m:r>
                      </m:e>
                      <m:sup>
                        <m:r>
                          <a:rPr lang="en-GB" sz="3200" b="0" i="1" smtClean="0">
                            <a:solidFill>
                              <a:prstClr val="black"/>
                            </a:solidFill>
                            <a:latin typeface="Cambria Math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en-GB" sz="3200" i="1" smtClean="0">
                            <a:solidFill>
                              <a:prstClr val="black"/>
                            </a:solidFill>
                            <a:latin typeface="Cambria Math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sz="3200" i="1" smtClean="0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</m:ctrlPr>
                          </m:fPr>
                          <m:num>
                            <m:r>
                              <a:rPr lang="en-GB" sz="3200" b="0" i="1" smtClean="0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6</m:t>
                            </m:r>
                          </m:num>
                          <m:den>
                            <m:r>
                              <a:rPr lang="en-GB" sz="3200" b="0" i="1" smtClean="0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8</m:t>
                            </m:r>
                          </m:den>
                        </m:f>
                      </m:e>
                    </m:d>
                  </m:oMath>
                </a14:m>
                <a:endParaRPr lang="en-GB" sz="3200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60" name="TextBox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4877" y="4948281"/>
                <a:ext cx="2486578" cy="829330"/>
              </a:xfrm>
              <a:prstGeom prst="rect">
                <a:avLst/>
              </a:prstGeom>
              <a:blipFill rotWithShape="1">
                <a:blip r:embed="rId7"/>
                <a:stretch>
                  <a:fillRect b="-102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/>
              <p:cNvSpPr txBox="1"/>
              <p:nvPr/>
            </p:nvSpPr>
            <p:spPr>
              <a:xfrm>
                <a:off x="6392869" y="5598094"/>
                <a:ext cx="312425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3600" i="1" dirty="0" smtClean="0">
                        <a:solidFill>
                          <a:prstClr val="black"/>
                        </a:solidFill>
                        <a:latin typeface="Cambria Math"/>
                        <a:ea typeface="Cambria Math"/>
                      </a:rPr>
                      <m:t>𝜃</m:t>
                    </m:r>
                  </m:oMath>
                </a14:m>
                <a:r>
                  <a:rPr lang="en-GB" sz="3600" dirty="0" smtClean="0">
                    <a:solidFill>
                      <a:prstClr val="black"/>
                    </a:solidFill>
                  </a:rPr>
                  <a:t> =  41.4° </a:t>
                </a:r>
                <a:r>
                  <a:rPr lang="en-GB" sz="3600" i="1" dirty="0" smtClean="0">
                    <a:solidFill>
                      <a:prstClr val="black"/>
                    </a:solidFill>
                  </a:rPr>
                  <a:t>(3s.f.)</a:t>
                </a:r>
                <a:endParaRPr lang="en-GB" sz="3600" i="1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61" name="TextBox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869" y="5598094"/>
                <a:ext cx="3124253" cy="646331"/>
              </a:xfrm>
              <a:prstGeom prst="rect">
                <a:avLst/>
              </a:prstGeom>
              <a:blipFill rotWithShape="1">
                <a:blip r:embed="rId8"/>
                <a:stretch>
                  <a:fillRect t="-14151" r="-5078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/>
              <p:cNvSpPr txBox="1"/>
              <p:nvPr/>
            </p:nvSpPr>
            <p:spPr>
              <a:xfrm>
                <a:off x="8019883" y="1678371"/>
                <a:ext cx="374141" cy="369332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prstClr val="black"/>
                          </a:solidFill>
                          <a:latin typeface="Cambria Math"/>
                          <a:ea typeface="Cambria Math"/>
                        </a:rPr>
                        <m:t>𝜃</m:t>
                      </m:r>
                    </m:oMath>
                  </m:oMathPara>
                </a14:m>
                <a:endParaRPr lang="en-GB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62" name="TextBox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9883" y="1678371"/>
                <a:ext cx="374141" cy="369332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/>
              <p:cNvSpPr txBox="1"/>
              <p:nvPr/>
            </p:nvSpPr>
            <p:spPr>
              <a:xfrm>
                <a:off x="7270073" y="3265821"/>
                <a:ext cx="513282" cy="8847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i="1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GB" sz="2800" b="0" i="0" smtClean="0">
                              <a:solidFill>
                                <a:prstClr val="black"/>
                              </a:solidFill>
                            </a:rPr>
                            <m:t>A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GB" sz="2800" b="0" i="0" smtClean="0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H</m:t>
                          </m:r>
                        </m:den>
                      </m:f>
                    </m:oMath>
                  </m:oMathPara>
                </a14:m>
                <a:endParaRPr lang="en-GB" sz="2800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63" name="TextBox 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0073" y="3265821"/>
                <a:ext cx="513282" cy="884794"/>
              </a:xfrm>
              <a:prstGeom prst="rect">
                <a:avLst/>
              </a:prstGeom>
              <a:blipFill rotWithShape="1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/>
              <p:cNvSpPr txBox="1"/>
              <p:nvPr/>
            </p:nvSpPr>
            <p:spPr>
              <a:xfrm>
                <a:off x="5721948" y="4372217"/>
                <a:ext cx="2259016" cy="7807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3600" dirty="0" smtClean="0">
                    <a:solidFill>
                      <a:prstClr val="black"/>
                    </a:solidFill>
                  </a:rPr>
                  <a:t>cos </a:t>
                </a:r>
                <a14:m>
                  <m:oMath xmlns:m="http://schemas.openxmlformats.org/officeDocument/2006/math">
                    <m:r>
                      <a:rPr lang="en-GB" sz="3600" i="1" smtClean="0">
                        <a:solidFill>
                          <a:prstClr val="black"/>
                        </a:solidFill>
                        <a:latin typeface="Cambria Math"/>
                        <a:ea typeface="Cambria Math"/>
                      </a:rPr>
                      <m:t>𝜃</m:t>
                    </m:r>
                  </m:oMath>
                </a14:m>
                <a:r>
                  <a:rPr lang="en-GB" sz="3600" dirty="0" smtClean="0">
                    <a:solidFill>
                      <a:prstClr val="black"/>
                    </a:solidFill>
                  </a:rPr>
                  <a:t> = </a:t>
                </a:r>
                <a14:m>
                  <m:oMath xmlns:m="http://schemas.openxmlformats.org/officeDocument/2006/math">
                    <m:r>
                      <a:rPr lang="en-GB" sz="2800" b="0" i="0" smtClean="0">
                        <a:solidFill>
                          <a:prstClr val="black"/>
                        </a:solidFill>
                        <a:latin typeface="Cambria Math"/>
                      </a:rPr>
                      <m:t>  </m:t>
                    </m:r>
                    <m:f>
                      <m:fPr>
                        <m:ctrlPr>
                          <a:rPr lang="en-GB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GB" sz="2800" b="0" i="0" smtClean="0">
                            <a:solidFill>
                              <a:prstClr val="black"/>
                            </a:solidFill>
                            <a:latin typeface="Cambria Math"/>
                          </a:rPr>
                          <m:t>6</m:t>
                        </m:r>
                      </m:num>
                      <m:den>
                        <m:r>
                          <m:rPr>
                            <m:nor/>
                          </m:rPr>
                          <a:rPr lang="en-GB" sz="2800" b="0" i="0" smtClean="0">
                            <a:solidFill>
                              <a:prstClr val="black"/>
                            </a:solidFill>
                            <a:latin typeface="Cambria Math"/>
                          </a:rPr>
                          <m:t>8</m:t>
                        </m:r>
                      </m:den>
                    </m:f>
                  </m:oMath>
                </a14:m>
                <a:r>
                  <a:rPr lang="en-GB" sz="3600" dirty="0" smtClean="0">
                    <a:solidFill>
                      <a:prstClr val="black"/>
                    </a:solidFill>
                  </a:rPr>
                  <a:t>  </a:t>
                </a:r>
                <a:endParaRPr lang="en-GB" sz="3600" dirty="0">
                  <a:solidFill>
                    <a:prstClr val="black"/>
                  </a:solidFill>
                </a:endParaRPr>
              </a:p>
            </p:txBody>
          </p:sp>
        </mc:Choice>
        <mc:Fallback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948" y="4372217"/>
                <a:ext cx="2259016" cy="780791"/>
              </a:xfrm>
              <a:prstGeom prst="rect">
                <a:avLst/>
              </a:prstGeom>
              <a:blipFill rotWithShape="1">
                <a:blip r:embed="rId11"/>
                <a:stretch>
                  <a:fillRect l="-8378" t="-2344" b="-21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Rectangle 64"/>
          <p:cNvSpPr/>
          <p:nvPr/>
        </p:nvSpPr>
        <p:spPr>
          <a:xfrm>
            <a:off x="6464877" y="4445966"/>
            <a:ext cx="416827" cy="64633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7247130" y="4463489"/>
            <a:ext cx="533226" cy="32316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7250129" y="4829843"/>
            <a:ext cx="533226" cy="32316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3014320" y="1177359"/>
            <a:ext cx="8066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Find </a:t>
            </a:r>
            <a:r>
              <a:rPr lang="en-GB" dirty="0" smtClean="0"/>
              <a:t>g.</a:t>
            </a:r>
            <a:endParaRPr lang="en-GB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4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4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4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4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54" grpId="0" animBg="1"/>
      <p:bldP spid="55" grpId="0" animBg="1"/>
      <p:bldP spid="56" grpId="0"/>
      <p:bldP spid="57" grpId="0"/>
      <p:bldP spid="59" grpId="0"/>
      <p:bldP spid="60" grpId="0"/>
      <p:bldP spid="61" grpId="0"/>
      <p:bldP spid="62" grpId="0" animBg="1"/>
      <p:bldP spid="63" grpId="0"/>
      <p:bldP spid="64" grpId="0"/>
      <p:bldP spid="65" grpId="0" animBg="1"/>
      <p:bldP spid="66" grpId="0" animBg="1"/>
      <p:bldP spid="6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Angles of Elevation &amp; Depression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angles are measured from the HORIZONTAL.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right-angled triangle, then use SOHCAHTOA.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5440680" cy="3017520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 of ELEVATION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301752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55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Looking UP at something.</a:t>
            </a:r>
            <a:endParaRPr lang="en-US" sz="15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5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from the horizontal, upwards.</a:t>
            </a:r>
            <a:endParaRPr lang="en-US" sz="1550" dirty="0"/>
          </a:p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e.g. a ladder against a wall; looking up at a balloon.</a:t>
            </a:r>
            <a:endParaRPr lang="en-US" sz="1550" dirty="0"/>
          </a:p>
        </p:txBody>
      </p:sp>
      <p:sp>
        <p:nvSpPr>
          <p:cNvPr id="46" name="Shape 44"/>
          <p:cNvSpPr/>
          <p:nvPr/>
        </p:nvSpPr>
        <p:spPr>
          <a:xfrm>
            <a:off x="6190488" y="2286000"/>
            <a:ext cx="5440680" cy="3017520"/>
          </a:xfrm>
          <a:prstGeom prst="roundRect">
            <a:avLst>
              <a:gd name="adj" fmla="val 181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55624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 of DEPRESSION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6537960" y="301752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55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Looking DOWN at something.</a:t>
            </a:r>
            <a:endParaRPr lang="en-US" sz="15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5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from the horizontal, downwards.</a:t>
            </a:r>
            <a:endParaRPr lang="en-US" sz="1550" dirty="0"/>
          </a:p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e.g. from the top of a cliff down to a boat.</a:t>
            </a:r>
            <a:endParaRPr lang="en-US" sz="1550" dirty="0"/>
          </a:p>
        </p:txBody>
      </p:sp>
      <p:sp>
        <p:nvSpPr>
          <p:cNvPr id="49" name="Text 47"/>
          <p:cNvSpPr/>
          <p:nvPr/>
        </p:nvSpPr>
        <p:spPr>
          <a:xfrm>
            <a:off x="566928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angle of depression from the top equals the angle of elevation from the bottom (alternate angles).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These all involve an ANGLE — so use SOHCAHTOA.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O, A, H from the given angle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the ratio: SOH, CAH or TOA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 wanted → rearrange;  angle wanted → inverse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as asked (3 s.f. or 1 d.p.)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561589" y="1399032"/>
            <a:ext cx="7068517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5597" y="1463040"/>
            <a:ext cx="6940501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185520" y="1399032"/>
            <a:ext cx="9820656" cy="4256637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528" y="1463040"/>
            <a:ext cx="9692640" cy="412862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34303" y="1399032"/>
            <a:ext cx="9523089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311" y="1463040"/>
            <a:ext cx="939507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185520" y="1399032"/>
            <a:ext cx="9820656" cy="427595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528" y="1463040"/>
            <a:ext cx="9692640" cy="414794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447392" y="1399032"/>
            <a:ext cx="7296912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400" y="1463040"/>
            <a:ext cx="7168896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573213" y="1399032"/>
            <a:ext cx="7045269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7221" y="1463040"/>
            <a:ext cx="691725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7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083912" y="1399032"/>
            <a:ext cx="8023871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7920" y="1463040"/>
            <a:ext cx="7895855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8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936918" y="1399032"/>
            <a:ext cx="6317858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926" y="1463040"/>
            <a:ext cx="61898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9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74151" y="1399032"/>
            <a:ext cx="9443394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159" y="1463040"/>
            <a:ext cx="931537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10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984990" y="1399032"/>
            <a:ext cx="8221714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8998" y="1463040"/>
            <a:ext cx="809369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4184550" y="960120"/>
            <a:ext cx="4446103" cy="5687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8558" y="627807"/>
            <a:ext cx="4297206" cy="595587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O, A, H from the ANGLE — never from the right angle.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SOH: sin θ = O/H.   CAH: cos θ = A/H.   TOA: tan θ = O/A.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ratio using the two sides you KNOW and WANT.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 side: substitute and rearrange (multiply or divide).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an angle: work out the ratio, then use sin⁻¹, cos⁻¹ or tan⁻¹ — in DEGREE mode.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angle involved → SOHCAHTOA.  Only sides and a right angle → Pythagoras.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1461</Words>
  <Application>Microsoft Office PowerPoint</Application>
  <PresentationFormat>Custom</PresentationFormat>
  <Paragraphs>295</Paragraphs>
  <Slides>26</Slides>
  <Notes>26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4</cp:revision>
  <dcterms:created xsi:type="dcterms:W3CDTF">2026-07-14T07:20:37Z</dcterms:created>
  <dcterms:modified xsi:type="dcterms:W3CDTF">2026-07-25T09:34:12Z</dcterms:modified>
</cp:coreProperties>
</file>