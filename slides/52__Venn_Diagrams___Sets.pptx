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12.png" ContentType="image/png"/>
  <Override PartName="/ppt/media/image3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17.png" ContentType="image/png"/>
  <Override PartName="/ppt/media/image8.png" ContentType="image/png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2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55A3D56-67A6-437B-89DF-9F188E07321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B8F085-162D-4BCD-BDD4-B4E22D5064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79B511-D6EE-42B0-B1BD-66E59714C81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E76200-6CFA-4987-8C5C-F954A9BE93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5FF678-AC19-40B3-9B3F-C01F989370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2005A7-B0EC-4072-A85B-05ACCAE6FA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C374AE-1947-4971-A682-21DA1225E2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F4AE9F-B37F-48BB-B5AD-997696A1D0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5B29FE-1034-490A-9A02-C738DD2F416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C41DC0-5C0C-4F1F-A3BD-7D8E2FA14F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C5DFD5-B3E3-4A94-92CB-463A38AFE5A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BB5CFA-7806-45E2-8636-EA3DA2FD1A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15D9BF-45FB-448A-867C-77CD64F15D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FED78B-88DE-455C-93B9-D8C7BE1856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36251D-2739-4F74-AACF-486C2C44E74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EC43B2-C618-4312-99A4-E0D71041B27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829D51-AAAB-47AF-8FB6-6A7B0806B1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132F3D-B50E-4B90-9CBD-144B0BE9605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C243CD-3FA4-4401-9283-DB69AC116E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10CD60-2B89-4157-89FB-E4E2ECF68D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973057-94AD-4860-9D8A-65AD834AD2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3B5AE9-B7F7-4DCC-A5EB-B8D918A7E3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8AEC8D-8E95-4A9C-B52C-060A021274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88E4D8-BAF9-403D-A941-312F221D6F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129E7E-C651-4958-829F-78155AA4142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3E77AB-8572-4FA1-A64C-28FE2E2C13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2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3B7A1C-D623-4B20-ABCE-C95468D390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549640" y="812880"/>
            <a:ext cx="2834280" cy="1757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8622720" y="8586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9091080" y="1224000"/>
            <a:ext cx="1048320" cy="1048320"/>
          </a:xfrm>
          <a:prstGeom prst="ellipse">
            <a:avLst/>
          </a:prstGeom>
          <a:solidFill>
            <a:srgbClr val="e0ac2b">
              <a:alpha val="42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9794160" y="1224000"/>
            <a:ext cx="1048320" cy="1048320"/>
          </a:xfrm>
          <a:prstGeom prst="ellipse">
            <a:avLst/>
          </a:prstGeom>
          <a:solidFill>
            <a:srgbClr val="e0ac2b">
              <a:alpha val="42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9072720" y="126972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0404000" y="126972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41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Sets &amp; Venn Diagrams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Set Notation · Elements · Intersection · Union · Complement · Solving Problems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8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49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50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Sorting Things into Groups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SET is a collection of objects, and a VENN DIAGRAM shows how sets overlap.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Learn the notation, then you can read and complete any Venn diagram.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Sets &amp; notation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key symbols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Intersection (∩)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Union (∪)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Complement (A′)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set · element · universal set ξ · intersection · union · complement · subset · empty set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Sets and Their Elements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set is a collection of objects, written in curly brackets { }.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Each object in the set is called an ELEMENT.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1"/>
          <p:cNvSpPr/>
          <p:nvPr/>
        </p:nvSpPr>
        <p:spPr>
          <a:xfrm>
            <a:off x="567000" y="228600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Writing a set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3"/>
          <p:cNvSpPr/>
          <p:nvPr/>
        </p:nvSpPr>
        <p:spPr>
          <a:xfrm>
            <a:off x="914400" y="3017520"/>
            <a:ext cx="4754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A = {1, 2, 3, 4, 5}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The elements are 1, 2, 3, 4 and 5.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n(A) = 5  (five elements).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4"/>
          <p:cNvSpPr/>
          <p:nvPr/>
        </p:nvSpPr>
        <p:spPr>
          <a:xfrm>
            <a:off x="6190560" y="228600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5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The universal set ξ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46"/>
          <p:cNvSpPr/>
          <p:nvPr/>
        </p:nvSpPr>
        <p:spPr>
          <a:xfrm>
            <a:off x="6537960" y="3017520"/>
            <a:ext cx="4754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 is EVERYTHING being considered.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e.g. ξ = {whole numbers 1 to 10}.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Every set sits inside ξ — the rectangle on a Venn diagram.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47"/>
          <p:cNvSpPr/>
          <p:nvPr/>
        </p:nvSpPr>
        <p:spPr>
          <a:xfrm>
            <a:off x="567000" y="553212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48"/>
          <p:cNvSpPr/>
          <p:nvPr/>
        </p:nvSpPr>
        <p:spPr>
          <a:xfrm>
            <a:off x="841320" y="553212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3 ∈ A  means ‘3 is an element of A’;  6 ∉ A  means ‘6 is NOT in A’.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SET NOTATION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Symbols You Must Know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39"/>
          <p:cNvSpPr/>
          <p:nvPr/>
        </p:nvSpPr>
        <p:spPr>
          <a:xfrm>
            <a:off x="567000" y="1280160"/>
            <a:ext cx="11063880" cy="502560"/>
          </a:xfrm>
          <a:prstGeom prst="roundRect">
            <a:avLst>
              <a:gd name="adj" fmla="val 1090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40"/>
          <p:cNvSpPr/>
          <p:nvPr/>
        </p:nvSpPr>
        <p:spPr>
          <a:xfrm>
            <a:off x="887040" y="12801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These come up in every exam — learn what each one means.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41"/>
          <p:cNvSpPr/>
          <p:nvPr/>
        </p:nvSpPr>
        <p:spPr>
          <a:xfrm>
            <a:off x="567000" y="1965960"/>
            <a:ext cx="2514240" cy="43848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42"/>
          <p:cNvSpPr/>
          <p:nvPr/>
        </p:nvSpPr>
        <p:spPr>
          <a:xfrm>
            <a:off x="658440" y="1965960"/>
            <a:ext cx="2331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mbria"/>
                <a:ea typeface="Cambria"/>
              </a:rPr>
              <a:t>Symbol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43"/>
          <p:cNvSpPr/>
          <p:nvPr/>
        </p:nvSpPr>
        <p:spPr>
          <a:xfrm>
            <a:off x="3108960" y="1965960"/>
            <a:ext cx="4617360" cy="43848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44"/>
          <p:cNvSpPr/>
          <p:nvPr/>
        </p:nvSpPr>
        <p:spPr>
          <a:xfrm>
            <a:off x="3200400" y="1965960"/>
            <a:ext cx="4434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mbria"/>
                <a:ea typeface="Cambria"/>
              </a:rPr>
              <a:t>Meaning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5"/>
          <p:cNvSpPr/>
          <p:nvPr/>
        </p:nvSpPr>
        <p:spPr>
          <a:xfrm>
            <a:off x="7772400" y="1965960"/>
            <a:ext cx="3858480" cy="43848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46"/>
          <p:cNvSpPr/>
          <p:nvPr/>
        </p:nvSpPr>
        <p:spPr>
          <a:xfrm>
            <a:off x="7863840" y="1965960"/>
            <a:ext cx="367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mbria"/>
                <a:ea typeface="Cambria"/>
              </a:rPr>
              <a:t>Example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47"/>
          <p:cNvSpPr/>
          <p:nvPr/>
        </p:nvSpPr>
        <p:spPr>
          <a:xfrm>
            <a:off x="567000" y="2404800"/>
            <a:ext cx="251424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48"/>
          <p:cNvSpPr/>
          <p:nvPr/>
        </p:nvSpPr>
        <p:spPr>
          <a:xfrm>
            <a:off x="567000" y="240480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ξ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49"/>
          <p:cNvSpPr/>
          <p:nvPr/>
        </p:nvSpPr>
        <p:spPr>
          <a:xfrm>
            <a:off x="3108960" y="2404800"/>
            <a:ext cx="461736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50"/>
          <p:cNvSpPr/>
          <p:nvPr/>
        </p:nvSpPr>
        <p:spPr>
          <a:xfrm>
            <a:off x="3246120" y="240480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the universal set (everything)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51"/>
          <p:cNvSpPr/>
          <p:nvPr/>
        </p:nvSpPr>
        <p:spPr>
          <a:xfrm>
            <a:off x="7772400" y="2404800"/>
            <a:ext cx="385848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52"/>
          <p:cNvSpPr/>
          <p:nvPr/>
        </p:nvSpPr>
        <p:spPr>
          <a:xfrm>
            <a:off x="7909560" y="240480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all values considered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53"/>
          <p:cNvSpPr/>
          <p:nvPr/>
        </p:nvSpPr>
        <p:spPr>
          <a:xfrm>
            <a:off x="567000" y="2880360"/>
            <a:ext cx="251424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54"/>
          <p:cNvSpPr/>
          <p:nvPr/>
        </p:nvSpPr>
        <p:spPr>
          <a:xfrm>
            <a:off x="567000" y="288036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∈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55"/>
          <p:cNvSpPr/>
          <p:nvPr/>
        </p:nvSpPr>
        <p:spPr>
          <a:xfrm>
            <a:off x="3108960" y="2880360"/>
            <a:ext cx="461736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56"/>
          <p:cNvSpPr/>
          <p:nvPr/>
        </p:nvSpPr>
        <p:spPr>
          <a:xfrm>
            <a:off x="3246120" y="288036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is an element of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57"/>
          <p:cNvSpPr/>
          <p:nvPr/>
        </p:nvSpPr>
        <p:spPr>
          <a:xfrm>
            <a:off x="7772400" y="2880360"/>
            <a:ext cx="385848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58"/>
          <p:cNvSpPr/>
          <p:nvPr/>
        </p:nvSpPr>
        <p:spPr>
          <a:xfrm>
            <a:off x="7909560" y="288036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3 ∈ {1, 2, 3}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59"/>
          <p:cNvSpPr/>
          <p:nvPr/>
        </p:nvSpPr>
        <p:spPr>
          <a:xfrm>
            <a:off x="567000" y="3355920"/>
            <a:ext cx="251424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60"/>
          <p:cNvSpPr/>
          <p:nvPr/>
        </p:nvSpPr>
        <p:spPr>
          <a:xfrm>
            <a:off x="567000" y="33559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∉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61"/>
          <p:cNvSpPr/>
          <p:nvPr/>
        </p:nvSpPr>
        <p:spPr>
          <a:xfrm>
            <a:off x="3108960" y="3355920"/>
            <a:ext cx="461736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62"/>
          <p:cNvSpPr/>
          <p:nvPr/>
        </p:nvSpPr>
        <p:spPr>
          <a:xfrm>
            <a:off x="3246120" y="335592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is NOT an element of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63"/>
          <p:cNvSpPr/>
          <p:nvPr/>
        </p:nvSpPr>
        <p:spPr>
          <a:xfrm>
            <a:off x="7772400" y="3355920"/>
            <a:ext cx="385848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64"/>
          <p:cNvSpPr/>
          <p:nvPr/>
        </p:nvSpPr>
        <p:spPr>
          <a:xfrm>
            <a:off x="7909560" y="335592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5 ∉ {1, 2, 3}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65"/>
          <p:cNvSpPr/>
          <p:nvPr/>
        </p:nvSpPr>
        <p:spPr>
          <a:xfrm>
            <a:off x="567000" y="3831480"/>
            <a:ext cx="251424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66"/>
          <p:cNvSpPr/>
          <p:nvPr/>
        </p:nvSpPr>
        <p:spPr>
          <a:xfrm>
            <a:off x="567000" y="383148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n(A)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67"/>
          <p:cNvSpPr/>
          <p:nvPr/>
        </p:nvSpPr>
        <p:spPr>
          <a:xfrm>
            <a:off x="3108960" y="3831480"/>
            <a:ext cx="461736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68"/>
          <p:cNvSpPr/>
          <p:nvPr/>
        </p:nvSpPr>
        <p:spPr>
          <a:xfrm>
            <a:off x="3246120" y="383148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number of elements in A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69"/>
          <p:cNvSpPr/>
          <p:nvPr/>
        </p:nvSpPr>
        <p:spPr>
          <a:xfrm>
            <a:off x="7772400" y="3831480"/>
            <a:ext cx="385848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70"/>
          <p:cNvSpPr/>
          <p:nvPr/>
        </p:nvSpPr>
        <p:spPr>
          <a:xfrm>
            <a:off x="7909560" y="383148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n({2,4,6}) = 3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71"/>
          <p:cNvSpPr/>
          <p:nvPr/>
        </p:nvSpPr>
        <p:spPr>
          <a:xfrm>
            <a:off x="567000" y="4306680"/>
            <a:ext cx="251424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72"/>
          <p:cNvSpPr/>
          <p:nvPr/>
        </p:nvSpPr>
        <p:spPr>
          <a:xfrm>
            <a:off x="567000" y="430668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A ∪ B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73"/>
          <p:cNvSpPr/>
          <p:nvPr/>
        </p:nvSpPr>
        <p:spPr>
          <a:xfrm>
            <a:off x="3108960" y="4306680"/>
            <a:ext cx="461736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74"/>
          <p:cNvSpPr/>
          <p:nvPr/>
        </p:nvSpPr>
        <p:spPr>
          <a:xfrm>
            <a:off x="3246120" y="430668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union — in A OR B (or both)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75"/>
          <p:cNvSpPr/>
          <p:nvPr/>
        </p:nvSpPr>
        <p:spPr>
          <a:xfrm>
            <a:off x="7772400" y="4306680"/>
            <a:ext cx="385848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76"/>
          <p:cNvSpPr/>
          <p:nvPr/>
        </p:nvSpPr>
        <p:spPr>
          <a:xfrm>
            <a:off x="7909560" y="430668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everything in the circles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77"/>
          <p:cNvSpPr/>
          <p:nvPr/>
        </p:nvSpPr>
        <p:spPr>
          <a:xfrm>
            <a:off x="567000" y="4782240"/>
            <a:ext cx="251424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78"/>
          <p:cNvSpPr/>
          <p:nvPr/>
        </p:nvSpPr>
        <p:spPr>
          <a:xfrm>
            <a:off x="567000" y="478224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A ∩ B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79"/>
          <p:cNvSpPr/>
          <p:nvPr/>
        </p:nvSpPr>
        <p:spPr>
          <a:xfrm>
            <a:off x="3108960" y="4782240"/>
            <a:ext cx="461736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80"/>
          <p:cNvSpPr/>
          <p:nvPr/>
        </p:nvSpPr>
        <p:spPr>
          <a:xfrm>
            <a:off x="3246120" y="478224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intersection — in A AND B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81"/>
          <p:cNvSpPr/>
          <p:nvPr/>
        </p:nvSpPr>
        <p:spPr>
          <a:xfrm>
            <a:off x="7772400" y="4782240"/>
            <a:ext cx="385848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82"/>
          <p:cNvSpPr/>
          <p:nvPr/>
        </p:nvSpPr>
        <p:spPr>
          <a:xfrm>
            <a:off x="7909560" y="478224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only the overlap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83"/>
          <p:cNvSpPr/>
          <p:nvPr/>
        </p:nvSpPr>
        <p:spPr>
          <a:xfrm>
            <a:off x="567000" y="5257800"/>
            <a:ext cx="251424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84"/>
          <p:cNvSpPr/>
          <p:nvPr/>
        </p:nvSpPr>
        <p:spPr>
          <a:xfrm>
            <a:off x="567000" y="525780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A′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85"/>
          <p:cNvSpPr/>
          <p:nvPr/>
        </p:nvSpPr>
        <p:spPr>
          <a:xfrm>
            <a:off x="3108960" y="5257800"/>
            <a:ext cx="461736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86"/>
          <p:cNvSpPr/>
          <p:nvPr/>
        </p:nvSpPr>
        <p:spPr>
          <a:xfrm>
            <a:off x="3246120" y="525780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complement — NOT in A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87"/>
          <p:cNvSpPr/>
          <p:nvPr/>
        </p:nvSpPr>
        <p:spPr>
          <a:xfrm>
            <a:off x="7772400" y="5257800"/>
            <a:ext cx="3858480" cy="438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88"/>
          <p:cNvSpPr/>
          <p:nvPr/>
        </p:nvSpPr>
        <p:spPr>
          <a:xfrm>
            <a:off x="7909560" y="525780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everything outside A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89"/>
          <p:cNvSpPr/>
          <p:nvPr/>
        </p:nvSpPr>
        <p:spPr>
          <a:xfrm>
            <a:off x="567000" y="5733360"/>
            <a:ext cx="251424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90"/>
          <p:cNvSpPr/>
          <p:nvPr/>
        </p:nvSpPr>
        <p:spPr>
          <a:xfrm>
            <a:off x="567000" y="573336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∅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or { }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91"/>
          <p:cNvSpPr/>
          <p:nvPr/>
        </p:nvSpPr>
        <p:spPr>
          <a:xfrm>
            <a:off x="3108960" y="5733360"/>
            <a:ext cx="461736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92"/>
          <p:cNvSpPr/>
          <p:nvPr/>
        </p:nvSpPr>
        <p:spPr>
          <a:xfrm>
            <a:off x="3246120" y="5733360"/>
            <a:ext cx="434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the empty set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93"/>
          <p:cNvSpPr/>
          <p:nvPr/>
        </p:nvSpPr>
        <p:spPr>
          <a:xfrm>
            <a:off x="7772400" y="5733360"/>
            <a:ext cx="3858480" cy="438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94"/>
          <p:cNvSpPr/>
          <p:nvPr/>
        </p:nvSpPr>
        <p:spPr>
          <a:xfrm>
            <a:off x="7909560" y="5733360"/>
            <a:ext cx="358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no elements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VENN DIAGRAMS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Reading the Regions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rectangle is the universal set ξ.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Each circle is a set. Numbers go in the region they belong to.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41"/>
          <p:cNvSpPr/>
          <p:nvPr/>
        </p:nvSpPr>
        <p:spPr>
          <a:xfrm>
            <a:off x="800280" y="2352240"/>
            <a:ext cx="4800240" cy="297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42"/>
          <p:cNvSpPr/>
          <p:nvPr/>
        </p:nvSpPr>
        <p:spPr>
          <a:xfrm>
            <a:off x="873360" y="2397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43"/>
          <p:cNvSpPr/>
          <p:nvPr/>
        </p:nvSpPr>
        <p:spPr>
          <a:xfrm>
            <a:off x="1716840" y="3048480"/>
            <a:ext cx="1775880" cy="1775880"/>
          </a:xfrm>
          <a:prstGeom prst="ellipse">
            <a:avLst/>
          </a:prstGeom>
          <a:noFill/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44"/>
          <p:cNvSpPr/>
          <p:nvPr/>
        </p:nvSpPr>
        <p:spPr>
          <a:xfrm>
            <a:off x="2907720" y="3048480"/>
            <a:ext cx="1775880" cy="1775880"/>
          </a:xfrm>
          <a:prstGeom prst="ellipse">
            <a:avLst/>
          </a:prstGeom>
          <a:noFill/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45"/>
          <p:cNvSpPr/>
          <p:nvPr/>
        </p:nvSpPr>
        <p:spPr>
          <a:xfrm>
            <a:off x="169884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46"/>
          <p:cNvSpPr/>
          <p:nvPr/>
        </p:nvSpPr>
        <p:spPr>
          <a:xfrm>
            <a:off x="424476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47"/>
          <p:cNvSpPr/>
          <p:nvPr/>
        </p:nvSpPr>
        <p:spPr>
          <a:xfrm>
            <a:off x="6400800" y="2194560"/>
            <a:ext cx="5230080" cy="3382920"/>
          </a:xfrm>
          <a:prstGeom prst="roundRect">
            <a:avLst>
              <a:gd name="adj" fmla="val 162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48"/>
          <p:cNvSpPr/>
          <p:nvPr/>
        </p:nvSpPr>
        <p:spPr>
          <a:xfrm>
            <a:off x="6766560" y="2432160"/>
            <a:ext cx="449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The four regions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49"/>
          <p:cNvSpPr/>
          <p:nvPr/>
        </p:nvSpPr>
        <p:spPr>
          <a:xfrm>
            <a:off x="6675120" y="303588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50"/>
          <p:cNvSpPr/>
          <p:nvPr/>
        </p:nvSpPr>
        <p:spPr>
          <a:xfrm>
            <a:off x="6949440" y="2926080"/>
            <a:ext cx="4480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In A only (left part of A).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51"/>
          <p:cNvSpPr/>
          <p:nvPr/>
        </p:nvSpPr>
        <p:spPr>
          <a:xfrm>
            <a:off x="6675120" y="3639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52"/>
          <p:cNvSpPr/>
          <p:nvPr/>
        </p:nvSpPr>
        <p:spPr>
          <a:xfrm>
            <a:off x="6949440" y="3529440"/>
            <a:ext cx="4480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In B only (right part of B).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53"/>
          <p:cNvSpPr/>
          <p:nvPr/>
        </p:nvSpPr>
        <p:spPr>
          <a:xfrm>
            <a:off x="6675120" y="42429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54"/>
          <p:cNvSpPr/>
          <p:nvPr/>
        </p:nvSpPr>
        <p:spPr>
          <a:xfrm>
            <a:off x="6949440" y="4133160"/>
            <a:ext cx="4480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In BOTH — the overlap (A ∩ B).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55"/>
          <p:cNvSpPr/>
          <p:nvPr/>
        </p:nvSpPr>
        <p:spPr>
          <a:xfrm>
            <a:off x="6675120" y="48463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56"/>
          <p:cNvSpPr/>
          <p:nvPr/>
        </p:nvSpPr>
        <p:spPr>
          <a:xfrm>
            <a:off x="6949440" y="4736520"/>
            <a:ext cx="4480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In NEITHER — outside both circles.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57"/>
          <p:cNvSpPr/>
          <p:nvPr/>
        </p:nvSpPr>
        <p:spPr>
          <a:xfrm>
            <a:off x="567000" y="580644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Anything not in A or B still belongs to ξ — it goes in the rectangle, outside the circles.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INTERSECTION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∩ B  —  in Both (AND)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intersection is the OVERLAP — elements in A AND B.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Only what is shared by both sets.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41"/>
          <p:cNvSpPr/>
          <p:nvPr/>
        </p:nvSpPr>
        <p:spPr>
          <a:xfrm>
            <a:off x="800280" y="2352240"/>
            <a:ext cx="4800240" cy="297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42"/>
          <p:cNvSpPr/>
          <p:nvPr/>
        </p:nvSpPr>
        <p:spPr>
          <a:xfrm>
            <a:off x="873360" y="2397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43"/>
          <p:cNvSpPr/>
          <p:nvPr/>
        </p:nvSpPr>
        <p:spPr>
          <a:xfrm>
            <a:off x="1716840" y="3048480"/>
            <a:ext cx="1775880" cy="1775880"/>
          </a:xfrm>
          <a:prstGeom prst="ellipse">
            <a:avLst/>
          </a:prstGeom>
          <a:solidFill>
            <a:srgbClr val="e0ac2b">
              <a:alpha val="42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44"/>
          <p:cNvSpPr/>
          <p:nvPr/>
        </p:nvSpPr>
        <p:spPr>
          <a:xfrm>
            <a:off x="2907720" y="3048480"/>
            <a:ext cx="1775880" cy="1775880"/>
          </a:xfrm>
          <a:prstGeom prst="ellipse">
            <a:avLst/>
          </a:prstGeom>
          <a:solidFill>
            <a:srgbClr val="e0ac2b">
              <a:alpha val="42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45"/>
          <p:cNvSpPr/>
          <p:nvPr/>
        </p:nvSpPr>
        <p:spPr>
          <a:xfrm>
            <a:off x="169884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46"/>
          <p:cNvSpPr/>
          <p:nvPr/>
        </p:nvSpPr>
        <p:spPr>
          <a:xfrm>
            <a:off x="424476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47"/>
          <p:cNvSpPr/>
          <p:nvPr/>
        </p:nvSpPr>
        <p:spPr>
          <a:xfrm>
            <a:off x="6400800" y="2194560"/>
            <a:ext cx="5230080" cy="3382920"/>
          </a:xfrm>
          <a:prstGeom prst="roundRect">
            <a:avLst>
              <a:gd name="adj" fmla="val 162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48"/>
          <p:cNvSpPr/>
          <p:nvPr/>
        </p:nvSpPr>
        <p:spPr>
          <a:xfrm>
            <a:off x="6766560" y="2432160"/>
            <a:ext cx="449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49"/>
          <p:cNvSpPr/>
          <p:nvPr/>
        </p:nvSpPr>
        <p:spPr>
          <a:xfrm>
            <a:off x="6720840" y="2926080"/>
            <a:ext cx="4663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= {1, 2, 3, 4, 5}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B = {1, 3, 5, 7, 9}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A ∩ B = {1, 3, 5}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Only the numbers in BOTH lists.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50"/>
          <p:cNvSpPr/>
          <p:nvPr/>
        </p:nvSpPr>
        <p:spPr>
          <a:xfrm>
            <a:off x="567000" y="580644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 51"/>
          <p:cNvSpPr/>
          <p:nvPr/>
        </p:nvSpPr>
        <p:spPr>
          <a:xfrm>
            <a:off x="841320" y="580644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∩ 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= intersection = AND = the overlap only.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UNION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∪ B  —  in Either (OR)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union is EVERYTHING in A or B (or both).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Put every element in, but do not list repeats twice.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41"/>
          <p:cNvSpPr/>
          <p:nvPr/>
        </p:nvSpPr>
        <p:spPr>
          <a:xfrm>
            <a:off x="800280" y="2352240"/>
            <a:ext cx="4800240" cy="297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42"/>
          <p:cNvSpPr/>
          <p:nvPr/>
        </p:nvSpPr>
        <p:spPr>
          <a:xfrm>
            <a:off x="873360" y="2397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43"/>
          <p:cNvSpPr/>
          <p:nvPr/>
        </p:nvSpPr>
        <p:spPr>
          <a:xfrm>
            <a:off x="1716840" y="3048480"/>
            <a:ext cx="1775880" cy="1775880"/>
          </a:xfrm>
          <a:prstGeom prst="ellipse">
            <a:avLst/>
          </a:prstGeom>
          <a:solidFill>
            <a:srgbClr val="e0ac2b">
              <a:alpha val="58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44"/>
          <p:cNvSpPr/>
          <p:nvPr/>
        </p:nvSpPr>
        <p:spPr>
          <a:xfrm>
            <a:off x="2907720" y="3048480"/>
            <a:ext cx="1775880" cy="1775880"/>
          </a:xfrm>
          <a:prstGeom prst="ellipse">
            <a:avLst/>
          </a:prstGeom>
          <a:solidFill>
            <a:srgbClr val="e0ac2b">
              <a:alpha val="58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45"/>
          <p:cNvSpPr/>
          <p:nvPr/>
        </p:nvSpPr>
        <p:spPr>
          <a:xfrm>
            <a:off x="169884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46"/>
          <p:cNvSpPr/>
          <p:nvPr/>
        </p:nvSpPr>
        <p:spPr>
          <a:xfrm>
            <a:off x="424476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47"/>
          <p:cNvSpPr/>
          <p:nvPr/>
        </p:nvSpPr>
        <p:spPr>
          <a:xfrm>
            <a:off x="6400800" y="2194560"/>
            <a:ext cx="5230080" cy="3382920"/>
          </a:xfrm>
          <a:prstGeom prst="roundRect">
            <a:avLst>
              <a:gd name="adj" fmla="val 162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 48"/>
          <p:cNvSpPr/>
          <p:nvPr/>
        </p:nvSpPr>
        <p:spPr>
          <a:xfrm>
            <a:off x="6766560" y="2432160"/>
            <a:ext cx="449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49"/>
          <p:cNvSpPr/>
          <p:nvPr/>
        </p:nvSpPr>
        <p:spPr>
          <a:xfrm>
            <a:off x="6720840" y="2926080"/>
            <a:ext cx="4663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= {1, 2, 3, 4, 5}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B = {1, 3, 5, 7, 9}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A ∪ B = {1, 2, 3, 4, 5, 7, 9}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All elements, each written once.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50"/>
          <p:cNvSpPr/>
          <p:nvPr/>
        </p:nvSpPr>
        <p:spPr>
          <a:xfrm>
            <a:off x="567000" y="580644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51"/>
          <p:cNvSpPr/>
          <p:nvPr/>
        </p:nvSpPr>
        <p:spPr>
          <a:xfrm>
            <a:off x="841320" y="580644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∪ 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= union = OR = both circles altogether.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COMPLEMENT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A′  —  Everything NOT in 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complement A′ is all elements of ξ that are NOT in A.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Everything outside the circle.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41"/>
          <p:cNvSpPr/>
          <p:nvPr/>
        </p:nvSpPr>
        <p:spPr>
          <a:xfrm>
            <a:off x="800280" y="2352240"/>
            <a:ext cx="4800240" cy="2976120"/>
          </a:xfrm>
          <a:prstGeom prst="rect">
            <a:avLst/>
          </a:prstGeom>
          <a:solidFill>
            <a:srgbClr val="eef1e8"/>
          </a:solidFill>
          <a:ln w="1905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42"/>
          <p:cNvSpPr/>
          <p:nvPr/>
        </p:nvSpPr>
        <p:spPr>
          <a:xfrm>
            <a:off x="873360" y="2397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43"/>
          <p:cNvSpPr/>
          <p:nvPr/>
        </p:nvSpPr>
        <p:spPr>
          <a:xfrm>
            <a:off x="1716840" y="3048480"/>
            <a:ext cx="1775880" cy="1775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44"/>
          <p:cNvSpPr/>
          <p:nvPr/>
        </p:nvSpPr>
        <p:spPr>
          <a:xfrm>
            <a:off x="2907720" y="3048480"/>
            <a:ext cx="1775880" cy="1775880"/>
          </a:xfrm>
          <a:prstGeom prst="ellipse">
            <a:avLst/>
          </a:prstGeom>
          <a:noFill/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45"/>
          <p:cNvSpPr/>
          <p:nvPr/>
        </p:nvSpPr>
        <p:spPr>
          <a:xfrm>
            <a:off x="169884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46"/>
          <p:cNvSpPr/>
          <p:nvPr/>
        </p:nvSpPr>
        <p:spPr>
          <a:xfrm>
            <a:off x="4244760" y="30942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47"/>
          <p:cNvSpPr/>
          <p:nvPr/>
        </p:nvSpPr>
        <p:spPr>
          <a:xfrm>
            <a:off x="6400800" y="2194560"/>
            <a:ext cx="5230080" cy="3382920"/>
          </a:xfrm>
          <a:prstGeom prst="roundRect">
            <a:avLst>
              <a:gd name="adj" fmla="val 162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48"/>
          <p:cNvSpPr/>
          <p:nvPr/>
        </p:nvSpPr>
        <p:spPr>
          <a:xfrm>
            <a:off x="6766560" y="2432160"/>
            <a:ext cx="449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49"/>
          <p:cNvSpPr/>
          <p:nvPr/>
        </p:nvSpPr>
        <p:spPr>
          <a:xfrm>
            <a:off x="6720840" y="2926080"/>
            <a:ext cx="4663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ξ = {1, 2, 3, 4, 5, 6}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= {2, 4, 6}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A′ = {1, 3, 5}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Everything in ξ that is not in A.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50"/>
          <p:cNvSpPr/>
          <p:nvPr/>
        </p:nvSpPr>
        <p:spPr>
          <a:xfrm>
            <a:off x="567000" y="580644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 51"/>
          <p:cNvSpPr/>
          <p:nvPr/>
        </p:nvSpPr>
        <p:spPr>
          <a:xfrm>
            <a:off x="841320" y="580644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A′ = complement = NOT in A.   (A ∩ B)′ means ‘not in the overlap’.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7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Rounded Rectangle 2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</a:rPr>
              <a:t>Zπ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Box 3"/>
          <p:cNvSpPr/>
          <p:nvPr/>
        </p:nvSpPr>
        <p:spPr>
          <a:xfrm>
            <a:off x="1325880" y="451440"/>
            <a:ext cx="1024092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</a:rPr>
              <a:t>COMPLEMENT · COMPOUND REGIONS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4"/>
          <p:cNvSpPr/>
          <p:nvPr/>
        </p:nvSpPr>
        <p:spPr>
          <a:xfrm>
            <a:off x="1325880" y="753840"/>
            <a:ext cx="1024092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</a:rPr>
              <a:t>Shading A′ ∪ B′ and A′ ∩ B′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ounded Rectangle 5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12000"/>
            </a:avLst>
          </a:prstGeom>
          <a:solidFill>
            <a:srgbClr val="1c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6"/>
          <p:cNvSpPr/>
          <p:nvPr/>
        </p:nvSpPr>
        <p:spPr>
          <a:xfrm>
            <a:off x="887040" y="1493640"/>
            <a:ext cx="104238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30000"/>
              </a:lnSpc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</a:rPr>
              <a:t>Combine NOT with AND/OR: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</a:rPr>
              <a:t>shade region by region, then check for overlap between the two conditions.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ectangle 7"/>
          <p:cNvSpPr/>
          <p:nvPr/>
        </p:nvSpPr>
        <p:spPr>
          <a:xfrm>
            <a:off x="765720" y="2194560"/>
            <a:ext cx="5230080" cy="3382920"/>
          </a:xfrm>
          <a:prstGeom prst="rect">
            <a:avLst/>
          </a:prstGeom>
          <a:solidFill>
            <a:srgbClr val="f7f6ef"/>
          </a:solidFill>
          <a:ln w="1905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0" name="Picture 8" descr="v_AuBc_comp.png"/>
          <p:cNvPicPr/>
          <p:nvPr/>
        </p:nvPicPr>
        <p:blipFill>
          <a:blip r:embed="rId1"/>
          <a:stretch/>
        </p:blipFill>
        <p:spPr>
          <a:xfrm>
            <a:off x="1576440" y="2284560"/>
            <a:ext cx="3608640" cy="2822760"/>
          </a:xfrm>
          <a:prstGeom prst="rect">
            <a:avLst/>
          </a:prstGeom>
          <a:ln w="0">
            <a:noFill/>
          </a:ln>
        </p:spPr>
      </p:pic>
      <p:sp>
        <p:nvSpPr>
          <p:cNvPr id="491" name="TextBox 9"/>
          <p:cNvSpPr/>
          <p:nvPr/>
        </p:nvSpPr>
        <p:spPr>
          <a:xfrm>
            <a:off x="765720" y="5202720"/>
            <a:ext cx="523008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A′ ∪ B′  =  everything except the overlap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ectangle 10"/>
          <p:cNvSpPr/>
          <p:nvPr/>
        </p:nvSpPr>
        <p:spPr>
          <a:xfrm>
            <a:off x="6195960" y="2194560"/>
            <a:ext cx="5230080" cy="3382920"/>
          </a:xfrm>
          <a:prstGeom prst="rect">
            <a:avLst/>
          </a:prstGeom>
          <a:solidFill>
            <a:srgbClr val="f7f6ef"/>
          </a:solidFill>
          <a:ln w="1905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3" name="Picture 11" descr="v_AiBc_comp.png"/>
          <p:cNvPicPr/>
          <p:nvPr/>
        </p:nvPicPr>
        <p:blipFill>
          <a:blip r:embed="rId2"/>
          <a:stretch/>
        </p:blipFill>
        <p:spPr>
          <a:xfrm>
            <a:off x="7006680" y="2284560"/>
            <a:ext cx="3608640" cy="2822760"/>
          </a:xfrm>
          <a:prstGeom prst="rect">
            <a:avLst/>
          </a:prstGeom>
          <a:ln w="0">
            <a:noFill/>
          </a:ln>
        </p:spPr>
      </p:pic>
      <p:sp>
        <p:nvSpPr>
          <p:cNvPr id="494" name="TextBox 12"/>
          <p:cNvSpPr/>
          <p:nvPr/>
        </p:nvSpPr>
        <p:spPr>
          <a:xfrm>
            <a:off x="6195960" y="5202720"/>
            <a:ext cx="523008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A′ ∩ B′  =  outside both circles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13"/>
          <p:cNvSpPr/>
          <p:nvPr/>
        </p:nvSpPr>
        <p:spPr>
          <a:xfrm>
            <a:off x="567000" y="5806440"/>
            <a:ext cx="11063880" cy="685440"/>
          </a:xfrm>
          <a:prstGeom prst="roundRect">
            <a:avLst>
              <a:gd name="adj" fmla="val 12000"/>
            </a:avLst>
          </a:prstGeom>
          <a:solidFill>
            <a:srgbClr val="1c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14"/>
          <p:cNvSpPr/>
          <p:nvPr/>
        </p:nvSpPr>
        <p:spPr>
          <a:xfrm>
            <a:off x="841320" y="5973480"/>
            <a:ext cx="1051524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</a:rPr>
              <a:t>A′ ∩ B′ is always OUTSIDE both circles — it can never include any part of A or B.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7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Rounded Rectangle 2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</a:rPr>
              <a:t>Zπ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Box 3"/>
          <p:cNvSpPr/>
          <p:nvPr/>
        </p:nvSpPr>
        <p:spPr>
          <a:xfrm>
            <a:off x="1325880" y="451440"/>
            <a:ext cx="1024092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</a:rPr>
              <a:t>COMPLEMENT · COMPOUND REGIONS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4"/>
          <p:cNvSpPr/>
          <p:nvPr/>
        </p:nvSpPr>
        <p:spPr>
          <a:xfrm>
            <a:off x="1325880" y="753840"/>
            <a:ext cx="1024092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</a:rPr>
              <a:t>Shading A ∪ B′ and A ∩ B′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ounded Rectangle 5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12000"/>
            </a:avLst>
          </a:prstGeom>
          <a:solidFill>
            <a:srgbClr val="1c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887040" y="1493640"/>
            <a:ext cx="104238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30000"/>
              </a:lnSpc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</a:rPr>
              <a:t>Only one set is complemented here: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</a:rPr>
              <a:t>work out NOT B first, then combine it with A using OR or AND.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ectangle 7"/>
          <p:cNvSpPr/>
          <p:nvPr/>
        </p:nvSpPr>
        <p:spPr>
          <a:xfrm>
            <a:off x="765720" y="2194560"/>
            <a:ext cx="5230080" cy="3382920"/>
          </a:xfrm>
          <a:prstGeom prst="rect">
            <a:avLst/>
          </a:prstGeom>
          <a:solidFill>
            <a:srgbClr val="f7f6ef"/>
          </a:solidFill>
          <a:ln w="1905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4" name="Picture 8" descr="v_AuBc.png"/>
          <p:cNvPicPr/>
          <p:nvPr/>
        </p:nvPicPr>
        <p:blipFill>
          <a:blip r:embed="rId1"/>
          <a:stretch/>
        </p:blipFill>
        <p:spPr>
          <a:xfrm>
            <a:off x="1576440" y="2284560"/>
            <a:ext cx="3608640" cy="2822760"/>
          </a:xfrm>
          <a:prstGeom prst="rect">
            <a:avLst/>
          </a:prstGeom>
          <a:ln w="0">
            <a:noFill/>
          </a:ln>
        </p:spPr>
      </p:pic>
      <p:sp>
        <p:nvSpPr>
          <p:cNvPr id="505" name="TextBox 9"/>
          <p:cNvSpPr/>
          <p:nvPr/>
        </p:nvSpPr>
        <p:spPr>
          <a:xfrm>
            <a:off x="765720" y="5202720"/>
            <a:ext cx="523008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A ∪ B′  =  everything except ‘B only’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Rectangle 10"/>
          <p:cNvSpPr/>
          <p:nvPr/>
        </p:nvSpPr>
        <p:spPr>
          <a:xfrm>
            <a:off x="6195960" y="2194560"/>
            <a:ext cx="5230080" cy="3382920"/>
          </a:xfrm>
          <a:prstGeom prst="rect">
            <a:avLst/>
          </a:prstGeom>
          <a:solidFill>
            <a:srgbClr val="f7f6ef"/>
          </a:solidFill>
          <a:ln w="1905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7" name="Picture 11" descr="v_AiBc.png"/>
          <p:cNvPicPr/>
          <p:nvPr/>
        </p:nvPicPr>
        <p:blipFill>
          <a:blip r:embed="rId2"/>
          <a:stretch/>
        </p:blipFill>
        <p:spPr>
          <a:xfrm>
            <a:off x="7006680" y="2284560"/>
            <a:ext cx="3608640" cy="2822760"/>
          </a:xfrm>
          <a:prstGeom prst="rect">
            <a:avLst/>
          </a:prstGeom>
          <a:ln w="0">
            <a:noFill/>
          </a:ln>
        </p:spPr>
      </p:pic>
      <p:sp>
        <p:nvSpPr>
          <p:cNvPr id="508" name="TextBox 12"/>
          <p:cNvSpPr/>
          <p:nvPr/>
        </p:nvSpPr>
        <p:spPr>
          <a:xfrm>
            <a:off x="6195960" y="5202720"/>
            <a:ext cx="523008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A ∩ B′  =  ‘A only’ region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Rounded Rectangle 13"/>
          <p:cNvSpPr/>
          <p:nvPr/>
        </p:nvSpPr>
        <p:spPr>
          <a:xfrm>
            <a:off x="567000" y="5806440"/>
            <a:ext cx="11063880" cy="685440"/>
          </a:xfrm>
          <a:prstGeom prst="roundRect">
            <a:avLst>
              <a:gd name="adj" fmla="val 12000"/>
            </a:avLst>
          </a:prstGeom>
          <a:solidFill>
            <a:srgbClr val="1c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TextBox 14"/>
          <p:cNvSpPr/>
          <p:nvPr/>
        </p:nvSpPr>
        <p:spPr>
          <a:xfrm>
            <a:off x="841320" y="5973480"/>
            <a:ext cx="1051524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</a:rPr>
              <a:t>A ∩ B′ is the ‘A only’ crescent — inside A, but outside B.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SOLVING PROBLEMS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Completing a Venn Diagram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Always fill in the OVERLAP first.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Then work outwards so each region is counted once.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41"/>
          <p:cNvSpPr/>
          <p:nvPr/>
        </p:nvSpPr>
        <p:spPr>
          <a:xfrm>
            <a:off x="567000" y="219456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42"/>
          <p:cNvSpPr/>
          <p:nvPr/>
        </p:nvSpPr>
        <p:spPr>
          <a:xfrm>
            <a:off x="868680" y="2368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 43"/>
          <p:cNvSpPr/>
          <p:nvPr/>
        </p:nvSpPr>
        <p:spPr>
          <a:xfrm>
            <a:off x="868680" y="2368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 44"/>
          <p:cNvSpPr/>
          <p:nvPr/>
        </p:nvSpPr>
        <p:spPr>
          <a:xfrm>
            <a:off x="1508760" y="219456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Put the number in A ∩ B (the overlap) FIRST.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45"/>
          <p:cNvSpPr/>
          <p:nvPr/>
        </p:nvSpPr>
        <p:spPr>
          <a:xfrm>
            <a:off x="567000" y="310896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46"/>
          <p:cNvSpPr/>
          <p:nvPr/>
        </p:nvSpPr>
        <p:spPr>
          <a:xfrm>
            <a:off x="868680" y="3282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Text 47"/>
          <p:cNvSpPr/>
          <p:nvPr/>
        </p:nvSpPr>
        <p:spPr>
          <a:xfrm>
            <a:off x="868680" y="3282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 48"/>
          <p:cNvSpPr/>
          <p:nvPr/>
        </p:nvSpPr>
        <p:spPr>
          <a:xfrm>
            <a:off x="1508760" y="310896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Subtract it to find ‘A only’ and ‘B only’.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49"/>
          <p:cNvSpPr/>
          <p:nvPr/>
        </p:nvSpPr>
        <p:spPr>
          <a:xfrm>
            <a:off x="567000" y="402336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50"/>
          <p:cNvSpPr/>
          <p:nvPr/>
        </p:nvSpPr>
        <p:spPr>
          <a:xfrm>
            <a:off x="868680" y="41972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 51"/>
          <p:cNvSpPr/>
          <p:nvPr/>
        </p:nvSpPr>
        <p:spPr>
          <a:xfrm>
            <a:off x="868680" y="4197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52"/>
          <p:cNvSpPr/>
          <p:nvPr/>
        </p:nvSpPr>
        <p:spPr>
          <a:xfrm>
            <a:off x="1508760" y="402336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Fill in anything outside both circles (in ξ, not in A or B).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53"/>
          <p:cNvSpPr/>
          <p:nvPr/>
        </p:nvSpPr>
        <p:spPr>
          <a:xfrm>
            <a:off x="567000" y="493776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54"/>
          <p:cNvSpPr/>
          <p:nvPr/>
        </p:nvSpPr>
        <p:spPr>
          <a:xfrm>
            <a:off x="868680" y="51116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55"/>
          <p:cNvSpPr/>
          <p:nvPr/>
        </p:nvSpPr>
        <p:spPr>
          <a:xfrm>
            <a:off x="868680" y="5111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 56"/>
          <p:cNvSpPr/>
          <p:nvPr/>
        </p:nvSpPr>
        <p:spPr>
          <a:xfrm>
            <a:off x="1508760" y="493776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Check every region adds up to the total, n(ξ).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 57"/>
          <p:cNvSpPr/>
          <p:nvPr/>
        </p:nvSpPr>
        <p:spPr>
          <a:xfrm>
            <a:off x="567000" y="60807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For a probability, divide the number in the region you want by the total n(ξ).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7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Rounded Rectangle 2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</a:rPr>
              <a:t>Zπ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Box 3"/>
          <p:cNvSpPr/>
          <p:nvPr/>
        </p:nvSpPr>
        <p:spPr>
          <a:xfrm>
            <a:off x="1325880" y="451440"/>
            <a:ext cx="1024092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</a:rPr>
              <a:t>SOLVING PROBLEMS · 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Box 4"/>
          <p:cNvSpPr/>
          <p:nvPr/>
        </p:nvSpPr>
        <p:spPr>
          <a:xfrm>
            <a:off x="1325880" y="753840"/>
            <a:ext cx="1024092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</a:rPr>
              <a:t>The Science Club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Rounded Rectangle 5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12000"/>
            </a:avLst>
          </a:prstGeom>
          <a:solidFill>
            <a:srgbClr val="1c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TextBox 6"/>
          <p:cNvSpPr/>
          <p:nvPr/>
        </p:nvSpPr>
        <p:spPr>
          <a:xfrm>
            <a:off x="887040" y="1493640"/>
            <a:ext cx="1042380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30000"/>
              </a:lnSpc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</a:rPr>
              <a:t>Apply the method: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</a:rPr>
              <a:t>fill the overlap first, then work outwards to find each region.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Rectangle 7"/>
          <p:cNvSpPr/>
          <p:nvPr/>
        </p:nvSpPr>
        <p:spPr>
          <a:xfrm>
            <a:off x="800280" y="2352240"/>
            <a:ext cx="4800240" cy="2976120"/>
          </a:xfrm>
          <a:prstGeom prst="rect">
            <a:avLst/>
          </a:prstGeom>
          <a:solidFill>
            <a:srgbClr val="f7f6ef"/>
          </a:solidFill>
          <a:ln w="1905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TextBox 8"/>
          <p:cNvSpPr/>
          <p:nvPr/>
        </p:nvSpPr>
        <p:spPr>
          <a:xfrm>
            <a:off x="873360" y="2397960"/>
            <a:ext cx="365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</a:rPr>
              <a:t>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Oval 9"/>
          <p:cNvSpPr/>
          <p:nvPr/>
        </p:nvSpPr>
        <p:spPr>
          <a:xfrm>
            <a:off x="1716840" y="3048480"/>
            <a:ext cx="1775880" cy="1775880"/>
          </a:xfrm>
          <a:prstGeom prst="ellipse">
            <a:avLst/>
          </a:prstGeom>
          <a:solidFill>
            <a:srgbClr val="e0ac2b">
              <a:alpha val="42000"/>
            </a:srgbClr>
          </a:solidFill>
          <a:ln w="2540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Oval 10"/>
          <p:cNvSpPr/>
          <p:nvPr/>
        </p:nvSpPr>
        <p:spPr>
          <a:xfrm>
            <a:off x="2907720" y="3048480"/>
            <a:ext cx="1775880" cy="1775880"/>
          </a:xfrm>
          <a:prstGeom prst="ellipse">
            <a:avLst/>
          </a:prstGeom>
          <a:solidFill>
            <a:srgbClr val="e0ac2b">
              <a:alpha val="42000"/>
            </a:srgbClr>
          </a:solidFill>
          <a:ln w="25400">
            <a:solidFill>
              <a:srgbClr val="1c2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11"/>
          <p:cNvSpPr/>
          <p:nvPr/>
        </p:nvSpPr>
        <p:spPr>
          <a:xfrm>
            <a:off x="1248840" y="2744280"/>
            <a:ext cx="8996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</a:rPr>
              <a:t>Brown hair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2"/>
          <p:cNvSpPr/>
          <p:nvPr/>
        </p:nvSpPr>
        <p:spPr>
          <a:xfrm>
            <a:off x="3794760" y="2744280"/>
            <a:ext cx="899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</a:rPr>
              <a:t>Glasses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13"/>
          <p:cNvSpPr/>
          <p:nvPr/>
        </p:nvSpPr>
        <p:spPr>
          <a:xfrm>
            <a:off x="2117160" y="3798360"/>
            <a:ext cx="3996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14"/>
          <p:cNvSpPr/>
          <p:nvPr/>
        </p:nvSpPr>
        <p:spPr>
          <a:xfrm>
            <a:off x="3050280" y="3798360"/>
            <a:ext cx="3996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Box 15"/>
          <p:cNvSpPr/>
          <p:nvPr/>
        </p:nvSpPr>
        <p:spPr>
          <a:xfrm>
            <a:off x="3857400" y="3798360"/>
            <a:ext cx="3996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16"/>
          <p:cNvSpPr/>
          <p:nvPr/>
        </p:nvSpPr>
        <p:spPr>
          <a:xfrm>
            <a:off x="4850640" y="4678560"/>
            <a:ext cx="3996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Rectangle 17"/>
          <p:cNvSpPr/>
          <p:nvPr/>
        </p:nvSpPr>
        <p:spPr>
          <a:xfrm>
            <a:off x="6400800" y="2194560"/>
            <a:ext cx="5230080" cy="3382920"/>
          </a:xfrm>
          <a:prstGeom prst="rect">
            <a:avLst/>
          </a:prstGeom>
          <a:solidFill>
            <a:srgbClr val="fbf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18"/>
          <p:cNvSpPr/>
          <p:nvPr/>
        </p:nvSpPr>
        <p:spPr>
          <a:xfrm>
            <a:off x="6650640" y="2544840"/>
            <a:ext cx="3299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</a:rPr>
              <a:t>1) Both brown hair and glasses?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19"/>
          <p:cNvSpPr/>
          <p:nvPr/>
        </p:nvSpPr>
        <p:spPr>
          <a:xfrm>
            <a:off x="10000800" y="2529720"/>
            <a:ext cx="14497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20"/>
          <p:cNvSpPr/>
          <p:nvPr/>
        </p:nvSpPr>
        <p:spPr>
          <a:xfrm>
            <a:off x="6650640" y="3144600"/>
            <a:ext cx="3299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</a:rPr>
              <a:t>2) Neither brown hair nor glasses?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21"/>
          <p:cNvSpPr/>
          <p:nvPr/>
        </p:nvSpPr>
        <p:spPr>
          <a:xfrm>
            <a:off x="10000800" y="3129480"/>
            <a:ext cx="14497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22"/>
          <p:cNvSpPr/>
          <p:nvPr/>
        </p:nvSpPr>
        <p:spPr>
          <a:xfrm>
            <a:off x="6650640" y="3744720"/>
            <a:ext cx="3299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</a:rPr>
              <a:t>3) Brown hair (total)?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23"/>
          <p:cNvSpPr/>
          <p:nvPr/>
        </p:nvSpPr>
        <p:spPr>
          <a:xfrm>
            <a:off x="10000800" y="3729600"/>
            <a:ext cx="14497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3 + 1 = 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24"/>
          <p:cNvSpPr/>
          <p:nvPr/>
        </p:nvSpPr>
        <p:spPr>
          <a:xfrm>
            <a:off x="6650640" y="4344840"/>
            <a:ext cx="3299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</a:rPr>
              <a:t>4) Glasses (total)?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25"/>
          <p:cNvSpPr/>
          <p:nvPr/>
        </p:nvSpPr>
        <p:spPr>
          <a:xfrm>
            <a:off x="10000800" y="4329720"/>
            <a:ext cx="14497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1 + 2 = 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26"/>
          <p:cNvSpPr/>
          <p:nvPr/>
        </p:nvSpPr>
        <p:spPr>
          <a:xfrm>
            <a:off x="6650640" y="4944600"/>
            <a:ext cx="3299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</a:rPr>
              <a:t>5) Total members in the club?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27"/>
          <p:cNvSpPr/>
          <p:nvPr/>
        </p:nvSpPr>
        <p:spPr>
          <a:xfrm>
            <a:off x="10000800" y="4929480"/>
            <a:ext cx="14497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</a:rPr>
              <a:t>3+1+2+4 = 10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28"/>
          <p:cNvSpPr/>
          <p:nvPr/>
        </p:nvSpPr>
        <p:spPr>
          <a:xfrm>
            <a:off x="567000" y="5806440"/>
            <a:ext cx="11063880" cy="685440"/>
          </a:xfrm>
          <a:prstGeom prst="roundRect">
            <a:avLst>
              <a:gd name="adj" fmla="val 12000"/>
            </a:avLst>
          </a:prstGeom>
          <a:solidFill>
            <a:srgbClr val="1c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TextBox 29"/>
          <p:cNvSpPr/>
          <p:nvPr/>
        </p:nvSpPr>
        <p:spPr>
          <a:xfrm>
            <a:off x="841320" y="5799240"/>
            <a:ext cx="1051524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</a:rPr>
              <a:t>Overlap first (1), then subtract to find each ‘only’ region, then whatever is left goes outside.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7" dur="500"/>
                                        <p:tgtEl>
                                          <p:spTgt spid="5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2" dur="500"/>
                                        <p:tgtEl>
                                          <p:spTgt spid="5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7" dur="500"/>
                                        <p:tgtEl>
                                          <p:spTgt spid="5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22" dur="500"/>
                                        <p:tgtEl>
                                          <p:spTgt spid="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27" dur="5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Read the notation, fill the overlap first, then list or count each region.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∩ </a:t>
            </a: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= AND (overlap);  ∪ = OR (all)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A′ = everything not in 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Fill the overlap first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Regions add up to n(ξ)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9"/>
          <p:cNvSpPr/>
          <p:nvPr/>
        </p:nvSpPr>
        <p:spPr>
          <a:xfrm>
            <a:off x="1633680" y="1408320"/>
            <a:ext cx="8924040" cy="2539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0" name="Image 0" descr="/tmp/work/stq/q-28.png"/>
          <p:cNvPicPr/>
          <p:nvPr/>
        </p:nvPicPr>
        <p:blipFill>
          <a:blip r:embed="rId1"/>
          <a:stretch/>
        </p:blipFill>
        <p:spPr>
          <a:xfrm>
            <a:off x="1706760" y="1481400"/>
            <a:ext cx="8777880" cy="239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9"/>
          <p:cNvSpPr/>
          <p:nvPr/>
        </p:nvSpPr>
        <p:spPr>
          <a:xfrm>
            <a:off x="2645640" y="1408320"/>
            <a:ext cx="68997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1" name="Image 0" descr="/tmp/work/stq/q-29.png"/>
          <p:cNvPicPr/>
          <p:nvPr/>
        </p:nvPicPr>
        <p:blipFill>
          <a:blip r:embed="rId1"/>
          <a:stretch/>
        </p:blipFill>
        <p:spPr>
          <a:xfrm>
            <a:off x="2719080" y="1481400"/>
            <a:ext cx="67532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39"/>
          <p:cNvSpPr/>
          <p:nvPr/>
        </p:nvSpPr>
        <p:spPr>
          <a:xfrm>
            <a:off x="2824200" y="1408320"/>
            <a:ext cx="65430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2" name="Image 0" descr="/tmp/work/stq/q-30.png"/>
          <p:cNvPicPr/>
          <p:nvPr/>
        </p:nvPicPr>
        <p:blipFill>
          <a:blip r:embed="rId1"/>
          <a:stretch/>
        </p:blipFill>
        <p:spPr>
          <a:xfrm>
            <a:off x="2897280" y="1481400"/>
            <a:ext cx="63968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39"/>
          <p:cNvSpPr/>
          <p:nvPr/>
        </p:nvSpPr>
        <p:spPr>
          <a:xfrm>
            <a:off x="1860840" y="1408320"/>
            <a:ext cx="84697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3" name="Image 0" descr="/tmp/work/stq/q-31.png"/>
          <p:cNvPicPr/>
          <p:nvPr/>
        </p:nvPicPr>
        <p:blipFill>
          <a:blip r:embed="rId1"/>
          <a:stretch/>
        </p:blipFill>
        <p:spPr>
          <a:xfrm>
            <a:off x="1933920" y="1481400"/>
            <a:ext cx="83235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39"/>
          <p:cNvSpPr/>
          <p:nvPr/>
        </p:nvSpPr>
        <p:spPr>
          <a:xfrm>
            <a:off x="2701800" y="1408320"/>
            <a:ext cx="67874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4" name="Image 0" descr="/tmp/work/stq/q-32.png"/>
          <p:cNvPicPr/>
          <p:nvPr/>
        </p:nvPicPr>
        <p:blipFill>
          <a:blip r:embed="rId1"/>
          <a:stretch/>
        </p:blipFill>
        <p:spPr>
          <a:xfrm>
            <a:off x="2775240" y="1481400"/>
            <a:ext cx="6641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39"/>
          <p:cNvSpPr/>
          <p:nvPr/>
        </p:nvSpPr>
        <p:spPr>
          <a:xfrm>
            <a:off x="2871000" y="1408320"/>
            <a:ext cx="64494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5" name="Image 0" descr="/tmp/work/stq/q-33.png"/>
          <p:cNvPicPr/>
          <p:nvPr/>
        </p:nvPicPr>
        <p:blipFill>
          <a:blip r:embed="rId1"/>
          <a:stretch/>
        </p:blipFill>
        <p:spPr>
          <a:xfrm>
            <a:off x="2944080" y="1481400"/>
            <a:ext cx="63028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39"/>
          <p:cNvSpPr/>
          <p:nvPr/>
        </p:nvSpPr>
        <p:spPr>
          <a:xfrm>
            <a:off x="3130200" y="1408320"/>
            <a:ext cx="59310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6" name="Image 0" descr="/tmp/work/stq/q-34.png"/>
          <p:cNvPicPr/>
          <p:nvPr/>
        </p:nvPicPr>
        <p:blipFill>
          <a:blip r:embed="rId1"/>
          <a:stretch/>
        </p:blipFill>
        <p:spPr>
          <a:xfrm>
            <a:off x="3203280" y="1481400"/>
            <a:ext cx="57848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39"/>
          <p:cNvSpPr/>
          <p:nvPr/>
        </p:nvSpPr>
        <p:spPr>
          <a:xfrm>
            <a:off x="3483000" y="1408320"/>
            <a:ext cx="52254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7" name="Image 0" descr="/tmp/work/stq/q-35.png"/>
          <p:cNvPicPr/>
          <p:nvPr/>
        </p:nvPicPr>
        <p:blipFill>
          <a:blip r:embed="rId1"/>
          <a:stretch/>
        </p:blipFill>
        <p:spPr>
          <a:xfrm>
            <a:off x="3556080" y="1481400"/>
            <a:ext cx="50792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39"/>
          <p:cNvSpPr/>
          <p:nvPr/>
        </p:nvSpPr>
        <p:spPr>
          <a:xfrm>
            <a:off x="3191040" y="1408320"/>
            <a:ext cx="58093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8" name="Image 0" descr="/tmp/work/stq/q-36.png"/>
          <p:cNvPicPr/>
          <p:nvPr/>
        </p:nvPicPr>
        <p:blipFill>
          <a:blip r:embed="rId1"/>
          <a:stretch/>
        </p:blipFill>
        <p:spPr>
          <a:xfrm>
            <a:off x="3264120" y="1481400"/>
            <a:ext cx="56628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39"/>
          <p:cNvSpPr/>
          <p:nvPr/>
        </p:nvSpPr>
        <p:spPr>
          <a:xfrm>
            <a:off x="3579120" y="1408320"/>
            <a:ext cx="50335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9" name="Image 0" descr="/tmp/work/stq/q-37.png"/>
          <p:cNvPicPr/>
          <p:nvPr/>
        </p:nvPicPr>
        <p:blipFill>
          <a:blip r:embed="rId1"/>
          <a:stretch/>
        </p:blipFill>
        <p:spPr>
          <a:xfrm>
            <a:off x="3652200" y="1481400"/>
            <a:ext cx="48870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39"/>
          <p:cNvSpPr/>
          <p:nvPr/>
        </p:nvSpPr>
        <p:spPr>
          <a:xfrm>
            <a:off x="3413520" y="1408320"/>
            <a:ext cx="53647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0" name="Image 0" descr="/tmp/work/stq/q-38.png"/>
          <p:cNvPicPr/>
          <p:nvPr/>
        </p:nvPicPr>
        <p:blipFill>
          <a:blip r:embed="rId1"/>
          <a:stretch/>
        </p:blipFill>
        <p:spPr>
          <a:xfrm>
            <a:off x="3486600" y="1481400"/>
            <a:ext cx="52182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39"/>
          <p:cNvSpPr/>
          <p:nvPr/>
        </p:nvSpPr>
        <p:spPr>
          <a:xfrm>
            <a:off x="3002040" y="1408320"/>
            <a:ext cx="61873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1" name="Image 0" descr="/tmp/work/stq/q-39.png"/>
          <p:cNvPicPr/>
          <p:nvPr/>
        </p:nvPicPr>
        <p:blipFill>
          <a:blip r:embed="rId1"/>
          <a:stretch/>
        </p:blipFill>
        <p:spPr>
          <a:xfrm>
            <a:off x="3075120" y="1481400"/>
            <a:ext cx="60411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Shape 39"/>
          <p:cNvSpPr/>
          <p:nvPr/>
        </p:nvSpPr>
        <p:spPr>
          <a:xfrm>
            <a:off x="1715760" y="1408320"/>
            <a:ext cx="87598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2" name="Image 0" descr="/tmp/work/stq/q-40.png"/>
          <p:cNvPicPr/>
          <p:nvPr/>
        </p:nvPicPr>
        <p:blipFill>
          <a:blip r:embed="rId1"/>
          <a:stretch/>
        </p:blipFill>
        <p:spPr>
          <a:xfrm>
            <a:off x="1788840" y="1481400"/>
            <a:ext cx="86133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Shape 39"/>
          <p:cNvSpPr/>
          <p:nvPr/>
        </p:nvSpPr>
        <p:spPr>
          <a:xfrm>
            <a:off x="1633680" y="1408320"/>
            <a:ext cx="8924040" cy="49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3" name="Image 0" descr="/tmp/work/stq/q-41.png"/>
          <p:cNvPicPr/>
          <p:nvPr/>
        </p:nvPicPr>
        <p:blipFill>
          <a:blip r:embed="rId1"/>
          <a:stretch/>
        </p:blipFill>
        <p:spPr>
          <a:xfrm>
            <a:off x="1706760" y="1481400"/>
            <a:ext cx="8777880" cy="478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Shape 39"/>
          <p:cNvSpPr/>
          <p:nvPr/>
        </p:nvSpPr>
        <p:spPr>
          <a:xfrm>
            <a:off x="1633680" y="1408320"/>
            <a:ext cx="8924040" cy="51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4" name="Image 0" descr="/tmp/work/stq/q-42.png"/>
          <p:cNvPicPr/>
          <p:nvPr/>
        </p:nvPicPr>
        <p:blipFill>
          <a:blip r:embed="rId1"/>
          <a:stretch/>
        </p:blipFill>
        <p:spPr>
          <a:xfrm>
            <a:off x="1706760" y="1481400"/>
            <a:ext cx="8777880" cy="502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0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2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set is a collection of elements, written in { }; ξ is the universal set (everything).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6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∈ 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means ‘is an element of’; n(A) is the number of elements in A.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Intersection A ∩ B = the overlap (in BOTH = AND).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Union A ∪ B = everything in either circle (OR), each element once.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Complement A′ = everything in ξ that is NOT in A.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∩ is AND (overlap),  ∪ is OR (all),  A′ is NOT.  Fill the overlap first.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1389</Words>
  <Paragraphs>265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2026-07-17T10:22:32Z</dcterms:created>
  <dc:creator>Zahra Sheikh Ali</dc:creator>
  <dc:description/>
  <dc:language>en-US</dc:language>
  <cp:lastModifiedBy>zahraa sheik ali</cp:lastModifiedBy>
  <dcterms:modified xsi:type="dcterms:W3CDTF">2026-08-04T19:13:09Z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Custom</vt:lpwstr>
  </property>
  <property fmtid="{D5CDD505-2E9C-101B-9397-08002B2CF9AE}" pid="4" name="Slides">
    <vt:r8>29</vt:r8>
  </property>
</Properties>
</file>