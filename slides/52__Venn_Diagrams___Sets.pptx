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2" r:id="rId10"/>
    <p:sldId id="283" r:id="rId11"/>
    <p:sldId id="264" r:id="rId12"/>
    <p:sldId id="28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3DA0E-C103-4B1B-A2D1-65AD56B7D92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D76E3-96FC-48E9-A1B1-4FDA5AEB2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74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49640" y="812902"/>
            <a:ext cx="2834640" cy="1757477"/>
          </a:xfrm>
          <a:prstGeom prst="rect">
            <a:avLst/>
          </a:prstGeom>
          <a:solidFill>
            <a:srgbClr val="FFFFFF"/>
          </a:solidFill>
          <a:ln w="19050">
            <a:solidFill>
              <a:srgbClr val="1C2A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22792" y="85862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091056" y="1223924"/>
            <a:ext cx="1048817" cy="1048817"/>
          </a:xfrm>
          <a:prstGeom prst="ellipse">
            <a:avLst/>
          </a:prstGeom>
          <a:solidFill>
            <a:srgbClr val="E0AC2B">
              <a:alpha val="42000"/>
            </a:srgbClr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94047" y="1223924"/>
            <a:ext cx="1048817" cy="1048817"/>
          </a:xfrm>
          <a:prstGeom prst="ellipse">
            <a:avLst/>
          </a:prstGeom>
          <a:solidFill>
            <a:srgbClr val="E0AC2B">
              <a:alpha val="42000"/>
            </a:srgbClr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72768" y="12696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403952" y="12696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5" name="Text 43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 &amp; Venn Diagrams</a:t>
            </a:r>
            <a:endParaRPr lang="en-US" sz="3800" dirty="0"/>
          </a:p>
        </p:txBody>
      </p:sp>
      <p:sp>
        <p:nvSpPr>
          <p:cNvPr id="48" name="Text 46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Notation · Elements · Intersection · Union · Complement · Solving Problems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Things into Groups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is a collection of objects, and a VENN DIAGRAM shows how sets overlap.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notation, then you can read and complete any Venn diagram.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 &amp; notation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symbols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 (∩)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(∪)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 (A′)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· element · universal set ξ · intersection · union · complement · subset · empty set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 and Their Elements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is a collection of objects, written in curly brackets { }.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in the set is called an ELEMENT.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 set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30175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{1, 2, 3, 4, 5}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elements are 1, 2, 3, 4 and 5.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n(A) = 5  (five elements).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90488" y="228600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universal set ξ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30175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 is EVERYTHING being considered.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ξ = {whole numbers 1 to 10}.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set sits inside ξ — the rectangle on a Venn diagram.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66928" y="553212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∈ A  means ‘3 is an element of A’;  6 ∉ A  means ‘6 is NOT in A’.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NOTATION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Symbols You Must Know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come up in every exam — learn what each one means.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1965960"/>
            <a:ext cx="2514600" cy="438912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" y="19659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108960" y="1965960"/>
            <a:ext cx="4617720" cy="438912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0" y="196596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772400" y="1965960"/>
            <a:ext cx="3858768" cy="438912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840" y="1965960"/>
            <a:ext cx="3675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66928" y="2404872"/>
            <a:ext cx="2514600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240487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3108960" y="2404872"/>
            <a:ext cx="4617720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46120" y="240487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universal set (everything)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7772400" y="2404872"/>
            <a:ext cx="3858768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09560" y="2404872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values considered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66928" y="2880360"/>
            <a:ext cx="2514600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" y="28803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∈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3108960" y="2880360"/>
            <a:ext cx="4617720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46120" y="28803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an element of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7772400" y="2880360"/>
            <a:ext cx="3858768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09560" y="2880360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∈ {1, 2, 3}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566928" y="3355848"/>
            <a:ext cx="2514600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" y="33558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∉</a:t>
            </a:r>
            <a:endParaRPr lang="en-US" sz="1700" dirty="0"/>
          </a:p>
        </p:txBody>
      </p:sp>
      <p:sp>
        <p:nvSpPr>
          <p:cNvPr id="63" name="Shape 61"/>
          <p:cNvSpPr/>
          <p:nvPr/>
        </p:nvSpPr>
        <p:spPr>
          <a:xfrm>
            <a:off x="3108960" y="3355848"/>
            <a:ext cx="4617720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46120" y="335584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NOT an element of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7772400" y="3355848"/>
            <a:ext cx="3858768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09560" y="3355848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∉ {1, 2, 3}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566928" y="3831336"/>
            <a:ext cx="2514600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383133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n(A)</a:t>
            </a:r>
            <a:endParaRPr lang="en-US" sz="1700" dirty="0"/>
          </a:p>
        </p:txBody>
      </p:sp>
      <p:sp>
        <p:nvSpPr>
          <p:cNvPr id="69" name="Shape 67"/>
          <p:cNvSpPr/>
          <p:nvPr/>
        </p:nvSpPr>
        <p:spPr>
          <a:xfrm>
            <a:off x="3108960" y="3831336"/>
            <a:ext cx="4617720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46120" y="3831336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elements in A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7772400" y="3831336"/>
            <a:ext cx="3858768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09560" y="3831336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n({2,4,6}) = 3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566928" y="4306824"/>
            <a:ext cx="2514600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6928" y="430682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∪ B</a:t>
            </a:r>
            <a:endParaRPr lang="en-US" sz="1700" dirty="0"/>
          </a:p>
        </p:txBody>
      </p:sp>
      <p:sp>
        <p:nvSpPr>
          <p:cNvPr id="75" name="Shape 73"/>
          <p:cNvSpPr/>
          <p:nvPr/>
        </p:nvSpPr>
        <p:spPr>
          <a:xfrm>
            <a:off x="3108960" y="4306824"/>
            <a:ext cx="4617720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46120" y="4306824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— in A OR B (or both)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7772400" y="4306824"/>
            <a:ext cx="3858768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09560" y="4306824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the circles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566928" y="4782312"/>
            <a:ext cx="2514600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6928" y="478231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∩ B</a:t>
            </a:r>
            <a:endParaRPr lang="en-US" sz="1700" dirty="0"/>
          </a:p>
        </p:txBody>
      </p:sp>
      <p:sp>
        <p:nvSpPr>
          <p:cNvPr id="81" name="Shape 79"/>
          <p:cNvSpPr/>
          <p:nvPr/>
        </p:nvSpPr>
        <p:spPr>
          <a:xfrm>
            <a:off x="3108960" y="4782312"/>
            <a:ext cx="4617720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46120" y="478231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 — in A AND B</a:t>
            </a:r>
            <a:endParaRPr lang="en-US" sz="1250" dirty="0"/>
          </a:p>
        </p:txBody>
      </p:sp>
      <p:sp>
        <p:nvSpPr>
          <p:cNvPr id="83" name="Shape 81"/>
          <p:cNvSpPr/>
          <p:nvPr/>
        </p:nvSpPr>
        <p:spPr>
          <a:xfrm>
            <a:off x="7772400" y="4782312"/>
            <a:ext cx="3858768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909560" y="4782312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overlap</a:t>
            </a:r>
            <a:endParaRPr lang="en-US" sz="1250" dirty="0"/>
          </a:p>
        </p:txBody>
      </p:sp>
      <p:sp>
        <p:nvSpPr>
          <p:cNvPr id="85" name="Shape 83"/>
          <p:cNvSpPr/>
          <p:nvPr/>
        </p:nvSpPr>
        <p:spPr>
          <a:xfrm>
            <a:off x="566928" y="5257800"/>
            <a:ext cx="2514600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66928" y="5257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A′</a:t>
            </a:r>
            <a:endParaRPr lang="en-US" sz="1700" dirty="0"/>
          </a:p>
        </p:txBody>
      </p:sp>
      <p:sp>
        <p:nvSpPr>
          <p:cNvPr id="87" name="Shape 85"/>
          <p:cNvSpPr/>
          <p:nvPr/>
        </p:nvSpPr>
        <p:spPr>
          <a:xfrm>
            <a:off x="3108960" y="5257800"/>
            <a:ext cx="4617720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46120" y="525780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 — NOT in A</a:t>
            </a:r>
            <a:endParaRPr lang="en-US" sz="1250" dirty="0"/>
          </a:p>
        </p:txBody>
      </p:sp>
      <p:sp>
        <p:nvSpPr>
          <p:cNvPr id="89" name="Shape 87"/>
          <p:cNvSpPr/>
          <p:nvPr/>
        </p:nvSpPr>
        <p:spPr>
          <a:xfrm>
            <a:off x="7772400" y="5257800"/>
            <a:ext cx="3858768" cy="43891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909560" y="5257800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outside A</a:t>
            </a:r>
            <a:endParaRPr lang="en-US" sz="1250" dirty="0"/>
          </a:p>
        </p:txBody>
      </p:sp>
      <p:sp>
        <p:nvSpPr>
          <p:cNvPr id="91" name="Shape 89"/>
          <p:cNvSpPr/>
          <p:nvPr/>
        </p:nvSpPr>
        <p:spPr>
          <a:xfrm>
            <a:off x="566928" y="5733288"/>
            <a:ext cx="2514600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6928" y="57332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∅  or { }</a:t>
            </a:r>
            <a:endParaRPr lang="en-US" sz="1700" dirty="0"/>
          </a:p>
        </p:txBody>
      </p:sp>
      <p:sp>
        <p:nvSpPr>
          <p:cNvPr id="93" name="Shape 91"/>
          <p:cNvSpPr/>
          <p:nvPr/>
        </p:nvSpPr>
        <p:spPr>
          <a:xfrm>
            <a:off x="3108960" y="5733288"/>
            <a:ext cx="4617720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46120" y="573328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empty set</a:t>
            </a:r>
            <a:endParaRPr lang="en-US" sz="1250" dirty="0"/>
          </a:p>
        </p:txBody>
      </p:sp>
      <p:sp>
        <p:nvSpPr>
          <p:cNvPr id="95" name="Shape 93"/>
          <p:cNvSpPr/>
          <p:nvPr/>
        </p:nvSpPr>
        <p:spPr>
          <a:xfrm>
            <a:off x="7772400" y="5733288"/>
            <a:ext cx="3858768" cy="43891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909560" y="5733288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elements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VENN DIAGRAMS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Regions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rectangle is the universal set ξ.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circle is a set. Numbers go in the region they belong to.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00100" y="2352294"/>
            <a:ext cx="4800600" cy="2976372"/>
          </a:xfrm>
          <a:prstGeom prst="rect">
            <a:avLst/>
          </a:prstGeom>
          <a:solidFill>
            <a:srgbClr val="FFFFFF"/>
          </a:solidFill>
          <a:ln w="19050">
            <a:solidFill>
              <a:srgbClr val="1C2A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" y="239801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717015" y="3048381"/>
            <a:ext cx="1776222" cy="1776222"/>
          </a:xfrm>
          <a:prstGeom prst="ellipse">
            <a:avLst/>
          </a:prstGeom>
          <a:ln w="25400">
            <a:solidFill>
              <a:srgbClr val="1C2A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07563" y="3048381"/>
            <a:ext cx="1776222" cy="1776222"/>
          </a:xfrm>
          <a:prstGeom prst="ellipse">
            <a:avLst/>
          </a:prstGeom>
          <a:ln w="25400">
            <a:solidFill>
              <a:srgbClr val="1C2A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98727" y="3094101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244873" y="3094101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0800" y="2194560"/>
            <a:ext cx="5230368" cy="3383280"/>
          </a:xfrm>
          <a:prstGeom prst="roundRect">
            <a:avLst>
              <a:gd name="adj" fmla="val 1622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766560" y="2432304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regions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6675120" y="3035808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6949440" y="2926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only (left part of A).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6675120" y="3639312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4" name="Text 52"/>
          <p:cNvSpPr/>
          <p:nvPr/>
        </p:nvSpPr>
        <p:spPr>
          <a:xfrm>
            <a:off x="6949440" y="35295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B only (right part of B).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6675120" y="4242816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6949440" y="41330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BOTH — the overlap (A ∩ B).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6675120" y="4846320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8" name="Text 56"/>
          <p:cNvSpPr/>
          <p:nvPr/>
        </p:nvSpPr>
        <p:spPr>
          <a:xfrm>
            <a:off x="6949440" y="47365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NEITHER — outside both circles.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566928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not in A or B still belongs to ξ — it goes in the rectangle, outside the circles.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∩ B  —  in Both (AND)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intersection is the OVERLAP — elements in A AND B.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is shared by both sets.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00100" y="2352294"/>
            <a:ext cx="4800600" cy="2976372"/>
          </a:xfrm>
          <a:prstGeom prst="rect">
            <a:avLst/>
          </a:prstGeom>
          <a:solidFill>
            <a:srgbClr val="FFFFFF"/>
          </a:solidFill>
          <a:ln w="19050">
            <a:solidFill>
              <a:srgbClr val="1C2A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" y="239801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717015" y="3048381"/>
            <a:ext cx="1776222" cy="1776222"/>
          </a:xfrm>
          <a:prstGeom prst="ellipse">
            <a:avLst/>
          </a:prstGeom>
          <a:solidFill>
            <a:srgbClr val="E0AC2B">
              <a:alpha val="42000"/>
            </a:srgbClr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07563" y="3048381"/>
            <a:ext cx="1776222" cy="1776222"/>
          </a:xfrm>
          <a:prstGeom prst="ellipse">
            <a:avLst/>
          </a:prstGeom>
          <a:solidFill>
            <a:srgbClr val="E0AC2B">
              <a:alpha val="42000"/>
            </a:srgbClr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98727" y="3094101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244873" y="3094101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0800" y="2194560"/>
            <a:ext cx="5230368" cy="3383280"/>
          </a:xfrm>
          <a:prstGeom prst="roundRect">
            <a:avLst>
              <a:gd name="adj" fmla="val 1622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766560" y="2432304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720840" y="29260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{1, 2, 3, 4, 5}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= {1, 3, 5, 7, 9}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∩ B = {1, 3, 5}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numbers in BOTH lists.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566928" y="5806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41248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∩ = intersection = AND = the overlap only.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∪ B  —  in Either (OR)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union is EVERYTHING in A or B (or both).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every element in, but do not list repeats twice.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00100" y="2352294"/>
            <a:ext cx="4800600" cy="2976372"/>
          </a:xfrm>
          <a:prstGeom prst="rect">
            <a:avLst/>
          </a:prstGeom>
          <a:solidFill>
            <a:srgbClr val="FFFFFF"/>
          </a:solidFill>
          <a:ln w="19050">
            <a:solidFill>
              <a:srgbClr val="1C2A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" y="239801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717015" y="3048381"/>
            <a:ext cx="1776222" cy="1776222"/>
          </a:xfrm>
          <a:prstGeom prst="ellipse">
            <a:avLst/>
          </a:prstGeom>
          <a:solidFill>
            <a:srgbClr val="E0AC2B">
              <a:alpha val="58000"/>
            </a:srgbClr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07563" y="3048381"/>
            <a:ext cx="1776222" cy="1776222"/>
          </a:xfrm>
          <a:prstGeom prst="ellipse">
            <a:avLst/>
          </a:prstGeom>
          <a:solidFill>
            <a:srgbClr val="E0AC2B">
              <a:alpha val="58000"/>
            </a:srgbClr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98727" y="3094101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244873" y="3094101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0800" y="2194560"/>
            <a:ext cx="5230368" cy="3383280"/>
          </a:xfrm>
          <a:prstGeom prst="roundRect">
            <a:avLst>
              <a:gd name="adj" fmla="val 1622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766560" y="2432304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720840" y="29260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{1, 2, 3, 4, 5}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= {1, 3, 5, 7, 9}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∪ B = {1, 2, 3, 4, 5, 7, 9}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elements, each written once.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566928" y="5806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41248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∪ = union = OR = both circles altogether.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A′  —  Everything NOT in A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complement A′ is all elements of ξ that are NOT in A.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outside the circle.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00100" y="2352294"/>
            <a:ext cx="4800600" cy="2976372"/>
          </a:xfrm>
          <a:prstGeom prst="rect">
            <a:avLst/>
          </a:prstGeom>
          <a:solidFill>
            <a:srgbClr val="EEF1E8"/>
          </a:solidFill>
          <a:ln w="19050">
            <a:solidFill>
              <a:srgbClr val="1C2A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" y="239801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717015" y="3048381"/>
            <a:ext cx="1776222" cy="177622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07563" y="3048381"/>
            <a:ext cx="1776222" cy="1776222"/>
          </a:xfrm>
          <a:prstGeom prst="ellipse">
            <a:avLst/>
          </a:prstGeom>
          <a:ln w="25400">
            <a:solidFill>
              <a:srgbClr val="1C2A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98727" y="3094101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244873" y="3094101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0800" y="2194560"/>
            <a:ext cx="5230368" cy="3383280"/>
          </a:xfrm>
          <a:prstGeom prst="roundRect">
            <a:avLst>
              <a:gd name="adj" fmla="val 1622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766560" y="2432304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720840" y="29260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 = {1, 2, 3, 4, 5, 6}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{2, 4, 6}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A′ = {1, 3, 5}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ξ that is not in A.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566928" y="5806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41248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A′ = complement = NOT in A.   (A ∩ B)′ means ‘not in the overlap’.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Zπ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84F2F"/>
                </a:solidFill>
                <a:latin typeface="Calibri"/>
              </a:rPr>
              <a:t>COMPLEMENT · COMPOUND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C2A22"/>
                </a:solidFill>
                <a:latin typeface="Cambria"/>
              </a:rPr>
              <a:t>Shading A′ ∪ B′ and A′ ∩ B′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1C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E0AC2B"/>
                </a:solidFill>
                <a:latin typeface="Calibri"/>
              </a:rPr>
              <a:t>Combine NOT with AND/OR: </a:t>
            </a:r>
            <a:r>
              <a:rPr sz="1350" b="0" i="0">
                <a:solidFill>
                  <a:srgbClr val="EDEBDD"/>
                </a:solidFill>
                <a:latin typeface="Calibri"/>
              </a:rPr>
              <a:t>shade region by region, then check for overlap between the two conditions.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5632" y="2194560"/>
            <a:ext cx="5230368" cy="3383280"/>
          </a:xfrm>
          <a:prstGeom prst="rect">
            <a:avLst/>
          </a:prstGeom>
          <a:solidFill>
            <a:srgbClr val="F7F6EF"/>
          </a:solidFill>
          <a:ln w="19050">
            <a:solidFill>
              <a:srgbClr val="1C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_AuBc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13" y="2284560"/>
            <a:ext cx="3609004" cy="282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5632" y="5117840"/>
            <a:ext cx="5230368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C84F2F"/>
                </a:solidFill>
                <a:latin typeface="Cambria"/>
              </a:rPr>
              <a:t>A′ ∪ B′  =  everything except the overlap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194560"/>
            <a:ext cx="5230368" cy="3383280"/>
          </a:xfrm>
          <a:prstGeom prst="rect">
            <a:avLst/>
          </a:prstGeom>
          <a:solidFill>
            <a:srgbClr val="F7F6EF"/>
          </a:solidFill>
          <a:ln w="19050">
            <a:solidFill>
              <a:srgbClr val="1C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v_AiBc_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681" y="2284560"/>
            <a:ext cx="3609004" cy="2823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6000" y="5117840"/>
            <a:ext cx="5230368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C84F2F"/>
                </a:solidFill>
                <a:latin typeface="Cambria"/>
              </a:rPr>
              <a:t>A′ ∩ B′  =  outside both circles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8064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C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58064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E0AC2B"/>
                </a:solidFill>
                <a:latin typeface="Cambria"/>
              </a:rPr>
              <a:t>A′ ∩ B′ is always OUTSIDE both circles — it can never include any part of A or 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Zπ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84F2F"/>
                </a:solidFill>
                <a:latin typeface="Calibri"/>
              </a:rPr>
              <a:t>COMPLEMENT · COMPOUND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C2A22"/>
                </a:solidFill>
                <a:latin typeface="Cambria"/>
              </a:rPr>
              <a:t>Shading A ∪ B′ and A ∩ B′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1C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E0AC2B"/>
                </a:solidFill>
                <a:latin typeface="Calibri"/>
              </a:rPr>
              <a:t>Only one set is complemented here: </a:t>
            </a:r>
            <a:r>
              <a:rPr sz="1350" b="0" i="0">
                <a:solidFill>
                  <a:srgbClr val="EDEBDD"/>
                </a:solidFill>
                <a:latin typeface="Calibri"/>
              </a:rPr>
              <a:t>work out NOT B first, then combine it with A using OR or 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5632" y="2194560"/>
            <a:ext cx="5230368" cy="3383280"/>
          </a:xfrm>
          <a:prstGeom prst="rect">
            <a:avLst/>
          </a:prstGeom>
          <a:solidFill>
            <a:srgbClr val="F7F6EF"/>
          </a:solidFill>
          <a:ln w="19050">
            <a:solidFill>
              <a:srgbClr val="1C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_Au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13" y="2284560"/>
            <a:ext cx="3609004" cy="282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5632" y="5117840"/>
            <a:ext cx="5230368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C84F2F"/>
                </a:solidFill>
                <a:latin typeface="Cambria"/>
              </a:rPr>
              <a:t>A ∪ B′  =  everything except ‘B only’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194560"/>
            <a:ext cx="5230368" cy="3383280"/>
          </a:xfrm>
          <a:prstGeom prst="rect">
            <a:avLst/>
          </a:prstGeom>
          <a:solidFill>
            <a:srgbClr val="F7F6EF"/>
          </a:solidFill>
          <a:ln w="19050">
            <a:solidFill>
              <a:srgbClr val="1C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v_Ai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681" y="2284560"/>
            <a:ext cx="3609004" cy="2823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6000" y="5117840"/>
            <a:ext cx="5230368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C84F2F"/>
                </a:solidFill>
                <a:latin typeface="Cambria"/>
              </a:rPr>
              <a:t>A ∩ B′  =  ‘A only’ region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8064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C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58064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E0AC2B"/>
                </a:solidFill>
                <a:latin typeface="Cambria"/>
              </a:rPr>
              <a:t>A ∩ B′ is the ‘A only’ crescent — inside A, but outside 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PROBLEMS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Completing a Venn Diagram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fill in the OVERLAP first.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work outwards so each region is counted once.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68680" y="2368296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508760" y="219456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 number in A ∩ B (the overlap) FIRST.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566928" y="310896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282696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508760" y="310896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 it to find ‘A only’ and ‘B only’.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566928" y="402336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68680" y="4197096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1508760" y="402336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in anything outside both circles (in ξ, not in A or B).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566928" y="493776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68680" y="5111496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6868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1508760" y="493776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every region adds up to the total, n(ξ).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566928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probability, divide the number in the region you want by the total n(ξ).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Zπ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84F2F"/>
                </a:solidFill>
                <a:latin typeface="Calibri"/>
              </a:rPr>
              <a:t>SOLVING PROBLEMS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C2A22"/>
                </a:solidFill>
                <a:latin typeface="Cambria"/>
              </a:rPr>
              <a:t>The Science Club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1C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E0AC2B"/>
                </a:solidFill>
                <a:latin typeface="Calibri"/>
              </a:rPr>
              <a:t>Apply the method: </a:t>
            </a:r>
            <a:r>
              <a:rPr sz="1350" b="0" i="0">
                <a:solidFill>
                  <a:srgbClr val="EDEBDD"/>
                </a:solidFill>
                <a:latin typeface="Calibri"/>
              </a:rPr>
              <a:t>fill the overlap first, then work outwards to find each region.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2352294"/>
            <a:ext cx="4800600" cy="2976372"/>
          </a:xfrm>
          <a:prstGeom prst="rect">
            <a:avLst/>
          </a:prstGeom>
          <a:solidFill>
            <a:srgbClr val="F7F6EF"/>
          </a:solidFill>
          <a:ln w="19050">
            <a:solidFill>
              <a:srgbClr val="1C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" y="239801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C2A22"/>
                </a:solidFill>
                <a:latin typeface="Cambria"/>
              </a:rPr>
              <a:t>ξ</a:t>
            </a:r>
          </a:p>
        </p:txBody>
      </p:sp>
      <p:sp>
        <p:nvSpPr>
          <p:cNvPr id="10" name="Oval 9"/>
          <p:cNvSpPr/>
          <p:nvPr/>
        </p:nvSpPr>
        <p:spPr>
          <a:xfrm>
            <a:off x="1717015" y="3048381"/>
            <a:ext cx="1776222" cy="1776222"/>
          </a:xfrm>
          <a:prstGeom prst="ellipse">
            <a:avLst/>
          </a:prstGeom>
          <a:solidFill>
            <a:srgbClr val="E0AC2B">
              <a:alpha val="42000"/>
            </a:srgbClr>
          </a:solidFill>
          <a:ln w="25400">
            <a:solidFill>
              <a:srgbClr val="1C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07563" y="3048381"/>
            <a:ext cx="1776222" cy="1776222"/>
          </a:xfrm>
          <a:prstGeom prst="ellipse">
            <a:avLst/>
          </a:prstGeom>
          <a:solidFill>
            <a:srgbClr val="E0AC2B">
              <a:alpha val="42000"/>
            </a:srgbClr>
          </a:solidFill>
          <a:ln w="25400">
            <a:solidFill>
              <a:srgbClr val="1C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8727" y="2744101"/>
            <a:ext cx="90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84F2F"/>
                </a:solidFill>
                <a:latin typeface="Cambria"/>
              </a:rPr>
              <a:t>Brown hair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873" y="2744101"/>
            <a:ext cx="90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84F2F"/>
                </a:solidFill>
                <a:latin typeface="Cambria"/>
              </a:rPr>
              <a:t>Glasses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7015" y="3798381"/>
            <a:ext cx="40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C2A22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0400" y="3798381"/>
            <a:ext cx="40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C2A22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7563" y="3798381"/>
            <a:ext cx="40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C2A22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0700" y="4678666"/>
            <a:ext cx="40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C2A22"/>
                </a:solidFill>
                <a:latin typeface="Cambr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94560"/>
            <a:ext cx="5230368" cy="3383280"/>
          </a:xfrm>
          <a:prstGeom prst="rect">
            <a:avLst/>
          </a:prstGeom>
          <a:solidFill>
            <a:srgbClr val="FB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0800" y="2344560"/>
            <a:ext cx="330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C2A22"/>
                </a:solidFill>
                <a:latin typeface="Calibri"/>
              </a:rPr>
              <a:t>1) Both brown hair and glasses?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0800" y="2344560"/>
            <a:ext cx="14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 dirty="0">
                <a:solidFill>
                  <a:srgbClr val="C84F2F"/>
                </a:solidFill>
                <a:latin typeface="Cambria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0800" y="2944560"/>
            <a:ext cx="330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C2A22"/>
                </a:solidFill>
                <a:latin typeface="Calibri"/>
              </a:rPr>
              <a:t>2) Neither brown hair nor glasses?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0800" y="2944560"/>
            <a:ext cx="14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 dirty="0">
                <a:solidFill>
                  <a:srgbClr val="C84F2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0800" y="3544560"/>
            <a:ext cx="330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C2A22"/>
                </a:solidFill>
                <a:latin typeface="Calibri"/>
              </a:rPr>
              <a:t>3) Brown hair (total)?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0800" y="3544560"/>
            <a:ext cx="14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 dirty="0">
                <a:solidFill>
                  <a:srgbClr val="C84F2F"/>
                </a:solidFill>
                <a:latin typeface="Cambria"/>
              </a:rPr>
              <a:t>3 + 1 =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0800" y="4144560"/>
            <a:ext cx="330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C2A22"/>
                </a:solidFill>
                <a:latin typeface="Calibri"/>
              </a:rPr>
              <a:t>4) Glasses (total)?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0800" y="4144560"/>
            <a:ext cx="14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 dirty="0">
                <a:solidFill>
                  <a:srgbClr val="C84F2F"/>
                </a:solidFill>
                <a:latin typeface="Cambria"/>
              </a:rPr>
              <a:t>1 + 2 =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0800" y="4744560"/>
            <a:ext cx="330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C2A22"/>
                </a:solidFill>
                <a:latin typeface="Calibri"/>
              </a:rPr>
              <a:t>5) Total members in the club?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0800" y="4744560"/>
            <a:ext cx="14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C84F2F"/>
                </a:solidFill>
                <a:latin typeface="Cambria"/>
              </a:rPr>
              <a:t>3+1+2+4 = 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8064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C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8064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E0AC2B"/>
                </a:solidFill>
                <a:latin typeface="Cambria"/>
              </a:rPr>
              <a:t>Overlap first (1), then subtract to find each ‘only’ region, then whatever is left goes outside.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4" grpId="0"/>
      <p:bldP spid="26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notation, fill the overlap first, then list or count each region.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∩ = AND (overlap);  ∪ = OR (all)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A′ = everything not in A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the overlap first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Regions add up to n(ξ)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633576" y="1408176"/>
            <a:ext cx="8924544" cy="253970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728" y="1481328"/>
            <a:ext cx="8778240" cy="23934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45811" y="1408176"/>
            <a:ext cx="6900073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963" y="1481328"/>
            <a:ext cx="675376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824083" y="1408176"/>
            <a:ext cx="6543530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235" y="1481328"/>
            <a:ext cx="639722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860764" y="1408176"/>
            <a:ext cx="847016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916" y="1481328"/>
            <a:ext cx="832386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701944" y="1408176"/>
            <a:ext cx="678780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096" y="1481328"/>
            <a:ext cx="664150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871009" y="1408176"/>
            <a:ext cx="6449677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161" y="1481328"/>
            <a:ext cx="6303373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130132" y="1408176"/>
            <a:ext cx="5931431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284" y="1481328"/>
            <a:ext cx="578512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482897" y="1408176"/>
            <a:ext cx="5225901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49" y="1481328"/>
            <a:ext cx="507959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9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191037" y="1408176"/>
            <a:ext cx="5809621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189" y="1481328"/>
            <a:ext cx="566331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10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578962" y="1408176"/>
            <a:ext cx="5033772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114" y="1481328"/>
            <a:ext cx="48874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413353" y="1408176"/>
            <a:ext cx="5364989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505" y="1481328"/>
            <a:ext cx="521868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02023" y="1408176"/>
            <a:ext cx="6187649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175" y="1481328"/>
            <a:ext cx="604134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715765" y="1408176"/>
            <a:ext cx="8760165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917" y="1481328"/>
            <a:ext cx="8613861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633576" y="1408176"/>
            <a:ext cx="8924544" cy="4930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728" y="1481328"/>
            <a:ext cx="8778240" cy="47841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633576" y="1408176"/>
            <a:ext cx="8924544" cy="517344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tq/q-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728" y="1481328"/>
            <a:ext cx="8778240" cy="502713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is a collection of elements, written in { }; ξ is the universal set (everything).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 means ‘is an element of’; n(A) is the number of elements in A.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A ∩ B = the overlap (in BOTH = AND).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 ∪ B = everything in either circle (OR), each element once.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A′ = everything in ξ that is NOT in A.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∩ is AND (overlap),  ∪ is OR (all),  A′ is NOT.  Fill the overlap first.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1389</Words>
  <Application>Microsoft Office PowerPoint</Application>
  <PresentationFormat>Custom</PresentationFormat>
  <Paragraphs>265</Paragraphs>
  <Slides>29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2</cp:revision>
  <dcterms:created xsi:type="dcterms:W3CDTF">2026-07-17T10:22:32Z</dcterms:created>
  <dcterms:modified xsi:type="dcterms:W3CDTF">2026-08-04T19:13:09Z</dcterms:modified>
</cp:coreProperties>
</file>